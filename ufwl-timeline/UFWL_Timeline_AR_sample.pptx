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R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78B"/>
          </a:solidFill>
          <a:ln/>
        </p:spPr>
      </p:sp>
      <p:sp>
        <p:nvSpPr>
          <p:cNvPr id="4" name="Shape 2"/>
          <p:cNvSpPr/>
          <p:nvPr/>
        </p:nvSpPr>
        <p:spPr>
          <a:xfrm>
            <a:off x="10180015" y="868680"/>
            <a:ext cx="2011680" cy="4572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2875"/>
            <a:ext cx="1051560" cy="5829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7" name="Text 4"/>
          <p:cNvSpPr/>
          <p:nvPr/>
        </p:nvSpPr>
        <p:spPr>
          <a:xfrm>
            <a:off x="2681935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الجدول الزمني لأنشطة المشروع · إيقاف الموقع وأعمال الدعم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51967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51967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1640" y="109728"/>
            <a:ext cx="10134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UFWL – الخط الزمني</a:t>
            </a:r>
            <a:endParaRPr lang="ar-SA" sz="2400" dirty="0"/>
          </a:p>
        </p:txBody>
      </p:sp>
      <p:sp>
        <p:nvSpPr>
          <p:cNvPr id="3" name="Text 1"/>
          <p:cNvSpPr/>
          <p:nvPr/>
        </p:nvSpPr>
        <p:spPr>
          <a:xfrm>
            <a:off x="1691640" y="548640"/>
            <a:ext cx="10134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الجدول الزمني لأنشطة المشروع · إيقاف الموقع وأعمال الدعم</a:t>
            </a:r>
            <a:endParaRPr lang="ar-SA" sz="1200" dirty="0"/>
          </a:p>
        </p:txBody>
      </p:sp>
      <p:sp>
        <p:nvSpPr>
          <p:cNvPr id="4" name="Shape 2"/>
          <p:cNvSpPr/>
          <p:nvPr/>
        </p:nvSpPr>
        <p:spPr>
          <a:xfrm>
            <a:off x="11569903" y="1069848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3499" y="1005840"/>
            <a:ext cx="891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الخلفية</a:t>
            </a:r>
            <a:endParaRPr lang="ar-SA" sz="950" dirty="0"/>
          </a:p>
        </p:txBody>
      </p:sp>
      <p:sp>
        <p:nvSpPr>
          <p:cNvPr id="6" name="Shape 4"/>
          <p:cNvSpPr/>
          <p:nvPr/>
        </p:nvSpPr>
        <p:spPr>
          <a:xfrm>
            <a:off x="10358323" y="1069848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74759" y="1005840"/>
            <a:ext cx="102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1</a:t>
            </a:r>
            <a:endParaRPr lang="ar-SA" sz="950" dirty="0"/>
          </a:p>
        </p:txBody>
      </p:sp>
      <p:sp>
        <p:nvSpPr>
          <p:cNvPr id="8" name="Shape 6"/>
          <p:cNvSpPr/>
          <p:nvPr/>
        </p:nvSpPr>
        <p:spPr>
          <a:xfrm>
            <a:off x="9009583" y="1069848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26019" y="1005840"/>
            <a:ext cx="102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2</a:t>
            </a:r>
            <a:endParaRPr lang="ar-SA" sz="950" dirty="0"/>
          </a:p>
        </p:txBody>
      </p:sp>
      <p:sp>
        <p:nvSpPr>
          <p:cNvPr id="10" name="Shape 8"/>
          <p:cNvSpPr/>
          <p:nvPr/>
        </p:nvSpPr>
        <p:spPr>
          <a:xfrm>
            <a:off x="7660843" y="1069848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77279" y="1005840"/>
            <a:ext cx="102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3</a:t>
            </a:r>
            <a:endParaRPr lang="ar-SA" sz="950" dirty="0"/>
          </a:p>
        </p:txBody>
      </p:sp>
      <p:sp>
        <p:nvSpPr>
          <p:cNvPr id="12" name="Shape 10"/>
          <p:cNvSpPr/>
          <p:nvPr/>
        </p:nvSpPr>
        <p:spPr>
          <a:xfrm>
            <a:off x="11317636" y="3803904"/>
            <a:ext cx="325419" cy="73152"/>
          </a:xfrm>
          <a:prstGeom prst="roundRect">
            <a:avLst>
              <a:gd name="adj" fmla="val 50000"/>
            </a:avLst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66799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15961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65123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14286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3448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12610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1773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10935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60098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9260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58422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07585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56747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05909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55072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4234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8815" y="3803904"/>
            <a:ext cx="325419" cy="73152"/>
          </a:xfrm>
          <a:prstGeom prst="roundRect">
            <a:avLst>
              <a:gd name="adj" fmla="val 50000"/>
            </a:avLst>
          </a:prstGeom>
          <a:solidFill>
            <a:srgbClr val="C9D3D8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317636" y="3447288"/>
            <a:ext cx="0" cy="164592"/>
          </a:xfrm>
          <a:prstGeom prst="line">
            <a:avLst/>
          </a:prstGeom>
          <a:noFill/>
          <a:ln w="19050">
            <a:solidFill>
              <a:srgbClr val="7A8791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89036" y="3611880"/>
            <a:ext cx="457200" cy="457200"/>
          </a:xfrm>
          <a:prstGeom prst="ellipse">
            <a:avLst/>
          </a:prstGeom>
          <a:solidFill>
            <a:srgbClr val="7A8791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1089036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ar-SA" sz="900" dirty="0"/>
          </a:p>
        </p:txBody>
      </p:sp>
      <p:sp>
        <p:nvSpPr>
          <p:cNvPr id="33" name="Shape 31"/>
          <p:cNvSpPr/>
          <p:nvPr/>
        </p:nvSpPr>
        <p:spPr>
          <a:xfrm>
            <a:off x="9769611" y="2395728"/>
            <a:ext cx="21477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842763" y="2395728"/>
            <a:ext cx="2001460" cy="54864"/>
          </a:xfrm>
          <a:prstGeom prst="rect">
            <a:avLst/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61051" y="2487168"/>
            <a:ext cx="19648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100"/>
              </a:spcAft>
              <a:buNone/>
            </a:pPr>
            <a:r>
              <a:rPr lang="ar-SA" altLang="en-US" sz="650" b="1" dirty="0">
                <a:solidFill>
                  <a:srgbClr val="7A87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· الخلفية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9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تصريح العمل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b="1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اثنين 31 أغسطس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dirty="0">
                <a:solidFill>
                  <a:srgbClr val="44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تصريح لتنفيذ أعمال الأساسات لإزالة خطر انهيار التربة.</a:t>
            </a:r>
            <a:endParaRPr lang="ar-SA" sz="650" dirty="0"/>
          </a:p>
        </p:txBody>
      </p:sp>
      <p:sp>
        <p:nvSpPr>
          <p:cNvPr id="36" name="Shape 34"/>
          <p:cNvSpPr/>
          <p:nvPr/>
        </p:nvSpPr>
        <p:spPr>
          <a:xfrm>
            <a:off x="10666799" y="4069080"/>
            <a:ext cx="0" cy="164592"/>
          </a:xfrm>
          <a:prstGeom prst="line">
            <a:avLst/>
          </a:prstGeom>
          <a:noFill/>
          <a:ln w="19050">
            <a:solidFill>
              <a:srgbClr val="7A8791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38199" y="3611880"/>
            <a:ext cx="457200" cy="457200"/>
          </a:xfrm>
          <a:prstGeom prst="ellipse">
            <a:avLst/>
          </a:prstGeom>
          <a:solidFill>
            <a:srgbClr val="7A8791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438199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ar-SA" sz="900" dirty="0"/>
          </a:p>
        </p:txBody>
      </p:sp>
      <p:sp>
        <p:nvSpPr>
          <p:cNvPr id="39" name="Shape 37"/>
          <p:cNvSpPr/>
          <p:nvPr/>
        </p:nvSpPr>
        <p:spPr>
          <a:xfrm>
            <a:off x="9592917" y="4233672"/>
            <a:ext cx="21477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666069" y="4233672"/>
            <a:ext cx="2001460" cy="54864"/>
          </a:xfrm>
          <a:prstGeom prst="rect">
            <a:avLst/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84357" y="4325112"/>
            <a:ext cx="19648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100"/>
              </a:spcAft>
              <a:buNone/>
            </a:pPr>
            <a:r>
              <a:rPr lang="ar-SA" altLang="en-US" sz="650" b="1" dirty="0">
                <a:solidFill>
                  <a:srgbClr val="7A87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· الخلفية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9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رفض طلب التصريح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b="1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اثنين 28 سبتمبر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dirty="0">
                <a:solidFill>
                  <a:srgbClr val="44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رفضت إدارة التصاريح طلب تصريح العمل.</a:t>
            </a:r>
            <a:endParaRPr lang="ar-SA" sz="650" dirty="0"/>
          </a:p>
        </p:txBody>
      </p:sp>
      <p:sp>
        <p:nvSpPr>
          <p:cNvPr id="42" name="Shape 40"/>
          <p:cNvSpPr/>
          <p:nvPr/>
        </p:nvSpPr>
        <p:spPr>
          <a:xfrm>
            <a:off x="10015961" y="2350008"/>
            <a:ext cx="0" cy="1261872"/>
          </a:xfrm>
          <a:prstGeom prst="line">
            <a:avLst/>
          </a:prstGeom>
          <a:noFill/>
          <a:ln w="19050">
            <a:solidFill>
              <a:srgbClr val="C8503F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87361" y="3611880"/>
            <a:ext cx="457200" cy="457200"/>
          </a:xfrm>
          <a:prstGeom prst="ellipse">
            <a:avLst/>
          </a:prstGeom>
          <a:solidFill>
            <a:srgbClr val="C8503F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787361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ar-SA" sz="900" dirty="0"/>
          </a:p>
        </p:txBody>
      </p:sp>
      <p:sp>
        <p:nvSpPr>
          <p:cNvPr id="45" name="Shape 43"/>
          <p:cNvSpPr/>
          <p:nvPr/>
        </p:nvSpPr>
        <p:spPr>
          <a:xfrm>
            <a:off x="8942079" y="1298448"/>
            <a:ext cx="21477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015231" y="1298448"/>
            <a:ext cx="2001460" cy="54864"/>
          </a:xfrm>
          <a:prstGeom prst="rect">
            <a:avLst/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33519" y="1389888"/>
            <a:ext cx="19648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100"/>
              </a:spcAft>
              <a:buNone/>
            </a:pPr>
            <a:r>
              <a:rPr lang="ar-SA" altLang="en-US" sz="650" b="1" dirty="0">
                <a:solidFill>
                  <a:srgbClr val="C8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· المرحلة 1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9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إيقاف أنشطة المشروع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b="1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خميس 1 أكتوبر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dirty="0">
                <a:solidFill>
                  <a:srgbClr val="44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أوقفت إدارة التصاريح والسلامة جميع أنشطة المشروع بالموقع.</a:t>
            </a:r>
            <a:endParaRPr lang="ar-SA" sz="650" dirty="0"/>
          </a:p>
        </p:txBody>
      </p:sp>
      <p:sp>
        <p:nvSpPr>
          <p:cNvPr id="48" name="Shape 46"/>
          <p:cNvSpPr/>
          <p:nvPr/>
        </p:nvSpPr>
        <p:spPr>
          <a:xfrm>
            <a:off x="9365123" y="4069080"/>
            <a:ext cx="0" cy="1280160"/>
          </a:xfrm>
          <a:prstGeom prst="line">
            <a:avLst/>
          </a:prstGeom>
          <a:noFill/>
          <a:ln w="19050">
            <a:solidFill>
              <a:srgbClr val="C8503F">
                <a:alpha val="6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36523" y="3611880"/>
            <a:ext cx="457200" cy="457200"/>
          </a:xfrm>
          <a:prstGeom prst="ellipse">
            <a:avLst/>
          </a:prstGeom>
          <a:solidFill>
            <a:srgbClr val="C8503F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136523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ar-SA" sz="900" dirty="0"/>
          </a:p>
        </p:txBody>
      </p:sp>
      <p:sp>
        <p:nvSpPr>
          <p:cNvPr id="51" name="Shape 49"/>
          <p:cNvSpPr/>
          <p:nvPr/>
        </p:nvSpPr>
        <p:spPr>
          <a:xfrm>
            <a:off x="8291241" y="5349240"/>
            <a:ext cx="21477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64393" y="5349240"/>
            <a:ext cx="2001460" cy="54864"/>
          </a:xfrm>
          <a:prstGeom prst="rect">
            <a:avLst/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82681" y="5440680"/>
            <a:ext cx="19648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100"/>
              </a:spcAft>
              <a:buNone/>
            </a:pPr>
            <a:r>
              <a:rPr lang="ar-SA" altLang="en-US" sz="650" b="1" dirty="0">
                <a:solidFill>
                  <a:srgbClr val="C8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· المرحلة 1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9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زيارة ميدانية مشتركة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b="1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سبت 3 أكتوبر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dirty="0">
                <a:solidFill>
                  <a:srgbClr val="44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زيارة مشتركة مع الإدارات المعنية (التصاريح وغيرها) لتقييم حالة الموقع.</a:t>
            </a:r>
            <a:endParaRPr lang="ar-SA" sz="650" dirty="0"/>
          </a:p>
        </p:txBody>
      </p:sp>
      <p:sp>
        <p:nvSpPr>
          <p:cNvPr id="54" name="Shape 52"/>
          <p:cNvSpPr/>
          <p:nvPr/>
        </p:nvSpPr>
        <p:spPr>
          <a:xfrm>
            <a:off x="8714286" y="3447288"/>
            <a:ext cx="0" cy="164592"/>
          </a:xfrm>
          <a:prstGeom prst="line">
            <a:avLst/>
          </a:prstGeom>
          <a:noFill/>
          <a:ln w="19050">
            <a:solidFill>
              <a:srgbClr val="C8503F">
                <a:alpha val="6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85686" y="3611880"/>
            <a:ext cx="457200" cy="457200"/>
          </a:xfrm>
          <a:prstGeom prst="ellipse">
            <a:avLst/>
          </a:prstGeom>
          <a:solidFill>
            <a:srgbClr val="C8503F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485686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ar-SA" sz="900" dirty="0"/>
          </a:p>
        </p:txBody>
      </p:sp>
      <p:sp>
        <p:nvSpPr>
          <p:cNvPr id="57" name="Shape 55"/>
          <p:cNvSpPr/>
          <p:nvPr/>
        </p:nvSpPr>
        <p:spPr>
          <a:xfrm>
            <a:off x="7640404" y="2395728"/>
            <a:ext cx="21477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713556" y="2395728"/>
            <a:ext cx="2001460" cy="54864"/>
          </a:xfrm>
          <a:prstGeom prst="rect">
            <a:avLst/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31844" y="2487168"/>
            <a:ext cx="19648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100"/>
              </a:spcAft>
              <a:buNone/>
            </a:pPr>
            <a:r>
              <a:rPr lang="ar-SA" altLang="en-US" sz="650" b="1" dirty="0">
                <a:solidFill>
                  <a:srgbClr val="C8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· المرحلة 1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9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تقديم تقييم المخاطر وخطة التخفيف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b="1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أحد 4 أكتوبر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dirty="0">
                <a:solidFill>
                  <a:srgbClr val="44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أُرسلت إلى إدارة التصاريح بهدف استئناف العمل.</a:t>
            </a:r>
            <a:endParaRPr lang="ar-SA" sz="650" dirty="0"/>
          </a:p>
        </p:txBody>
      </p:sp>
      <p:sp>
        <p:nvSpPr>
          <p:cNvPr id="60" name="Shape 58"/>
          <p:cNvSpPr/>
          <p:nvPr/>
        </p:nvSpPr>
        <p:spPr>
          <a:xfrm>
            <a:off x="8063448" y="4069080"/>
            <a:ext cx="0" cy="164592"/>
          </a:xfrm>
          <a:prstGeom prst="line">
            <a:avLst/>
          </a:prstGeom>
          <a:noFill/>
          <a:ln w="19050">
            <a:solidFill>
              <a:srgbClr val="C8503F">
                <a:alpha val="6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834848" y="3611880"/>
            <a:ext cx="457200" cy="457200"/>
          </a:xfrm>
          <a:prstGeom prst="ellipse">
            <a:avLst/>
          </a:prstGeom>
          <a:solidFill>
            <a:srgbClr val="C8503F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7834848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ar-SA" sz="900" dirty="0"/>
          </a:p>
        </p:txBody>
      </p:sp>
      <p:sp>
        <p:nvSpPr>
          <p:cNvPr id="63" name="Shape 61"/>
          <p:cNvSpPr/>
          <p:nvPr/>
        </p:nvSpPr>
        <p:spPr>
          <a:xfrm>
            <a:off x="6989566" y="4233672"/>
            <a:ext cx="21477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7062718" y="4233672"/>
            <a:ext cx="2001460" cy="54864"/>
          </a:xfrm>
          <a:prstGeom prst="rect">
            <a:avLst/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81006" y="4325112"/>
            <a:ext cx="19648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100"/>
              </a:spcAft>
              <a:buNone/>
            </a:pPr>
            <a:r>
              <a:rPr lang="ar-SA" altLang="en-US" sz="650" b="1" dirty="0">
                <a:solidFill>
                  <a:srgbClr val="C8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· المرحلة 1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9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خطة عمل تفصيلية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b="1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اثنين 5 أكتوبر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dirty="0">
                <a:solidFill>
                  <a:srgbClr val="44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طلبت إدارة التصاريح خطة عمل أكثر تفصيلاً.</a:t>
            </a:r>
            <a:endParaRPr lang="ar-SA" sz="650" dirty="0"/>
          </a:p>
        </p:txBody>
      </p:sp>
      <p:sp>
        <p:nvSpPr>
          <p:cNvPr id="66" name="Shape 64"/>
          <p:cNvSpPr/>
          <p:nvPr/>
        </p:nvSpPr>
        <p:spPr>
          <a:xfrm>
            <a:off x="7412610" y="2350008"/>
            <a:ext cx="0" cy="1261872"/>
          </a:xfrm>
          <a:prstGeom prst="line">
            <a:avLst/>
          </a:prstGeom>
          <a:noFill/>
          <a:ln w="19050">
            <a:solidFill>
              <a:srgbClr val="00778B">
                <a:alpha val="6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84010" y="3611880"/>
            <a:ext cx="457200" cy="457200"/>
          </a:xfrm>
          <a:prstGeom prst="ellipse">
            <a:avLst/>
          </a:prstGeom>
          <a:solidFill>
            <a:srgbClr val="00778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718401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ar-SA" sz="900" dirty="0"/>
          </a:p>
        </p:txBody>
      </p:sp>
      <p:sp>
        <p:nvSpPr>
          <p:cNvPr id="69" name="Shape 67"/>
          <p:cNvSpPr/>
          <p:nvPr/>
        </p:nvSpPr>
        <p:spPr>
          <a:xfrm>
            <a:off x="6338728" y="1298448"/>
            <a:ext cx="21477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411880" y="1298448"/>
            <a:ext cx="2001460" cy="54864"/>
          </a:xfrm>
          <a:prstGeom prst="rect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30168" y="1389888"/>
            <a:ext cx="19648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100"/>
              </a:spcAft>
              <a:buNone/>
            </a:pPr>
            <a:r>
              <a:rPr lang="ar-SA" altLang="en-US" sz="650" b="1" dirty="0">
                <a:solidFill>
                  <a:srgbClr val="0077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· المرحلة 2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9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تقديم بيان طريقة العمل (MoS)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b="1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أربعاء 7 أكتوبر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dirty="0">
                <a:solidFill>
                  <a:srgbClr val="44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 طريقة العمل وخطة العمل التفصيلية لجميع الإدارات للمراجعة والاعتماد.</a:t>
            </a:r>
            <a:endParaRPr lang="ar-SA" sz="650" dirty="0"/>
          </a:p>
        </p:txBody>
      </p:sp>
      <p:sp>
        <p:nvSpPr>
          <p:cNvPr id="72" name="Shape 70"/>
          <p:cNvSpPr/>
          <p:nvPr/>
        </p:nvSpPr>
        <p:spPr>
          <a:xfrm>
            <a:off x="6761773" y="4069080"/>
            <a:ext cx="0" cy="1280160"/>
          </a:xfrm>
          <a:prstGeom prst="line">
            <a:avLst/>
          </a:prstGeom>
          <a:noFill/>
          <a:ln w="19050">
            <a:solidFill>
              <a:srgbClr val="00778B">
                <a:alpha val="6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533173" y="3611880"/>
            <a:ext cx="457200" cy="457200"/>
          </a:xfrm>
          <a:prstGeom prst="ellipse">
            <a:avLst/>
          </a:prstGeom>
          <a:solidFill>
            <a:srgbClr val="00778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6533173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ar-SA" sz="900" dirty="0"/>
          </a:p>
        </p:txBody>
      </p:sp>
      <p:sp>
        <p:nvSpPr>
          <p:cNvPr id="75" name="Shape 73"/>
          <p:cNvSpPr/>
          <p:nvPr/>
        </p:nvSpPr>
        <p:spPr>
          <a:xfrm>
            <a:off x="5687891" y="5349240"/>
            <a:ext cx="21477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5761043" y="5349240"/>
            <a:ext cx="2001460" cy="54864"/>
          </a:xfrm>
          <a:prstGeom prst="rect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79331" y="5440680"/>
            <a:ext cx="19648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100"/>
              </a:spcAft>
              <a:buNone/>
            </a:pPr>
            <a:r>
              <a:rPr lang="ar-SA" altLang="en-US" sz="650" b="1" dirty="0">
                <a:solidFill>
                  <a:srgbClr val="0077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· المرحلة 2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9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اجتماع أصحاب المصلحة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b="1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أربعاء 7 أكتوبر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dirty="0">
                <a:solidFill>
                  <a:srgbClr val="44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الاتفاق على المضي قدماً وطلب مراجعة الإجراءات واعتمادها من الإدارات.</a:t>
            </a:r>
            <a:endParaRPr lang="ar-SA" sz="650" dirty="0"/>
          </a:p>
        </p:txBody>
      </p:sp>
      <p:sp>
        <p:nvSpPr>
          <p:cNvPr id="78" name="Shape 76"/>
          <p:cNvSpPr/>
          <p:nvPr/>
        </p:nvSpPr>
        <p:spPr>
          <a:xfrm>
            <a:off x="6110935" y="3447288"/>
            <a:ext cx="0" cy="164592"/>
          </a:xfrm>
          <a:prstGeom prst="line">
            <a:avLst/>
          </a:prstGeom>
          <a:noFill/>
          <a:ln w="19050">
            <a:solidFill>
              <a:srgbClr val="00778B">
                <a:alpha val="6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82335" y="3611880"/>
            <a:ext cx="457200" cy="457200"/>
          </a:xfrm>
          <a:prstGeom prst="ellipse">
            <a:avLst/>
          </a:prstGeom>
          <a:solidFill>
            <a:srgbClr val="00778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5882335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ar-SA" sz="900" dirty="0"/>
          </a:p>
        </p:txBody>
      </p:sp>
      <p:sp>
        <p:nvSpPr>
          <p:cNvPr id="81" name="Shape 79"/>
          <p:cNvSpPr/>
          <p:nvPr/>
        </p:nvSpPr>
        <p:spPr>
          <a:xfrm>
            <a:off x="5037053" y="2395728"/>
            <a:ext cx="21477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5110205" y="2395728"/>
            <a:ext cx="2001460" cy="54864"/>
          </a:xfrm>
          <a:prstGeom prst="rect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28493" y="2487168"/>
            <a:ext cx="19648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100"/>
              </a:spcAft>
              <a:buNone/>
            </a:pPr>
            <a:r>
              <a:rPr lang="ar-SA" altLang="en-US" sz="650" b="1" dirty="0">
                <a:solidFill>
                  <a:srgbClr val="0077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· المرحلة 2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9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الرد على استفسارات أصحاب المصلحة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b="1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خميس 8 أكتوبر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dirty="0">
                <a:solidFill>
                  <a:srgbClr val="44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 الرد على كل الاستفسارات بشأن الأعمال وإجراءات السلامة.</a:t>
            </a:r>
            <a:endParaRPr lang="ar-SA" sz="650" dirty="0"/>
          </a:p>
        </p:txBody>
      </p:sp>
      <p:sp>
        <p:nvSpPr>
          <p:cNvPr id="84" name="Shape 82"/>
          <p:cNvSpPr/>
          <p:nvPr/>
        </p:nvSpPr>
        <p:spPr>
          <a:xfrm>
            <a:off x="5460098" y="4069080"/>
            <a:ext cx="0" cy="164592"/>
          </a:xfrm>
          <a:prstGeom prst="line">
            <a:avLst/>
          </a:prstGeom>
          <a:noFill/>
          <a:ln w="19050">
            <a:solidFill>
              <a:srgbClr val="00778B">
                <a:alpha val="6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231498" y="3611880"/>
            <a:ext cx="457200" cy="457200"/>
          </a:xfrm>
          <a:prstGeom prst="ellipse">
            <a:avLst/>
          </a:prstGeom>
          <a:solidFill>
            <a:srgbClr val="00778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5231498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ar-SA" sz="900" dirty="0"/>
          </a:p>
        </p:txBody>
      </p:sp>
      <p:sp>
        <p:nvSpPr>
          <p:cNvPr id="87" name="Shape 85"/>
          <p:cNvSpPr/>
          <p:nvPr/>
        </p:nvSpPr>
        <p:spPr>
          <a:xfrm>
            <a:off x="4386215" y="4233672"/>
            <a:ext cx="21477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4459367" y="4233672"/>
            <a:ext cx="2001460" cy="54864"/>
          </a:xfrm>
          <a:prstGeom prst="rect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77655" y="4325112"/>
            <a:ext cx="19648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100"/>
              </a:spcAft>
              <a:buNone/>
            </a:pPr>
            <a:r>
              <a:rPr lang="ar-SA" altLang="en-US" sz="650" b="1" dirty="0">
                <a:solidFill>
                  <a:srgbClr val="0077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· المرحلة 2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9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استلام توضيح من إدارة الهندسة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b="1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أحد 11 أكتوبر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dirty="0">
                <a:solidFill>
                  <a:srgbClr val="44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أثارت إدارة الهندسة استيضاحاً على بيان طريقة العمل.</a:t>
            </a:r>
            <a:endParaRPr lang="ar-SA" sz="650" dirty="0"/>
          </a:p>
        </p:txBody>
      </p:sp>
      <p:sp>
        <p:nvSpPr>
          <p:cNvPr id="90" name="Shape 88"/>
          <p:cNvSpPr/>
          <p:nvPr/>
        </p:nvSpPr>
        <p:spPr>
          <a:xfrm>
            <a:off x="4809260" y="2350008"/>
            <a:ext cx="0" cy="1261872"/>
          </a:xfrm>
          <a:prstGeom prst="line">
            <a:avLst/>
          </a:prstGeom>
          <a:noFill/>
          <a:ln w="19050">
            <a:solidFill>
              <a:srgbClr val="00778B">
                <a:alpha val="65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580660" y="3611880"/>
            <a:ext cx="457200" cy="457200"/>
          </a:xfrm>
          <a:prstGeom prst="ellipse">
            <a:avLst/>
          </a:prstGeom>
          <a:solidFill>
            <a:srgbClr val="00778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45806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ar-SA" sz="900" dirty="0"/>
          </a:p>
        </p:txBody>
      </p:sp>
      <p:sp>
        <p:nvSpPr>
          <p:cNvPr id="93" name="Shape 91"/>
          <p:cNvSpPr/>
          <p:nvPr/>
        </p:nvSpPr>
        <p:spPr>
          <a:xfrm>
            <a:off x="3735378" y="1298448"/>
            <a:ext cx="21477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3808530" y="1298448"/>
            <a:ext cx="2001460" cy="54864"/>
          </a:xfrm>
          <a:prstGeom prst="rect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826818" y="1389888"/>
            <a:ext cx="19648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100"/>
              </a:spcAft>
              <a:buNone/>
            </a:pPr>
            <a:r>
              <a:rPr lang="ar-SA" altLang="en-US" sz="650" b="1" dirty="0">
                <a:solidFill>
                  <a:srgbClr val="0077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· المرحلة 2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9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تقديم المراجعة الثانية (MoS)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b="1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اثنين 12 أكتوبر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dirty="0">
                <a:solidFill>
                  <a:srgbClr val="44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قُدّمت المراجعة الثانية للبيان إلى جميع الإدارات المعنية.</a:t>
            </a:r>
            <a:endParaRPr lang="ar-SA" sz="650" dirty="0"/>
          </a:p>
        </p:txBody>
      </p:sp>
      <p:sp>
        <p:nvSpPr>
          <p:cNvPr id="96" name="Shape 94"/>
          <p:cNvSpPr/>
          <p:nvPr/>
        </p:nvSpPr>
        <p:spPr>
          <a:xfrm>
            <a:off x="4158422" y="4069080"/>
            <a:ext cx="0" cy="1280160"/>
          </a:xfrm>
          <a:prstGeom prst="line">
            <a:avLst/>
          </a:prstGeom>
          <a:noFill/>
          <a:ln w="19050">
            <a:solidFill>
              <a:srgbClr val="2E9E6B">
                <a:alpha val="65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929822" y="3611880"/>
            <a:ext cx="457200" cy="457200"/>
          </a:xfrm>
          <a:prstGeom prst="ellipse">
            <a:avLst/>
          </a:prstGeom>
          <a:solidFill>
            <a:srgbClr val="2E9E6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3929822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ar-SA" sz="900" dirty="0"/>
          </a:p>
        </p:txBody>
      </p:sp>
      <p:sp>
        <p:nvSpPr>
          <p:cNvPr id="99" name="Shape 97"/>
          <p:cNvSpPr/>
          <p:nvPr/>
        </p:nvSpPr>
        <p:spPr>
          <a:xfrm>
            <a:off x="3084540" y="5349240"/>
            <a:ext cx="21477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3157692" y="5349240"/>
            <a:ext cx="2001460" cy="54864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175980" y="5440680"/>
            <a:ext cx="19648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100"/>
              </a:spcAft>
              <a:buNone/>
            </a:pPr>
            <a:r>
              <a:rPr lang="ar-SA" altLang="en-US" sz="650" b="1" dirty="0">
                <a:solidFill>
                  <a:srgbClr val="2E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· المرحلة 3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9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التواصل مع إدارة السلامة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b="1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ثلاثاء 13 أكتوبر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dirty="0">
                <a:solidFill>
                  <a:srgbClr val="44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مشاركة المستندات تم التواصل مع السلامة لتسهيل إصدار التصريح.</a:t>
            </a:r>
            <a:endParaRPr lang="ar-SA" sz="650" dirty="0"/>
          </a:p>
        </p:txBody>
      </p:sp>
      <p:sp>
        <p:nvSpPr>
          <p:cNvPr id="102" name="Shape 100"/>
          <p:cNvSpPr/>
          <p:nvPr/>
        </p:nvSpPr>
        <p:spPr>
          <a:xfrm>
            <a:off x="3507585" y="3447288"/>
            <a:ext cx="0" cy="164592"/>
          </a:xfrm>
          <a:prstGeom prst="line">
            <a:avLst/>
          </a:prstGeom>
          <a:noFill/>
          <a:ln w="19050">
            <a:solidFill>
              <a:srgbClr val="2E9E6B">
                <a:alpha val="65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278985" y="3611880"/>
            <a:ext cx="457200" cy="457200"/>
          </a:xfrm>
          <a:prstGeom prst="ellipse">
            <a:avLst/>
          </a:prstGeom>
          <a:solidFill>
            <a:srgbClr val="2E9E6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3278985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ar-SA" sz="900" dirty="0"/>
          </a:p>
        </p:txBody>
      </p:sp>
      <p:sp>
        <p:nvSpPr>
          <p:cNvPr id="105" name="Shape 103"/>
          <p:cNvSpPr/>
          <p:nvPr/>
        </p:nvSpPr>
        <p:spPr>
          <a:xfrm>
            <a:off x="2433702" y="2395728"/>
            <a:ext cx="21477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2506854" y="2395728"/>
            <a:ext cx="2001460" cy="54864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525142" y="2487168"/>
            <a:ext cx="19648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100"/>
              </a:spcAft>
              <a:buNone/>
            </a:pPr>
            <a:r>
              <a:rPr lang="ar-SA" altLang="en-US" sz="650" b="1" dirty="0">
                <a:solidFill>
                  <a:srgbClr val="2E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· المرحلة 3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9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تعميم التصريح للموافقات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b="1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أربعاء 14 أكتوبر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dirty="0">
                <a:solidFill>
                  <a:srgbClr val="44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أُرسل تصريح العمل للإدارات المعنية للموافقة عليه.</a:t>
            </a:r>
            <a:endParaRPr lang="ar-SA" sz="650" dirty="0"/>
          </a:p>
        </p:txBody>
      </p:sp>
      <p:sp>
        <p:nvSpPr>
          <p:cNvPr id="108" name="Shape 106"/>
          <p:cNvSpPr/>
          <p:nvPr/>
        </p:nvSpPr>
        <p:spPr>
          <a:xfrm>
            <a:off x="2856747" y="4069080"/>
            <a:ext cx="0" cy="164592"/>
          </a:xfrm>
          <a:prstGeom prst="line">
            <a:avLst/>
          </a:prstGeom>
          <a:noFill/>
          <a:ln w="19050">
            <a:solidFill>
              <a:srgbClr val="2E9E6B">
                <a:alpha val="65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628147" y="3611880"/>
            <a:ext cx="457200" cy="457200"/>
          </a:xfrm>
          <a:prstGeom prst="ellipse">
            <a:avLst/>
          </a:prstGeom>
          <a:solidFill>
            <a:srgbClr val="2E9E6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110" name="Text 108"/>
          <p:cNvSpPr/>
          <p:nvPr/>
        </p:nvSpPr>
        <p:spPr>
          <a:xfrm>
            <a:off x="2628147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ar-SA" sz="900" dirty="0"/>
          </a:p>
        </p:txBody>
      </p:sp>
      <p:sp>
        <p:nvSpPr>
          <p:cNvPr id="111" name="Shape 109"/>
          <p:cNvSpPr/>
          <p:nvPr/>
        </p:nvSpPr>
        <p:spPr>
          <a:xfrm>
            <a:off x="1782865" y="4233672"/>
            <a:ext cx="21477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1856017" y="4233672"/>
            <a:ext cx="2001460" cy="54864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874305" y="4325112"/>
            <a:ext cx="19648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100"/>
              </a:spcAft>
              <a:buNone/>
            </a:pPr>
            <a:r>
              <a:rPr lang="ar-SA" altLang="en-US" sz="650" b="1" dirty="0">
                <a:solidFill>
                  <a:srgbClr val="2E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· المرحلة 3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9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ملاحظات إضافية من الإدارات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b="1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خميس 15 أكتوبر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dirty="0">
                <a:solidFill>
                  <a:srgbClr val="44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وردت ملاحظات إضافية من إدارات أخرى.</a:t>
            </a:r>
            <a:endParaRPr lang="ar-SA" sz="650" dirty="0"/>
          </a:p>
        </p:txBody>
      </p:sp>
      <p:sp>
        <p:nvSpPr>
          <p:cNvPr id="114" name="Shape 112"/>
          <p:cNvSpPr/>
          <p:nvPr/>
        </p:nvSpPr>
        <p:spPr>
          <a:xfrm>
            <a:off x="2205909" y="2350008"/>
            <a:ext cx="0" cy="1261872"/>
          </a:xfrm>
          <a:prstGeom prst="line">
            <a:avLst/>
          </a:prstGeom>
          <a:noFill/>
          <a:ln w="19050">
            <a:solidFill>
              <a:srgbClr val="2E9E6B">
                <a:alpha val="65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977309" y="3611880"/>
            <a:ext cx="457200" cy="457200"/>
          </a:xfrm>
          <a:prstGeom prst="ellipse">
            <a:avLst/>
          </a:prstGeom>
          <a:solidFill>
            <a:srgbClr val="2E9E6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116" name="Text 114"/>
          <p:cNvSpPr/>
          <p:nvPr/>
        </p:nvSpPr>
        <p:spPr>
          <a:xfrm>
            <a:off x="1977309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ar-SA" sz="900" dirty="0"/>
          </a:p>
        </p:txBody>
      </p:sp>
      <p:sp>
        <p:nvSpPr>
          <p:cNvPr id="117" name="Shape 115"/>
          <p:cNvSpPr/>
          <p:nvPr/>
        </p:nvSpPr>
        <p:spPr>
          <a:xfrm>
            <a:off x="1132027" y="1298448"/>
            <a:ext cx="21477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18" name="Shape 116"/>
          <p:cNvSpPr/>
          <p:nvPr/>
        </p:nvSpPr>
        <p:spPr>
          <a:xfrm>
            <a:off x="1205179" y="1298448"/>
            <a:ext cx="2001460" cy="54864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223467" y="1389888"/>
            <a:ext cx="19648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100"/>
              </a:spcAft>
              <a:buNone/>
            </a:pPr>
            <a:r>
              <a:rPr lang="ar-SA" altLang="en-US" sz="650" b="1" dirty="0">
                <a:solidFill>
                  <a:srgbClr val="2E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· المرحلة 3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9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تقديم المراجعة الثالثة (MoS)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b="1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اثنين 19 أكتوبر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dirty="0">
                <a:solidFill>
                  <a:srgbClr val="44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قُدّمت المراجعة الثالثة للبيان للجميع للاعتماد.</a:t>
            </a:r>
            <a:endParaRPr lang="ar-SA" sz="650" dirty="0"/>
          </a:p>
        </p:txBody>
      </p:sp>
      <p:sp>
        <p:nvSpPr>
          <p:cNvPr id="120" name="Shape 118"/>
          <p:cNvSpPr/>
          <p:nvPr/>
        </p:nvSpPr>
        <p:spPr>
          <a:xfrm>
            <a:off x="1555072" y="4069080"/>
            <a:ext cx="0" cy="1280160"/>
          </a:xfrm>
          <a:prstGeom prst="line">
            <a:avLst/>
          </a:prstGeom>
          <a:noFill/>
          <a:ln w="19050">
            <a:solidFill>
              <a:srgbClr val="2E9E6B">
                <a:alpha val="65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326472" y="3611880"/>
            <a:ext cx="457200" cy="457200"/>
          </a:xfrm>
          <a:prstGeom prst="ellipse">
            <a:avLst/>
          </a:prstGeom>
          <a:solidFill>
            <a:srgbClr val="2E9E6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122" name="Text 120"/>
          <p:cNvSpPr/>
          <p:nvPr/>
        </p:nvSpPr>
        <p:spPr>
          <a:xfrm>
            <a:off x="1326472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ar-SA" sz="900" dirty="0"/>
          </a:p>
        </p:txBody>
      </p:sp>
      <p:sp>
        <p:nvSpPr>
          <p:cNvPr id="123" name="Shape 121"/>
          <p:cNvSpPr/>
          <p:nvPr/>
        </p:nvSpPr>
        <p:spPr>
          <a:xfrm>
            <a:off x="481190" y="5349240"/>
            <a:ext cx="21477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24" name="Shape 122"/>
          <p:cNvSpPr/>
          <p:nvPr/>
        </p:nvSpPr>
        <p:spPr>
          <a:xfrm>
            <a:off x="554342" y="5349240"/>
            <a:ext cx="2001460" cy="54864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72630" y="5440680"/>
            <a:ext cx="19648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100"/>
              </a:spcAft>
              <a:buNone/>
            </a:pPr>
            <a:r>
              <a:rPr lang="ar-SA" altLang="en-US" sz="650" b="1" dirty="0">
                <a:solidFill>
                  <a:srgbClr val="2E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· المرحلة 3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9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إغلاق الاستفسار الأخير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b="1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ثلاثاء 20 أكتوبر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dirty="0">
                <a:solidFill>
                  <a:srgbClr val="44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 إغلاق الاستفسار المتبقي بشأن بيان طريقة العمل.</a:t>
            </a:r>
            <a:endParaRPr lang="ar-SA" sz="650" dirty="0"/>
          </a:p>
        </p:txBody>
      </p:sp>
      <p:sp>
        <p:nvSpPr>
          <p:cNvPr id="126" name="Shape 124"/>
          <p:cNvSpPr/>
          <p:nvPr/>
        </p:nvSpPr>
        <p:spPr>
          <a:xfrm>
            <a:off x="904234" y="3447288"/>
            <a:ext cx="0" cy="164592"/>
          </a:xfrm>
          <a:prstGeom prst="line">
            <a:avLst/>
          </a:prstGeom>
          <a:noFill/>
          <a:ln w="19050">
            <a:solidFill>
              <a:srgbClr val="2E9E6B">
                <a:alpha val="65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75634" y="3611880"/>
            <a:ext cx="457200" cy="457200"/>
          </a:xfrm>
          <a:prstGeom prst="ellipse">
            <a:avLst/>
          </a:prstGeom>
          <a:solidFill>
            <a:srgbClr val="2E9E6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128" name="Text 126"/>
          <p:cNvSpPr/>
          <p:nvPr/>
        </p:nvSpPr>
        <p:spPr>
          <a:xfrm>
            <a:off x="675634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ar-SA" sz="900" dirty="0"/>
          </a:p>
        </p:txBody>
      </p:sp>
      <p:sp>
        <p:nvSpPr>
          <p:cNvPr id="129" name="Shape 127"/>
          <p:cNvSpPr/>
          <p:nvPr/>
        </p:nvSpPr>
        <p:spPr>
          <a:xfrm>
            <a:off x="274320" y="2395728"/>
            <a:ext cx="21477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30" name="Shape 128"/>
          <p:cNvSpPr/>
          <p:nvPr/>
        </p:nvSpPr>
        <p:spPr>
          <a:xfrm>
            <a:off x="347472" y="2395728"/>
            <a:ext cx="2001460" cy="54864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65760" y="2487168"/>
            <a:ext cx="19648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spcAft>
                <a:spcPts val="100"/>
              </a:spcAft>
              <a:buNone/>
            </a:pPr>
            <a:r>
              <a:rPr lang="ar-SA" altLang="en-US" sz="650" b="1" dirty="0">
                <a:solidFill>
                  <a:srgbClr val="2E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 · المرحلة 3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9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تصريح العمل جاهز للتوقيع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b="1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أربعاء 21 أكتوبر</a:t>
            </a:r>
            <a:endParaRPr lang="ar-SA" sz="650" dirty="0"/>
          </a:p>
          <a:p>
            <a:pPr algn="r" indent="0" marL="0">
              <a:spcAft>
                <a:spcPts val="100"/>
              </a:spcAft>
              <a:buNone/>
            </a:pPr>
            <a:r>
              <a:rPr lang="ar-SA" altLang="en-US" sz="750" dirty="0">
                <a:solidFill>
                  <a:srgbClr val="44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أصبح تصريح العمل جاهزاً للتوقيع والإصدار.</a:t>
            </a:r>
            <a:endParaRPr lang="ar-SA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51967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مشروع UFWL – مخطط جانت</dc:title>
  <dc:subject>PptxGenJS Presentation</dc:subject>
  <dc:creator>UFWL Project</dc:creator>
  <cp:lastModifiedBy>UFWL Project</cp:lastModifiedBy>
  <cp:revision>1</cp:revision>
  <dcterms:created xsi:type="dcterms:W3CDTF">2026-10-21T11:23:05Z</dcterms:created>
  <dcterms:modified xsi:type="dcterms:W3CDTF">2026-10-21T11:23:05Z</dcterms:modified>
</cp:coreProperties>
</file>