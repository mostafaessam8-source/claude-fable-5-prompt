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64592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089036" y="3611880"/>
            <a:ext cx="457200" cy="457200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089036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ar-SA" sz="900" dirty="0"/>
          </a:p>
        </p:txBody>
      </p:sp>
      <p:sp>
        <p:nvSpPr>
          <p:cNvPr id="33" name="Shape 31"/>
          <p:cNvSpPr/>
          <p:nvPr/>
        </p:nvSpPr>
        <p:spPr>
          <a:xfrm>
            <a:off x="9769611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42763" y="2395728"/>
            <a:ext cx="2001460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861051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لتنفيذ أعمال الأساسات لإزالة خطر انهيار التربة.</a:t>
            </a:r>
            <a:endParaRPr lang="ar-SA" sz="750" dirty="0"/>
          </a:p>
        </p:txBody>
      </p:sp>
      <p:sp>
        <p:nvSpPr>
          <p:cNvPr id="36" name="Shape 34"/>
          <p:cNvSpPr/>
          <p:nvPr/>
        </p:nvSpPr>
        <p:spPr>
          <a:xfrm>
            <a:off x="10666799" y="4069080"/>
            <a:ext cx="0" cy="164592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438199" y="3611880"/>
            <a:ext cx="457200" cy="457200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438199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ar-SA" sz="900" dirty="0"/>
          </a:p>
        </p:txBody>
      </p:sp>
      <p:sp>
        <p:nvSpPr>
          <p:cNvPr id="39" name="Shape 37"/>
          <p:cNvSpPr/>
          <p:nvPr/>
        </p:nvSpPr>
        <p:spPr>
          <a:xfrm>
            <a:off x="9592917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666069" y="4233672"/>
            <a:ext cx="2001460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84357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رفضت إدارة التصاريح طلب تصريح العمل.</a:t>
            </a:r>
            <a:endParaRPr lang="ar-SA" sz="750" dirty="0"/>
          </a:p>
        </p:txBody>
      </p:sp>
      <p:sp>
        <p:nvSpPr>
          <p:cNvPr id="42" name="Shape 40"/>
          <p:cNvSpPr/>
          <p:nvPr/>
        </p:nvSpPr>
        <p:spPr>
          <a:xfrm>
            <a:off x="10015961" y="2350008"/>
            <a:ext cx="0" cy="126187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787361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787361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ar-SA" sz="900" dirty="0"/>
          </a:p>
        </p:txBody>
      </p:sp>
      <p:sp>
        <p:nvSpPr>
          <p:cNvPr id="45" name="Shape 43"/>
          <p:cNvSpPr/>
          <p:nvPr/>
        </p:nvSpPr>
        <p:spPr>
          <a:xfrm>
            <a:off x="8942079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015231" y="1298448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33519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إدارة التصاريح والسلامة جميع أنشطة المشروع بالموقع.</a:t>
            </a:r>
            <a:endParaRPr lang="ar-SA" sz="750" dirty="0"/>
          </a:p>
        </p:txBody>
      </p:sp>
      <p:sp>
        <p:nvSpPr>
          <p:cNvPr id="48" name="Shape 46"/>
          <p:cNvSpPr/>
          <p:nvPr/>
        </p:nvSpPr>
        <p:spPr>
          <a:xfrm>
            <a:off x="9365123" y="4069080"/>
            <a:ext cx="0" cy="128016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136523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9136523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ar-SA" sz="900" dirty="0"/>
          </a:p>
        </p:txBody>
      </p:sp>
      <p:sp>
        <p:nvSpPr>
          <p:cNvPr id="51" name="Shape 49"/>
          <p:cNvSpPr/>
          <p:nvPr/>
        </p:nvSpPr>
        <p:spPr>
          <a:xfrm>
            <a:off x="8291241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64393" y="5349240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82681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مشتركة مع الإدارات المعنية (التصاريح وغيرها) لتقييم حالة الموقع.</a:t>
            </a:r>
            <a:endParaRPr lang="ar-SA" sz="750" dirty="0"/>
          </a:p>
        </p:txBody>
      </p:sp>
      <p:sp>
        <p:nvSpPr>
          <p:cNvPr id="54" name="Shape 52"/>
          <p:cNvSpPr/>
          <p:nvPr/>
        </p:nvSpPr>
        <p:spPr>
          <a:xfrm>
            <a:off x="8714286" y="3447288"/>
            <a:ext cx="0" cy="16459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85686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8485686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ar-SA" sz="900" dirty="0"/>
          </a:p>
        </p:txBody>
      </p:sp>
      <p:sp>
        <p:nvSpPr>
          <p:cNvPr id="57" name="Shape 55"/>
          <p:cNvSpPr/>
          <p:nvPr/>
        </p:nvSpPr>
        <p:spPr>
          <a:xfrm>
            <a:off x="7640404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7713556" y="2395728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31844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أُرسلت إلى إدارة التصاريح بهدف استئناف العمل.</a:t>
            </a:r>
            <a:endParaRPr lang="ar-SA" sz="750" dirty="0"/>
          </a:p>
        </p:txBody>
      </p:sp>
      <p:sp>
        <p:nvSpPr>
          <p:cNvPr id="60" name="Shape 58"/>
          <p:cNvSpPr/>
          <p:nvPr/>
        </p:nvSpPr>
        <p:spPr>
          <a:xfrm>
            <a:off x="8063448" y="4069080"/>
            <a:ext cx="0" cy="164592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34848" y="3611880"/>
            <a:ext cx="457200" cy="457200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2" name="Text 60"/>
          <p:cNvSpPr/>
          <p:nvPr/>
        </p:nvSpPr>
        <p:spPr>
          <a:xfrm>
            <a:off x="783484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ar-SA" sz="900" dirty="0"/>
          </a:p>
        </p:txBody>
      </p:sp>
      <p:sp>
        <p:nvSpPr>
          <p:cNvPr id="63" name="Shape 61"/>
          <p:cNvSpPr/>
          <p:nvPr/>
        </p:nvSpPr>
        <p:spPr>
          <a:xfrm>
            <a:off x="6989566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7062718" y="4233672"/>
            <a:ext cx="200146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081006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طلبت إدارة التصاريح خطة عمل أكثر تفصيلاً.</a:t>
            </a:r>
            <a:endParaRPr lang="ar-SA" sz="750" dirty="0"/>
          </a:p>
        </p:txBody>
      </p:sp>
      <p:sp>
        <p:nvSpPr>
          <p:cNvPr id="66" name="Shape 64"/>
          <p:cNvSpPr/>
          <p:nvPr/>
        </p:nvSpPr>
        <p:spPr>
          <a:xfrm>
            <a:off x="7412610" y="2350008"/>
            <a:ext cx="0" cy="126187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84010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718401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ar-SA" sz="900" dirty="0"/>
          </a:p>
        </p:txBody>
      </p:sp>
      <p:sp>
        <p:nvSpPr>
          <p:cNvPr id="69" name="Shape 67"/>
          <p:cNvSpPr/>
          <p:nvPr/>
        </p:nvSpPr>
        <p:spPr>
          <a:xfrm>
            <a:off x="6338728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6411880" y="129844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30168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طريقة العمل وخطة العمل التفصيلية لجميع الإدارات للمراجعة والاعتماد.</a:t>
            </a:r>
            <a:endParaRPr lang="ar-SA" sz="750" dirty="0"/>
          </a:p>
        </p:txBody>
      </p:sp>
      <p:sp>
        <p:nvSpPr>
          <p:cNvPr id="72" name="Shape 70"/>
          <p:cNvSpPr/>
          <p:nvPr/>
        </p:nvSpPr>
        <p:spPr>
          <a:xfrm>
            <a:off x="6761773" y="4069080"/>
            <a:ext cx="0" cy="128016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533173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6533173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ar-SA" sz="900" dirty="0"/>
          </a:p>
        </p:txBody>
      </p:sp>
      <p:sp>
        <p:nvSpPr>
          <p:cNvPr id="75" name="Shape 73"/>
          <p:cNvSpPr/>
          <p:nvPr/>
        </p:nvSpPr>
        <p:spPr>
          <a:xfrm>
            <a:off x="5687891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5761043" y="5349240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779331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الاتفاق على المضي قدماً وطلب مراجعة الإجراءات واعتمادها من الإدارات.</a:t>
            </a:r>
            <a:endParaRPr lang="ar-SA" sz="750" dirty="0"/>
          </a:p>
        </p:txBody>
      </p:sp>
      <p:sp>
        <p:nvSpPr>
          <p:cNvPr id="78" name="Shape 76"/>
          <p:cNvSpPr/>
          <p:nvPr/>
        </p:nvSpPr>
        <p:spPr>
          <a:xfrm>
            <a:off x="6110935" y="3447288"/>
            <a:ext cx="0" cy="16459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882335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5882335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ar-SA" sz="900" dirty="0"/>
          </a:p>
        </p:txBody>
      </p:sp>
      <p:sp>
        <p:nvSpPr>
          <p:cNvPr id="81" name="Shape 79"/>
          <p:cNvSpPr/>
          <p:nvPr/>
        </p:nvSpPr>
        <p:spPr>
          <a:xfrm>
            <a:off x="5037053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2" name="Shape 80"/>
          <p:cNvSpPr/>
          <p:nvPr/>
        </p:nvSpPr>
        <p:spPr>
          <a:xfrm>
            <a:off x="5110205" y="239572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128493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الرد على كل الاستفسارات بشأن الأعمال وإجراءات السلامة.</a:t>
            </a:r>
            <a:endParaRPr lang="ar-SA" sz="750" dirty="0"/>
          </a:p>
        </p:txBody>
      </p:sp>
      <p:sp>
        <p:nvSpPr>
          <p:cNvPr id="84" name="Shape 82"/>
          <p:cNvSpPr/>
          <p:nvPr/>
        </p:nvSpPr>
        <p:spPr>
          <a:xfrm>
            <a:off x="5460098" y="4069080"/>
            <a:ext cx="0" cy="16459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231498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5231498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ar-SA" sz="900" dirty="0"/>
          </a:p>
        </p:txBody>
      </p:sp>
      <p:sp>
        <p:nvSpPr>
          <p:cNvPr id="87" name="Shape 85"/>
          <p:cNvSpPr/>
          <p:nvPr/>
        </p:nvSpPr>
        <p:spPr>
          <a:xfrm>
            <a:off x="4386215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4459367" y="4233672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477655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أثارت إدارة الهندسة استيضاحاً على بيان طريقة العمل.</a:t>
            </a:r>
            <a:endParaRPr lang="ar-SA" sz="750" dirty="0"/>
          </a:p>
        </p:txBody>
      </p:sp>
      <p:sp>
        <p:nvSpPr>
          <p:cNvPr id="90" name="Shape 88"/>
          <p:cNvSpPr/>
          <p:nvPr/>
        </p:nvSpPr>
        <p:spPr>
          <a:xfrm>
            <a:off x="4809260" y="2350008"/>
            <a:ext cx="0" cy="1261872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580660" y="3611880"/>
            <a:ext cx="457200" cy="457200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2" name="Text 90"/>
          <p:cNvSpPr/>
          <p:nvPr/>
        </p:nvSpPr>
        <p:spPr>
          <a:xfrm>
            <a:off x="458066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ar-SA" sz="900" dirty="0"/>
          </a:p>
        </p:txBody>
      </p:sp>
      <p:sp>
        <p:nvSpPr>
          <p:cNvPr id="93" name="Shape 91"/>
          <p:cNvSpPr/>
          <p:nvPr/>
        </p:nvSpPr>
        <p:spPr>
          <a:xfrm>
            <a:off x="3735378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4" name="Shape 92"/>
          <p:cNvSpPr/>
          <p:nvPr/>
        </p:nvSpPr>
        <p:spPr>
          <a:xfrm>
            <a:off x="3808530" y="1298448"/>
            <a:ext cx="200146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826818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الثانية للبيان إلى جميع الإدارات المعنية.</a:t>
            </a:r>
            <a:endParaRPr lang="ar-SA" sz="750" dirty="0"/>
          </a:p>
        </p:txBody>
      </p:sp>
      <p:sp>
        <p:nvSpPr>
          <p:cNvPr id="96" name="Shape 94"/>
          <p:cNvSpPr/>
          <p:nvPr/>
        </p:nvSpPr>
        <p:spPr>
          <a:xfrm>
            <a:off x="4158422" y="4069080"/>
            <a:ext cx="0" cy="128016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929822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3929822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ar-SA" sz="900" dirty="0"/>
          </a:p>
        </p:txBody>
      </p:sp>
      <p:sp>
        <p:nvSpPr>
          <p:cNvPr id="99" name="Shape 97"/>
          <p:cNvSpPr/>
          <p:nvPr/>
        </p:nvSpPr>
        <p:spPr>
          <a:xfrm>
            <a:off x="3084540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3157692" y="5349240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175980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مشاركة المستندات تم التواصل مع السلامة لتسهيل إصدار التصريح.</a:t>
            </a:r>
            <a:endParaRPr lang="ar-SA" sz="750" dirty="0"/>
          </a:p>
        </p:txBody>
      </p:sp>
      <p:sp>
        <p:nvSpPr>
          <p:cNvPr id="102" name="Shape 100"/>
          <p:cNvSpPr/>
          <p:nvPr/>
        </p:nvSpPr>
        <p:spPr>
          <a:xfrm>
            <a:off x="3507585" y="3447288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278985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3278985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ar-SA" sz="900" dirty="0"/>
          </a:p>
        </p:txBody>
      </p:sp>
      <p:sp>
        <p:nvSpPr>
          <p:cNvPr id="105" name="Shape 103"/>
          <p:cNvSpPr/>
          <p:nvPr/>
        </p:nvSpPr>
        <p:spPr>
          <a:xfrm>
            <a:off x="2433702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6" name="Shape 104"/>
          <p:cNvSpPr/>
          <p:nvPr/>
        </p:nvSpPr>
        <p:spPr>
          <a:xfrm>
            <a:off x="2506854" y="239572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525142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أُرسل تصريح العمل للإدارات المعنية للموافقة عليه.</a:t>
            </a:r>
            <a:endParaRPr lang="ar-SA" sz="750" dirty="0"/>
          </a:p>
        </p:txBody>
      </p:sp>
      <p:sp>
        <p:nvSpPr>
          <p:cNvPr id="108" name="Shape 106"/>
          <p:cNvSpPr/>
          <p:nvPr/>
        </p:nvSpPr>
        <p:spPr>
          <a:xfrm>
            <a:off x="2856747" y="4069080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628147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0" name="Text 108"/>
          <p:cNvSpPr/>
          <p:nvPr/>
        </p:nvSpPr>
        <p:spPr>
          <a:xfrm>
            <a:off x="2628147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ar-SA" sz="900" dirty="0"/>
          </a:p>
        </p:txBody>
      </p:sp>
      <p:sp>
        <p:nvSpPr>
          <p:cNvPr id="111" name="Shape 109"/>
          <p:cNvSpPr/>
          <p:nvPr/>
        </p:nvSpPr>
        <p:spPr>
          <a:xfrm>
            <a:off x="1782865" y="4233672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2" name="Shape 110"/>
          <p:cNvSpPr/>
          <p:nvPr/>
        </p:nvSpPr>
        <p:spPr>
          <a:xfrm>
            <a:off x="1856017" y="4233672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874305" y="4325112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وردت ملاحظات إضافية من إدارات أخرى.</a:t>
            </a:r>
            <a:endParaRPr lang="ar-SA" sz="750" dirty="0"/>
          </a:p>
        </p:txBody>
      </p:sp>
      <p:sp>
        <p:nvSpPr>
          <p:cNvPr id="114" name="Shape 112"/>
          <p:cNvSpPr/>
          <p:nvPr/>
        </p:nvSpPr>
        <p:spPr>
          <a:xfrm>
            <a:off x="2205909" y="2350008"/>
            <a:ext cx="0" cy="126187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77309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1977309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ar-SA" sz="900" dirty="0"/>
          </a:p>
        </p:txBody>
      </p:sp>
      <p:sp>
        <p:nvSpPr>
          <p:cNvPr id="117" name="Shape 115"/>
          <p:cNvSpPr/>
          <p:nvPr/>
        </p:nvSpPr>
        <p:spPr>
          <a:xfrm>
            <a:off x="1132027" y="129844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1205179" y="129844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223467" y="138988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قُدّمت المراجعة الثالثة للبيان للجميع للاعتماد.</a:t>
            </a:r>
            <a:endParaRPr lang="ar-SA" sz="750" dirty="0"/>
          </a:p>
        </p:txBody>
      </p:sp>
      <p:sp>
        <p:nvSpPr>
          <p:cNvPr id="120" name="Shape 118"/>
          <p:cNvSpPr/>
          <p:nvPr/>
        </p:nvSpPr>
        <p:spPr>
          <a:xfrm>
            <a:off x="1555072" y="4069080"/>
            <a:ext cx="0" cy="128016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326472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2" name="Text 120"/>
          <p:cNvSpPr/>
          <p:nvPr/>
        </p:nvSpPr>
        <p:spPr>
          <a:xfrm>
            <a:off x="1326472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ar-SA" sz="900" dirty="0"/>
          </a:p>
        </p:txBody>
      </p:sp>
      <p:sp>
        <p:nvSpPr>
          <p:cNvPr id="123" name="Shape 121"/>
          <p:cNvSpPr/>
          <p:nvPr/>
        </p:nvSpPr>
        <p:spPr>
          <a:xfrm>
            <a:off x="481190" y="5349240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4" name="Shape 122"/>
          <p:cNvSpPr/>
          <p:nvPr/>
        </p:nvSpPr>
        <p:spPr>
          <a:xfrm>
            <a:off x="554342" y="5349240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72630" y="5440680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 إغلاق الاستفسار المتبقي بشأن بيان طريقة العمل.</a:t>
            </a:r>
            <a:endParaRPr lang="ar-SA" sz="750" dirty="0"/>
          </a:p>
        </p:txBody>
      </p:sp>
      <p:sp>
        <p:nvSpPr>
          <p:cNvPr id="126" name="Shape 124"/>
          <p:cNvSpPr/>
          <p:nvPr/>
        </p:nvSpPr>
        <p:spPr>
          <a:xfrm>
            <a:off x="904234" y="3447288"/>
            <a:ext cx="0" cy="164592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75634" y="3611880"/>
            <a:ext cx="457200" cy="457200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8" name="Text 126"/>
          <p:cNvSpPr/>
          <p:nvPr/>
        </p:nvSpPr>
        <p:spPr>
          <a:xfrm>
            <a:off x="675634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ar-SA" sz="900" dirty="0"/>
          </a:p>
        </p:txBody>
      </p:sp>
      <p:sp>
        <p:nvSpPr>
          <p:cNvPr id="129" name="Shape 127"/>
          <p:cNvSpPr/>
          <p:nvPr/>
        </p:nvSpPr>
        <p:spPr>
          <a:xfrm>
            <a:off x="274320" y="2395728"/>
            <a:ext cx="2147764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0" name="Shape 128"/>
          <p:cNvSpPr/>
          <p:nvPr/>
        </p:nvSpPr>
        <p:spPr>
          <a:xfrm>
            <a:off x="347472" y="2395728"/>
            <a:ext cx="200146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365760" y="2487168"/>
            <a:ext cx="19648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</a:t>
            </a:r>
            <a:endParaRPr lang="ar-SA" sz="7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750" dirty="0">
                <a:solidFill>
                  <a:srgbClr val="444D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أصبح تصريح العمل جاهزاً للتوقيع والإصدار.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2026-10-21T11:24:51Z</dcterms:created>
  <dcterms:modified xsi:type="dcterms:W3CDTF">2026-10-21T11:24:51Z</dcterms:modified>
</cp:coreProperties>
</file>