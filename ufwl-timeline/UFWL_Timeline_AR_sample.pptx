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 (1/3)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23499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</a:t>
            </a:r>
            <a:endParaRPr lang="ar-SA" sz="950" dirty="0"/>
          </a:p>
        </p:txBody>
      </p:sp>
      <p:sp>
        <p:nvSpPr>
          <p:cNvPr id="6" name="Shape 4"/>
          <p:cNvSpPr/>
          <p:nvPr/>
        </p:nvSpPr>
        <p:spPr>
          <a:xfrm>
            <a:off x="1035832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7475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</a:t>
            </a:r>
            <a:endParaRPr lang="ar-SA" sz="950" dirty="0"/>
          </a:p>
        </p:txBody>
      </p:sp>
      <p:sp>
        <p:nvSpPr>
          <p:cNvPr id="8" name="Shape 6"/>
          <p:cNvSpPr/>
          <p:nvPr/>
        </p:nvSpPr>
        <p:spPr>
          <a:xfrm>
            <a:off x="900958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2601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</a:t>
            </a:r>
            <a:endParaRPr lang="ar-SA" sz="950" dirty="0"/>
          </a:p>
        </p:txBody>
      </p:sp>
      <p:sp>
        <p:nvSpPr>
          <p:cNvPr id="10" name="Shape 8"/>
          <p:cNvSpPr/>
          <p:nvPr/>
        </p:nvSpPr>
        <p:spPr>
          <a:xfrm>
            <a:off x="766084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727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</a:t>
            </a:r>
            <a:endParaRPr lang="ar-SA" sz="950" dirty="0"/>
          </a:p>
        </p:txBody>
      </p:sp>
      <p:sp>
        <p:nvSpPr>
          <p:cNvPr id="12" name="Shape 10"/>
          <p:cNvSpPr/>
          <p:nvPr/>
        </p:nvSpPr>
        <p:spPr>
          <a:xfrm>
            <a:off x="10721035" y="3621024"/>
            <a:ext cx="922020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7699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3295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8891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487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0083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8815" y="3621024"/>
            <a:ext cx="922020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21035" y="3063240"/>
            <a:ext cx="0" cy="338328"/>
          </a:xfrm>
          <a:prstGeom prst="line">
            <a:avLst/>
          </a:prstGeom>
          <a:noFill/>
          <a:ln w="28575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65003" y="3401568"/>
            <a:ext cx="512064" cy="512064"/>
          </a:xfrm>
          <a:prstGeom prst="ellipse">
            <a:avLst/>
          </a:prstGeom>
          <a:solidFill>
            <a:srgbClr val="7A8791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46500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ar-SA" sz="1200" dirty="0"/>
          </a:p>
        </p:txBody>
      </p:sp>
      <p:sp>
        <p:nvSpPr>
          <p:cNvPr id="22" name="Shape 20"/>
          <p:cNvSpPr/>
          <p:nvPr/>
        </p:nvSpPr>
        <p:spPr>
          <a:xfrm>
            <a:off x="10080955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87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80955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</a:t>
            </a:r>
            <a:endParaRPr lang="ar-SA" sz="1000" dirty="0"/>
          </a:p>
        </p:txBody>
      </p:sp>
      <p:sp>
        <p:nvSpPr>
          <p:cNvPr id="24" name="Shape 22"/>
          <p:cNvSpPr/>
          <p:nvPr/>
        </p:nvSpPr>
        <p:spPr>
          <a:xfrm>
            <a:off x="8691067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782507" y="1371600"/>
            <a:ext cx="2951988" cy="73152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55659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· الخلفية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أغسطس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لتنفيذ أعمال الأساسات لإزالة خطر انهيار التربة.</a:t>
            </a:r>
            <a:endParaRPr lang="ar-SA" sz="850" dirty="0"/>
          </a:p>
        </p:txBody>
      </p:sp>
      <p:sp>
        <p:nvSpPr>
          <p:cNvPr id="27" name="Shape 25"/>
          <p:cNvSpPr/>
          <p:nvPr/>
        </p:nvSpPr>
        <p:spPr>
          <a:xfrm>
            <a:off x="8876995" y="3913632"/>
            <a:ext cx="0" cy="384048"/>
          </a:xfrm>
          <a:prstGeom prst="line">
            <a:avLst/>
          </a:prstGeom>
          <a:noFill/>
          <a:ln w="28575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1496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496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+28 يوم</a:t>
            </a:r>
            <a:endParaRPr lang="ar-SA" sz="850" dirty="0"/>
          </a:p>
        </p:txBody>
      </p:sp>
      <p:sp>
        <p:nvSpPr>
          <p:cNvPr id="30" name="Shape 28"/>
          <p:cNvSpPr/>
          <p:nvPr/>
        </p:nvSpPr>
        <p:spPr>
          <a:xfrm>
            <a:off x="8620963" y="3401568"/>
            <a:ext cx="512064" cy="512064"/>
          </a:xfrm>
          <a:prstGeom prst="ellipse">
            <a:avLst/>
          </a:prstGeom>
          <a:solidFill>
            <a:srgbClr val="7A8791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2096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ar-SA" sz="1200" dirty="0"/>
          </a:p>
        </p:txBody>
      </p:sp>
      <p:sp>
        <p:nvSpPr>
          <p:cNvPr id="32" name="Shape 30"/>
          <p:cNvSpPr/>
          <p:nvPr/>
        </p:nvSpPr>
        <p:spPr>
          <a:xfrm>
            <a:off x="8236915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879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36915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</a:t>
            </a:r>
            <a:endParaRPr lang="ar-SA" sz="1000" dirty="0"/>
          </a:p>
        </p:txBody>
      </p:sp>
      <p:sp>
        <p:nvSpPr>
          <p:cNvPr id="34" name="Shape 32"/>
          <p:cNvSpPr/>
          <p:nvPr/>
        </p:nvSpPr>
        <p:spPr>
          <a:xfrm>
            <a:off x="7309561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401001" y="4297680"/>
            <a:ext cx="2951988" cy="73152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74153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· الخلفية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سبتمبر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رفضت إدارة التصاريح طلب تصريح العمل.</a:t>
            </a:r>
            <a:endParaRPr lang="ar-SA" sz="850" dirty="0"/>
          </a:p>
        </p:txBody>
      </p:sp>
      <p:sp>
        <p:nvSpPr>
          <p:cNvPr id="37" name="Shape 35"/>
          <p:cNvSpPr/>
          <p:nvPr/>
        </p:nvSpPr>
        <p:spPr>
          <a:xfrm>
            <a:off x="7032955" y="3063240"/>
            <a:ext cx="0" cy="338328"/>
          </a:xfrm>
          <a:prstGeom prst="line">
            <a:avLst/>
          </a:prstGeom>
          <a:noFill/>
          <a:ln w="28575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7092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7092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يوم</a:t>
            </a:r>
            <a:endParaRPr lang="ar-SA" sz="850" dirty="0"/>
          </a:p>
        </p:txBody>
      </p:sp>
      <p:sp>
        <p:nvSpPr>
          <p:cNvPr id="40" name="Shape 38"/>
          <p:cNvSpPr/>
          <p:nvPr/>
        </p:nvSpPr>
        <p:spPr>
          <a:xfrm>
            <a:off x="6776923" y="3401568"/>
            <a:ext cx="512064" cy="512064"/>
          </a:xfrm>
          <a:prstGeom prst="ellipse">
            <a:avLst/>
          </a:prstGeom>
          <a:solidFill>
            <a:srgbClr val="C8503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77692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ar-SA" sz="1200" dirty="0"/>
          </a:p>
        </p:txBody>
      </p:sp>
      <p:sp>
        <p:nvSpPr>
          <p:cNvPr id="42" name="Shape 40"/>
          <p:cNvSpPr/>
          <p:nvPr/>
        </p:nvSpPr>
        <p:spPr>
          <a:xfrm>
            <a:off x="6392875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8503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92875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</a:t>
            </a:r>
            <a:endParaRPr lang="ar-SA" sz="1000" dirty="0"/>
          </a:p>
        </p:txBody>
      </p:sp>
      <p:sp>
        <p:nvSpPr>
          <p:cNvPr id="44" name="Shape 42"/>
          <p:cNvSpPr/>
          <p:nvPr/>
        </p:nvSpPr>
        <p:spPr>
          <a:xfrm>
            <a:off x="5465521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556961" y="1371600"/>
            <a:ext cx="2951988" cy="73152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30113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· المرحلة 1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أوقفت إدارة التصاريح والسلامة جميع أنشطة المشروع بالموقع.</a:t>
            </a:r>
            <a:endParaRPr lang="ar-SA" sz="850" dirty="0"/>
          </a:p>
        </p:txBody>
      </p:sp>
      <p:sp>
        <p:nvSpPr>
          <p:cNvPr id="47" name="Shape 45"/>
          <p:cNvSpPr/>
          <p:nvPr/>
        </p:nvSpPr>
        <p:spPr>
          <a:xfrm>
            <a:off x="5188915" y="3913632"/>
            <a:ext cx="0" cy="384048"/>
          </a:xfrm>
          <a:prstGeom prst="line">
            <a:avLst/>
          </a:prstGeom>
          <a:noFill/>
          <a:ln w="28575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2688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2688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 يوم</a:t>
            </a:r>
            <a:endParaRPr lang="ar-SA" sz="850" dirty="0"/>
          </a:p>
        </p:txBody>
      </p:sp>
      <p:sp>
        <p:nvSpPr>
          <p:cNvPr id="50" name="Shape 48"/>
          <p:cNvSpPr/>
          <p:nvPr/>
        </p:nvSpPr>
        <p:spPr>
          <a:xfrm>
            <a:off x="4932883" y="3401568"/>
            <a:ext cx="512064" cy="512064"/>
          </a:xfrm>
          <a:prstGeom prst="ellipse">
            <a:avLst/>
          </a:prstGeom>
          <a:solidFill>
            <a:srgbClr val="C8503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3288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ar-SA" sz="1200" dirty="0"/>
          </a:p>
        </p:txBody>
      </p:sp>
      <p:sp>
        <p:nvSpPr>
          <p:cNvPr id="52" name="Shape 50"/>
          <p:cNvSpPr/>
          <p:nvPr/>
        </p:nvSpPr>
        <p:spPr>
          <a:xfrm>
            <a:off x="4548835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8503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48835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</a:t>
            </a:r>
            <a:endParaRPr lang="ar-SA" sz="1000" dirty="0"/>
          </a:p>
        </p:txBody>
      </p:sp>
      <p:sp>
        <p:nvSpPr>
          <p:cNvPr id="54" name="Shape 52"/>
          <p:cNvSpPr/>
          <p:nvPr/>
        </p:nvSpPr>
        <p:spPr>
          <a:xfrm>
            <a:off x="3621481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712921" y="4297680"/>
            <a:ext cx="2951988" cy="73152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86073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· المرحلة 1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مشتركة مع الإدارات المعنية (التصاريح وغيرها) لتقييم حالة الموقع.</a:t>
            </a:r>
            <a:endParaRPr lang="ar-SA" sz="850" dirty="0"/>
          </a:p>
        </p:txBody>
      </p:sp>
      <p:sp>
        <p:nvSpPr>
          <p:cNvPr id="57" name="Shape 55"/>
          <p:cNvSpPr/>
          <p:nvPr/>
        </p:nvSpPr>
        <p:spPr>
          <a:xfrm>
            <a:off x="3344875" y="3063240"/>
            <a:ext cx="0" cy="338328"/>
          </a:xfrm>
          <a:prstGeom prst="line">
            <a:avLst/>
          </a:prstGeom>
          <a:noFill/>
          <a:ln w="28575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8284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88284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850" dirty="0"/>
          </a:p>
        </p:txBody>
      </p:sp>
      <p:sp>
        <p:nvSpPr>
          <p:cNvPr id="60" name="Shape 58"/>
          <p:cNvSpPr/>
          <p:nvPr/>
        </p:nvSpPr>
        <p:spPr>
          <a:xfrm>
            <a:off x="3088843" y="3401568"/>
            <a:ext cx="512064" cy="512064"/>
          </a:xfrm>
          <a:prstGeom prst="ellipse">
            <a:avLst/>
          </a:prstGeom>
          <a:solidFill>
            <a:srgbClr val="C8503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308884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ar-SA" sz="1200" dirty="0"/>
          </a:p>
        </p:txBody>
      </p:sp>
      <p:sp>
        <p:nvSpPr>
          <p:cNvPr id="62" name="Shape 60"/>
          <p:cNvSpPr/>
          <p:nvPr/>
        </p:nvSpPr>
        <p:spPr>
          <a:xfrm>
            <a:off x="2704795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04795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</a:t>
            </a:r>
            <a:endParaRPr lang="ar-SA" sz="1000" dirty="0"/>
          </a:p>
        </p:txBody>
      </p:sp>
      <p:sp>
        <p:nvSpPr>
          <p:cNvPr id="64" name="Shape 62"/>
          <p:cNvSpPr/>
          <p:nvPr/>
        </p:nvSpPr>
        <p:spPr>
          <a:xfrm>
            <a:off x="1777441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1868881" y="1371600"/>
            <a:ext cx="2951988" cy="73152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42033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· المرحلة 1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أُرسلت إلى إدارة التصاريح بهدف استئناف العمل.</a:t>
            </a:r>
            <a:endParaRPr lang="ar-SA" sz="850" dirty="0"/>
          </a:p>
        </p:txBody>
      </p:sp>
      <p:sp>
        <p:nvSpPr>
          <p:cNvPr id="67" name="Shape 65"/>
          <p:cNvSpPr/>
          <p:nvPr/>
        </p:nvSpPr>
        <p:spPr>
          <a:xfrm>
            <a:off x="1500835" y="3913632"/>
            <a:ext cx="0" cy="384048"/>
          </a:xfrm>
          <a:prstGeom prst="line">
            <a:avLst/>
          </a:prstGeom>
          <a:noFill/>
          <a:ln w="28575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03880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03880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850" dirty="0"/>
          </a:p>
        </p:txBody>
      </p:sp>
      <p:sp>
        <p:nvSpPr>
          <p:cNvPr id="70" name="Shape 68"/>
          <p:cNvSpPr/>
          <p:nvPr/>
        </p:nvSpPr>
        <p:spPr>
          <a:xfrm>
            <a:off x="1244803" y="3401568"/>
            <a:ext cx="512064" cy="512064"/>
          </a:xfrm>
          <a:prstGeom prst="ellipse">
            <a:avLst/>
          </a:prstGeom>
          <a:solidFill>
            <a:srgbClr val="C8503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124480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ar-SA" sz="1200" dirty="0"/>
          </a:p>
        </p:txBody>
      </p:sp>
      <p:sp>
        <p:nvSpPr>
          <p:cNvPr id="72" name="Shape 70"/>
          <p:cNvSpPr/>
          <p:nvPr/>
        </p:nvSpPr>
        <p:spPr>
          <a:xfrm>
            <a:off x="860755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8503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60755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</a:t>
            </a:r>
            <a:endParaRPr lang="ar-SA" sz="1000" dirty="0"/>
          </a:p>
        </p:txBody>
      </p:sp>
      <p:sp>
        <p:nvSpPr>
          <p:cNvPr id="74" name="Shape 72"/>
          <p:cNvSpPr/>
          <p:nvPr/>
        </p:nvSpPr>
        <p:spPr>
          <a:xfrm>
            <a:off x="365760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57200" y="4297680"/>
            <a:ext cx="2951988" cy="73152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30352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· المرحلة 1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طلبت إدارة التصاريح خطة عمل أكثر تفصيلاً.</a:t>
            </a:r>
            <a:endParaRPr lang="ar-SA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 (2/3)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23499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</a:t>
            </a:r>
            <a:endParaRPr lang="ar-SA" sz="950" dirty="0"/>
          </a:p>
        </p:txBody>
      </p:sp>
      <p:sp>
        <p:nvSpPr>
          <p:cNvPr id="6" name="Shape 4"/>
          <p:cNvSpPr/>
          <p:nvPr/>
        </p:nvSpPr>
        <p:spPr>
          <a:xfrm>
            <a:off x="1035832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7475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</a:t>
            </a:r>
            <a:endParaRPr lang="ar-SA" sz="950" dirty="0"/>
          </a:p>
        </p:txBody>
      </p:sp>
      <p:sp>
        <p:nvSpPr>
          <p:cNvPr id="8" name="Shape 6"/>
          <p:cNvSpPr/>
          <p:nvPr/>
        </p:nvSpPr>
        <p:spPr>
          <a:xfrm>
            <a:off x="900958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2601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</a:t>
            </a:r>
            <a:endParaRPr lang="ar-SA" sz="950" dirty="0"/>
          </a:p>
        </p:txBody>
      </p:sp>
      <p:sp>
        <p:nvSpPr>
          <p:cNvPr id="10" name="Shape 8"/>
          <p:cNvSpPr/>
          <p:nvPr/>
        </p:nvSpPr>
        <p:spPr>
          <a:xfrm>
            <a:off x="766084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727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</a:t>
            </a:r>
            <a:endParaRPr lang="ar-SA" sz="950" dirty="0"/>
          </a:p>
        </p:txBody>
      </p:sp>
      <p:sp>
        <p:nvSpPr>
          <p:cNvPr id="12" name="Shape 10"/>
          <p:cNvSpPr/>
          <p:nvPr/>
        </p:nvSpPr>
        <p:spPr>
          <a:xfrm>
            <a:off x="10721035" y="3621024"/>
            <a:ext cx="92202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7699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3295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8891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487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00835" y="3621024"/>
            <a:ext cx="1844040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8815" y="3621024"/>
            <a:ext cx="922020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21035" y="3063240"/>
            <a:ext cx="0" cy="33832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65003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46500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ar-SA" sz="1200" dirty="0"/>
          </a:p>
        </p:txBody>
      </p:sp>
      <p:sp>
        <p:nvSpPr>
          <p:cNvPr id="22" name="Shape 20"/>
          <p:cNvSpPr/>
          <p:nvPr/>
        </p:nvSpPr>
        <p:spPr>
          <a:xfrm>
            <a:off x="10080955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80955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</a:t>
            </a:r>
            <a:endParaRPr lang="ar-SA" sz="1000" dirty="0"/>
          </a:p>
        </p:txBody>
      </p:sp>
      <p:sp>
        <p:nvSpPr>
          <p:cNvPr id="24" name="Shape 22"/>
          <p:cNvSpPr/>
          <p:nvPr/>
        </p:nvSpPr>
        <p:spPr>
          <a:xfrm>
            <a:off x="8691067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782507" y="137160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55659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· المرحلة 2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طريقة العمل وخطة العمل التفصيلية لجميع الإدارات للمراجعة والاعتماد.</a:t>
            </a:r>
            <a:endParaRPr lang="ar-SA" sz="850" dirty="0"/>
          </a:p>
        </p:txBody>
      </p:sp>
      <p:sp>
        <p:nvSpPr>
          <p:cNvPr id="27" name="Shape 25"/>
          <p:cNvSpPr/>
          <p:nvPr/>
        </p:nvSpPr>
        <p:spPr>
          <a:xfrm>
            <a:off x="8876995" y="3913632"/>
            <a:ext cx="0" cy="38404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1496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496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نفس اليوم</a:t>
            </a:r>
            <a:endParaRPr lang="ar-SA" sz="850" dirty="0"/>
          </a:p>
        </p:txBody>
      </p:sp>
      <p:sp>
        <p:nvSpPr>
          <p:cNvPr id="30" name="Shape 28"/>
          <p:cNvSpPr/>
          <p:nvPr/>
        </p:nvSpPr>
        <p:spPr>
          <a:xfrm>
            <a:off x="8620963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2096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ar-SA" sz="1200" dirty="0"/>
          </a:p>
        </p:txBody>
      </p:sp>
      <p:sp>
        <p:nvSpPr>
          <p:cNvPr id="32" name="Shape 30"/>
          <p:cNvSpPr/>
          <p:nvPr/>
        </p:nvSpPr>
        <p:spPr>
          <a:xfrm>
            <a:off x="8236915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36915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</a:t>
            </a:r>
            <a:endParaRPr lang="ar-SA" sz="1000" dirty="0"/>
          </a:p>
        </p:txBody>
      </p:sp>
      <p:sp>
        <p:nvSpPr>
          <p:cNvPr id="34" name="Shape 32"/>
          <p:cNvSpPr/>
          <p:nvPr/>
        </p:nvSpPr>
        <p:spPr>
          <a:xfrm>
            <a:off x="7309561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401001" y="429768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74153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· المرحلة 2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الاتفاق على المضي قدماً وطلب مراجعة الإجراءات واعتمادها من الإدارات.</a:t>
            </a:r>
            <a:endParaRPr lang="ar-SA" sz="850" dirty="0"/>
          </a:p>
        </p:txBody>
      </p:sp>
      <p:sp>
        <p:nvSpPr>
          <p:cNvPr id="37" name="Shape 35"/>
          <p:cNvSpPr/>
          <p:nvPr/>
        </p:nvSpPr>
        <p:spPr>
          <a:xfrm>
            <a:off x="7032955" y="3063240"/>
            <a:ext cx="0" cy="33832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7092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7092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850" dirty="0"/>
          </a:p>
        </p:txBody>
      </p:sp>
      <p:sp>
        <p:nvSpPr>
          <p:cNvPr id="40" name="Shape 38"/>
          <p:cNvSpPr/>
          <p:nvPr/>
        </p:nvSpPr>
        <p:spPr>
          <a:xfrm>
            <a:off x="6776923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77692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ar-SA" sz="1200" dirty="0"/>
          </a:p>
        </p:txBody>
      </p:sp>
      <p:sp>
        <p:nvSpPr>
          <p:cNvPr id="42" name="Shape 40"/>
          <p:cNvSpPr/>
          <p:nvPr/>
        </p:nvSpPr>
        <p:spPr>
          <a:xfrm>
            <a:off x="6392875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92875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</a:t>
            </a:r>
            <a:endParaRPr lang="ar-SA" sz="1000" dirty="0"/>
          </a:p>
        </p:txBody>
      </p:sp>
      <p:sp>
        <p:nvSpPr>
          <p:cNvPr id="44" name="Shape 42"/>
          <p:cNvSpPr/>
          <p:nvPr/>
        </p:nvSpPr>
        <p:spPr>
          <a:xfrm>
            <a:off x="5465521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556961" y="137160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30113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· المرحلة 2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الرد على كل الاستفسارات بشأن الأعمال وإجراءات السلامة.</a:t>
            </a:r>
            <a:endParaRPr lang="ar-SA" sz="850" dirty="0"/>
          </a:p>
        </p:txBody>
      </p:sp>
      <p:sp>
        <p:nvSpPr>
          <p:cNvPr id="47" name="Shape 45"/>
          <p:cNvSpPr/>
          <p:nvPr/>
        </p:nvSpPr>
        <p:spPr>
          <a:xfrm>
            <a:off x="5188915" y="3913632"/>
            <a:ext cx="0" cy="38404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2688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2688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يوم</a:t>
            </a:r>
            <a:endParaRPr lang="ar-SA" sz="850" dirty="0"/>
          </a:p>
        </p:txBody>
      </p:sp>
      <p:sp>
        <p:nvSpPr>
          <p:cNvPr id="50" name="Shape 48"/>
          <p:cNvSpPr/>
          <p:nvPr/>
        </p:nvSpPr>
        <p:spPr>
          <a:xfrm>
            <a:off x="4932883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3288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ar-SA" sz="1200" dirty="0"/>
          </a:p>
        </p:txBody>
      </p:sp>
      <p:sp>
        <p:nvSpPr>
          <p:cNvPr id="52" name="Shape 50"/>
          <p:cNvSpPr/>
          <p:nvPr/>
        </p:nvSpPr>
        <p:spPr>
          <a:xfrm>
            <a:off x="4548835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48835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</a:t>
            </a:r>
            <a:endParaRPr lang="ar-SA" sz="1000" dirty="0"/>
          </a:p>
        </p:txBody>
      </p:sp>
      <p:sp>
        <p:nvSpPr>
          <p:cNvPr id="54" name="Shape 52"/>
          <p:cNvSpPr/>
          <p:nvPr/>
        </p:nvSpPr>
        <p:spPr>
          <a:xfrm>
            <a:off x="3621481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712921" y="429768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86073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· المرحلة 2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أثارت إدارة الهندسة استيضاحاً على بيان طريقة العمل.</a:t>
            </a:r>
            <a:endParaRPr lang="ar-SA" sz="850" dirty="0"/>
          </a:p>
        </p:txBody>
      </p:sp>
      <p:sp>
        <p:nvSpPr>
          <p:cNvPr id="57" name="Shape 55"/>
          <p:cNvSpPr/>
          <p:nvPr/>
        </p:nvSpPr>
        <p:spPr>
          <a:xfrm>
            <a:off x="3344875" y="3063240"/>
            <a:ext cx="0" cy="338328"/>
          </a:xfrm>
          <a:prstGeom prst="line">
            <a:avLst/>
          </a:prstGeom>
          <a:noFill/>
          <a:ln w="28575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8284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88284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850" dirty="0"/>
          </a:p>
        </p:txBody>
      </p:sp>
      <p:sp>
        <p:nvSpPr>
          <p:cNvPr id="60" name="Shape 58"/>
          <p:cNvSpPr/>
          <p:nvPr/>
        </p:nvSpPr>
        <p:spPr>
          <a:xfrm>
            <a:off x="3088843" y="3401568"/>
            <a:ext cx="512064" cy="512064"/>
          </a:xfrm>
          <a:prstGeom prst="ellipse">
            <a:avLst/>
          </a:prstGeom>
          <a:solidFill>
            <a:srgbClr val="00778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308884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ar-SA" sz="1200" dirty="0"/>
          </a:p>
        </p:txBody>
      </p:sp>
      <p:sp>
        <p:nvSpPr>
          <p:cNvPr id="62" name="Shape 60"/>
          <p:cNvSpPr/>
          <p:nvPr/>
        </p:nvSpPr>
        <p:spPr>
          <a:xfrm>
            <a:off x="2704795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778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04795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</a:t>
            </a:r>
            <a:endParaRPr lang="ar-SA" sz="1000" dirty="0"/>
          </a:p>
        </p:txBody>
      </p:sp>
      <p:sp>
        <p:nvSpPr>
          <p:cNvPr id="64" name="Shape 62"/>
          <p:cNvSpPr/>
          <p:nvPr/>
        </p:nvSpPr>
        <p:spPr>
          <a:xfrm>
            <a:off x="1777441" y="137160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1868881" y="1371600"/>
            <a:ext cx="2951988" cy="73152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42033" y="149961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· المرحلة 2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قُدّمت المراجعة الثانية للبيان إلى جميع الإدارات المعنية.</a:t>
            </a:r>
            <a:endParaRPr lang="ar-SA" sz="850" dirty="0"/>
          </a:p>
        </p:txBody>
      </p:sp>
      <p:sp>
        <p:nvSpPr>
          <p:cNvPr id="67" name="Shape 65"/>
          <p:cNvSpPr/>
          <p:nvPr/>
        </p:nvSpPr>
        <p:spPr>
          <a:xfrm>
            <a:off x="1500835" y="3913632"/>
            <a:ext cx="0" cy="38404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038807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038807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850" dirty="0"/>
          </a:p>
        </p:txBody>
      </p:sp>
      <p:sp>
        <p:nvSpPr>
          <p:cNvPr id="70" name="Shape 68"/>
          <p:cNvSpPr/>
          <p:nvPr/>
        </p:nvSpPr>
        <p:spPr>
          <a:xfrm>
            <a:off x="1244803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124480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ar-SA" sz="1200" dirty="0"/>
          </a:p>
        </p:txBody>
      </p:sp>
      <p:sp>
        <p:nvSpPr>
          <p:cNvPr id="72" name="Shape 70"/>
          <p:cNvSpPr/>
          <p:nvPr/>
        </p:nvSpPr>
        <p:spPr>
          <a:xfrm>
            <a:off x="860755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60755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</a:t>
            </a:r>
            <a:endParaRPr lang="ar-SA" sz="1000" dirty="0"/>
          </a:p>
        </p:txBody>
      </p:sp>
      <p:sp>
        <p:nvSpPr>
          <p:cNvPr id="74" name="Shape 72"/>
          <p:cNvSpPr/>
          <p:nvPr/>
        </p:nvSpPr>
        <p:spPr>
          <a:xfrm>
            <a:off x="365760" y="4297680"/>
            <a:ext cx="313486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57200" y="4297680"/>
            <a:ext cx="2951988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30352" y="4425696"/>
            <a:ext cx="28056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· المرحلة 3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مشاركة المستندات تم التواصل مع السلامة لتسهيل إصدار التصريح.</a:t>
            </a:r>
            <a:endParaRPr lang="ar-SA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 (3/3)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23499" y="1033272"/>
            <a:ext cx="891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</a:t>
            </a:r>
            <a:endParaRPr lang="ar-SA" sz="950" dirty="0"/>
          </a:p>
        </p:txBody>
      </p:sp>
      <p:sp>
        <p:nvSpPr>
          <p:cNvPr id="6" name="Shape 4"/>
          <p:cNvSpPr/>
          <p:nvPr/>
        </p:nvSpPr>
        <p:spPr>
          <a:xfrm>
            <a:off x="1035832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7475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</a:t>
            </a:r>
            <a:endParaRPr lang="ar-SA" sz="950" dirty="0"/>
          </a:p>
        </p:txBody>
      </p:sp>
      <p:sp>
        <p:nvSpPr>
          <p:cNvPr id="8" name="Shape 6"/>
          <p:cNvSpPr/>
          <p:nvPr/>
        </p:nvSpPr>
        <p:spPr>
          <a:xfrm>
            <a:off x="900958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2601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</a:t>
            </a:r>
            <a:endParaRPr lang="ar-SA" sz="950" dirty="0"/>
          </a:p>
        </p:txBody>
      </p:sp>
      <p:sp>
        <p:nvSpPr>
          <p:cNvPr id="10" name="Shape 8"/>
          <p:cNvSpPr/>
          <p:nvPr/>
        </p:nvSpPr>
        <p:spPr>
          <a:xfrm>
            <a:off x="7660843" y="1097280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7279" y="1033272"/>
            <a:ext cx="10287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</a:t>
            </a:r>
            <a:endParaRPr lang="ar-SA" sz="950" dirty="0"/>
          </a:p>
        </p:txBody>
      </p:sp>
      <p:sp>
        <p:nvSpPr>
          <p:cNvPr id="12" name="Shape 10"/>
          <p:cNvSpPr/>
          <p:nvPr/>
        </p:nvSpPr>
        <p:spPr>
          <a:xfrm>
            <a:off x="10536631" y="3621024"/>
            <a:ext cx="1106424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23783" y="3621024"/>
            <a:ext cx="221284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10935" y="3621024"/>
            <a:ext cx="221284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98087" y="3621024"/>
            <a:ext cx="221284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85239" y="3621024"/>
            <a:ext cx="221284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8815" y="3621024"/>
            <a:ext cx="1106424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36631" y="3063240"/>
            <a:ext cx="0" cy="33832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80599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280599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ar-SA" sz="1200" dirty="0"/>
          </a:p>
        </p:txBody>
      </p:sp>
      <p:sp>
        <p:nvSpPr>
          <p:cNvPr id="21" name="Shape 19"/>
          <p:cNvSpPr/>
          <p:nvPr/>
        </p:nvSpPr>
        <p:spPr>
          <a:xfrm>
            <a:off x="9896551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96551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</a:t>
            </a:r>
            <a:endParaRPr lang="ar-SA" sz="1000" dirty="0"/>
          </a:p>
        </p:txBody>
      </p:sp>
      <p:sp>
        <p:nvSpPr>
          <p:cNvPr id="23" name="Shape 21"/>
          <p:cNvSpPr/>
          <p:nvPr/>
        </p:nvSpPr>
        <p:spPr>
          <a:xfrm>
            <a:off x="8625535" y="137160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716975" y="137160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90127" y="149961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· المرحلة 3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أُرسل تصريح العمل للإدارات المعنية للموافقة عليه.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8323783" y="3913632"/>
            <a:ext cx="0" cy="38404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46159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46159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850" dirty="0"/>
          </a:p>
        </p:txBody>
      </p:sp>
      <p:sp>
        <p:nvSpPr>
          <p:cNvPr id="29" name="Shape 27"/>
          <p:cNvSpPr/>
          <p:nvPr/>
        </p:nvSpPr>
        <p:spPr>
          <a:xfrm>
            <a:off x="8067751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067751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ar-SA" sz="1200" dirty="0"/>
          </a:p>
        </p:txBody>
      </p:sp>
      <p:sp>
        <p:nvSpPr>
          <p:cNvPr id="31" name="Shape 29"/>
          <p:cNvSpPr/>
          <p:nvPr/>
        </p:nvSpPr>
        <p:spPr>
          <a:xfrm>
            <a:off x="7683703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3703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</a:t>
            </a:r>
            <a:endParaRPr lang="ar-SA" sz="1000" dirty="0"/>
          </a:p>
        </p:txBody>
      </p:sp>
      <p:sp>
        <p:nvSpPr>
          <p:cNvPr id="33" name="Shape 31"/>
          <p:cNvSpPr/>
          <p:nvPr/>
        </p:nvSpPr>
        <p:spPr>
          <a:xfrm>
            <a:off x="6723583" y="429768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815023" y="429768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88175" y="442569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· المرحلة 3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وردت ملاحظات إضافية من إدارات أخرى.</a:t>
            </a:r>
            <a:endParaRPr lang="ar-SA" sz="850" dirty="0"/>
          </a:p>
        </p:txBody>
      </p:sp>
      <p:sp>
        <p:nvSpPr>
          <p:cNvPr id="36" name="Shape 34"/>
          <p:cNvSpPr/>
          <p:nvPr/>
        </p:nvSpPr>
        <p:spPr>
          <a:xfrm>
            <a:off x="6110935" y="3063240"/>
            <a:ext cx="0" cy="33832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33311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33311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 يوم</a:t>
            </a:r>
            <a:endParaRPr lang="ar-SA" sz="850" dirty="0"/>
          </a:p>
        </p:txBody>
      </p:sp>
      <p:sp>
        <p:nvSpPr>
          <p:cNvPr id="39" name="Shape 37"/>
          <p:cNvSpPr/>
          <p:nvPr/>
        </p:nvSpPr>
        <p:spPr>
          <a:xfrm>
            <a:off x="5854903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854903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ar-SA" sz="1200" dirty="0"/>
          </a:p>
        </p:txBody>
      </p:sp>
      <p:sp>
        <p:nvSpPr>
          <p:cNvPr id="41" name="Shape 39"/>
          <p:cNvSpPr/>
          <p:nvPr/>
        </p:nvSpPr>
        <p:spPr>
          <a:xfrm>
            <a:off x="5470855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70855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</a:t>
            </a:r>
            <a:endParaRPr lang="ar-SA" sz="1000" dirty="0"/>
          </a:p>
        </p:txBody>
      </p:sp>
      <p:sp>
        <p:nvSpPr>
          <p:cNvPr id="43" name="Shape 41"/>
          <p:cNvSpPr/>
          <p:nvPr/>
        </p:nvSpPr>
        <p:spPr>
          <a:xfrm>
            <a:off x="4510735" y="137160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02175" y="137160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75327" y="149961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· المرحلة 3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قُدّمت المراجعة الثالثة للبيان للجميع للاعتماد.</a:t>
            </a:r>
            <a:endParaRPr lang="ar-SA" sz="850" dirty="0"/>
          </a:p>
        </p:txBody>
      </p:sp>
      <p:sp>
        <p:nvSpPr>
          <p:cNvPr id="46" name="Shape 44"/>
          <p:cNvSpPr/>
          <p:nvPr/>
        </p:nvSpPr>
        <p:spPr>
          <a:xfrm>
            <a:off x="3898087" y="3913632"/>
            <a:ext cx="0" cy="38404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20463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20463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850" dirty="0"/>
          </a:p>
        </p:txBody>
      </p:sp>
      <p:sp>
        <p:nvSpPr>
          <p:cNvPr id="49" name="Shape 47"/>
          <p:cNvSpPr/>
          <p:nvPr/>
        </p:nvSpPr>
        <p:spPr>
          <a:xfrm>
            <a:off x="3642055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3642055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ar-SA" sz="1200" dirty="0"/>
          </a:p>
        </p:txBody>
      </p:sp>
      <p:sp>
        <p:nvSpPr>
          <p:cNvPr id="51" name="Shape 49"/>
          <p:cNvSpPr/>
          <p:nvPr/>
        </p:nvSpPr>
        <p:spPr>
          <a:xfrm>
            <a:off x="3258007" y="3072384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58007" y="30723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</a:t>
            </a:r>
            <a:endParaRPr lang="ar-SA" sz="1000" dirty="0"/>
          </a:p>
        </p:txBody>
      </p:sp>
      <p:sp>
        <p:nvSpPr>
          <p:cNvPr id="53" name="Shape 51"/>
          <p:cNvSpPr/>
          <p:nvPr/>
        </p:nvSpPr>
        <p:spPr>
          <a:xfrm>
            <a:off x="2297887" y="429768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2389327" y="429768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462479" y="442569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· المرحلة 3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إغلاق الاستفسار المتبقي بشأن بيان طريقة العمل.</a:t>
            </a:r>
            <a:endParaRPr lang="ar-SA" sz="850" dirty="0"/>
          </a:p>
        </p:txBody>
      </p:sp>
      <p:sp>
        <p:nvSpPr>
          <p:cNvPr id="56" name="Shape 54"/>
          <p:cNvSpPr/>
          <p:nvPr/>
        </p:nvSpPr>
        <p:spPr>
          <a:xfrm>
            <a:off x="1685239" y="3063240"/>
            <a:ext cx="0" cy="338328"/>
          </a:xfrm>
          <a:prstGeom prst="line">
            <a:avLst/>
          </a:prstGeom>
          <a:noFill/>
          <a:ln w="28575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07615" y="3529584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EEF3F5"/>
          </a:solidFill>
          <a:ln w="9525">
            <a:solidFill>
              <a:srgbClr val="CFD9D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07615" y="352958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يوم</a:t>
            </a:r>
            <a:endParaRPr lang="ar-SA" sz="850" dirty="0"/>
          </a:p>
        </p:txBody>
      </p:sp>
      <p:sp>
        <p:nvSpPr>
          <p:cNvPr id="59" name="Shape 57"/>
          <p:cNvSpPr/>
          <p:nvPr/>
        </p:nvSpPr>
        <p:spPr>
          <a:xfrm>
            <a:off x="1429207" y="3401568"/>
            <a:ext cx="512064" cy="512064"/>
          </a:xfrm>
          <a:prstGeom prst="ellipse">
            <a:avLst/>
          </a:prstGeom>
          <a:solidFill>
            <a:srgbClr val="2E9E6B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1429207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ar-SA" sz="1200" dirty="0"/>
          </a:p>
        </p:txBody>
      </p:sp>
      <p:sp>
        <p:nvSpPr>
          <p:cNvPr id="61" name="Shape 59"/>
          <p:cNvSpPr/>
          <p:nvPr/>
        </p:nvSpPr>
        <p:spPr>
          <a:xfrm>
            <a:off x="1045159" y="3968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9E6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45159" y="39684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</a:t>
            </a:r>
            <a:endParaRPr lang="ar-SA" sz="1000" dirty="0"/>
          </a:p>
        </p:txBody>
      </p:sp>
      <p:sp>
        <p:nvSpPr>
          <p:cNvPr id="63" name="Shape 61"/>
          <p:cNvSpPr/>
          <p:nvPr/>
        </p:nvSpPr>
        <p:spPr>
          <a:xfrm>
            <a:off x="365760" y="1371600"/>
            <a:ext cx="32004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57200" y="1371600"/>
            <a:ext cx="3017520" cy="73152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0352" y="1499616"/>
            <a:ext cx="28712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8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· المرحلة 3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5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9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أكتوبر 2026</a:t>
            </a:r>
            <a:endParaRPr lang="ar-SA" sz="8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1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أصبح تصريح العمل جاهزاً للتوقيع والإصدار.</a:t>
            </a:r>
            <a:endParaRPr lang="ar-SA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2026-10-21T11:14:22Z</dcterms:created>
  <dcterms:modified xsi:type="dcterms:W3CDTF">2026-10-21T11:14:22Z</dcterms:modified>
</cp:coreProperties>
</file>