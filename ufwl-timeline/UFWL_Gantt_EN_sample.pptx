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7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6035040" cy="6858000"/>
          </a:xfrm>
          <a:prstGeom prst="parallelogram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4023360" cy="6858000"/>
          </a:xfrm>
          <a:prstGeom prst="parallelogram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0" y="0"/>
            <a:ext cx="1005840" cy="6858000"/>
          </a:xfrm>
          <a:prstGeom prst="parallelogram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54864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02200"/>
            <a:ext cx="1920240" cy="10644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500" b="1" spc="500" kern="0" dirty="0">
                <a:solidFill>
                  <a:srgbClr val="D6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731520" y="4297680"/>
            <a:ext cx="146304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5262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Suspension and Shoring Works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31520" y="5806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D6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August 2026  →  21 October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Gantt Chart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6568" y="123444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6568" y="2926080"/>
            <a:ext cx="2697480" cy="9144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448" y="1325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09448" y="2194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· permit request → permit ready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06928" y="123444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06928" y="2926080"/>
            <a:ext cx="2697480" cy="91440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89808" y="1325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489808" y="2194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· suspension → permit ready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7288" y="123444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87288" y="2926080"/>
            <a:ext cx="2697480" cy="9144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0168" y="1325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370168" y="2194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67648" y="123444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67648" y="2926080"/>
            <a:ext cx="2697480" cy="91440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50528" y="1325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9250528" y="2194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/ WBS level 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6568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Elapsed days per phase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6568" y="3749040"/>
            <a:ext cx="6855490" cy="640080"/>
          </a:xfrm>
          <a:prstGeom prst="rect">
            <a:avLst/>
          </a:prstGeom>
          <a:solidFill>
            <a:srgbClr val="7A87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568" y="3749040"/>
            <a:ext cx="68554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4000" y="4434840"/>
            <a:ext cx="678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4000" y="4937760"/>
            <a:ext cx="6782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days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8633" y="3749040"/>
            <a:ext cx="1297372" cy="640080"/>
          </a:xfrm>
          <a:prstGeom prst="rect">
            <a:avLst/>
          </a:prstGeom>
          <a:solidFill>
            <a:srgbClr val="C850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8633" y="3749040"/>
            <a:ext cx="1297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346065" y="4434840"/>
            <a:ext cx="1224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46065" y="4937760"/>
            <a:ext cx="122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52582" y="3749040"/>
            <a:ext cx="1297372" cy="640080"/>
          </a:xfrm>
          <a:prstGeom prst="rect">
            <a:avLst/>
          </a:prstGeom>
          <a:solidFill>
            <a:srgbClr val="0077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52582" y="3749040"/>
            <a:ext cx="1297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680014" y="4434840"/>
            <a:ext cx="1224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80014" y="4937760"/>
            <a:ext cx="122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986530" y="3749040"/>
            <a:ext cx="1742022" cy="64008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86530" y="3749040"/>
            <a:ext cx="17420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0013962" y="4434840"/>
            <a:ext cx="16688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013962" y="4937760"/>
            <a:ext cx="1668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6568" y="55321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0888" y="5779008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58088" y="55595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B8C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milestone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8088" y="581558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 – Work Permit Ready for Signature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17820" y="1088136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0700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371600"/>
            <a:ext cx="4343400" cy="539496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371600"/>
            <a:ext cx="4069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/ Milestone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371600"/>
            <a:ext cx="603117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371600"/>
            <a:ext cx="6031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12277" y="1371600"/>
            <a:ext cx="361869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12277" y="1371600"/>
            <a:ext cx="36186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30976" y="1371600"/>
            <a:ext cx="289495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0976" y="1371600"/>
            <a:ext cx="2894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70916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82978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97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8297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82978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50407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040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95040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4950407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103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103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7103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5071030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165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9165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19165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531227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1227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31227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543290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3290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43290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555352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5352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55352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567414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41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6741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567414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477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477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79477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579477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539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1539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91539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591539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360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60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60360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615664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5664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15664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627726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7726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627726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639788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3978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63978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651851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1851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651851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651851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3913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3913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63913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663913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5975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75975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75975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675975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8038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8038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688038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700100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00100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90" name="Text 88"/>
          <p:cNvSpPr/>
          <p:nvPr/>
        </p:nvSpPr>
        <p:spPr>
          <a:xfrm>
            <a:off x="700100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12162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162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712162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724224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422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72422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736287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36287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99" name="Text 97"/>
          <p:cNvSpPr/>
          <p:nvPr/>
        </p:nvSpPr>
        <p:spPr>
          <a:xfrm>
            <a:off x="736287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6287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8349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48349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748349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748349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041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6041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76041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760411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72474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72474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11" name="Text 109"/>
          <p:cNvSpPr/>
          <p:nvPr/>
        </p:nvSpPr>
        <p:spPr>
          <a:xfrm>
            <a:off x="772474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784536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4536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784536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796598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659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17" name="Text 115"/>
          <p:cNvSpPr/>
          <p:nvPr/>
        </p:nvSpPr>
        <p:spPr>
          <a:xfrm>
            <a:off x="79659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808661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08661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808661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820723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20723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23" name="Text 121"/>
          <p:cNvSpPr/>
          <p:nvPr/>
        </p:nvSpPr>
        <p:spPr>
          <a:xfrm>
            <a:off x="820723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820723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2785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32785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27" name="Text 125"/>
          <p:cNvSpPr/>
          <p:nvPr/>
        </p:nvSpPr>
        <p:spPr>
          <a:xfrm>
            <a:off x="832785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832785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844848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4484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31" name="Text 129"/>
          <p:cNvSpPr/>
          <p:nvPr/>
        </p:nvSpPr>
        <p:spPr>
          <a:xfrm>
            <a:off x="84484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844848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56910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56910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35" name="Text 133"/>
          <p:cNvSpPr/>
          <p:nvPr/>
        </p:nvSpPr>
        <p:spPr>
          <a:xfrm>
            <a:off x="856910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868972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68972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38" name="Text 136"/>
          <p:cNvSpPr/>
          <p:nvPr/>
        </p:nvSpPr>
        <p:spPr>
          <a:xfrm>
            <a:off x="868972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881035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1035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41" name="Text 139"/>
          <p:cNvSpPr/>
          <p:nvPr/>
        </p:nvSpPr>
        <p:spPr>
          <a:xfrm>
            <a:off x="881035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893097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3097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44" name="Text 142"/>
          <p:cNvSpPr/>
          <p:nvPr/>
        </p:nvSpPr>
        <p:spPr>
          <a:xfrm>
            <a:off x="893097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50" dirty="0"/>
          </a:p>
        </p:txBody>
      </p:sp>
      <p:sp>
        <p:nvSpPr>
          <p:cNvPr id="145" name="Shape 143"/>
          <p:cNvSpPr/>
          <p:nvPr/>
        </p:nvSpPr>
        <p:spPr>
          <a:xfrm>
            <a:off x="905159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05159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47" name="Text 145"/>
          <p:cNvSpPr/>
          <p:nvPr/>
        </p:nvSpPr>
        <p:spPr>
          <a:xfrm>
            <a:off x="905159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905159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17222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17222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51" name="Text 149"/>
          <p:cNvSpPr/>
          <p:nvPr/>
        </p:nvSpPr>
        <p:spPr>
          <a:xfrm>
            <a:off x="917222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917222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29284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2928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55" name="Text 153"/>
          <p:cNvSpPr/>
          <p:nvPr/>
        </p:nvSpPr>
        <p:spPr>
          <a:xfrm>
            <a:off x="92928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929284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41346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41346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59" name="Text 157"/>
          <p:cNvSpPr/>
          <p:nvPr/>
        </p:nvSpPr>
        <p:spPr>
          <a:xfrm>
            <a:off x="941346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50" dirty="0"/>
          </a:p>
        </p:txBody>
      </p:sp>
      <p:sp>
        <p:nvSpPr>
          <p:cNvPr id="160" name="Shape 158"/>
          <p:cNvSpPr/>
          <p:nvPr/>
        </p:nvSpPr>
        <p:spPr>
          <a:xfrm>
            <a:off x="953409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53409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62" name="Text 160"/>
          <p:cNvSpPr/>
          <p:nvPr/>
        </p:nvSpPr>
        <p:spPr>
          <a:xfrm>
            <a:off x="953409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96547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6547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65" name="Text 163"/>
          <p:cNvSpPr/>
          <p:nvPr/>
        </p:nvSpPr>
        <p:spPr>
          <a:xfrm>
            <a:off x="96547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650" dirty="0"/>
          </a:p>
        </p:txBody>
      </p:sp>
      <p:sp>
        <p:nvSpPr>
          <p:cNvPr id="166" name="Shape 164"/>
          <p:cNvSpPr/>
          <p:nvPr/>
        </p:nvSpPr>
        <p:spPr>
          <a:xfrm>
            <a:off x="977533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977533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68" name="Text 166"/>
          <p:cNvSpPr/>
          <p:nvPr/>
        </p:nvSpPr>
        <p:spPr>
          <a:xfrm>
            <a:off x="977533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169" name="Shape 167"/>
          <p:cNvSpPr/>
          <p:nvPr/>
        </p:nvSpPr>
        <p:spPr>
          <a:xfrm>
            <a:off x="989596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989596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71" name="Text 169"/>
          <p:cNvSpPr/>
          <p:nvPr/>
        </p:nvSpPr>
        <p:spPr>
          <a:xfrm>
            <a:off x="989596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50" dirty="0"/>
          </a:p>
        </p:txBody>
      </p:sp>
      <p:sp>
        <p:nvSpPr>
          <p:cNvPr id="172" name="Shape 170"/>
          <p:cNvSpPr/>
          <p:nvPr/>
        </p:nvSpPr>
        <p:spPr>
          <a:xfrm>
            <a:off x="989596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01658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0165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75" name="Text 173"/>
          <p:cNvSpPr/>
          <p:nvPr/>
        </p:nvSpPr>
        <p:spPr>
          <a:xfrm>
            <a:off x="100165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176" name="Shape 174"/>
          <p:cNvSpPr/>
          <p:nvPr/>
        </p:nvSpPr>
        <p:spPr>
          <a:xfrm>
            <a:off x="1001658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13720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013720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79" name="Text 177"/>
          <p:cNvSpPr/>
          <p:nvPr/>
        </p:nvSpPr>
        <p:spPr>
          <a:xfrm>
            <a:off x="1013720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1013720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025783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025783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83" name="Text 181"/>
          <p:cNvSpPr/>
          <p:nvPr/>
        </p:nvSpPr>
        <p:spPr>
          <a:xfrm>
            <a:off x="1025783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184" name="Shape 182"/>
          <p:cNvSpPr/>
          <p:nvPr/>
        </p:nvSpPr>
        <p:spPr>
          <a:xfrm>
            <a:off x="1037845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037845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86" name="Text 184"/>
          <p:cNvSpPr/>
          <p:nvPr/>
        </p:nvSpPr>
        <p:spPr>
          <a:xfrm>
            <a:off x="1037845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187" name="Shape 185"/>
          <p:cNvSpPr/>
          <p:nvPr/>
        </p:nvSpPr>
        <p:spPr>
          <a:xfrm>
            <a:off x="1049907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049907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89" name="Text 187"/>
          <p:cNvSpPr/>
          <p:nvPr/>
        </p:nvSpPr>
        <p:spPr>
          <a:xfrm>
            <a:off x="1049907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190" name="Shape 188"/>
          <p:cNvSpPr/>
          <p:nvPr/>
        </p:nvSpPr>
        <p:spPr>
          <a:xfrm>
            <a:off x="1061970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061970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92" name="Text 190"/>
          <p:cNvSpPr/>
          <p:nvPr/>
        </p:nvSpPr>
        <p:spPr>
          <a:xfrm>
            <a:off x="1061970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193" name="Shape 191"/>
          <p:cNvSpPr/>
          <p:nvPr/>
        </p:nvSpPr>
        <p:spPr>
          <a:xfrm>
            <a:off x="1074032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074032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95" name="Text 193"/>
          <p:cNvSpPr/>
          <p:nvPr/>
        </p:nvSpPr>
        <p:spPr>
          <a:xfrm>
            <a:off x="1074032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196" name="Shape 194"/>
          <p:cNvSpPr/>
          <p:nvPr/>
        </p:nvSpPr>
        <p:spPr>
          <a:xfrm>
            <a:off x="1074032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086094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8609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99" name="Text 197"/>
          <p:cNvSpPr/>
          <p:nvPr/>
        </p:nvSpPr>
        <p:spPr>
          <a:xfrm>
            <a:off x="108609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200" name="Shape 198"/>
          <p:cNvSpPr/>
          <p:nvPr/>
        </p:nvSpPr>
        <p:spPr>
          <a:xfrm>
            <a:off x="1086094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098157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98157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203" name="Text 201"/>
          <p:cNvSpPr/>
          <p:nvPr/>
        </p:nvSpPr>
        <p:spPr>
          <a:xfrm>
            <a:off x="1098157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204" name="Shape 202"/>
          <p:cNvSpPr/>
          <p:nvPr/>
        </p:nvSpPr>
        <p:spPr>
          <a:xfrm>
            <a:off x="10981572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110219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110219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207" name="Text 205"/>
          <p:cNvSpPr/>
          <p:nvPr/>
        </p:nvSpPr>
        <p:spPr>
          <a:xfrm>
            <a:off x="1110219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208" name="Shape 206"/>
          <p:cNvSpPr/>
          <p:nvPr/>
        </p:nvSpPr>
        <p:spPr>
          <a:xfrm>
            <a:off x="112228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112228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10" name="Text 208"/>
          <p:cNvSpPr/>
          <p:nvPr/>
        </p:nvSpPr>
        <p:spPr>
          <a:xfrm>
            <a:off x="112228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50" dirty="0"/>
          </a:p>
        </p:txBody>
      </p:sp>
      <p:sp>
        <p:nvSpPr>
          <p:cNvPr id="211" name="Shape 209"/>
          <p:cNvSpPr/>
          <p:nvPr/>
        </p:nvSpPr>
        <p:spPr>
          <a:xfrm>
            <a:off x="1134344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1134344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213" name="Text 211"/>
          <p:cNvSpPr/>
          <p:nvPr/>
        </p:nvSpPr>
        <p:spPr>
          <a:xfrm>
            <a:off x="1134344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650" dirty="0"/>
          </a:p>
        </p:txBody>
      </p:sp>
      <p:sp>
        <p:nvSpPr>
          <p:cNvPr id="214" name="Shape 212"/>
          <p:cNvSpPr/>
          <p:nvPr/>
        </p:nvSpPr>
        <p:spPr>
          <a:xfrm>
            <a:off x="1146406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146406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16" name="Text 214"/>
          <p:cNvSpPr/>
          <p:nvPr/>
        </p:nvSpPr>
        <p:spPr>
          <a:xfrm>
            <a:off x="1146406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650" dirty="0"/>
          </a:p>
        </p:txBody>
      </p:sp>
      <p:sp>
        <p:nvSpPr>
          <p:cNvPr id="217" name="Shape 215"/>
          <p:cNvSpPr/>
          <p:nvPr/>
        </p:nvSpPr>
        <p:spPr>
          <a:xfrm>
            <a:off x="1158468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115846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219" name="Text 217"/>
          <p:cNvSpPr/>
          <p:nvPr/>
        </p:nvSpPr>
        <p:spPr>
          <a:xfrm>
            <a:off x="115846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650" dirty="0"/>
          </a:p>
        </p:txBody>
      </p:sp>
      <p:sp>
        <p:nvSpPr>
          <p:cNvPr id="220" name="Shape 218"/>
          <p:cNvSpPr/>
          <p:nvPr/>
        </p:nvSpPr>
        <p:spPr>
          <a:xfrm>
            <a:off x="1158468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170531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170531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223" name="Text 221"/>
          <p:cNvSpPr/>
          <p:nvPr/>
        </p:nvSpPr>
        <p:spPr>
          <a:xfrm>
            <a:off x="1170531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50" dirty="0"/>
          </a:p>
        </p:txBody>
      </p:sp>
      <p:sp>
        <p:nvSpPr>
          <p:cNvPr id="224" name="Shape 222"/>
          <p:cNvSpPr/>
          <p:nvPr/>
        </p:nvSpPr>
        <p:spPr>
          <a:xfrm>
            <a:off x="1170531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65760" y="1911096"/>
            <a:ext cx="4343400" cy="213795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709160" y="1911096"/>
            <a:ext cx="7116775" cy="213795"/>
          </a:xfrm>
          <a:prstGeom prst="rect">
            <a:avLst/>
          </a:prstGeom>
          <a:solidFill>
            <a:srgbClr val="7A8791">
              <a:alpha val="14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457200" y="1911096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Background – Permit Request</a:t>
            </a:r>
            <a:endParaRPr lang="en-US" sz="900" dirty="0"/>
          </a:p>
        </p:txBody>
      </p:sp>
      <p:sp>
        <p:nvSpPr>
          <p:cNvPr id="228" name="Shape 226"/>
          <p:cNvSpPr/>
          <p:nvPr/>
        </p:nvSpPr>
        <p:spPr>
          <a:xfrm>
            <a:off x="5191653" y="1970959"/>
            <a:ext cx="3498076" cy="94070"/>
          </a:xfrm>
          <a:prstGeom prst="roundRect">
            <a:avLst>
              <a:gd name="adj" fmla="val 38882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65760" y="2124891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4709160" y="2124891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438912" y="2159099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438912" y="2159099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650" dirty="0"/>
          </a:p>
        </p:txBody>
      </p:sp>
      <p:sp>
        <p:nvSpPr>
          <p:cNvPr id="233" name="Text 231"/>
          <p:cNvSpPr/>
          <p:nvPr/>
        </p:nvSpPr>
        <p:spPr>
          <a:xfrm>
            <a:off x="960120" y="212489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</a:t>
            </a:r>
            <a:endParaRPr lang="en-US" sz="800" dirty="0"/>
          </a:p>
        </p:txBody>
      </p:sp>
      <p:sp>
        <p:nvSpPr>
          <p:cNvPr id="234" name="Text 232"/>
          <p:cNvSpPr/>
          <p:nvPr/>
        </p:nvSpPr>
        <p:spPr>
          <a:xfrm>
            <a:off x="1645920" y="212489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800" dirty="0"/>
          </a:p>
        </p:txBody>
      </p:sp>
      <p:sp>
        <p:nvSpPr>
          <p:cNvPr id="235" name="Shape 233"/>
          <p:cNvSpPr/>
          <p:nvPr/>
        </p:nvSpPr>
        <p:spPr>
          <a:xfrm>
            <a:off x="4709160" y="2231789"/>
            <a:ext cx="542805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36" name="Shape 234"/>
          <p:cNvSpPr/>
          <p:nvPr/>
        </p:nvSpPr>
        <p:spPr>
          <a:xfrm>
            <a:off x="5251965" y="2178340"/>
            <a:ext cx="3377453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5251965" y="2178340"/>
            <a:ext cx="3377453" cy="106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days</a:t>
            </a:r>
            <a:endParaRPr lang="en-US" sz="650" dirty="0"/>
          </a:p>
        </p:txBody>
      </p:sp>
      <p:sp>
        <p:nvSpPr>
          <p:cNvPr id="238" name="Shape 236"/>
          <p:cNvSpPr/>
          <p:nvPr/>
        </p:nvSpPr>
        <p:spPr>
          <a:xfrm>
            <a:off x="5185688" y="2165513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365760" y="233868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709160" y="233868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38912" y="237289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438912" y="237289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650" dirty="0"/>
          </a:p>
        </p:txBody>
      </p:sp>
      <p:sp>
        <p:nvSpPr>
          <p:cNvPr id="243" name="Text 241"/>
          <p:cNvSpPr/>
          <p:nvPr/>
        </p:nvSpPr>
        <p:spPr>
          <a:xfrm>
            <a:off x="960120" y="233868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</a:t>
            </a:r>
            <a:endParaRPr lang="en-US" sz="800" dirty="0"/>
          </a:p>
        </p:txBody>
      </p:sp>
      <p:sp>
        <p:nvSpPr>
          <p:cNvPr id="244" name="Text 242"/>
          <p:cNvSpPr/>
          <p:nvPr/>
        </p:nvSpPr>
        <p:spPr>
          <a:xfrm>
            <a:off x="1645920" y="233868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800" dirty="0"/>
          </a:p>
        </p:txBody>
      </p:sp>
      <p:sp>
        <p:nvSpPr>
          <p:cNvPr id="245" name="Shape 243"/>
          <p:cNvSpPr/>
          <p:nvPr/>
        </p:nvSpPr>
        <p:spPr>
          <a:xfrm>
            <a:off x="4709160" y="2445585"/>
            <a:ext cx="3920258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46" name="Shape 244"/>
          <p:cNvSpPr/>
          <p:nvPr/>
        </p:nvSpPr>
        <p:spPr>
          <a:xfrm>
            <a:off x="8629418" y="2392136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9064439" y="233868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700" dirty="0"/>
          </a:p>
        </p:txBody>
      </p:sp>
      <p:sp>
        <p:nvSpPr>
          <p:cNvPr id="248" name="Shape 246"/>
          <p:cNvSpPr/>
          <p:nvPr/>
        </p:nvSpPr>
        <p:spPr>
          <a:xfrm>
            <a:off x="8563141" y="2379308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65760" y="2552482"/>
            <a:ext cx="4343400" cy="213795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709160" y="2552482"/>
            <a:ext cx="7116775" cy="213795"/>
          </a:xfrm>
          <a:prstGeom prst="rect">
            <a:avLst/>
          </a:prstGeom>
          <a:solidFill>
            <a:srgbClr val="C8503F">
              <a:alpha val="14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457200" y="255248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Phase 1 – Suspension &amp; Site Assessment</a:t>
            </a:r>
            <a:endParaRPr lang="en-US" sz="900" dirty="0"/>
          </a:p>
        </p:txBody>
      </p:sp>
      <p:sp>
        <p:nvSpPr>
          <p:cNvPr id="252" name="Shape 250"/>
          <p:cNvSpPr/>
          <p:nvPr/>
        </p:nvSpPr>
        <p:spPr>
          <a:xfrm>
            <a:off x="8930976" y="2612345"/>
            <a:ext cx="603117" cy="94070"/>
          </a:xfrm>
          <a:prstGeom prst="roundRect">
            <a:avLst>
              <a:gd name="adj" fmla="val 388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365760" y="2766278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709160" y="2766278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38912" y="280048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438912" y="280048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960120" y="276627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</a:t>
            </a:r>
            <a:endParaRPr lang="en-US" sz="800" dirty="0"/>
          </a:p>
        </p:txBody>
      </p:sp>
      <p:sp>
        <p:nvSpPr>
          <p:cNvPr id="258" name="Text 256"/>
          <p:cNvSpPr/>
          <p:nvPr/>
        </p:nvSpPr>
        <p:spPr>
          <a:xfrm>
            <a:off x="1645920" y="276627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800" dirty="0"/>
          </a:p>
        </p:txBody>
      </p:sp>
      <p:sp>
        <p:nvSpPr>
          <p:cNvPr id="259" name="Shape 257"/>
          <p:cNvSpPr/>
          <p:nvPr/>
        </p:nvSpPr>
        <p:spPr>
          <a:xfrm>
            <a:off x="4709160" y="2873175"/>
            <a:ext cx="428212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60" name="Shape 258"/>
          <p:cNvSpPr/>
          <p:nvPr/>
        </p:nvSpPr>
        <p:spPr>
          <a:xfrm>
            <a:off x="8991287" y="2819727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9305686" y="276627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days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8925011" y="2806899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65760" y="2980073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4709160" y="2980073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38912" y="301428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438912" y="301428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650" dirty="0"/>
          </a:p>
        </p:txBody>
      </p:sp>
      <p:sp>
        <p:nvSpPr>
          <p:cNvPr id="267" name="Text 265"/>
          <p:cNvSpPr/>
          <p:nvPr/>
        </p:nvSpPr>
        <p:spPr>
          <a:xfrm>
            <a:off x="960120" y="298007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Oct</a:t>
            </a:r>
            <a:endParaRPr lang="en-US" sz="800" dirty="0"/>
          </a:p>
        </p:txBody>
      </p:sp>
      <p:sp>
        <p:nvSpPr>
          <p:cNvPr id="268" name="Text 266"/>
          <p:cNvSpPr/>
          <p:nvPr/>
        </p:nvSpPr>
        <p:spPr>
          <a:xfrm>
            <a:off x="1645920" y="298007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800" dirty="0"/>
          </a:p>
        </p:txBody>
      </p:sp>
      <p:sp>
        <p:nvSpPr>
          <p:cNvPr id="269" name="Shape 267"/>
          <p:cNvSpPr/>
          <p:nvPr/>
        </p:nvSpPr>
        <p:spPr>
          <a:xfrm>
            <a:off x="4709160" y="3086971"/>
            <a:ext cx="4523374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70" name="Shape 268"/>
          <p:cNvSpPr/>
          <p:nvPr/>
        </p:nvSpPr>
        <p:spPr>
          <a:xfrm>
            <a:off x="9232534" y="303352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9426309" y="298007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9166257" y="3020694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365760" y="3193869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4709160" y="3193869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38912" y="322807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438912" y="322807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650" dirty="0"/>
          </a:p>
        </p:txBody>
      </p:sp>
      <p:sp>
        <p:nvSpPr>
          <p:cNvPr id="277" name="Text 275"/>
          <p:cNvSpPr/>
          <p:nvPr/>
        </p:nvSpPr>
        <p:spPr>
          <a:xfrm>
            <a:off x="960120" y="319386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Oct</a:t>
            </a:r>
            <a:endParaRPr lang="en-US" sz="800" dirty="0"/>
          </a:p>
        </p:txBody>
      </p:sp>
      <p:sp>
        <p:nvSpPr>
          <p:cNvPr id="278" name="Text 276"/>
          <p:cNvSpPr/>
          <p:nvPr/>
        </p:nvSpPr>
        <p:spPr>
          <a:xfrm>
            <a:off x="1645920" y="319386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800" dirty="0"/>
          </a:p>
        </p:txBody>
      </p:sp>
      <p:sp>
        <p:nvSpPr>
          <p:cNvPr id="279" name="Shape 277"/>
          <p:cNvSpPr/>
          <p:nvPr/>
        </p:nvSpPr>
        <p:spPr>
          <a:xfrm>
            <a:off x="4709160" y="3300766"/>
            <a:ext cx="464399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80" name="Shape 278"/>
          <p:cNvSpPr/>
          <p:nvPr/>
        </p:nvSpPr>
        <p:spPr>
          <a:xfrm>
            <a:off x="9353157" y="3247317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9546933" y="319386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282" name="Shape 280"/>
          <p:cNvSpPr/>
          <p:nvPr/>
        </p:nvSpPr>
        <p:spPr>
          <a:xfrm>
            <a:off x="9286881" y="3234490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65760" y="3407664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709160" y="3407664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438912" y="344187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438912" y="344187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650" dirty="0"/>
          </a:p>
        </p:txBody>
      </p:sp>
      <p:sp>
        <p:nvSpPr>
          <p:cNvPr id="287" name="Text 285"/>
          <p:cNvSpPr/>
          <p:nvPr/>
        </p:nvSpPr>
        <p:spPr>
          <a:xfrm>
            <a:off x="960120" y="340766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Oct</a:t>
            </a:r>
            <a:endParaRPr lang="en-US" sz="800" dirty="0"/>
          </a:p>
        </p:txBody>
      </p:sp>
      <p:sp>
        <p:nvSpPr>
          <p:cNvPr id="288" name="Text 286"/>
          <p:cNvSpPr/>
          <p:nvPr/>
        </p:nvSpPr>
        <p:spPr>
          <a:xfrm>
            <a:off x="1645920" y="340766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800" dirty="0"/>
          </a:p>
        </p:txBody>
      </p:sp>
      <p:sp>
        <p:nvSpPr>
          <p:cNvPr id="289" name="Shape 287"/>
          <p:cNvSpPr/>
          <p:nvPr/>
        </p:nvSpPr>
        <p:spPr>
          <a:xfrm>
            <a:off x="4709160" y="3514562"/>
            <a:ext cx="4764621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90" name="Shape 288"/>
          <p:cNvSpPr/>
          <p:nvPr/>
        </p:nvSpPr>
        <p:spPr>
          <a:xfrm>
            <a:off x="9473781" y="3461113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9788179" y="340766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days</a:t>
            </a:r>
            <a:endParaRPr lang="en-US" sz="700" dirty="0"/>
          </a:p>
        </p:txBody>
      </p:sp>
      <p:sp>
        <p:nvSpPr>
          <p:cNvPr id="292" name="Shape 290"/>
          <p:cNvSpPr/>
          <p:nvPr/>
        </p:nvSpPr>
        <p:spPr>
          <a:xfrm>
            <a:off x="9407504" y="3448285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65760" y="3621459"/>
            <a:ext cx="4343400" cy="213795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709160" y="3621459"/>
            <a:ext cx="7116775" cy="213795"/>
          </a:xfrm>
          <a:prstGeom prst="rect">
            <a:avLst/>
          </a:prstGeom>
          <a:solidFill>
            <a:srgbClr val="00778B">
              <a:alpha val="14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457200" y="3621459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Phase 2 – Method Statement Preparation &amp; Review</a:t>
            </a:r>
            <a:endParaRPr lang="en-US" sz="900" dirty="0"/>
          </a:p>
        </p:txBody>
      </p:sp>
      <p:sp>
        <p:nvSpPr>
          <p:cNvPr id="296" name="Shape 294"/>
          <p:cNvSpPr/>
          <p:nvPr/>
        </p:nvSpPr>
        <p:spPr>
          <a:xfrm>
            <a:off x="9654716" y="3681322"/>
            <a:ext cx="723740" cy="94070"/>
          </a:xfrm>
          <a:prstGeom prst="roundRect">
            <a:avLst>
              <a:gd name="adj" fmla="val 38882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65760" y="383525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4709160" y="383525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438912" y="386946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438912" y="386946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650" dirty="0"/>
          </a:p>
        </p:txBody>
      </p:sp>
      <p:sp>
        <p:nvSpPr>
          <p:cNvPr id="301" name="Text 299"/>
          <p:cNvSpPr/>
          <p:nvPr/>
        </p:nvSpPr>
        <p:spPr>
          <a:xfrm>
            <a:off x="960120" y="383525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</a:t>
            </a:r>
            <a:endParaRPr lang="en-US" sz="800" dirty="0"/>
          </a:p>
        </p:txBody>
      </p:sp>
      <p:sp>
        <p:nvSpPr>
          <p:cNvPr id="302" name="Text 300"/>
          <p:cNvSpPr/>
          <p:nvPr/>
        </p:nvSpPr>
        <p:spPr>
          <a:xfrm>
            <a:off x="1645920" y="383525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800" dirty="0"/>
          </a:p>
        </p:txBody>
      </p:sp>
      <p:sp>
        <p:nvSpPr>
          <p:cNvPr id="303" name="Shape 301"/>
          <p:cNvSpPr/>
          <p:nvPr/>
        </p:nvSpPr>
        <p:spPr>
          <a:xfrm>
            <a:off x="4709160" y="3942153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04" name="Shape 302"/>
          <p:cNvSpPr/>
          <p:nvPr/>
        </p:nvSpPr>
        <p:spPr>
          <a:xfrm>
            <a:off x="9648751" y="3875876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65760" y="4049050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4709160" y="4049050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438912" y="408325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438912" y="408325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650" dirty="0"/>
          </a:p>
        </p:txBody>
      </p:sp>
      <p:sp>
        <p:nvSpPr>
          <p:cNvPr id="309" name="Text 307"/>
          <p:cNvSpPr/>
          <p:nvPr/>
        </p:nvSpPr>
        <p:spPr>
          <a:xfrm>
            <a:off x="960120" y="4049050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</a:t>
            </a:r>
            <a:endParaRPr lang="en-US" sz="800" dirty="0"/>
          </a:p>
        </p:txBody>
      </p:sp>
      <p:sp>
        <p:nvSpPr>
          <p:cNvPr id="310" name="Text 308"/>
          <p:cNvSpPr/>
          <p:nvPr/>
        </p:nvSpPr>
        <p:spPr>
          <a:xfrm>
            <a:off x="1645920" y="4049050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800" dirty="0"/>
          </a:p>
        </p:txBody>
      </p:sp>
      <p:sp>
        <p:nvSpPr>
          <p:cNvPr id="311" name="Shape 309"/>
          <p:cNvSpPr/>
          <p:nvPr/>
        </p:nvSpPr>
        <p:spPr>
          <a:xfrm>
            <a:off x="4709160" y="4155948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12" name="Shape 310"/>
          <p:cNvSpPr/>
          <p:nvPr/>
        </p:nvSpPr>
        <p:spPr>
          <a:xfrm>
            <a:off x="9715027" y="4102499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13" name="Text 311"/>
          <p:cNvSpPr/>
          <p:nvPr/>
        </p:nvSpPr>
        <p:spPr>
          <a:xfrm>
            <a:off x="9908803" y="4049050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14" name="Shape 312"/>
          <p:cNvSpPr/>
          <p:nvPr/>
        </p:nvSpPr>
        <p:spPr>
          <a:xfrm>
            <a:off x="9648751" y="4089671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65760" y="4262846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4709160" y="4262846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438912" y="4297053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438912" y="4297053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650" dirty="0"/>
          </a:p>
        </p:txBody>
      </p:sp>
      <p:sp>
        <p:nvSpPr>
          <p:cNvPr id="319" name="Text 317"/>
          <p:cNvSpPr/>
          <p:nvPr/>
        </p:nvSpPr>
        <p:spPr>
          <a:xfrm>
            <a:off x="960120" y="4262846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</a:t>
            </a:r>
            <a:endParaRPr lang="en-US" sz="800" dirty="0"/>
          </a:p>
        </p:txBody>
      </p:sp>
      <p:sp>
        <p:nvSpPr>
          <p:cNvPr id="320" name="Text 318"/>
          <p:cNvSpPr/>
          <p:nvPr/>
        </p:nvSpPr>
        <p:spPr>
          <a:xfrm>
            <a:off x="1645920" y="4262846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800" dirty="0"/>
          </a:p>
        </p:txBody>
      </p:sp>
      <p:sp>
        <p:nvSpPr>
          <p:cNvPr id="321" name="Shape 319"/>
          <p:cNvSpPr/>
          <p:nvPr/>
        </p:nvSpPr>
        <p:spPr>
          <a:xfrm>
            <a:off x="4709160" y="4369743"/>
            <a:ext cx="512649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22" name="Shape 320"/>
          <p:cNvSpPr/>
          <p:nvPr/>
        </p:nvSpPr>
        <p:spPr>
          <a:xfrm>
            <a:off x="9835651" y="4316295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270673" y="4262846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700" dirty="0"/>
          </a:p>
        </p:txBody>
      </p:sp>
      <p:sp>
        <p:nvSpPr>
          <p:cNvPr id="324" name="Shape 322"/>
          <p:cNvSpPr/>
          <p:nvPr/>
        </p:nvSpPr>
        <p:spPr>
          <a:xfrm>
            <a:off x="9769374" y="4303467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65760" y="4476641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4709160" y="4476641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438912" y="451084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438912" y="451084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650" dirty="0"/>
          </a:p>
        </p:txBody>
      </p:sp>
      <p:sp>
        <p:nvSpPr>
          <p:cNvPr id="329" name="Text 327"/>
          <p:cNvSpPr/>
          <p:nvPr/>
        </p:nvSpPr>
        <p:spPr>
          <a:xfrm>
            <a:off x="960120" y="447664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Oct</a:t>
            </a:r>
            <a:endParaRPr lang="en-US" sz="800" dirty="0"/>
          </a:p>
        </p:txBody>
      </p:sp>
      <p:sp>
        <p:nvSpPr>
          <p:cNvPr id="330" name="Text 328"/>
          <p:cNvSpPr/>
          <p:nvPr/>
        </p:nvSpPr>
        <p:spPr>
          <a:xfrm>
            <a:off x="1645920" y="447664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800" dirty="0"/>
          </a:p>
        </p:txBody>
      </p:sp>
      <p:sp>
        <p:nvSpPr>
          <p:cNvPr id="331" name="Shape 329"/>
          <p:cNvSpPr/>
          <p:nvPr/>
        </p:nvSpPr>
        <p:spPr>
          <a:xfrm>
            <a:off x="4709160" y="4583539"/>
            <a:ext cx="548836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32" name="Shape 330"/>
          <p:cNvSpPr/>
          <p:nvPr/>
        </p:nvSpPr>
        <p:spPr>
          <a:xfrm>
            <a:off x="10197521" y="4530090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10391296" y="4476641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34" name="Shape 332"/>
          <p:cNvSpPr/>
          <p:nvPr/>
        </p:nvSpPr>
        <p:spPr>
          <a:xfrm>
            <a:off x="10131244" y="4517262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5760" y="4690437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709160" y="4690437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38912" y="472464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438912" y="472464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650" dirty="0"/>
          </a:p>
        </p:txBody>
      </p:sp>
      <p:sp>
        <p:nvSpPr>
          <p:cNvPr id="339" name="Text 337"/>
          <p:cNvSpPr/>
          <p:nvPr/>
        </p:nvSpPr>
        <p:spPr>
          <a:xfrm>
            <a:off x="960120" y="469043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</a:t>
            </a:r>
            <a:endParaRPr lang="en-US" sz="800" dirty="0"/>
          </a:p>
        </p:txBody>
      </p:sp>
      <p:sp>
        <p:nvSpPr>
          <p:cNvPr id="340" name="Text 338"/>
          <p:cNvSpPr/>
          <p:nvPr/>
        </p:nvSpPr>
        <p:spPr>
          <a:xfrm>
            <a:off x="1645920" y="469043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800" dirty="0"/>
          </a:p>
        </p:txBody>
      </p:sp>
      <p:sp>
        <p:nvSpPr>
          <p:cNvPr id="341" name="Shape 339"/>
          <p:cNvSpPr/>
          <p:nvPr/>
        </p:nvSpPr>
        <p:spPr>
          <a:xfrm>
            <a:off x="4709160" y="4797334"/>
            <a:ext cx="5608984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42" name="Shape 340"/>
          <p:cNvSpPr/>
          <p:nvPr/>
        </p:nvSpPr>
        <p:spPr>
          <a:xfrm>
            <a:off x="10318144" y="4743885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43" name="Text 341"/>
          <p:cNvSpPr/>
          <p:nvPr/>
        </p:nvSpPr>
        <p:spPr>
          <a:xfrm>
            <a:off x="10511919" y="469043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44" name="Shape 342"/>
          <p:cNvSpPr/>
          <p:nvPr/>
        </p:nvSpPr>
        <p:spPr>
          <a:xfrm>
            <a:off x="10251867" y="4731058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5760" y="4904232"/>
            <a:ext cx="4343400" cy="213795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4709160" y="4904232"/>
            <a:ext cx="7116775" cy="213795"/>
          </a:xfrm>
          <a:prstGeom prst="rect">
            <a:avLst/>
          </a:prstGeom>
          <a:solidFill>
            <a:srgbClr val="2E9E6B">
              <a:alpha val="14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457200" y="490423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Phase 3 – Work Permit Issuance</a:t>
            </a:r>
            <a:endParaRPr lang="en-US" sz="900" dirty="0"/>
          </a:p>
        </p:txBody>
      </p:sp>
      <p:sp>
        <p:nvSpPr>
          <p:cNvPr id="348" name="Shape 346"/>
          <p:cNvSpPr/>
          <p:nvPr/>
        </p:nvSpPr>
        <p:spPr>
          <a:xfrm>
            <a:off x="10378455" y="4964095"/>
            <a:ext cx="1085610" cy="94070"/>
          </a:xfrm>
          <a:prstGeom prst="roundRect">
            <a:avLst>
              <a:gd name="adj" fmla="val 38882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65760" y="511802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709160" y="511802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38912" y="515223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438912" y="515223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650" dirty="0"/>
          </a:p>
        </p:txBody>
      </p:sp>
      <p:sp>
        <p:nvSpPr>
          <p:cNvPr id="353" name="Text 351"/>
          <p:cNvSpPr/>
          <p:nvPr/>
        </p:nvSpPr>
        <p:spPr>
          <a:xfrm>
            <a:off x="960120" y="511802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800" dirty="0"/>
          </a:p>
        </p:txBody>
      </p:sp>
      <p:sp>
        <p:nvSpPr>
          <p:cNvPr id="354" name="Text 352"/>
          <p:cNvSpPr/>
          <p:nvPr/>
        </p:nvSpPr>
        <p:spPr>
          <a:xfrm>
            <a:off x="1645920" y="511802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800" dirty="0"/>
          </a:p>
        </p:txBody>
      </p:sp>
      <p:sp>
        <p:nvSpPr>
          <p:cNvPr id="355" name="Shape 353"/>
          <p:cNvSpPr/>
          <p:nvPr/>
        </p:nvSpPr>
        <p:spPr>
          <a:xfrm>
            <a:off x="4709160" y="5224925"/>
            <a:ext cx="572960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56" name="Shape 354"/>
          <p:cNvSpPr/>
          <p:nvPr/>
        </p:nvSpPr>
        <p:spPr>
          <a:xfrm>
            <a:off x="10438767" y="5171476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57" name="Text 355"/>
          <p:cNvSpPr/>
          <p:nvPr/>
        </p:nvSpPr>
        <p:spPr>
          <a:xfrm>
            <a:off x="10632542" y="511802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58" name="Shape 356"/>
          <p:cNvSpPr/>
          <p:nvPr/>
        </p:nvSpPr>
        <p:spPr>
          <a:xfrm>
            <a:off x="10372491" y="515864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65760" y="5331823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4709160" y="5331823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438912" y="536603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438912" y="536603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650" dirty="0"/>
          </a:p>
        </p:txBody>
      </p:sp>
      <p:sp>
        <p:nvSpPr>
          <p:cNvPr id="363" name="Text 361"/>
          <p:cNvSpPr/>
          <p:nvPr/>
        </p:nvSpPr>
        <p:spPr>
          <a:xfrm>
            <a:off x="960120" y="533182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800" dirty="0"/>
          </a:p>
        </p:txBody>
      </p:sp>
      <p:sp>
        <p:nvSpPr>
          <p:cNvPr id="364" name="Text 362"/>
          <p:cNvSpPr/>
          <p:nvPr/>
        </p:nvSpPr>
        <p:spPr>
          <a:xfrm>
            <a:off x="1645920" y="533182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800" dirty="0"/>
          </a:p>
        </p:txBody>
      </p:sp>
      <p:sp>
        <p:nvSpPr>
          <p:cNvPr id="365" name="Shape 363"/>
          <p:cNvSpPr/>
          <p:nvPr/>
        </p:nvSpPr>
        <p:spPr>
          <a:xfrm>
            <a:off x="4709160" y="5438721"/>
            <a:ext cx="585023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66" name="Shape 364"/>
          <p:cNvSpPr/>
          <p:nvPr/>
        </p:nvSpPr>
        <p:spPr>
          <a:xfrm>
            <a:off x="10559390" y="538527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67" name="Text 365"/>
          <p:cNvSpPr/>
          <p:nvPr/>
        </p:nvSpPr>
        <p:spPr>
          <a:xfrm>
            <a:off x="10753166" y="533182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68" name="Shape 366"/>
          <p:cNvSpPr/>
          <p:nvPr/>
        </p:nvSpPr>
        <p:spPr>
          <a:xfrm>
            <a:off x="10493114" y="5372444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65760" y="5545618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4709160" y="5545618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438912" y="557982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438912" y="557982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650" dirty="0"/>
          </a:p>
        </p:txBody>
      </p:sp>
      <p:sp>
        <p:nvSpPr>
          <p:cNvPr id="373" name="Text 371"/>
          <p:cNvSpPr/>
          <p:nvPr/>
        </p:nvSpPr>
        <p:spPr>
          <a:xfrm>
            <a:off x="960120" y="554561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800" dirty="0"/>
          </a:p>
        </p:txBody>
      </p:sp>
      <p:sp>
        <p:nvSpPr>
          <p:cNvPr id="374" name="Text 372"/>
          <p:cNvSpPr/>
          <p:nvPr/>
        </p:nvSpPr>
        <p:spPr>
          <a:xfrm>
            <a:off x="1645920" y="554561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800" dirty="0"/>
          </a:p>
        </p:txBody>
      </p:sp>
      <p:sp>
        <p:nvSpPr>
          <p:cNvPr id="375" name="Shape 373"/>
          <p:cNvSpPr/>
          <p:nvPr/>
        </p:nvSpPr>
        <p:spPr>
          <a:xfrm>
            <a:off x="4709160" y="5652516"/>
            <a:ext cx="597085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76" name="Shape 374"/>
          <p:cNvSpPr/>
          <p:nvPr/>
        </p:nvSpPr>
        <p:spPr>
          <a:xfrm>
            <a:off x="10680014" y="5599067"/>
            <a:ext cx="48249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11235659" y="554561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days</a:t>
            </a:r>
            <a:endParaRPr lang="en-US" sz="700" dirty="0"/>
          </a:p>
        </p:txBody>
      </p:sp>
      <p:sp>
        <p:nvSpPr>
          <p:cNvPr id="378" name="Shape 376"/>
          <p:cNvSpPr/>
          <p:nvPr/>
        </p:nvSpPr>
        <p:spPr>
          <a:xfrm>
            <a:off x="10613737" y="558623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5760" y="5759414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709160" y="5759414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38912" y="579362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438912" y="579362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650" dirty="0"/>
          </a:p>
        </p:txBody>
      </p:sp>
      <p:sp>
        <p:nvSpPr>
          <p:cNvPr id="383" name="Text 381"/>
          <p:cNvSpPr/>
          <p:nvPr/>
        </p:nvSpPr>
        <p:spPr>
          <a:xfrm>
            <a:off x="960120" y="575941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800" dirty="0"/>
          </a:p>
        </p:txBody>
      </p:sp>
      <p:sp>
        <p:nvSpPr>
          <p:cNvPr id="384" name="Text 382"/>
          <p:cNvSpPr/>
          <p:nvPr/>
        </p:nvSpPr>
        <p:spPr>
          <a:xfrm>
            <a:off x="1645920" y="575941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800" dirty="0"/>
          </a:p>
        </p:txBody>
      </p:sp>
      <p:sp>
        <p:nvSpPr>
          <p:cNvPr id="385" name="Shape 383"/>
          <p:cNvSpPr/>
          <p:nvPr/>
        </p:nvSpPr>
        <p:spPr>
          <a:xfrm>
            <a:off x="4709160" y="5866311"/>
            <a:ext cx="645334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86" name="Shape 384"/>
          <p:cNvSpPr/>
          <p:nvPr/>
        </p:nvSpPr>
        <p:spPr>
          <a:xfrm>
            <a:off x="11162507" y="5812863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11356282" y="575941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88" name="Shape 386"/>
          <p:cNvSpPr/>
          <p:nvPr/>
        </p:nvSpPr>
        <p:spPr>
          <a:xfrm>
            <a:off x="11096230" y="5800035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65760" y="5973209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4709160" y="5973209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438912" y="600741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438912" y="600741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650" dirty="0"/>
          </a:p>
        </p:txBody>
      </p:sp>
      <p:sp>
        <p:nvSpPr>
          <p:cNvPr id="393" name="Text 391"/>
          <p:cNvSpPr/>
          <p:nvPr/>
        </p:nvSpPr>
        <p:spPr>
          <a:xfrm>
            <a:off x="960120" y="597320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800" dirty="0"/>
          </a:p>
        </p:txBody>
      </p:sp>
      <p:sp>
        <p:nvSpPr>
          <p:cNvPr id="394" name="Text 392"/>
          <p:cNvSpPr/>
          <p:nvPr/>
        </p:nvSpPr>
        <p:spPr>
          <a:xfrm>
            <a:off x="1645920" y="597320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800" dirty="0"/>
          </a:p>
        </p:txBody>
      </p:sp>
      <p:sp>
        <p:nvSpPr>
          <p:cNvPr id="395" name="Shape 393"/>
          <p:cNvSpPr/>
          <p:nvPr/>
        </p:nvSpPr>
        <p:spPr>
          <a:xfrm>
            <a:off x="4709160" y="6080107"/>
            <a:ext cx="657397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96" name="Shape 394"/>
          <p:cNvSpPr/>
          <p:nvPr/>
        </p:nvSpPr>
        <p:spPr>
          <a:xfrm>
            <a:off x="11283130" y="6026658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97" name="Text 395"/>
          <p:cNvSpPr/>
          <p:nvPr/>
        </p:nvSpPr>
        <p:spPr>
          <a:xfrm>
            <a:off x="11476906" y="597320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98" name="Shape 396"/>
          <p:cNvSpPr/>
          <p:nvPr/>
        </p:nvSpPr>
        <p:spPr>
          <a:xfrm>
            <a:off x="11216854" y="6013830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5760" y="618700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4709160" y="618700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438912" y="622121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438912" y="622121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650" dirty="0"/>
          </a:p>
        </p:txBody>
      </p:sp>
      <p:sp>
        <p:nvSpPr>
          <p:cNvPr id="403" name="Text 401"/>
          <p:cNvSpPr/>
          <p:nvPr/>
        </p:nvSpPr>
        <p:spPr>
          <a:xfrm>
            <a:off x="960120" y="618700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</a:t>
            </a:r>
            <a:endParaRPr lang="en-US" sz="800" dirty="0"/>
          </a:p>
        </p:txBody>
      </p:sp>
      <p:sp>
        <p:nvSpPr>
          <p:cNvPr id="404" name="Text 402"/>
          <p:cNvSpPr/>
          <p:nvPr/>
        </p:nvSpPr>
        <p:spPr>
          <a:xfrm>
            <a:off x="1645920" y="618700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800" dirty="0"/>
          </a:p>
        </p:txBody>
      </p:sp>
      <p:sp>
        <p:nvSpPr>
          <p:cNvPr id="405" name="Shape 403"/>
          <p:cNvSpPr/>
          <p:nvPr/>
        </p:nvSpPr>
        <p:spPr>
          <a:xfrm>
            <a:off x="4709160" y="6293902"/>
            <a:ext cx="669459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406" name="Shape 404"/>
          <p:cNvSpPr/>
          <p:nvPr/>
        </p:nvSpPr>
        <p:spPr>
          <a:xfrm>
            <a:off x="11337477" y="6227626"/>
            <a:ext cx="132553" cy="132553"/>
          </a:xfrm>
          <a:prstGeom prst="diamond">
            <a:avLst/>
          </a:prstGeom>
          <a:solidFill>
            <a:srgbClr val="FFFFFF"/>
          </a:solidFill>
          <a:ln w="22225">
            <a:solidFill>
              <a:srgbClr val="2E9E6B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65760" y="1371600"/>
            <a:ext cx="11460175" cy="5029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Details (1/2)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· dates · description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601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3291840"/>
                <a:gridCol w="55138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 Background – Permit Request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879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7A8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Aug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Permit Requested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 requested to implement the foundation work that removes the soil-collapse risk.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7A8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Sep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 Request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Permits Department rejected the work permit request.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 Phase 1 – Suspension &amp; Site 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503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C8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Activities Suspended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Permits and Safety Department suspended all project activities on site.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C8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Site Visit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visit with all concerned departments (Permits, …) to assess site conditions.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C8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Assessment &amp; Mitigation Plan Submitted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the Permits Department in order to resume the work.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C8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Action Plan Requested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Permits Department asked for a more detailed action plan.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Phase 2 – Method Statement Preparation &amp;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77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Statement (MoS) Submitted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MoS and action plan sent to all departments for review and approval.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77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 Meeting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the way forward; departments asked to review and approve the measures.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Details (2/2)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· dates · description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601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3291840"/>
                <a:gridCol w="55138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935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Phase 2 – Method Statement Preparation &amp; Review (cont.)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77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Stakeholders’ Clarifications Answered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Replies given on all clarifications about the proposed work and safety measures.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77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Clarification Received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Department raised a clarification on the Method Statement.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77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 Revision 2 Submitted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revision of the MoS submitted to all concerned departments.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 Phase 3 – Work Permit Issuance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Department Contacted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documents shared; Safety contacted to facilitate the permit issuance.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 Circulated for Approvals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Permit-to-work sent to the concerned departments for their approval.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Department Comments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comments received from other departments.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 Revision 3 Submitted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3rd revision of the MoS submitted to all for approval.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Clarification Cleared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clarification on the Method Statement was cleared.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Permit Ready for Signature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050" dirty="0">
                          <a:solidFill>
                            <a:srgbClr val="4A55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Permit is ready to be signed and issued.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7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6035040" cy="6858000"/>
          </a:xfrm>
          <a:prstGeom prst="parallelogram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4023360" cy="6858000"/>
          </a:xfrm>
          <a:prstGeom prst="parallelogram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37744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000" dirty="0">
                <a:solidFill>
                  <a:srgbClr val="D6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Gantt Chart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952848" y="466344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5728" y="4817000"/>
            <a:ext cx="1920240" cy="10644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2026-10-21T10:49:25Z</dcterms:created>
  <dcterms:modified xsi:type="dcterms:W3CDTF">2026-10-21T10:49:25Z</dcterms:modified>
</cp:coreProperties>
</file>