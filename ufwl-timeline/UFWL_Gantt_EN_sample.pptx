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R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78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68680"/>
            <a:ext cx="2011680" cy="4572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142875"/>
            <a:ext cx="1051560" cy="5829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Activity Timeline · Site Suspension and Shoring Works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10134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134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Activity Timeline · Site Suspension and Shoring Works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033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83080" y="1097280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93976" y="1033272"/>
            <a:ext cx="891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94660" y="1097280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5556" y="1033272"/>
            <a:ext cx="891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06240" y="1097280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033272"/>
            <a:ext cx="891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17820" y="1088136"/>
            <a:ext cx="128016" cy="128016"/>
          </a:xfrm>
          <a:prstGeom prst="diamond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00700" y="1033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371600"/>
            <a:ext cx="4343400" cy="539496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371600"/>
            <a:ext cx="4069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/ Milestone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371600"/>
            <a:ext cx="603117" cy="201168"/>
          </a:xfrm>
          <a:prstGeom prst="rect">
            <a:avLst/>
          </a:prstGeom>
          <a:solidFill>
            <a:srgbClr val="DCE8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371600"/>
            <a:ext cx="6031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12277" y="1371600"/>
            <a:ext cx="3618699" cy="201168"/>
          </a:xfrm>
          <a:prstGeom prst="rect">
            <a:avLst/>
          </a:prstGeom>
          <a:solidFill>
            <a:srgbClr val="DCE8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2277" y="1371600"/>
            <a:ext cx="36186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30976" y="1371600"/>
            <a:ext cx="2894959" cy="201168"/>
          </a:xfrm>
          <a:prstGeom prst="rect">
            <a:avLst/>
          </a:prstGeom>
          <a:solidFill>
            <a:srgbClr val="DCE8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0976" y="1371600"/>
            <a:ext cx="289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70916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829783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978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82978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829783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50407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0407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950407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950407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1030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103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07103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071030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9165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9165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19165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5312277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12277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312277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432900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3290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43290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55352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5352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55352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674146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7414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67414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5674146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94770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9477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79477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5794770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1539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1539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91539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5915393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3601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3601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03601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6156640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5664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615664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627726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7726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627726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639788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9788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639788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6518510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1851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651851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6518510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39133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913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663913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6639133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5975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5975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675975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6759756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880380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8038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688038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700100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0100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90" name="Text 88"/>
          <p:cNvSpPr/>
          <p:nvPr/>
        </p:nvSpPr>
        <p:spPr>
          <a:xfrm>
            <a:off x="700100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712162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2162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712162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724224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24224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724224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7362873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36287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99" name="Text 97"/>
          <p:cNvSpPr/>
          <p:nvPr/>
        </p:nvSpPr>
        <p:spPr>
          <a:xfrm>
            <a:off x="736287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7362873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83496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48349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103" name="Text 101"/>
          <p:cNvSpPr/>
          <p:nvPr/>
        </p:nvSpPr>
        <p:spPr>
          <a:xfrm>
            <a:off x="748349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7483496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60411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60411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760411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7604119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72474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72474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600" dirty="0"/>
          </a:p>
        </p:txBody>
      </p:sp>
      <p:sp>
        <p:nvSpPr>
          <p:cNvPr id="111" name="Text 109"/>
          <p:cNvSpPr/>
          <p:nvPr/>
        </p:nvSpPr>
        <p:spPr>
          <a:xfrm>
            <a:off x="772474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784536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84536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114" name="Text 112"/>
          <p:cNvSpPr/>
          <p:nvPr/>
        </p:nvSpPr>
        <p:spPr>
          <a:xfrm>
            <a:off x="784536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796598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96598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600" dirty="0"/>
          </a:p>
        </p:txBody>
      </p:sp>
      <p:sp>
        <p:nvSpPr>
          <p:cNvPr id="117" name="Text 115"/>
          <p:cNvSpPr/>
          <p:nvPr/>
        </p:nvSpPr>
        <p:spPr>
          <a:xfrm>
            <a:off x="796598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808661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08661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120" name="Text 118"/>
          <p:cNvSpPr/>
          <p:nvPr/>
        </p:nvSpPr>
        <p:spPr>
          <a:xfrm>
            <a:off x="808661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8207236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20723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123" name="Text 121"/>
          <p:cNvSpPr/>
          <p:nvPr/>
        </p:nvSpPr>
        <p:spPr>
          <a:xfrm>
            <a:off x="820723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8207236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327859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32785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127" name="Text 125"/>
          <p:cNvSpPr/>
          <p:nvPr/>
        </p:nvSpPr>
        <p:spPr>
          <a:xfrm>
            <a:off x="832785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8327859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44848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44848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844848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8448483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56910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56910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600" dirty="0"/>
          </a:p>
        </p:txBody>
      </p:sp>
      <p:sp>
        <p:nvSpPr>
          <p:cNvPr id="135" name="Text 133"/>
          <p:cNvSpPr/>
          <p:nvPr/>
        </p:nvSpPr>
        <p:spPr>
          <a:xfrm>
            <a:off x="856910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650" dirty="0"/>
          </a:p>
        </p:txBody>
      </p:sp>
      <p:sp>
        <p:nvSpPr>
          <p:cNvPr id="136" name="Shape 134"/>
          <p:cNvSpPr/>
          <p:nvPr/>
        </p:nvSpPr>
        <p:spPr>
          <a:xfrm>
            <a:off x="868972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68972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138" name="Text 136"/>
          <p:cNvSpPr/>
          <p:nvPr/>
        </p:nvSpPr>
        <p:spPr>
          <a:xfrm>
            <a:off x="868972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8810352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81035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600" dirty="0"/>
          </a:p>
        </p:txBody>
      </p:sp>
      <p:sp>
        <p:nvSpPr>
          <p:cNvPr id="141" name="Text 139"/>
          <p:cNvSpPr/>
          <p:nvPr/>
        </p:nvSpPr>
        <p:spPr>
          <a:xfrm>
            <a:off x="881035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893097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93097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144" name="Text 142"/>
          <p:cNvSpPr/>
          <p:nvPr/>
        </p:nvSpPr>
        <p:spPr>
          <a:xfrm>
            <a:off x="893097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145" name="Shape 143"/>
          <p:cNvSpPr/>
          <p:nvPr/>
        </p:nvSpPr>
        <p:spPr>
          <a:xfrm>
            <a:off x="9051599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05159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147" name="Text 145"/>
          <p:cNvSpPr/>
          <p:nvPr/>
        </p:nvSpPr>
        <p:spPr>
          <a:xfrm>
            <a:off x="905159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9051599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172222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17222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151" name="Text 149"/>
          <p:cNvSpPr/>
          <p:nvPr/>
        </p:nvSpPr>
        <p:spPr>
          <a:xfrm>
            <a:off x="917222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152" name="Shape 150"/>
          <p:cNvSpPr/>
          <p:nvPr/>
        </p:nvSpPr>
        <p:spPr>
          <a:xfrm>
            <a:off x="9172222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29284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29284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155" name="Text 153"/>
          <p:cNvSpPr/>
          <p:nvPr/>
        </p:nvSpPr>
        <p:spPr>
          <a:xfrm>
            <a:off x="929284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156" name="Shape 154"/>
          <p:cNvSpPr/>
          <p:nvPr/>
        </p:nvSpPr>
        <p:spPr>
          <a:xfrm>
            <a:off x="9292846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41346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41346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600" dirty="0"/>
          </a:p>
        </p:txBody>
      </p:sp>
      <p:sp>
        <p:nvSpPr>
          <p:cNvPr id="159" name="Text 157"/>
          <p:cNvSpPr/>
          <p:nvPr/>
        </p:nvSpPr>
        <p:spPr>
          <a:xfrm>
            <a:off x="941346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160" name="Shape 158"/>
          <p:cNvSpPr/>
          <p:nvPr/>
        </p:nvSpPr>
        <p:spPr>
          <a:xfrm>
            <a:off x="9534092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53409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162" name="Text 160"/>
          <p:cNvSpPr/>
          <p:nvPr/>
        </p:nvSpPr>
        <p:spPr>
          <a:xfrm>
            <a:off x="953409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965471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65471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600" dirty="0"/>
          </a:p>
        </p:txBody>
      </p:sp>
      <p:sp>
        <p:nvSpPr>
          <p:cNvPr id="165" name="Text 163"/>
          <p:cNvSpPr/>
          <p:nvPr/>
        </p:nvSpPr>
        <p:spPr>
          <a:xfrm>
            <a:off x="965471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50" dirty="0"/>
          </a:p>
        </p:txBody>
      </p:sp>
      <p:sp>
        <p:nvSpPr>
          <p:cNvPr id="166" name="Shape 164"/>
          <p:cNvSpPr/>
          <p:nvPr/>
        </p:nvSpPr>
        <p:spPr>
          <a:xfrm>
            <a:off x="977533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977533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168" name="Text 166"/>
          <p:cNvSpPr/>
          <p:nvPr/>
        </p:nvSpPr>
        <p:spPr>
          <a:xfrm>
            <a:off x="977533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50" dirty="0"/>
          </a:p>
        </p:txBody>
      </p:sp>
      <p:sp>
        <p:nvSpPr>
          <p:cNvPr id="169" name="Shape 167"/>
          <p:cNvSpPr/>
          <p:nvPr/>
        </p:nvSpPr>
        <p:spPr>
          <a:xfrm>
            <a:off x="9895962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89596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171" name="Text 169"/>
          <p:cNvSpPr/>
          <p:nvPr/>
        </p:nvSpPr>
        <p:spPr>
          <a:xfrm>
            <a:off x="989596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50" dirty="0"/>
          </a:p>
        </p:txBody>
      </p:sp>
      <p:sp>
        <p:nvSpPr>
          <p:cNvPr id="172" name="Shape 170"/>
          <p:cNvSpPr/>
          <p:nvPr/>
        </p:nvSpPr>
        <p:spPr>
          <a:xfrm>
            <a:off x="9895962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016586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001658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175" name="Text 173"/>
          <p:cNvSpPr/>
          <p:nvPr/>
        </p:nvSpPr>
        <p:spPr>
          <a:xfrm>
            <a:off x="1001658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50" dirty="0"/>
          </a:p>
        </p:txBody>
      </p:sp>
      <p:sp>
        <p:nvSpPr>
          <p:cNvPr id="176" name="Shape 174"/>
          <p:cNvSpPr/>
          <p:nvPr/>
        </p:nvSpPr>
        <p:spPr>
          <a:xfrm>
            <a:off x="10016586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13720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013720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179" name="Text 177"/>
          <p:cNvSpPr/>
          <p:nvPr/>
        </p:nvSpPr>
        <p:spPr>
          <a:xfrm>
            <a:off x="1013720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50" dirty="0"/>
          </a:p>
        </p:txBody>
      </p:sp>
      <p:sp>
        <p:nvSpPr>
          <p:cNvPr id="180" name="Shape 178"/>
          <p:cNvSpPr/>
          <p:nvPr/>
        </p:nvSpPr>
        <p:spPr>
          <a:xfrm>
            <a:off x="10137209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257832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025783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600" dirty="0"/>
          </a:p>
        </p:txBody>
      </p:sp>
      <p:sp>
        <p:nvSpPr>
          <p:cNvPr id="183" name="Text 181"/>
          <p:cNvSpPr/>
          <p:nvPr/>
        </p:nvSpPr>
        <p:spPr>
          <a:xfrm>
            <a:off x="1025783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50" dirty="0"/>
          </a:p>
        </p:txBody>
      </p:sp>
      <p:sp>
        <p:nvSpPr>
          <p:cNvPr id="184" name="Shape 182"/>
          <p:cNvSpPr/>
          <p:nvPr/>
        </p:nvSpPr>
        <p:spPr>
          <a:xfrm>
            <a:off x="10378455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0378455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186" name="Text 184"/>
          <p:cNvSpPr/>
          <p:nvPr/>
        </p:nvSpPr>
        <p:spPr>
          <a:xfrm>
            <a:off x="10378455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650" dirty="0"/>
          </a:p>
        </p:txBody>
      </p:sp>
      <p:sp>
        <p:nvSpPr>
          <p:cNvPr id="187" name="Shape 185"/>
          <p:cNvSpPr/>
          <p:nvPr/>
        </p:nvSpPr>
        <p:spPr>
          <a:xfrm>
            <a:off x="1049907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049907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600" dirty="0"/>
          </a:p>
        </p:txBody>
      </p:sp>
      <p:sp>
        <p:nvSpPr>
          <p:cNvPr id="189" name="Text 187"/>
          <p:cNvSpPr/>
          <p:nvPr/>
        </p:nvSpPr>
        <p:spPr>
          <a:xfrm>
            <a:off x="1049907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50" dirty="0"/>
          </a:p>
        </p:txBody>
      </p:sp>
      <p:sp>
        <p:nvSpPr>
          <p:cNvPr id="190" name="Shape 188"/>
          <p:cNvSpPr/>
          <p:nvPr/>
        </p:nvSpPr>
        <p:spPr>
          <a:xfrm>
            <a:off x="10619702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061970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192" name="Text 190"/>
          <p:cNvSpPr/>
          <p:nvPr/>
        </p:nvSpPr>
        <p:spPr>
          <a:xfrm>
            <a:off x="1061970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650" dirty="0"/>
          </a:p>
        </p:txBody>
      </p:sp>
      <p:sp>
        <p:nvSpPr>
          <p:cNvPr id="193" name="Shape 191"/>
          <p:cNvSpPr/>
          <p:nvPr/>
        </p:nvSpPr>
        <p:spPr>
          <a:xfrm>
            <a:off x="10740325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10740325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195" name="Text 193"/>
          <p:cNvSpPr/>
          <p:nvPr/>
        </p:nvSpPr>
        <p:spPr>
          <a:xfrm>
            <a:off x="10740325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650" dirty="0"/>
          </a:p>
        </p:txBody>
      </p:sp>
      <p:sp>
        <p:nvSpPr>
          <p:cNvPr id="196" name="Shape 194"/>
          <p:cNvSpPr/>
          <p:nvPr/>
        </p:nvSpPr>
        <p:spPr>
          <a:xfrm>
            <a:off x="10740325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860949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1086094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199" name="Text 197"/>
          <p:cNvSpPr/>
          <p:nvPr/>
        </p:nvSpPr>
        <p:spPr>
          <a:xfrm>
            <a:off x="1086094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650" dirty="0"/>
          </a:p>
        </p:txBody>
      </p:sp>
      <p:sp>
        <p:nvSpPr>
          <p:cNvPr id="200" name="Shape 198"/>
          <p:cNvSpPr/>
          <p:nvPr/>
        </p:nvSpPr>
        <p:spPr>
          <a:xfrm>
            <a:off x="10860949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981572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098157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203" name="Text 201"/>
          <p:cNvSpPr/>
          <p:nvPr/>
        </p:nvSpPr>
        <p:spPr>
          <a:xfrm>
            <a:off x="1098157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650" dirty="0"/>
          </a:p>
        </p:txBody>
      </p:sp>
      <p:sp>
        <p:nvSpPr>
          <p:cNvPr id="204" name="Shape 202"/>
          <p:cNvSpPr/>
          <p:nvPr/>
        </p:nvSpPr>
        <p:spPr>
          <a:xfrm>
            <a:off x="10981572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1102195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1102195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600" dirty="0"/>
          </a:p>
        </p:txBody>
      </p:sp>
      <p:sp>
        <p:nvSpPr>
          <p:cNvPr id="207" name="Text 205"/>
          <p:cNvSpPr/>
          <p:nvPr/>
        </p:nvSpPr>
        <p:spPr>
          <a:xfrm>
            <a:off x="11102195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650" dirty="0"/>
          </a:p>
        </p:txBody>
      </p:sp>
      <p:sp>
        <p:nvSpPr>
          <p:cNvPr id="208" name="Shape 206"/>
          <p:cNvSpPr/>
          <p:nvPr/>
        </p:nvSpPr>
        <p:spPr>
          <a:xfrm>
            <a:off x="1122281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1122281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210" name="Text 208"/>
          <p:cNvSpPr/>
          <p:nvPr/>
        </p:nvSpPr>
        <p:spPr>
          <a:xfrm>
            <a:off x="1122281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650" dirty="0"/>
          </a:p>
        </p:txBody>
      </p:sp>
      <p:sp>
        <p:nvSpPr>
          <p:cNvPr id="211" name="Shape 209"/>
          <p:cNvSpPr/>
          <p:nvPr/>
        </p:nvSpPr>
        <p:spPr>
          <a:xfrm>
            <a:off x="11343442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1134344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600" dirty="0"/>
          </a:p>
        </p:txBody>
      </p:sp>
      <p:sp>
        <p:nvSpPr>
          <p:cNvPr id="213" name="Text 211"/>
          <p:cNvSpPr/>
          <p:nvPr/>
        </p:nvSpPr>
        <p:spPr>
          <a:xfrm>
            <a:off x="1134344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650" dirty="0"/>
          </a:p>
        </p:txBody>
      </p:sp>
      <p:sp>
        <p:nvSpPr>
          <p:cNvPr id="214" name="Shape 212"/>
          <p:cNvSpPr/>
          <p:nvPr/>
        </p:nvSpPr>
        <p:spPr>
          <a:xfrm>
            <a:off x="11464065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11464065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5A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600" dirty="0"/>
          </a:p>
        </p:txBody>
      </p:sp>
      <p:sp>
        <p:nvSpPr>
          <p:cNvPr id="216" name="Text 214"/>
          <p:cNvSpPr/>
          <p:nvPr/>
        </p:nvSpPr>
        <p:spPr>
          <a:xfrm>
            <a:off x="11464065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650" dirty="0"/>
          </a:p>
        </p:txBody>
      </p:sp>
      <p:sp>
        <p:nvSpPr>
          <p:cNvPr id="217" name="Shape 215"/>
          <p:cNvSpPr/>
          <p:nvPr/>
        </p:nvSpPr>
        <p:spPr>
          <a:xfrm>
            <a:off x="11584689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158468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219" name="Text 217"/>
          <p:cNvSpPr/>
          <p:nvPr/>
        </p:nvSpPr>
        <p:spPr>
          <a:xfrm>
            <a:off x="1158468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650" dirty="0"/>
          </a:p>
        </p:txBody>
      </p:sp>
      <p:sp>
        <p:nvSpPr>
          <p:cNvPr id="220" name="Shape 218"/>
          <p:cNvSpPr/>
          <p:nvPr/>
        </p:nvSpPr>
        <p:spPr>
          <a:xfrm>
            <a:off x="11584689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705312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1170531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0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" dirty="0"/>
          </a:p>
        </p:txBody>
      </p:sp>
      <p:sp>
        <p:nvSpPr>
          <p:cNvPr id="223" name="Text 221"/>
          <p:cNvSpPr/>
          <p:nvPr/>
        </p:nvSpPr>
        <p:spPr>
          <a:xfrm>
            <a:off x="1170531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8A95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650" dirty="0"/>
          </a:p>
        </p:txBody>
      </p:sp>
      <p:sp>
        <p:nvSpPr>
          <p:cNvPr id="224" name="Shape 222"/>
          <p:cNvSpPr/>
          <p:nvPr/>
        </p:nvSpPr>
        <p:spPr>
          <a:xfrm>
            <a:off x="11705312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365760" y="1911096"/>
            <a:ext cx="4343400" cy="213795"/>
          </a:xfrm>
          <a:prstGeom prst="rect">
            <a:avLst/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709160" y="1911096"/>
            <a:ext cx="7116775" cy="213795"/>
          </a:xfrm>
          <a:prstGeom prst="rect">
            <a:avLst/>
          </a:prstGeom>
          <a:solidFill>
            <a:srgbClr val="7A8791">
              <a:alpha val="14000"/>
            </a:srgbClr>
          </a:solidFill>
          <a:ln w="12700">
            <a:solidFill>
              <a:srgbClr val="7A8791">
                <a:alpha val="0"/>
              </a:srgbClr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457200" y="1911096"/>
            <a:ext cx="416052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Background – Permit Request</a:t>
            </a:r>
            <a:endParaRPr lang="en-US" sz="900" dirty="0"/>
          </a:p>
        </p:txBody>
      </p:sp>
      <p:sp>
        <p:nvSpPr>
          <p:cNvPr id="228" name="Shape 226"/>
          <p:cNvSpPr/>
          <p:nvPr/>
        </p:nvSpPr>
        <p:spPr>
          <a:xfrm>
            <a:off x="5191653" y="1970959"/>
            <a:ext cx="3498076" cy="94070"/>
          </a:xfrm>
          <a:prstGeom prst="roundRect">
            <a:avLst>
              <a:gd name="adj" fmla="val 38882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65760" y="2124891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4709160" y="2124891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38912" y="2159099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38912" y="2159099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650" dirty="0"/>
          </a:p>
        </p:txBody>
      </p:sp>
      <p:sp>
        <p:nvSpPr>
          <p:cNvPr id="233" name="Text 231"/>
          <p:cNvSpPr/>
          <p:nvPr/>
        </p:nvSpPr>
        <p:spPr>
          <a:xfrm>
            <a:off x="960120" y="2124891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</a:t>
            </a:r>
            <a:endParaRPr lang="en-US" sz="800" dirty="0"/>
          </a:p>
        </p:txBody>
      </p:sp>
      <p:sp>
        <p:nvSpPr>
          <p:cNvPr id="234" name="Text 232"/>
          <p:cNvSpPr/>
          <p:nvPr/>
        </p:nvSpPr>
        <p:spPr>
          <a:xfrm>
            <a:off x="1645920" y="2124891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Permit Requested</a:t>
            </a:r>
            <a:endParaRPr lang="en-US" sz="800" dirty="0"/>
          </a:p>
        </p:txBody>
      </p:sp>
      <p:sp>
        <p:nvSpPr>
          <p:cNvPr id="235" name="Shape 233"/>
          <p:cNvSpPr/>
          <p:nvPr/>
        </p:nvSpPr>
        <p:spPr>
          <a:xfrm>
            <a:off x="4709160" y="2231789"/>
            <a:ext cx="542805" cy="0"/>
          </a:xfrm>
          <a:prstGeom prst="line">
            <a:avLst/>
          </a:prstGeom>
          <a:noFill/>
          <a:ln w="9525">
            <a:solidFill>
              <a:srgbClr val="7A8791">
                <a:alpha val="60000"/>
              </a:srgbClr>
            </a:solidFill>
            <a:prstDash val="sysDot"/>
          </a:ln>
        </p:spPr>
      </p:sp>
      <p:sp>
        <p:nvSpPr>
          <p:cNvPr id="236" name="Shape 234"/>
          <p:cNvSpPr/>
          <p:nvPr/>
        </p:nvSpPr>
        <p:spPr>
          <a:xfrm>
            <a:off x="5251965" y="2178340"/>
            <a:ext cx="3377453" cy="106898"/>
          </a:xfrm>
          <a:prstGeom prst="roundRect">
            <a:avLst>
              <a:gd name="adj" fmla="val 34216"/>
            </a:avLst>
          </a:prstGeom>
          <a:solidFill>
            <a:srgbClr val="7A8791">
              <a:alpha val="85000"/>
            </a:srgbClr>
          </a:solidFill>
          <a:ln w="12700">
            <a:solidFill>
              <a:srgbClr val="7A8791">
                <a:alpha val="0"/>
              </a:srgbClr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5251965" y="2178340"/>
            <a:ext cx="3377453" cy="10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days</a:t>
            </a:r>
            <a:endParaRPr lang="en-US" sz="650" dirty="0"/>
          </a:p>
        </p:txBody>
      </p:sp>
      <p:sp>
        <p:nvSpPr>
          <p:cNvPr id="238" name="Shape 236"/>
          <p:cNvSpPr/>
          <p:nvPr/>
        </p:nvSpPr>
        <p:spPr>
          <a:xfrm>
            <a:off x="5185688" y="2165513"/>
            <a:ext cx="132553" cy="132553"/>
          </a:xfrm>
          <a:prstGeom prst="diamond">
            <a:avLst/>
          </a:prstGeom>
          <a:solidFill>
            <a:srgbClr val="7A879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365760" y="2338687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4709160" y="2338687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438912" y="2372894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438912" y="2372894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650" dirty="0"/>
          </a:p>
        </p:txBody>
      </p:sp>
      <p:sp>
        <p:nvSpPr>
          <p:cNvPr id="243" name="Text 241"/>
          <p:cNvSpPr/>
          <p:nvPr/>
        </p:nvSpPr>
        <p:spPr>
          <a:xfrm>
            <a:off x="960120" y="2338687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Sep</a:t>
            </a:r>
            <a:endParaRPr lang="en-US" sz="800" dirty="0"/>
          </a:p>
        </p:txBody>
      </p:sp>
      <p:sp>
        <p:nvSpPr>
          <p:cNvPr id="244" name="Text 242"/>
          <p:cNvSpPr/>
          <p:nvPr/>
        </p:nvSpPr>
        <p:spPr>
          <a:xfrm>
            <a:off x="1645920" y="2338687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Request Rejected</a:t>
            </a:r>
            <a:endParaRPr lang="en-US" sz="800" dirty="0"/>
          </a:p>
        </p:txBody>
      </p:sp>
      <p:sp>
        <p:nvSpPr>
          <p:cNvPr id="245" name="Shape 243"/>
          <p:cNvSpPr/>
          <p:nvPr/>
        </p:nvSpPr>
        <p:spPr>
          <a:xfrm>
            <a:off x="4709160" y="2445585"/>
            <a:ext cx="3920258" cy="0"/>
          </a:xfrm>
          <a:prstGeom prst="line">
            <a:avLst/>
          </a:prstGeom>
          <a:noFill/>
          <a:ln w="9525">
            <a:solidFill>
              <a:srgbClr val="7A8791">
                <a:alpha val="60000"/>
              </a:srgbClr>
            </a:solidFill>
            <a:prstDash val="sysDot"/>
          </a:ln>
        </p:spPr>
      </p:sp>
      <p:sp>
        <p:nvSpPr>
          <p:cNvPr id="246" name="Shape 244"/>
          <p:cNvSpPr/>
          <p:nvPr/>
        </p:nvSpPr>
        <p:spPr>
          <a:xfrm>
            <a:off x="8629418" y="2392136"/>
            <a:ext cx="361870" cy="106898"/>
          </a:xfrm>
          <a:prstGeom prst="roundRect">
            <a:avLst>
              <a:gd name="adj" fmla="val 34216"/>
            </a:avLst>
          </a:prstGeom>
          <a:solidFill>
            <a:srgbClr val="7A8791">
              <a:alpha val="85000"/>
            </a:srgbClr>
          </a:solidFill>
          <a:ln w="12700">
            <a:solidFill>
              <a:srgbClr val="7A8791">
                <a:alpha val="0"/>
              </a:srgbClr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9064439" y="2338687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days</a:t>
            </a:r>
            <a:endParaRPr lang="en-US" sz="700" dirty="0"/>
          </a:p>
        </p:txBody>
      </p:sp>
      <p:sp>
        <p:nvSpPr>
          <p:cNvPr id="248" name="Shape 246"/>
          <p:cNvSpPr/>
          <p:nvPr/>
        </p:nvSpPr>
        <p:spPr>
          <a:xfrm>
            <a:off x="8563141" y="2379308"/>
            <a:ext cx="132553" cy="132553"/>
          </a:xfrm>
          <a:prstGeom prst="diamond">
            <a:avLst/>
          </a:prstGeom>
          <a:solidFill>
            <a:srgbClr val="7A879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365760" y="2552482"/>
            <a:ext cx="4343400" cy="213795"/>
          </a:xfrm>
          <a:prstGeom prst="rect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4709160" y="2552482"/>
            <a:ext cx="7116775" cy="213795"/>
          </a:xfrm>
          <a:prstGeom prst="rect">
            <a:avLst/>
          </a:prstGeom>
          <a:solidFill>
            <a:srgbClr val="C8503F">
              <a:alpha val="14000"/>
            </a:srgbClr>
          </a:solidFill>
          <a:ln w="12700">
            <a:solidFill>
              <a:srgbClr val="C8503F">
                <a:alpha val="0"/>
              </a:srgbClr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457200" y="2552482"/>
            <a:ext cx="416052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Phase 1 – Suspension &amp; Site Assessment</a:t>
            </a:r>
            <a:endParaRPr lang="en-US" sz="900" dirty="0"/>
          </a:p>
        </p:txBody>
      </p:sp>
      <p:sp>
        <p:nvSpPr>
          <p:cNvPr id="252" name="Shape 250"/>
          <p:cNvSpPr/>
          <p:nvPr/>
        </p:nvSpPr>
        <p:spPr>
          <a:xfrm>
            <a:off x="8930976" y="2612345"/>
            <a:ext cx="603117" cy="94070"/>
          </a:xfrm>
          <a:prstGeom prst="roundRect">
            <a:avLst>
              <a:gd name="adj" fmla="val 38882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365760" y="2766278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709160" y="2766278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38912" y="2800485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38912" y="2800485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650" dirty="0"/>
          </a:p>
        </p:txBody>
      </p:sp>
      <p:sp>
        <p:nvSpPr>
          <p:cNvPr id="257" name="Text 255"/>
          <p:cNvSpPr/>
          <p:nvPr/>
        </p:nvSpPr>
        <p:spPr>
          <a:xfrm>
            <a:off x="960120" y="2766278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800" dirty="0"/>
          </a:p>
        </p:txBody>
      </p:sp>
      <p:sp>
        <p:nvSpPr>
          <p:cNvPr id="258" name="Text 256"/>
          <p:cNvSpPr/>
          <p:nvPr/>
        </p:nvSpPr>
        <p:spPr>
          <a:xfrm>
            <a:off x="1645920" y="2766278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Activities Suspended</a:t>
            </a:r>
            <a:endParaRPr lang="en-US" sz="800" dirty="0"/>
          </a:p>
        </p:txBody>
      </p:sp>
      <p:sp>
        <p:nvSpPr>
          <p:cNvPr id="259" name="Shape 257"/>
          <p:cNvSpPr/>
          <p:nvPr/>
        </p:nvSpPr>
        <p:spPr>
          <a:xfrm>
            <a:off x="4709160" y="2873175"/>
            <a:ext cx="4282127" cy="0"/>
          </a:xfrm>
          <a:prstGeom prst="line">
            <a:avLst/>
          </a:prstGeom>
          <a:noFill/>
          <a:ln w="9525">
            <a:solidFill>
              <a:srgbClr val="C8503F">
                <a:alpha val="60000"/>
              </a:srgbClr>
            </a:solidFill>
            <a:prstDash val="sysDot"/>
          </a:ln>
        </p:spPr>
      </p:sp>
      <p:sp>
        <p:nvSpPr>
          <p:cNvPr id="260" name="Shape 258"/>
          <p:cNvSpPr/>
          <p:nvPr/>
        </p:nvSpPr>
        <p:spPr>
          <a:xfrm>
            <a:off x="8991287" y="2819727"/>
            <a:ext cx="241247" cy="106898"/>
          </a:xfrm>
          <a:prstGeom prst="roundRect">
            <a:avLst>
              <a:gd name="adj" fmla="val 34216"/>
            </a:avLst>
          </a:prstGeom>
          <a:solidFill>
            <a:srgbClr val="C8503F">
              <a:alpha val="85000"/>
            </a:srgbClr>
          </a:solidFill>
          <a:ln w="12700">
            <a:solidFill>
              <a:srgbClr val="C8503F">
                <a:alpha val="0"/>
              </a:srgbClr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9305686" y="2766278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C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days</a:t>
            </a:r>
            <a:endParaRPr lang="en-US" sz="700" dirty="0"/>
          </a:p>
        </p:txBody>
      </p:sp>
      <p:sp>
        <p:nvSpPr>
          <p:cNvPr id="262" name="Shape 260"/>
          <p:cNvSpPr/>
          <p:nvPr/>
        </p:nvSpPr>
        <p:spPr>
          <a:xfrm>
            <a:off x="8925011" y="2806899"/>
            <a:ext cx="132553" cy="132553"/>
          </a:xfrm>
          <a:prstGeom prst="diamond">
            <a:avLst/>
          </a:prstGeom>
          <a:solidFill>
            <a:srgbClr val="C850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365760" y="2980073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4709160" y="2980073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438912" y="3014280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438912" y="3014280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650" dirty="0"/>
          </a:p>
        </p:txBody>
      </p:sp>
      <p:sp>
        <p:nvSpPr>
          <p:cNvPr id="267" name="Text 265"/>
          <p:cNvSpPr/>
          <p:nvPr/>
        </p:nvSpPr>
        <p:spPr>
          <a:xfrm>
            <a:off x="960120" y="2980073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Oct</a:t>
            </a:r>
            <a:endParaRPr lang="en-US" sz="800" dirty="0"/>
          </a:p>
        </p:txBody>
      </p:sp>
      <p:sp>
        <p:nvSpPr>
          <p:cNvPr id="268" name="Text 266"/>
          <p:cNvSpPr/>
          <p:nvPr/>
        </p:nvSpPr>
        <p:spPr>
          <a:xfrm>
            <a:off x="1645920" y="2980073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Site Visit</a:t>
            </a:r>
            <a:endParaRPr lang="en-US" sz="800" dirty="0"/>
          </a:p>
        </p:txBody>
      </p:sp>
      <p:sp>
        <p:nvSpPr>
          <p:cNvPr id="269" name="Shape 267"/>
          <p:cNvSpPr/>
          <p:nvPr/>
        </p:nvSpPr>
        <p:spPr>
          <a:xfrm>
            <a:off x="4709160" y="3086971"/>
            <a:ext cx="4523374" cy="0"/>
          </a:xfrm>
          <a:prstGeom prst="line">
            <a:avLst/>
          </a:prstGeom>
          <a:noFill/>
          <a:ln w="9525">
            <a:solidFill>
              <a:srgbClr val="C8503F">
                <a:alpha val="60000"/>
              </a:srgbClr>
            </a:solidFill>
            <a:prstDash val="sysDot"/>
          </a:ln>
        </p:spPr>
      </p:sp>
      <p:sp>
        <p:nvSpPr>
          <p:cNvPr id="270" name="Shape 268"/>
          <p:cNvSpPr/>
          <p:nvPr/>
        </p:nvSpPr>
        <p:spPr>
          <a:xfrm>
            <a:off x="9232534" y="3033522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C8503F">
              <a:alpha val="85000"/>
            </a:srgbClr>
          </a:solidFill>
          <a:ln w="12700">
            <a:solidFill>
              <a:srgbClr val="C8503F">
                <a:alpha val="0"/>
              </a:srgbClr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9426309" y="2980073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C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day</a:t>
            </a:r>
            <a:endParaRPr lang="en-US" sz="700" dirty="0"/>
          </a:p>
        </p:txBody>
      </p:sp>
      <p:sp>
        <p:nvSpPr>
          <p:cNvPr id="272" name="Shape 270"/>
          <p:cNvSpPr/>
          <p:nvPr/>
        </p:nvSpPr>
        <p:spPr>
          <a:xfrm>
            <a:off x="9166257" y="3020694"/>
            <a:ext cx="132553" cy="132553"/>
          </a:xfrm>
          <a:prstGeom prst="diamond">
            <a:avLst/>
          </a:prstGeom>
          <a:solidFill>
            <a:srgbClr val="C850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365760" y="3193869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4709160" y="3193869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438912" y="3228076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438912" y="3228076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650" dirty="0"/>
          </a:p>
        </p:txBody>
      </p:sp>
      <p:sp>
        <p:nvSpPr>
          <p:cNvPr id="277" name="Text 275"/>
          <p:cNvSpPr/>
          <p:nvPr/>
        </p:nvSpPr>
        <p:spPr>
          <a:xfrm>
            <a:off x="960120" y="3193869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Oct</a:t>
            </a:r>
            <a:endParaRPr lang="en-US" sz="800" dirty="0"/>
          </a:p>
        </p:txBody>
      </p:sp>
      <p:sp>
        <p:nvSpPr>
          <p:cNvPr id="278" name="Text 276"/>
          <p:cNvSpPr/>
          <p:nvPr/>
        </p:nvSpPr>
        <p:spPr>
          <a:xfrm>
            <a:off x="1645920" y="3193869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&amp; Mitigation Plan Submitted</a:t>
            </a:r>
            <a:endParaRPr lang="en-US" sz="800" dirty="0"/>
          </a:p>
        </p:txBody>
      </p:sp>
      <p:sp>
        <p:nvSpPr>
          <p:cNvPr id="279" name="Shape 277"/>
          <p:cNvSpPr/>
          <p:nvPr/>
        </p:nvSpPr>
        <p:spPr>
          <a:xfrm>
            <a:off x="4709160" y="3300766"/>
            <a:ext cx="4643997" cy="0"/>
          </a:xfrm>
          <a:prstGeom prst="line">
            <a:avLst/>
          </a:prstGeom>
          <a:noFill/>
          <a:ln w="9525">
            <a:solidFill>
              <a:srgbClr val="C8503F">
                <a:alpha val="60000"/>
              </a:srgbClr>
            </a:solidFill>
            <a:prstDash val="sysDot"/>
          </a:ln>
        </p:spPr>
      </p:sp>
      <p:sp>
        <p:nvSpPr>
          <p:cNvPr id="280" name="Shape 278"/>
          <p:cNvSpPr/>
          <p:nvPr/>
        </p:nvSpPr>
        <p:spPr>
          <a:xfrm>
            <a:off x="9353157" y="3247317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C8503F">
              <a:alpha val="85000"/>
            </a:srgbClr>
          </a:solidFill>
          <a:ln w="12700">
            <a:solidFill>
              <a:srgbClr val="C8503F">
                <a:alpha val="0"/>
              </a:srgbClr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9546933" y="3193869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C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day</a:t>
            </a:r>
            <a:endParaRPr lang="en-US" sz="700" dirty="0"/>
          </a:p>
        </p:txBody>
      </p:sp>
      <p:sp>
        <p:nvSpPr>
          <p:cNvPr id="282" name="Shape 280"/>
          <p:cNvSpPr/>
          <p:nvPr/>
        </p:nvSpPr>
        <p:spPr>
          <a:xfrm>
            <a:off x="9286881" y="3234490"/>
            <a:ext cx="132553" cy="132553"/>
          </a:xfrm>
          <a:prstGeom prst="diamond">
            <a:avLst/>
          </a:prstGeom>
          <a:solidFill>
            <a:srgbClr val="C850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365760" y="3407664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709160" y="3407664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438912" y="3441871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438912" y="3441871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650" dirty="0"/>
          </a:p>
        </p:txBody>
      </p:sp>
      <p:sp>
        <p:nvSpPr>
          <p:cNvPr id="287" name="Text 285"/>
          <p:cNvSpPr/>
          <p:nvPr/>
        </p:nvSpPr>
        <p:spPr>
          <a:xfrm>
            <a:off x="960120" y="3407664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Oct</a:t>
            </a:r>
            <a:endParaRPr lang="en-US" sz="800" dirty="0"/>
          </a:p>
        </p:txBody>
      </p:sp>
      <p:sp>
        <p:nvSpPr>
          <p:cNvPr id="288" name="Text 286"/>
          <p:cNvSpPr/>
          <p:nvPr/>
        </p:nvSpPr>
        <p:spPr>
          <a:xfrm>
            <a:off x="1645920" y="3407664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Action Plan Requested</a:t>
            </a:r>
            <a:endParaRPr lang="en-US" sz="800" dirty="0"/>
          </a:p>
        </p:txBody>
      </p:sp>
      <p:sp>
        <p:nvSpPr>
          <p:cNvPr id="289" name="Shape 287"/>
          <p:cNvSpPr/>
          <p:nvPr/>
        </p:nvSpPr>
        <p:spPr>
          <a:xfrm>
            <a:off x="4709160" y="3514562"/>
            <a:ext cx="4764621" cy="0"/>
          </a:xfrm>
          <a:prstGeom prst="line">
            <a:avLst/>
          </a:prstGeom>
          <a:noFill/>
          <a:ln w="9525">
            <a:solidFill>
              <a:srgbClr val="C8503F">
                <a:alpha val="60000"/>
              </a:srgbClr>
            </a:solidFill>
            <a:prstDash val="sysDot"/>
          </a:ln>
        </p:spPr>
      </p:sp>
      <p:sp>
        <p:nvSpPr>
          <p:cNvPr id="290" name="Shape 288"/>
          <p:cNvSpPr/>
          <p:nvPr/>
        </p:nvSpPr>
        <p:spPr>
          <a:xfrm>
            <a:off x="9473781" y="3461113"/>
            <a:ext cx="241247" cy="106898"/>
          </a:xfrm>
          <a:prstGeom prst="roundRect">
            <a:avLst>
              <a:gd name="adj" fmla="val 34216"/>
            </a:avLst>
          </a:prstGeom>
          <a:solidFill>
            <a:srgbClr val="C8503F">
              <a:alpha val="85000"/>
            </a:srgbClr>
          </a:solidFill>
          <a:ln w="12700">
            <a:solidFill>
              <a:srgbClr val="C8503F">
                <a:alpha val="0"/>
              </a:srgbClr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9788179" y="3407664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C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days</a:t>
            </a:r>
            <a:endParaRPr lang="en-US" sz="700" dirty="0"/>
          </a:p>
        </p:txBody>
      </p:sp>
      <p:sp>
        <p:nvSpPr>
          <p:cNvPr id="292" name="Shape 290"/>
          <p:cNvSpPr/>
          <p:nvPr/>
        </p:nvSpPr>
        <p:spPr>
          <a:xfrm>
            <a:off x="9407504" y="3448285"/>
            <a:ext cx="132553" cy="132553"/>
          </a:xfrm>
          <a:prstGeom prst="diamond">
            <a:avLst/>
          </a:prstGeom>
          <a:solidFill>
            <a:srgbClr val="C850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365760" y="3621459"/>
            <a:ext cx="4343400" cy="213795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4709160" y="3621459"/>
            <a:ext cx="7116775" cy="213795"/>
          </a:xfrm>
          <a:prstGeom prst="rect">
            <a:avLst/>
          </a:prstGeom>
          <a:solidFill>
            <a:srgbClr val="00778B">
              <a:alpha val="14000"/>
            </a:srgbClr>
          </a:solidFill>
          <a:ln w="12700">
            <a:solidFill>
              <a:srgbClr val="00778B">
                <a:alpha val="0"/>
              </a:srgbClr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457200" y="3621459"/>
            <a:ext cx="416052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Phase 2 – Method Statement Preparation &amp; Review</a:t>
            </a:r>
            <a:endParaRPr lang="en-US" sz="900" dirty="0"/>
          </a:p>
        </p:txBody>
      </p:sp>
      <p:sp>
        <p:nvSpPr>
          <p:cNvPr id="296" name="Shape 294"/>
          <p:cNvSpPr/>
          <p:nvPr/>
        </p:nvSpPr>
        <p:spPr>
          <a:xfrm>
            <a:off x="9654716" y="3681322"/>
            <a:ext cx="723740" cy="94070"/>
          </a:xfrm>
          <a:prstGeom prst="roundRect">
            <a:avLst>
              <a:gd name="adj" fmla="val 38882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365760" y="3835255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4709160" y="3835255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438912" y="3869462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438912" y="3869462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650" dirty="0"/>
          </a:p>
        </p:txBody>
      </p:sp>
      <p:sp>
        <p:nvSpPr>
          <p:cNvPr id="301" name="Text 299"/>
          <p:cNvSpPr/>
          <p:nvPr/>
        </p:nvSpPr>
        <p:spPr>
          <a:xfrm>
            <a:off x="960120" y="3835255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Oct</a:t>
            </a:r>
            <a:endParaRPr lang="en-US" sz="800" dirty="0"/>
          </a:p>
        </p:txBody>
      </p:sp>
      <p:sp>
        <p:nvSpPr>
          <p:cNvPr id="302" name="Text 300"/>
          <p:cNvSpPr/>
          <p:nvPr/>
        </p:nvSpPr>
        <p:spPr>
          <a:xfrm>
            <a:off x="1645920" y="3835255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 (MoS) Submitted</a:t>
            </a:r>
            <a:endParaRPr lang="en-US" sz="800" dirty="0"/>
          </a:p>
        </p:txBody>
      </p:sp>
      <p:sp>
        <p:nvSpPr>
          <p:cNvPr id="303" name="Shape 301"/>
          <p:cNvSpPr/>
          <p:nvPr/>
        </p:nvSpPr>
        <p:spPr>
          <a:xfrm>
            <a:off x="4709160" y="3942153"/>
            <a:ext cx="5005867" cy="0"/>
          </a:xfrm>
          <a:prstGeom prst="line">
            <a:avLst/>
          </a:prstGeom>
          <a:noFill/>
          <a:ln w="9525">
            <a:solidFill>
              <a:srgbClr val="00778B">
                <a:alpha val="60000"/>
              </a:srgbClr>
            </a:solidFill>
            <a:prstDash val="sysDot"/>
          </a:ln>
        </p:spPr>
      </p:sp>
      <p:sp>
        <p:nvSpPr>
          <p:cNvPr id="304" name="Shape 302"/>
          <p:cNvSpPr/>
          <p:nvPr/>
        </p:nvSpPr>
        <p:spPr>
          <a:xfrm>
            <a:off x="9648751" y="3875876"/>
            <a:ext cx="132553" cy="132553"/>
          </a:xfrm>
          <a:prstGeom prst="diamond">
            <a:avLst/>
          </a:prstGeom>
          <a:solidFill>
            <a:srgbClr val="0077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365760" y="4049050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4709160" y="4049050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438912" y="4083258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438912" y="4083258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650" dirty="0"/>
          </a:p>
        </p:txBody>
      </p:sp>
      <p:sp>
        <p:nvSpPr>
          <p:cNvPr id="309" name="Text 307"/>
          <p:cNvSpPr/>
          <p:nvPr/>
        </p:nvSpPr>
        <p:spPr>
          <a:xfrm>
            <a:off x="960120" y="4049050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Oct</a:t>
            </a:r>
            <a:endParaRPr lang="en-US" sz="800" dirty="0"/>
          </a:p>
        </p:txBody>
      </p:sp>
      <p:sp>
        <p:nvSpPr>
          <p:cNvPr id="310" name="Text 308"/>
          <p:cNvSpPr/>
          <p:nvPr/>
        </p:nvSpPr>
        <p:spPr>
          <a:xfrm>
            <a:off x="1645920" y="4049050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Meeting</a:t>
            </a:r>
            <a:endParaRPr lang="en-US" sz="800" dirty="0"/>
          </a:p>
        </p:txBody>
      </p:sp>
      <p:sp>
        <p:nvSpPr>
          <p:cNvPr id="311" name="Shape 309"/>
          <p:cNvSpPr/>
          <p:nvPr/>
        </p:nvSpPr>
        <p:spPr>
          <a:xfrm>
            <a:off x="4709160" y="4155948"/>
            <a:ext cx="5005867" cy="0"/>
          </a:xfrm>
          <a:prstGeom prst="line">
            <a:avLst/>
          </a:prstGeom>
          <a:noFill/>
          <a:ln w="9525">
            <a:solidFill>
              <a:srgbClr val="00778B">
                <a:alpha val="60000"/>
              </a:srgbClr>
            </a:solidFill>
            <a:prstDash val="sysDot"/>
          </a:ln>
        </p:spPr>
      </p:sp>
      <p:sp>
        <p:nvSpPr>
          <p:cNvPr id="312" name="Shape 310"/>
          <p:cNvSpPr/>
          <p:nvPr/>
        </p:nvSpPr>
        <p:spPr>
          <a:xfrm>
            <a:off x="9715027" y="4102499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00778B">
              <a:alpha val="85000"/>
            </a:srgbClr>
          </a:solidFill>
          <a:ln w="12700">
            <a:solidFill>
              <a:srgbClr val="00778B">
                <a:alpha val="0"/>
              </a:srgbClr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9908803" y="4049050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day</a:t>
            </a:r>
            <a:endParaRPr lang="en-US" sz="700" dirty="0"/>
          </a:p>
        </p:txBody>
      </p:sp>
      <p:sp>
        <p:nvSpPr>
          <p:cNvPr id="314" name="Shape 312"/>
          <p:cNvSpPr/>
          <p:nvPr/>
        </p:nvSpPr>
        <p:spPr>
          <a:xfrm>
            <a:off x="9648751" y="4089671"/>
            <a:ext cx="132553" cy="132553"/>
          </a:xfrm>
          <a:prstGeom prst="diamond">
            <a:avLst/>
          </a:prstGeom>
          <a:solidFill>
            <a:srgbClr val="0077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365760" y="4262846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4709160" y="4262846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438912" y="4297053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438912" y="4297053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650" dirty="0"/>
          </a:p>
        </p:txBody>
      </p:sp>
      <p:sp>
        <p:nvSpPr>
          <p:cNvPr id="319" name="Text 317"/>
          <p:cNvSpPr/>
          <p:nvPr/>
        </p:nvSpPr>
        <p:spPr>
          <a:xfrm>
            <a:off x="960120" y="4262846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Oct</a:t>
            </a:r>
            <a:endParaRPr lang="en-US" sz="800" dirty="0"/>
          </a:p>
        </p:txBody>
      </p:sp>
      <p:sp>
        <p:nvSpPr>
          <p:cNvPr id="320" name="Text 318"/>
          <p:cNvSpPr/>
          <p:nvPr/>
        </p:nvSpPr>
        <p:spPr>
          <a:xfrm>
            <a:off x="1645920" y="4262846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Stakeholders’ Clarifications Answered</a:t>
            </a:r>
            <a:endParaRPr lang="en-US" sz="800" dirty="0"/>
          </a:p>
        </p:txBody>
      </p:sp>
      <p:sp>
        <p:nvSpPr>
          <p:cNvPr id="321" name="Shape 319"/>
          <p:cNvSpPr/>
          <p:nvPr/>
        </p:nvSpPr>
        <p:spPr>
          <a:xfrm>
            <a:off x="4709160" y="4369743"/>
            <a:ext cx="5126491" cy="0"/>
          </a:xfrm>
          <a:prstGeom prst="line">
            <a:avLst/>
          </a:prstGeom>
          <a:noFill/>
          <a:ln w="9525">
            <a:solidFill>
              <a:srgbClr val="00778B">
                <a:alpha val="60000"/>
              </a:srgbClr>
            </a:solidFill>
            <a:prstDash val="sysDot"/>
          </a:ln>
        </p:spPr>
      </p:sp>
      <p:sp>
        <p:nvSpPr>
          <p:cNvPr id="322" name="Shape 320"/>
          <p:cNvSpPr/>
          <p:nvPr/>
        </p:nvSpPr>
        <p:spPr>
          <a:xfrm>
            <a:off x="9835651" y="4316295"/>
            <a:ext cx="361870" cy="106898"/>
          </a:xfrm>
          <a:prstGeom prst="roundRect">
            <a:avLst>
              <a:gd name="adj" fmla="val 34216"/>
            </a:avLst>
          </a:prstGeom>
          <a:solidFill>
            <a:srgbClr val="00778B">
              <a:alpha val="85000"/>
            </a:srgbClr>
          </a:solidFill>
          <a:ln w="12700">
            <a:solidFill>
              <a:srgbClr val="00778B">
                <a:alpha val="0"/>
              </a:srgbClr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10270673" y="4262846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days</a:t>
            </a:r>
            <a:endParaRPr lang="en-US" sz="700" dirty="0"/>
          </a:p>
        </p:txBody>
      </p:sp>
      <p:sp>
        <p:nvSpPr>
          <p:cNvPr id="324" name="Shape 322"/>
          <p:cNvSpPr/>
          <p:nvPr/>
        </p:nvSpPr>
        <p:spPr>
          <a:xfrm>
            <a:off x="9769374" y="4303467"/>
            <a:ext cx="132553" cy="132553"/>
          </a:xfrm>
          <a:prstGeom prst="diamond">
            <a:avLst/>
          </a:prstGeom>
          <a:solidFill>
            <a:srgbClr val="0077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365760" y="4476641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4709160" y="4476641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438912" y="4510848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438912" y="4510848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650" dirty="0"/>
          </a:p>
        </p:txBody>
      </p:sp>
      <p:sp>
        <p:nvSpPr>
          <p:cNvPr id="329" name="Text 327"/>
          <p:cNvSpPr/>
          <p:nvPr/>
        </p:nvSpPr>
        <p:spPr>
          <a:xfrm>
            <a:off x="960120" y="4476641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Oct</a:t>
            </a:r>
            <a:endParaRPr lang="en-US" sz="800" dirty="0"/>
          </a:p>
        </p:txBody>
      </p:sp>
      <p:sp>
        <p:nvSpPr>
          <p:cNvPr id="330" name="Text 328"/>
          <p:cNvSpPr/>
          <p:nvPr/>
        </p:nvSpPr>
        <p:spPr>
          <a:xfrm>
            <a:off x="1645920" y="4476641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Clarification Received</a:t>
            </a:r>
            <a:endParaRPr lang="en-US" sz="800" dirty="0"/>
          </a:p>
        </p:txBody>
      </p:sp>
      <p:sp>
        <p:nvSpPr>
          <p:cNvPr id="331" name="Shape 329"/>
          <p:cNvSpPr/>
          <p:nvPr/>
        </p:nvSpPr>
        <p:spPr>
          <a:xfrm>
            <a:off x="4709160" y="4583539"/>
            <a:ext cx="5488361" cy="0"/>
          </a:xfrm>
          <a:prstGeom prst="line">
            <a:avLst/>
          </a:prstGeom>
          <a:noFill/>
          <a:ln w="9525">
            <a:solidFill>
              <a:srgbClr val="00778B">
                <a:alpha val="60000"/>
              </a:srgbClr>
            </a:solidFill>
            <a:prstDash val="sysDot"/>
          </a:ln>
        </p:spPr>
      </p:sp>
      <p:sp>
        <p:nvSpPr>
          <p:cNvPr id="332" name="Shape 330"/>
          <p:cNvSpPr/>
          <p:nvPr/>
        </p:nvSpPr>
        <p:spPr>
          <a:xfrm>
            <a:off x="10197521" y="4530090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00778B">
              <a:alpha val="85000"/>
            </a:srgbClr>
          </a:solidFill>
          <a:ln w="12700">
            <a:solidFill>
              <a:srgbClr val="00778B">
                <a:alpha val="0"/>
              </a:srgbClr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>
            <a:off x="10391296" y="4476641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day</a:t>
            </a:r>
            <a:endParaRPr lang="en-US" sz="700" dirty="0"/>
          </a:p>
        </p:txBody>
      </p:sp>
      <p:sp>
        <p:nvSpPr>
          <p:cNvPr id="334" name="Shape 332"/>
          <p:cNvSpPr/>
          <p:nvPr/>
        </p:nvSpPr>
        <p:spPr>
          <a:xfrm>
            <a:off x="10131244" y="4517262"/>
            <a:ext cx="132553" cy="132553"/>
          </a:xfrm>
          <a:prstGeom prst="diamond">
            <a:avLst/>
          </a:prstGeom>
          <a:solidFill>
            <a:srgbClr val="0077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365760" y="4690437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4709160" y="4690437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438912" y="4724644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438912" y="4724644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650" dirty="0"/>
          </a:p>
        </p:txBody>
      </p:sp>
      <p:sp>
        <p:nvSpPr>
          <p:cNvPr id="339" name="Text 337"/>
          <p:cNvSpPr/>
          <p:nvPr/>
        </p:nvSpPr>
        <p:spPr>
          <a:xfrm>
            <a:off x="960120" y="4690437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Oct</a:t>
            </a:r>
            <a:endParaRPr lang="en-US" sz="800" dirty="0"/>
          </a:p>
        </p:txBody>
      </p:sp>
      <p:sp>
        <p:nvSpPr>
          <p:cNvPr id="340" name="Text 338"/>
          <p:cNvSpPr/>
          <p:nvPr/>
        </p:nvSpPr>
        <p:spPr>
          <a:xfrm>
            <a:off x="1645920" y="4690437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Revision 2 Submitted</a:t>
            </a:r>
            <a:endParaRPr lang="en-US" sz="800" dirty="0"/>
          </a:p>
        </p:txBody>
      </p:sp>
      <p:sp>
        <p:nvSpPr>
          <p:cNvPr id="341" name="Shape 339"/>
          <p:cNvSpPr/>
          <p:nvPr/>
        </p:nvSpPr>
        <p:spPr>
          <a:xfrm>
            <a:off x="4709160" y="4797334"/>
            <a:ext cx="5608984" cy="0"/>
          </a:xfrm>
          <a:prstGeom prst="line">
            <a:avLst/>
          </a:prstGeom>
          <a:noFill/>
          <a:ln w="9525">
            <a:solidFill>
              <a:srgbClr val="00778B">
                <a:alpha val="60000"/>
              </a:srgbClr>
            </a:solidFill>
            <a:prstDash val="sysDot"/>
          </a:ln>
        </p:spPr>
      </p:sp>
      <p:sp>
        <p:nvSpPr>
          <p:cNvPr id="342" name="Shape 340"/>
          <p:cNvSpPr/>
          <p:nvPr/>
        </p:nvSpPr>
        <p:spPr>
          <a:xfrm>
            <a:off x="10318144" y="4743885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00778B">
              <a:alpha val="85000"/>
            </a:srgbClr>
          </a:solidFill>
          <a:ln w="12700">
            <a:solidFill>
              <a:srgbClr val="00778B">
                <a:alpha val="0"/>
              </a:srgbClr>
            </a:solidFill>
            <a:prstDash val="solid"/>
          </a:ln>
        </p:spPr>
      </p:sp>
      <p:sp>
        <p:nvSpPr>
          <p:cNvPr id="343" name="Text 341"/>
          <p:cNvSpPr/>
          <p:nvPr/>
        </p:nvSpPr>
        <p:spPr>
          <a:xfrm>
            <a:off x="10511919" y="4690437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day</a:t>
            </a:r>
            <a:endParaRPr lang="en-US" sz="700" dirty="0"/>
          </a:p>
        </p:txBody>
      </p:sp>
      <p:sp>
        <p:nvSpPr>
          <p:cNvPr id="344" name="Shape 342"/>
          <p:cNvSpPr/>
          <p:nvPr/>
        </p:nvSpPr>
        <p:spPr>
          <a:xfrm>
            <a:off x="10251867" y="4731058"/>
            <a:ext cx="132553" cy="132553"/>
          </a:xfrm>
          <a:prstGeom prst="diamond">
            <a:avLst/>
          </a:prstGeom>
          <a:solidFill>
            <a:srgbClr val="0077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365760" y="4904232"/>
            <a:ext cx="4343400" cy="213795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4709160" y="4904232"/>
            <a:ext cx="7116775" cy="213795"/>
          </a:xfrm>
          <a:prstGeom prst="rect">
            <a:avLst/>
          </a:prstGeom>
          <a:solidFill>
            <a:srgbClr val="2E9E6B">
              <a:alpha val="14000"/>
            </a:srgbClr>
          </a:solidFill>
          <a:ln w="12700">
            <a:solidFill>
              <a:srgbClr val="2E9E6B">
                <a:alpha val="0"/>
              </a:srgbClr>
            </a:solidFill>
            <a:prstDash val="solid"/>
          </a:ln>
        </p:spPr>
      </p:sp>
      <p:sp>
        <p:nvSpPr>
          <p:cNvPr id="347" name="Text 345"/>
          <p:cNvSpPr/>
          <p:nvPr/>
        </p:nvSpPr>
        <p:spPr>
          <a:xfrm>
            <a:off x="457200" y="4904232"/>
            <a:ext cx="416052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Phase 3 – Work Permit Issuance</a:t>
            </a:r>
            <a:endParaRPr lang="en-US" sz="900" dirty="0"/>
          </a:p>
        </p:txBody>
      </p:sp>
      <p:sp>
        <p:nvSpPr>
          <p:cNvPr id="348" name="Shape 346"/>
          <p:cNvSpPr/>
          <p:nvPr/>
        </p:nvSpPr>
        <p:spPr>
          <a:xfrm>
            <a:off x="10378455" y="4964095"/>
            <a:ext cx="1085610" cy="94070"/>
          </a:xfrm>
          <a:prstGeom prst="roundRect">
            <a:avLst>
              <a:gd name="adj" fmla="val 38882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365760" y="5118027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4709160" y="5118027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438912" y="5152235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438912" y="5152235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650" dirty="0"/>
          </a:p>
        </p:txBody>
      </p:sp>
      <p:sp>
        <p:nvSpPr>
          <p:cNvPr id="353" name="Text 351"/>
          <p:cNvSpPr/>
          <p:nvPr/>
        </p:nvSpPr>
        <p:spPr>
          <a:xfrm>
            <a:off x="960120" y="5118027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Oct</a:t>
            </a:r>
            <a:endParaRPr lang="en-US" sz="800" dirty="0"/>
          </a:p>
        </p:txBody>
      </p:sp>
      <p:sp>
        <p:nvSpPr>
          <p:cNvPr id="354" name="Text 352"/>
          <p:cNvSpPr/>
          <p:nvPr/>
        </p:nvSpPr>
        <p:spPr>
          <a:xfrm>
            <a:off x="1645920" y="5118027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Department Contacted</a:t>
            </a:r>
            <a:endParaRPr lang="en-US" sz="800" dirty="0"/>
          </a:p>
        </p:txBody>
      </p:sp>
      <p:sp>
        <p:nvSpPr>
          <p:cNvPr id="355" name="Shape 353"/>
          <p:cNvSpPr/>
          <p:nvPr/>
        </p:nvSpPr>
        <p:spPr>
          <a:xfrm>
            <a:off x="4709160" y="5224925"/>
            <a:ext cx="5729607" cy="0"/>
          </a:xfrm>
          <a:prstGeom prst="line">
            <a:avLst/>
          </a:prstGeom>
          <a:noFill/>
          <a:ln w="9525">
            <a:solidFill>
              <a:srgbClr val="2E9E6B">
                <a:alpha val="60000"/>
              </a:srgbClr>
            </a:solidFill>
            <a:prstDash val="sysDot"/>
          </a:ln>
        </p:spPr>
      </p:sp>
      <p:sp>
        <p:nvSpPr>
          <p:cNvPr id="356" name="Shape 354"/>
          <p:cNvSpPr/>
          <p:nvPr/>
        </p:nvSpPr>
        <p:spPr>
          <a:xfrm>
            <a:off x="10438767" y="5171476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2E9E6B">
              <a:alpha val="85000"/>
            </a:srgbClr>
          </a:solidFill>
          <a:ln w="12700">
            <a:solidFill>
              <a:srgbClr val="2E9E6B">
                <a:alpha val="0"/>
              </a:srgbClr>
            </a:solidFill>
            <a:prstDash val="solid"/>
          </a:ln>
        </p:spPr>
      </p:sp>
      <p:sp>
        <p:nvSpPr>
          <p:cNvPr id="357" name="Text 355"/>
          <p:cNvSpPr/>
          <p:nvPr/>
        </p:nvSpPr>
        <p:spPr>
          <a:xfrm>
            <a:off x="10632542" y="5118027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day</a:t>
            </a:r>
            <a:endParaRPr lang="en-US" sz="700" dirty="0"/>
          </a:p>
        </p:txBody>
      </p:sp>
      <p:sp>
        <p:nvSpPr>
          <p:cNvPr id="358" name="Shape 356"/>
          <p:cNvSpPr/>
          <p:nvPr/>
        </p:nvSpPr>
        <p:spPr>
          <a:xfrm>
            <a:off x="10372491" y="5158649"/>
            <a:ext cx="132553" cy="132553"/>
          </a:xfrm>
          <a:prstGeom prst="diamond">
            <a:avLst/>
          </a:prstGeom>
          <a:solidFill>
            <a:srgbClr val="2E9E6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365760" y="5331823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4709160" y="5331823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438912" y="5366030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62" name="Text 360"/>
          <p:cNvSpPr/>
          <p:nvPr/>
        </p:nvSpPr>
        <p:spPr>
          <a:xfrm>
            <a:off x="438912" y="5366030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650" dirty="0"/>
          </a:p>
        </p:txBody>
      </p:sp>
      <p:sp>
        <p:nvSpPr>
          <p:cNvPr id="363" name="Text 361"/>
          <p:cNvSpPr/>
          <p:nvPr/>
        </p:nvSpPr>
        <p:spPr>
          <a:xfrm>
            <a:off x="960120" y="5331823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Oct</a:t>
            </a:r>
            <a:endParaRPr lang="en-US" sz="800" dirty="0"/>
          </a:p>
        </p:txBody>
      </p:sp>
      <p:sp>
        <p:nvSpPr>
          <p:cNvPr id="364" name="Text 362"/>
          <p:cNvSpPr/>
          <p:nvPr/>
        </p:nvSpPr>
        <p:spPr>
          <a:xfrm>
            <a:off x="1645920" y="5331823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Circulated for Approvals</a:t>
            </a:r>
            <a:endParaRPr lang="en-US" sz="800" dirty="0"/>
          </a:p>
        </p:txBody>
      </p:sp>
      <p:sp>
        <p:nvSpPr>
          <p:cNvPr id="365" name="Shape 363"/>
          <p:cNvSpPr/>
          <p:nvPr/>
        </p:nvSpPr>
        <p:spPr>
          <a:xfrm>
            <a:off x="4709160" y="5438721"/>
            <a:ext cx="5850230" cy="0"/>
          </a:xfrm>
          <a:prstGeom prst="line">
            <a:avLst/>
          </a:prstGeom>
          <a:noFill/>
          <a:ln w="9525">
            <a:solidFill>
              <a:srgbClr val="2E9E6B">
                <a:alpha val="60000"/>
              </a:srgbClr>
            </a:solidFill>
            <a:prstDash val="sysDot"/>
          </a:ln>
        </p:spPr>
      </p:sp>
      <p:sp>
        <p:nvSpPr>
          <p:cNvPr id="366" name="Shape 364"/>
          <p:cNvSpPr/>
          <p:nvPr/>
        </p:nvSpPr>
        <p:spPr>
          <a:xfrm>
            <a:off x="10559390" y="5385272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2E9E6B">
              <a:alpha val="85000"/>
            </a:srgbClr>
          </a:solidFill>
          <a:ln w="12700">
            <a:solidFill>
              <a:srgbClr val="2E9E6B">
                <a:alpha val="0"/>
              </a:srgbClr>
            </a:solidFill>
            <a:prstDash val="solid"/>
          </a:ln>
        </p:spPr>
      </p:sp>
      <p:sp>
        <p:nvSpPr>
          <p:cNvPr id="367" name="Text 365"/>
          <p:cNvSpPr/>
          <p:nvPr/>
        </p:nvSpPr>
        <p:spPr>
          <a:xfrm>
            <a:off x="10753166" y="5331823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day</a:t>
            </a:r>
            <a:endParaRPr lang="en-US" sz="700" dirty="0"/>
          </a:p>
        </p:txBody>
      </p:sp>
      <p:sp>
        <p:nvSpPr>
          <p:cNvPr id="368" name="Shape 366"/>
          <p:cNvSpPr/>
          <p:nvPr/>
        </p:nvSpPr>
        <p:spPr>
          <a:xfrm>
            <a:off x="10493114" y="5372444"/>
            <a:ext cx="132553" cy="132553"/>
          </a:xfrm>
          <a:prstGeom prst="diamond">
            <a:avLst/>
          </a:prstGeom>
          <a:solidFill>
            <a:srgbClr val="2E9E6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365760" y="5545618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4709160" y="5545618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438912" y="5579826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72" name="Text 370"/>
          <p:cNvSpPr/>
          <p:nvPr/>
        </p:nvSpPr>
        <p:spPr>
          <a:xfrm>
            <a:off x="438912" y="5579826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650" dirty="0"/>
          </a:p>
        </p:txBody>
      </p:sp>
      <p:sp>
        <p:nvSpPr>
          <p:cNvPr id="373" name="Text 371"/>
          <p:cNvSpPr/>
          <p:nvPr/>
        </p:nvSpPr>
        <p:spPr>
          <a:xfrm>
            <a:off x="960120" y="5545618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Oct</a:t>
            </a:r>
            <a:endParaRPr lang="en-US" sz="800" dirty="0"/>
          </a:p>
        </p:txBody>
      </p:sp>
      <p:sp>
        <p:nvSpPr>
          <p:cNvPr id="374" name="Text 372"/>
          <p:cNvSpPr/>
          <p:nvPr/>
        </p:nvSpPr>
        <p:spPr>
          <a:xfrm>
            <a:off x="1645920" y="5545618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Department Comments</a:t>
            </a:r>
            <a:endParaRPr lang="en-US" sz="800" dirty="0"/>
          </a:p>
        </p:txBody>
      </p:sp>
      <p:sp>
        <p:nvSpPr>
          <p:cNvPr id="375" name="Shape 373"/>
          <p:cNvSpPr/>
          <p:nvPr/>
        </p:nvSpPr>
        <p:spPr>
          <a:xfrm>
            <a:off x="4709160" y="5652516"/>
            <a:ext cx="5970854" cy="0"/>
          </a:xfrm>
          <a:prstGeom prst="line">
            <a:avLst/>
          </a:prstGeom>
          <a:noFill/>
          <a:ln w="9525">
            <a:solidFill>
              <a:srgbClr val="2E9E6B">
                <a:alpha val="60000"/>
              </a:srgbClr>
            </a:solidFill>
            <a:prstDash val="sysDot"/>
          </a:ln>
        </p:spPr>
      </p:sp>
      <p:sp>
        <p:nvSpPr>
          <p:cNvPr id="376" name="Shape 374"/>
          <p:cNvSpPr/>
          <p:nvPr/>
        </p:nvSpPr>
        <p:spPr>
          <a:xfrm>
            <a:off x="10680014" y="5599067"/>
            <a:ext cx="482493" cy="106898"/>
          </a:xfrm>
          <a:prstGeom prst="roundRect">
            <a:avLst>
              <a:gd name="adj" fmla="val 34216"/>
            </a:avLst>
          </a:prstGeom>
          <a:solidFill>
            <a:srgbClr val="2E9E6B">
              <a:alpha val="85000"/>
            </a:srgbClr>
          </a:solidFill>
          <a:ln w="12700">
            <a:solidFill>
              <a:srgbClr val="2E9E6B">
                <a:alpha val="0"/>
              </a:srgbClr>
            </a:solidFill>
            <a:prstDash val="solid"/>
          </a:ln>
        </p:spPr>
      </p:sp>
      <p:sp>
        <p:nvSpPr>
          <p:cNvPr id="377" name="Text 375"/>
          <p:cNvSpPr/>
          <p:nvPr/>
        </p:nvSpPr>
        <p:spPr>
          <a:xfrm>
            <a:off x="11235659" y="5545618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days</a:t>
            </a:r>
            <a:endParaRPr lang="en-US" sz="700" dirty="0"/>
          </a:p>
        </p:txBody>
      </p:sp>
      <p:sp>
        <p:nvSpPr>
          <p:cNvPr id="378" name="Shape 376"/>
          <p:cNvSpPr/>
          <p:nvPr/>
        </p:nvSpPr>
        <p:spPr>
          <a:xfrm>
            <a:off x="10613737" y="5586239"/>
            <a:ext cx="132553" cy="132553"/>
          </a:xfrm>
          <a:prstGeom prst="diamond">
            <a:avLst/>
          </a:prstGeom>
          <a:solidFill>
            <a:srgbClr val="2E9E6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365760" y="5759414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4709160" y="5759414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438912" y="5793621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82" name="Text 380"/>
          <p:cNvSpPr/>
          <p:nvPr/>
        </p:nvSpPr>
        <p:spPr>
          <a:xfrm>
            <a:off x="438912" y="5793621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650" dirty="0"/>
          </a:p>
        </p:txBody>
      </p:sp>
      <p:sp>
        <p:nvSpPr>
          <p:cNvPr id="383" name="Text 381"/>
          <p:cNvSpPr/>
          <p:nvPr/>
        </p:nvSpPr>
        <p:spPr>
          <a:xfrm>
            <a:off x="960120" y="5759414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Oct</a:t>
            </a:r>
            <a:endParaRPr lang="en-US" sz="800" dirty="0"/>
          </a:p>
        </p:txBody>
      </p:sp>
      <p:sp>
        <p:nvSpPr>
          <p:cNvPr id="384" name="Text 382"/>
          <p:cNvSpPr/>
          <p:nvPr/>
        </p:nvSpPr>
        <p:spPr>
          <a:xfrm>
            <a:off x="1645920" y="5759414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Revision 3 Submitted</a:t>
            </a:r>
            <a:endParaRPr lang="en-US" sz="800" dirty="0"/>
          </a:p>
        </p:txBody>
      </p:sp>
      <p:sp>
        <p:nvSpPr>
          <p:cNvPr id="385" name="Shape 383"/>
          <p:cNvSpPr/>
          <p:nvPr/>
        </p:nvSpPr>
        <p:spPr>
          <a:xfrm>
            <a:off x="4709160" y="5866311"/>
            <a:ext cx="6453347" cy="0"/>
          </a:xfrm>
          <a:prstGeom prst="line">
            <a:avLst/>
          </a:prstGeom>
          <a:noFill/>
          <a:ln w="9525">
            <a:solidFill>
              <a:srgbClr val="2E9E6B">
                <a:alpha val="60000"/>
              </a:srgbClr>
            </a:solidFill>
            <a:prstDash val="sysDot"/>
          </a:ln>
        </p:spPr>
      </p:sp>
      <p:sp>
        <p:nvSpPr>
          <p:cNvPr id="386" name="Shape 384"/>
          <p:cNvSpPr/>
          <p:nvPr/>
        </p:nvSpPr>
        <p:spPr>
          <a:xfrm>
            <a:off x="11162507" y="5812863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2E9E6B">
              <a:alpha val="85000"/>
            </a:srgbClr>
          </a:solidFill>
          <a:ln w="12700">
            <a:solidFill>
              <a:srgbClr val="2E9E6B">
                <a:alpha val="0"/>
              </a:srgbClr>
            </a:solidFill>
            <a:prstDash val="solid"/>
          </a:ln>
        </p:spPr>
      </p:sp>
      <p:sp>
        <p:nvSpPr>
          <p:cNvPr id="387" name="Text 385"/>
          <p:cNvSpPr/>
          <p:nvPr/>
        </p:nvSpPr>
        <p:spPr>
          <a:xfrm>
            <a:off x="11356282" y="5759414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day</a:t>
            </a:r>
            <a:endParaRPr lang="en-US" sz="700" dirty="0"/>
          </a:p>
        </p:txBody>
      </p:sp>
      <p:sp>
        <p:nvSpPr>
          <p:cNvPr id="388" name="Shape 386"/>
          <p:cNvSpPr/>
          <p:nvPr/>
        </p:nvSpPr>
        <p:spPr>
          <a:xfrm>
            <a:off x="11096230" y="5800035"/>
            <a:ext cx="132553" cy="132553"/>
          </a:xfrm>
          <a:prstGeom prst="diamond">
            <a:avLst/>
          </a:prstGeom>
          <a:solidFill>
            <a:srgbClr val="2E9E6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365760" y="5973209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4709160" y="5973209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438912" y="6007416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92" name="Text 390"/>
          <p:cNvSpPr/>
          <p:nvPr/>
        </p:nvSpPr>
        <p:spPr>
          <a:xfrm>
            <a:off x="438912" y="6007416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650" dirty="0"/>
          </a:p>
        </p:txBody>
      </p:sp>
      <p:sp>
        <p:nvSpPr>
          <p:cNvPr id="393" name="Text 391"/>
          <p:cNvSpPr/>
          <p:nvPr/>
        </p:nvSpPr>
        <p:spPr>
          <a:xfrm>
            <a:off x="960120" y="5973209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Oct</a:t>
            </a:r>
            <a:endParaRPr lang="en-US" sz="800" dirty="0"/>
          </a:p>
        </p:txBody>
      </p:sp>
      <p:sp>
        <p:nvSpPr>
          <p:cNvPr id="394" name="Text 392"/>
          <p:cNvSpPr/>
          <p:nvPr/>
        </p:nvSpPr>
        <p:spPr>
          <a:xfrm>
            <a:off x="1645920" y="5973209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Clarification Cleared</a:t>
            </a:r>
            <a:endParaRPr lang="en-US" sz="800" dirty="0"/>
          </a:p>
        </p:txBody>
      </p:sp>
      <p:sp>
        <p:nvSpPr>
          <p:cNvPr id="395" name="Shape 393"/>
          <p:cNvSpPr/>
          <p:nvPr/>
        </p:nvSpPr>
        <p:spPr>
          <a:xfrm>
            <a:off x="4709160" y="6080107"/>
            <a:ext cx="6573970" cy="0"/>
          </a:xfrm>
          <a:prstGeom prst="line">
            <a:avLst/>
          </a:prstGeom>
          <a:noFill/>
          <a:ln w="9525">
            <a:solidFill>
              <a:srgbClr val="2E9E6B">
                <a:alpha val="60000"/>
              </a:srgbClr>
            </a:solidFill>
            <a:prstDash val="sysDot"/>
          </a:ln>
        </p:spPr>
      </p:sp>
      <p:sp>
        <p:nvSpPr>
          <p:cNvPr id="396" name="Shape 394"/>
          <p:cNvSpPr/>
          <p:nvPr/>
        </p:nvSpPr>
        <p:spPr>
          <a:xfrm>
            <a:off x="11283130" y="6026658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2E9E6B">
              <a:alpha val="85000"/>
            </a:srgbClr>
          </a:solidFill>
          <a:ln w="12700">
            <a:solidFill>
              <a:srgbClr val="2E9E6B">
                <a:alpha val="0"/>
              </a:srgbClr>
            </a:solidFill>
            <a:prstDash val="solid"/>
          </a:ln>
        </p:spPr>
      </p:sp>
      <p:sp>
        <p:nvSpPr>
          <p:cNvPr id="397" name="Text 395"/>
          <p:cNvSpPr/>
          <p:nvPr/>
        </p:nvSpPr>
        <p:spPr>
          <a:xfrm>
            <a:off x="11476906" y="5973209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day</a:t>
            </a:r>
            <a:endParaRPr lang="en-US" sz="700" dirty="0"/>
          </a:p>
        </p:txBody>
      </p:sp>
      <p:sp>
        <p:nvSpPr>
          <p:cNvPr id="398" name="Shape 396"/>
          <p:cNvSpPr/>
          <p:nvPr/>
        </p:nvSpPr>
        <p:spPr>
          <a:xfrm>
            <a:off x="11216854" y="6013830"/>
            <a:ext cx="132553" cy="132553"/>
          </a:xfrm>
          <a:prstGeom prst="diamond">
            <a:avLst/>
          </a:prstGeom>
          <a:solidFill>
            <a:srgbClr val="2E9E6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365760" y="6187005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4709160" y="6187005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438912" y="6221212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402" name="Text 400"/>
          <p:cNvSpPr/>
          <p:nvPr/>
        </p:nvSpPr>
        <p:spPr>
          <a:xfrm>
            <a:off x="438912" y="6221212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650" dirty="0"/>
          </a:p>
        </p:txBody>
      </p:sp>
      <p:sp>
        <p:nvSpPr>
          <p:cNvPr id="403" name="Text 401"/>
          <p:cNvSpPr/>
          <p:nvPr/>
        </p:nvSpPr>
        <p:spPr>
          <a:xfrm>
            <a:off x="960120" y="6187005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Oct</a:t>
            </a:r>
            <a:endParaRPr lang="en-US" sz="800" dirty="0"/>
          </a:p>
        </p:txBody>
      </p:sp>
      <p:sp>
        <p:nvSpPr>
          <p:cNvPr id="404" name="Text 402"/>
          <p:cNvSpPr/>
          <p:nvPr/>
        </p:nvSpPr>
        <p:spPr>
          <a:xfrm>
            <a:off x="1645920" y="6187005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800" b="1" dirty="0">
                <a:solidFill>
                  <a:srgbClr val="1D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Permit Ready for Signature</a:t>
            </a:r>
            <a:endParaRPr lang="en-US" sz="800" dirty="0"/>
          </a:p>
        </p:txBody>
      </p:sp>
      <p:sp>
        <p:nvSpPr>
          <p:cNvPr id="405" name="Shape 403"/>
          <p:cNvSpPr/>
          <p:nvPr/>
        </p:nvSpPr>
        <p:spPr>
          <a:xfrm>
            <a:off x="4709160" y="6293902"/>
            <a:ext cx="6694594" cy="0"/>
          </a:xfrm>
          <a:prstGeom prst="line">
            <a:avLst/>
          </a:prstGeom>
          <a:noFill/>
          <a:ln w="9525">
            <a:solidFill>
              <a:srgbClr val="2E9E6B">
                <a:alpha val="60000"/>
              </a:srgbClr>
            </a:solidFill>
            <a:prstDash val="sysDot"/>
          </a:ln>
        </p:spPr>
      </p:sp>
      <p:sp>
        <p:nvSpPr>
          <p:cNvPr id="406" name="Shape 404"/>
          <p:cNvSpPr/>
          <p:nvPr/>
        </p:nvSpPr>
        <p:spPr>
          <a:xfrm>
            <a:off x="11337477" y="6227626"/>
            <a:ext cx="132553" cy="132553"/>
          </a:xfrm>
          <a:prstGeom prst="diamond">
            <a:avLst/>
          </a:prstGeom>
          <a:solidFill>
            <a:srgbClr val="FFFFFF"/>
          </a:solidFill>
          <a:ln w="22225">
            <a:solidFill>
              <a:srgbClr val="2E9E6B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365760" y="1371600"/>
            <a:ext cx="11460175" cy="5029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9C6C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UFWL Project – Gantt Chart</dc:title>
  <dc:subject>PptxGenJS Presentation</dc:subject>
  <dc:creator>UFWL Project</dc:creator>
  <cp:lastModifiedBy>UFWL Project</cp:lastModifiedBy>
  <cp:revision>1</cp:revision>
  <dcterms:created xsi:type="dcterms:W3CDTF">2026-10-21T10:52:19Z</dcterms:created>
  <dcterms:modified xsi:type="dcterms:W3CDTF">2026-10-21T10:52:19Z</dcterms:modified>
</cp:coreProperties>
</file>