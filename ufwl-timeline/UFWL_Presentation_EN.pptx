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4375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Site Suspension &amp; Remaining Works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Timeline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Timeline · Site Suspension and Shoring Works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005840"/>
            <a:ext cx="1706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43779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8686" y="1005840"/>
            <a:ext cx="22896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93208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04104" y="1005840"/>
            <a:ext cx="27669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225942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36838" y="1005840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405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2489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7573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2657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7740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28247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908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2992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8076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3159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8243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3327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4111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33494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98578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63662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287461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4059" y="3447288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3747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6374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4320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47472" y="2734056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31 Aug 2026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65760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Requested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24896" y="4050792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314584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31458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16098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89250" y="4233672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7538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28 Sep 2026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07538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Request Rejected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2175734" y="2624328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65422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96542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166936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1240088" y="191109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58376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 Oct 2026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258376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Activities Suspended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2826572" y="4050792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616260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61626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1817773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890925" y="505663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09213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3 Oct 2026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1909213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Site Visit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3477409" y="3447288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267097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326709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2468611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2541763" y="273405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560051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4 Oct 2026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560051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&amp; Mitigation Plan Submitted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4128247" y="4050792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917935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3917935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311944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3192601" y="423367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21088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5 Oct 2026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321088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Action Plan Requested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4779085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56877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456877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3770286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3843438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861726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 2026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3861726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Statement (MoS) Submitted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5429922" y="4050792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219610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521961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442112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4494276" y="505663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51256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 2026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451256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Meeting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6080760" y="3447288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87044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587044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5071962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5145114" y="273405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163402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8 Oct 2026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5163402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Stakeholders’ Clarifications Answered</a:t>
            </a:r>
            <a:endParaRPr lang="en-US" sz="650" dirty="0"/>
          </a:p>
        </p:txBody>
      </p:sp>
      <p:sp>
        <p:nvSpPr>
          <p:cNvPr id="93" name="Shape 91"/>
          <p:cNvSpPr/>
          <p:nvPr/>
        </p:nvSpPr>
        <p:spPr>
          <a:xfrm>
            <a:off x="6731598" y="4050792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21286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5" name="Text 93"/>
          <p:cNvSpPr/>
          <p:nvPr/>
        </p:nvSpPr>
        <p:spPr>
          <a:xfrm>
            <a:off x="652128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572279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7" name="Shape 95"/>
          <p:cNvSpPr/>
          <p:nvPr/>
        </p:nvSpPr>
        <p:spPr>
          <a:xfrm>
            <a:off x="5795951" y="423367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81423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11 Oct 2026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581423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Clarification Received</a:t>
            </a:r>
            <a:endParaRPr lang="en-US" sz="650" dirty="0"/>
          </a:p>
        </p:txBody>
      </p:sp>
      <p:sp>
        <p:nvSpPr>
          <p:cNvPr id="100" name="Shape 98"/>
          <p:cNvSpPr/>
          <p:nvPr/>
        </p:nvSpPr>
        <p:spPr>
          <a:xfrm>
            <a:off x="7382435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212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717212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103" name="Shape 101"/>
          <p:cNvSpPr/>
          <p:nvPr/>
        </p:nvSpPr>
        <p:spPr>
          <a:xfrm>
            <a:off x="6373637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4" name="Shape 102"/>
          <p:cNvSpPr/>
          <p:nvPr/>
        </p:nvSpPr>
        <p:spPr>
          <a:xfrm>
            <a:off x="6446789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465077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12 Oct 2026</a:t>
            </a:r>
            <a:endParaRPr lang="en-US" sz="950" dirty="0"/>
          </a:p>
        </p:txBody>
      </p:sp>
      <p:sp>
        <p:nvSpPr>
          <p:cNvPr id="106" name="Text 104"/>
          <p:cNvSpPr/>
          <p:nvPr/>
        </p:nvSpPr>
        <p:spPr>
          <a:xfrm>
            <a:off x="6465077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2 Submitted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8033273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822961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9" name="Text 107"/>
          <p:cNvSpPr/>
          <p:nvPr/>
        </p:nvSpPr>
        <p:spPr>
          <a:xfrm>
            <a:off x="782296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702447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1" name="Shape 109"/>
          <p:cNvSpPr/>
          <p:nvPr/>
        </p:nvSpPr>
        <p:spPr>
          <a:xfrm>
            <a:off x="7097627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711591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13 Oct 2026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711591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Department Contacted</a:t>
            </a:r>
            <a:endParaRPr lang="en-US" sz="650" dirty="0"/>
          </a:p>
        </p:txBody>
      </p:sp>
      <p:sp>
        <p:nvSpPr>
          <p:cNvPr id="114" name="Shape 112"/>
          <p:cNvSpPr/>
          <p:nvPr/>
        </p:nvSpPr>
        <p:spPr>
          <a:xfrm>
            <a:off x="8684111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473799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6" name="Text 114"/>
          <p:cNvSpPr/>
          <p:nvPr/>
        </p:nvSpPr>
        <p:spPr>
          <a:xfrm>
            <a:off x="847379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117" name="Shape 115"/>
          <p:cNvSpPr/>
          <p:nvPr/>
        </p:nvSpPr>
        <p:spPr>
          <a:xfrm>
            <a:off x="7675312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8" name="Shape 116"/>
          <p:cNvSpPr/>
          <p:nvPr/>
        </p:nvSpPr>
        <p:spPr>
          <a:xfrm>
            <a:off x="7748464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766752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14 Oct 2026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7766752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Circulated for Approvals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9334948" y="4050792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124636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3" name="Text 121"/>
          <p:cNvSpPr/>
          <p:nvPr/>
        </p:nvSpPr>
        <p:spPr>
          <a:xfrm>
            <a:off x="912463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124" name="Shape 122"/>
          <p:cNvSpPr/>
          <p:nvPr/>
        </p:nvSpPr>
        <p:spPr>
          <a:xfrm>
            <a:off x="832615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5" name="Shape 123"/>
          <p:cNvSpPr/>
          <p:nvPr/>
        </p:nvSpPr>
        <p:spPr>
          <a:xfrm>
            <a:off x="8399302" y="423367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841759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15 Oct 2026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841759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Department Comments</a:t>
            </a:r>
            <a:endParaRPr lang="en-US" sz="650" dirty="0"/>
          </a:p>
        </p:txBody>
      </p:sp>
      <p:sp>
        <p:nvSpPr>
          <p:cNvPr id="128" name="Shape 126"/>
          <p:cNvSpPr/>
          <p:nvPr/>
        </p:nvSpPr>
        <p:spPr>
          <a:xfrm>
            <a:off x="9985786" y="2624328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775474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977547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131" name="Shape 129"/>
          <p:cNvSpPr/>
          <p:nvPr/>
        </p:nvSpPr>
        <p:spPr>
          <a:xfrm>
            <a:off x="8976988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2" name="Shape 130"/>
          <p:cNvSpPr/>
          <p:nvPr/>
        </p:nvSpPr>
        <p:spPr>
          <a:xfrm>
            <a:off x="9050140" y="191109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068428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19 Oct 2026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9068428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3 Submitted</a:t>
            </a:r>
            <a:endParaRPr lang="en-US" sz="650" dirty="0"/>
          </a:p>
        </p:txBody>
      </p:sp>
      <p:sp>
        <p:nvSpPr>
          <p:cNvPr id="135" name="Shape 133"/>
          <p:cNvSpPr/>
          <p:nvPr/>
        </p:nvSpPr>
        <p:spPr>
          <a:xfrm>
            <a:off x="10636624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0426312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7" name="Text 135"/>
          <p:cNvSpPr/>
          <p:nvPr/>
        </p:nvSpPr>
        <p:spPr>
          <a:xfrm>
            <a:off x="1042631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138" name="Shape 136"/>
          <p:cNvSpPr/>
          <p:nvPr/>
        </p:nvSpPr>
        <p:spPr>
          <a:xfrm>
            <a:off x="962782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9" name="Shape 137"/>
          <p:cNvSpPr/>
          <p:nvPr/>
        </p:nvSpPr>
        <p:spPr>
          <a:xfrm>
            <a:off x="9700977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971926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20 Oct 2026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971926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Clarification Cleared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11287461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1077149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1107714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145" name="Shape 143"/>
          <p:cNvSpPr/>
          <p:nvPr/>
        </p:nvSpPr>
        <p:spPr>
          <a:xfrm>
            <a:off x="9899778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46" name="Shape 144"/>
          <p:cNvSpPr/>
          <p:nvPr/>
        </p:nvSpPr>
        <p:spPr>
          <a:xfrm>
            <a:off x="9972930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9991218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21 Oct 2026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9991218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Ready for Signature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plan – Shoring, Concrete &amp; Backfilling Schedule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RYDN-WLB pit works · Initial re-plan based on the contractor programme (Rev 01) · Commencement 22 Oct 2026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005840"/>
            <a:ext cx="10552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695298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24482" y="1005840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(colour = work group)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926434" y="1060704"/>
            <a:ext cx="128016" cy="128016"/>
          </a:xfrm>
          <a:prstGeom prst="diamond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55618" y="1005840"/>
            <a:ext cx="8430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43830" y="1060704"/>
            <a:ext cx="182880" cy="128016"/>
          </a:xfrm>
          <a:prstGeom prst="rect">
            <a:avLst/>
          </a:prstGeom>
          <a:solidFill>
            <a:srgbClr val="CFD8DC"/>
          </a:solidFill>
          <a:ln w="12700">
            <a:solidFill>
              <a:srgbClr val="CFD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73014" y="1005840"/>
            <a:ext cx="1161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Non-working day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25158" y="1042416"/>
            <a:ext cx="0" cy="164592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808622" y="1005840"/>
            <a:ext cx="9491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date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02906" y="1005840"/>
            <a:ext cx="15325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Dependency (FS / SS)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325880"/>
            <a:ext cx="5678424" cy="64008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3258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" y="13258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47288" y="13258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Predecessor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224528" y="13258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Dur. (wd)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727448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385816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44184" y="1325880"/>
            <a:ext cx="3060927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44184" y="1325880"/>
            <a:ext cx="30609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2026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9105111" y="1325880"/>
            <a:ext cx="2720824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05111" y="1325880"/>
            <a:ext cx="27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November 2026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044184" y="1508760"/>
            <a:ext cx="510155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44184" y="1508760"/>
            <a:ext cx="51015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6554339" y="1508760"/>
            <a:ext cx="1190361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54339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7744699" y="1508760"/>
            <a:ext cx="1190361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44699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8935060" y="1508760"/>
            <a:ext cx="1190361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35060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10125420" y="1508760"/>
            <a:ext cx="1190361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125420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11315781" y="1508760"/>
            <a:ext cx="510155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315781" y="1508760"/>
            <a:ext cx="51015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604418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4418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40" name="Text 38"/>
          <p:cNvSpPr/>
          <p:nvPr/>
        </p:nvSpPr>
        <p:spPr>
          <a:xfrm>
            <a:off x="604418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6214236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1423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43" name="Text 41"/>
          <p:cNvSpPr/>
          <p:nvPr/>
        </p:nvSpPr>
        <p:spPr>
          <a:xfrm>
            <a:off x="621423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6384287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84287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46" name="Text 44"/>
          <p:cNvSpPr/>
          <p:nvPr/>
        </p:nvSpPr>
        <p:spPr>
          <a:xfrm>
            <a:off x="6384287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550" dirty="0"/>
          </a:p>
        </p:txBody>
      </p:sp>
      <p:sp>
        <p:nvSpPr>
          <p:cNvPr id="47" name="Shape 45"/>
          <p:cNvSpPr/>
          <p:nvPr/>
        </p:nvSpPr>
        <p:spPr>
          <a:xfrm>
            <a:off x="6384287" y="1965960"/>
            <a:ext cx="170052" cy="2194560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554339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5433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50" name="Text 48"/>
          <p:cNvSpPr/>
          <p:nvPr/>
        </p:nvSpPr>
        <p:spPr>
          <a:xfrm>
            <a:off x="655433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50" dirty="0"/>
          </a:p>
        </p:txBody>
      </p:sp>
      <p:sp>
        <p:nvSpPr>
          <p:cNvPr id="51" name="Shape 49"/>
          <p:cNvSpPr/>
          <p:nvPr/>
        </p:nvSpPr>
        <p:spPr>
          <a:xfrm>
            <a:off x="6554339" y="1965960"/>
            <a:ext cx="0" cy="2194560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72439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72439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54" name="Text 52"/>
          <p:cNvSpPr/>
          <p:nvPr/>
        </p:nvSpPr>
        <p:spPr>
          <a:xfrm>
            <a:off x="672439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550" dirty="0"/>
          </a:p>
        </p:txBody>
      </p:sp>
      <p:sp>
        <p:nvSpPr>
          <p:cNvPr id="55" name="Shape 53"/>
          <p:cNvSpPr/>
          <p:nvPr/>
        </p:nvSpPr>
        <p:spPr>
          <a:xfrm>
            <a:off x="689444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44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57" name="Text 55"/>
          <p:cNvSpPr/>
          <p:nvPr/>
        </p:nvSpPr>
        <p:spPr>
          <a:xfrm>
            <a:off x="689444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7064493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064493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60" name="Text 58"/>
          <p:cNvSpPr/>
          <p:nvPr/>
        </p:nvSpPr>
        <p:spPr>
          <a:xfrm>
            <a:off x="7064493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550" dirty="0"/>
          </a:p>
        </p:txBody>
      </p:sp>
      <p:sp>
        <p:nvSpPr>
          <p:cNvPr id="61" name="Shape 59"/>
          <p:cNvSpPr/>
          <p:nvPr/>
        </p:nvSpPr>
        <p:spPr>
          <a:xfrm>
            <a:off x="7234545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3454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63" name="Text 61"/>
          <p:cNvSpPr/>
          <p:nvPr/>
        </p:nvSpPr>
        <p:spPr>
          <a:xfrm>
            <a:off x="723454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550" dirty="0"/>
          </a:p>
        </p:txBody>
      </p:sp>
      <p:sp>
        <p:nvSpPr>
          <p:cNvPr id="64" name="Shape 62"/>
          <p:cNvSpPr/>
          <p:nvPr/>
        </p:nvSpPr>
        <p:spPr>
          <a:xfrm>
            <a:off x="7404596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40459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66" name="Text 64"/>
          <p:cNvSpPr/>
          <p:nvPr/>
        </p:nvSpPr>
        <p:spPr>
          <a:xfrm>
            <a:off x="740459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550" dirty="0"/>
          </a:p>
        </p:txBody>
      </p:sp>
      <p:sp>
        <p:nvSpPr>
          <p:cNvPr id="67" name="Shape 65"/>
          <p:cNvSpPr/>
          <p:nvPr/>
        </p:nvSpPr>
        <p:spPr>
          <a:xfrm>
            <a:off x="7574648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57464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69" name="Text 67"/>
          <p:cNvSpPr/>
          <p:nvPr/>
        </p:nvSpPr>
        <p:spPr>
          <a:xfrm>
            <a:off x="757464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550" dirty="0"/>
          </a:p>
        </p:txBody>
      </p:sp>
      <p:sp>
        <p:nvSpPr>
          <p:cNvPr id="70" name="Shape 68"/>
          <p:cNvSpPr/>
          <p:nvPr/>
        </p:nvSpPr>
        <p:spPr>
          <a:xfrm>
            <a:off x="7574648" y="1965960"/>
            <a:ext cx="170052" cy="2194560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44699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74469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73" name="Text 71"/>
          <p:cNvSpPr/>
          <p:nvPr/>
        </p:nvSpPr>
        <p:spPr>
          <a:xfrm>
            <a:off x="774469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550" dirty="0"/>
          </a:p>
        </p:txBody>
      </p:sp>
      <p:sp>
        <p:nvSpPr>
          <p:cNvPr id="74" name="Shape 72"/>
          <p:cNvSpPr/>
          <p:nvPr/>
        </p:nvSpPr>
        <p:spPr>
          <a:xfrm>
            <a:off x="7744699" y="1965960"/>
            <a:ext cx="0" cy="2194560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914751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914751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77" name="Text 75"/>
          <p:cNvSpPr/>
          <p:nvPr/>
        </p:nvSpPr>
        <p:spPr>
          <a:xfrm>
            <a:off x="7914751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808480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08480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80" name="Text 78"/>
          <p:cNvSpPr/>
          <p:nvPr/>
        </p:nvSpPr>
        <p:spPr>
          <a:xfrm>
            <a:off x="808480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550" dirty="0"/>
          </a:p>
        </p:txBody>
      </p:sp>
      <p:sp>
        <p:nvSpPr>
          <p:cNvPr id="81" name="Shape 79"/>
          <p:cNvSpPr/>
          <p:nvPr/>
        </p:nvSpPr>
        <p:spPr>
          <a:xfrm>
            <a:off x="825485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25485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83" name="Text 81"/>
          <p:cNvSpPr/>
          <p:nvPr/>
        </p:nvSpPr>
        <p:spPr>
          <a:xfrm>
            <a:off x="825485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550" dirty="0"/>
          </a:p>
        </p:txBody>
      </p:sp>
      <p:sp>
        <p:nvSpPr>
          <p:cNvPr id="84" name="Shape 82"/>
          <p:cNvSpPr/>
          <p:nvPr/>
        </p:nvSpPr>
        <p:spPr>
          <a:xfrm>
            <a:off x="8424905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42490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86" name="Text 84"/>
          <p:cNvSpPr/>
          <p:nvPr/>
        </p:nvSpPr>
        <p:spPr>
          <a:xfrm>
            <a:off x="842490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550" dirty="0"/>
          </a:p>
        </p:txBody>
      </p:sp>
      <p:sp>
        <p:nvSpPr>
          <p:cNvPr id="87" name="Shape 85"/>
          <p:cNvSpPr/>
          <p:nvPr/>
        </p:nvSpPr>
        <p:spPr>
          <a:xfrm>
            <a:off x="8594957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594957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89" name="Text 87"/>
          <p:cNvSpPr/>
          <p:nvPr/>
        </p:nvSpPr>
        <p:spPr>
          <a:xfrm>
            <a:off x="8594957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550" dirty="0"/>
          </a:p>
        </p:txBody>
      </p:sp>
      <p:sp>
        <p:nvSpPr>
          <p:cNvPr id="90" name="Shape 88"/>
          <p:cNvSpPr/>
          <p:nvPr/>
        </p:nvSpPr>
        <p:spPr>
          <a:xfrm>
            <a:off x="8765008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76500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92" name="Text 90"/>
          <p:cNvSpPr/>
          <p:nvPr/>
        </p:nvSpPr>
        <p:spPr>
          <a:xfrm>
            <a:off x="876500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550" dirty="0"/>
          </a:p>
        </p:txBody>
      </p:sp>
      <p:sp>
        <p:nvSpPr>
          <p:cNvPr id="93" name="Shape 91"/>
          <p:cNvSpPr/>
          <p:nvPr/>
        </p:nvSpPr>
        <p:spPr>
          <a:xfrm>
            <a:off x="8765008" y="1965960"/>
            <a:ext cx="170052" cy="2194560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93506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93506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96" name="Text 94"/>
          <p:cNvSpPr/>
          <p:nvPr/>
        </p:nvSpPr>
        <p:spPr>
          <a:xfrm>
            <a:off x="893506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550" dirty="0"/>
          </a:p>
        </p:txBody>
      </p:sp>
      <p:sp>
        <p:nvSpPr>
          <p:cNvPr id="97" name="Shape 95"/>
          <p:cNvSpPr/>
          <p:nvPr/>
        </p:nvSpPr>
        <p:spPr>
          <a:xfrm>
            <a:off x="8935060" y="1965960"/>
            <a:ext cx="0" cy="2194560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105111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105111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00" name="Text 98"/>
          <p:cNvSpPr/>
          <p:nvPr/>
        </p:nvSpPr>
        <p:spPr>
          <a:xfrm>
            <a:off x="9105111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550" dirty="0"/>
          </a:p>
        </p:txBody>
      </p:sp>
      <p:sp>
        <p:nvSpPr>
          <p:cNvPr id="101" name="Shape 99"/>
          <p:cNvSpPr/>
          <p:nvPr/>
        </p:nvSpPr>
        <p:spPr>
          <a:xfrm>
            <a:off x="9275163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275163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03" name="Text 101"/>
          <p:cNvSpPr/>
          <p:nvPr/>
        </p:nvSpPr>
        <p:spPr>
          <a:xfrm>
            <a:off x="9275163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50" dirty="0"/>
          </a:p>
        </p:txBody>
      </p:sp>
      <p:sp>
        <p:nvSpPr>
          <p:cNvPr id="104" name="Shape 102"/>
          <p:cNvSpPr/>
          <p:nvPr/>
        </p:nvSpPr>
        <p:spPr>
          <a:xfrm>
            <a:off x="944521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944521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06" name="Text 104"/>
          <p:cNvSpPr/>
          <p:nvPr/>
        </p:nvSpPr>
        <p:spPr>
          <a:xfrm>
            <a:off x="944521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50" dirty="0"/>
          </a:p>
        </p:txBody>
      </p:sp>
      <p:sp>
        <p:nvSpPr>
          <p:cNvPr id="107" name="Shape 105"/>
          <p:cNvSpPr/>
          <p:nvPr/>
        </p:nvSpPr>
        <p:spPr>
          <a:xfrm>
            <a:off x="9615266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61526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09" name="Text 107"/>
          <p:cNvSpPr/>
          <p:nvPr/>
        </p:nvSpPr>
        <p:spPr>
          <a:xfrm>
            <a:off x="961526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550" dirty="0"/>
          </a:p>
        </p:txBody>
      </p:sp>
      <p:sp>
        <p:nvSpPr>
          <p:cNvPr id="110" name="Shape 108"/>
          <p:cNvSpPr/>
          <p:nvPr/>
        </p:nvSpPr>
        <p:spPr>
          <a:xfrm>
            <a:off x="9785317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785317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12" name="Text 110"/>
          <p:cNvSpPr/>
          <p:nvPr/>
        </p:nvSpPr>
        <p:spPr>
          <a:xfrm>
            <a:off x="9785317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550" dirty="0"/>
          </a:p>
        </p:txBody>
      </p:sp>
      <p:sp>
        <p:nvSpPr>
          <p:cNvPr id="113" name="Shape 111"/>
          <p:cNvSpPr/>
          <p:nvPr/>
        </p:nvSpPr>
        <p:spPr>
          <a:xfrm>
            <a:off x="9955369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995536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115" name="Text 113"/>
          <p:cNvSpPr/>
          <p:nvPr/>
        </p:nvSpPr>
        <p:spPr>
          <a:xfrm>
            <a:off x="995536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550" dirty="0"/>
          </a:p>
        </p:txBody>
      </p:sp>
      <p:sp>
        <p:nvSpPr>
          <p:cNvPr id="116" name="Shape 114"/>
          <p:cNvSpPr/>
          <p:nvPr/>
        </p:nvSpPr>
        <p:spPr>
          <a:xfrm>
            <a:off x="9955369" y="1965960"/>
            <a:ext cx="170052" cy="2194560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012542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012542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19" name="Text 117"/>
          <p:cNvSpPr/>
          <p:nvPr/>
        </p:nvSpPr>
        <p:spPr>
          <a:xfrm>
            <a:off x="1012542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550" dirty="0"/>
          </a:p>
        </p:txBody>
      </p:sp>
      <p:sp>
        <p:nvSpPr>
          <p:cNvPr id="120" name="Shape 118"/>
          <p:cNvSpPr/>
          <p:nvPr/>
        </p:nvSpPr>
        <p:spPr>
          <a:xfrm>
            <a:off x="10125420" y="1965960"/>
            <a:ext cx="0" cy="2194560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029547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029547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23" name="Text 121"/>
          <p:cNvSpPr/>
          <p:nvPr/>
        </p:nvSpPr>
        <p:spPr>
          <a:xfrm>
            <a:off x="1029547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550" dirty="0"/>
          </a:p>
        </p:txBody>
      </p:sp>
      <p:sp>
        <p:nvSpPr>
          <p:cNvPr id="124" name="Shape 122"/>
          <p:cNvSpPr/>
          <p:nvPr/>
        </p:nvSpPr>
        <p:spPr>
          <a:xfrm>
            <a:off x="10465523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0465523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26" name="Text 124"/>
          <p:cNvSpPr/>
          <p:nvPr/>
        </p:nvSpPr>
        <p:spPr>
          <a:xfrm>
            <a:off x="10465523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550" dirty="0"/>
          </a:p>
        </p:txBody>
      </p:sp>
      <p:sp>
        <p:nvSpPr>
          <p:cNvPr id="127" name="Shape 125"/>
          <p:cNvSpPr/>
          <p:nvPr/>
        </p:nvSpPr>
        <p:spPr>
          <a:xfrm>
            <a:off x="10635575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1063557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29" name="Text 127"/>
          <p:cNvSpPr/>
          <p:nvPr/>
        </p:nvSpPr>
        <p:spPr>
          <a:xfrm>
            <a:off x="1063557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550" dirty="0"/>
          </a:p>
        </p:txBody>
      </p:sp>
      <p:sp>
        <p:nvSpPr>
          <p:cNvPr id="130" name="Shape 128"/>
          <p:cNvSpPr/>
          <p:nvPr/>
        </p:nvSpPr>
        <p:spPr>
          <a:xfrm>
            <a:off x="10805626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080562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32" name="Text 130"/>
          <p:cNvSpPr/>
          <p:nvPr/>
        </p:nvSpPr>
        <p:spPr>
          <a:xfrm>
            <a:off x="1080562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550" dirty="0"/>
          </a:p>
        </p:txBody>
      </p:sp>
      <p:sp>
        <p:nvSpPr>
          <p:cNvPr id="133" name="Shape 131"/>
          <p:cNvSpPr/>
          <p:nvPr/>
        </p:nvSpPr>
        <p:spPr>
          <a:xfrm>
            <a:off x="10975678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1097567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35" name="Text 133"/>
          <p:cNvSpPr/>
          <p:nvPr/>
        </p:nvSpPr>
        <p:spPr>
          <a:xfrm>
            <a:off x="1097567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550" dirty="0"/>
          </a:p>
        </p:txBody>
      </p:sp>
      <p:sp>
        <p:nvSpPr>
          <p:cNvPr id="136" name="Shape 134"/>
          <p:cNvSpPr/>
          <p:nvPr/>
        </p:nvSpPr>
        <p:spPr>
          <a:xfrm>
            <a:off x="11145729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1114572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138" name="Text 136"/>
          <p:cNvSpPr/>
          <p:nvPr/>
        </p:nvSpPr>
        <p:spPr>
          <a:xfrm>
            <a:off x="1114572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550" dirty="0"/>
          </a:p>
        </p:txBody>
      </p:sp>
      <p:sp>
        <p:nvSpPr>
          <p:cNvPr id="139" name="Shape 137"/>
          <p:cNvSpPr/>
          <p:nvPr/>
        </p:nvSpPr>
        <p:spPr>
          <a:xfrm>
            <a:off x="11145729" y="1965960"/>
            <a:ext cx="170052" cy="2194560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1315781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1315781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42" name="Text 140"/>
          <p:cNvSpPr/>
          <p:nvPr/>
        </p:nvSpPr>
        <p:spPr>
          <a:xfrm>
            <a:off x="11315781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550" dirty="0"/>
          </a:p>
        </p:txBody>
      </p:sp>
      <p:sp>
        <p:nvSpPr>
          <p:cNvPr id="143" name="Shape 141"/>
          <p:cNvSpPr/>
          <p:nvPr/>
        </p:nvSpPr>
        <p:spPr>
          <a:xfrm>
            <a:off x="11315781" y="1965960"/>
            <a:ext cx="0" cy="2194560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1148583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1148583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46" name="Text 144"/>
          <p:cNvSpPr/>
          <p:nvPr/>
        </p:nvSpPr>
        <p:spPr>
          <a:xfrm>
            <a:off x="1148583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550" dirty="0"/>
          </a:p>
        </p:txBody>
      </p:sp>
      <p:sp>
        <p:nvSpPr>
          <p:cNvPr id="147" name="Shape 145"/>
          <p:cNvSpPr/>
          <p:nvPr/>
        </p:nvSpPr>
        <p:spPr>
          <a:xfrm>
            <a:off x="1165588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1165588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49" name="Text 147"/>
          <p:cNvSpPr/>
          <p:nvPr/>
        </p:nvSpPr>
        <p:spPr>
          <a:xfrm>
            <a:off x="1165588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550" dirty="0"/>
          </a:p>
        </p:txBody>
      </p:sp>
      <p:sp>
        <p:nvSpPr>
          <p:cNvPr id="150" name="Shape 148"/>
          <p:cNvSpPr/>
          <p:nvPr/>
        </p:nvSpPr>
        <p:spPr>
          <a:xfrm>
            <a:off x="365760" y="1965960"/>
            <a:ext cx="11460175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438912" y="1984248"/>
            <a:ext cx="237744" cy="237744"/>
          </a:xfrm>
          <a:prstGeom prst="ellipse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365760" y="1965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900" dirty="0"/>
          </a:p>
        </p:txBody>
      </p:sp>
      <p:sp>
        <p:nvSpPr>
          <p:cNvPr id="153" name="Text 151"/>
          <p:cNvSpPr/>
          <p:nvPr/>
        </p:nvSpPr>
        <p:spPr>
          <a:xfrm>
            <a:off x="822960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project duration</a:t>
            </a:r>
            <a:endParaRPr lang="en-US" sz="1000" dirty="0"/>
          </a:p>
        </p:txBody>
      </p:sp>
      <p:sp>
        <p:nvSpPr>
          <p:cNvPr id="154" name="Text 152"/>
          <p:cNvSpPr/>
          <p:nvPr/>
        </p:nvSpPr>
        <p:spPr>
          <a:xfrm>
            <a:off x="4224528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155" name="Text 153"/>
          <p:cNvSpPr/>
          <p:nvPr/>
        </p:nvSpPr>
        <p:spPr>
          <a:xfrm>
            <a:off x="4727448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Oct</a:t>
            </a:r>
            <a:endParaRPr lang="en-US" sz="850" dirty="0"/>
          </a:p>
        </p:txBody>
      </p:sp>
      <p:sp>
        <p:nvSpPr>
          <p:cNvPr id="156" name="Text 154"/>
          <p:cNvSpPr/>
          <p:nvPr/>
        </p:nvSpPr>
        <p:spPr>
          <a:xfrm>
            <a:off x="5385816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Nov</a:t>
            </a:r>
            <a:endParaRPr lang="en-US" sz="850" dirty="0"/>
          </a:p>
        </p:txBody>
      </p:sp>
      <p:sp>
        <p:nvSpPr>
          <p:cNvPr id="157" name="Shape 155"/>
          <p:cNvSpPr/>
          <p:nvPr/>
        </p:nvSpPr>
        <p:spPr>
          <a:xfrm>
            <a:off x="7404596" y="2011680"/>
            <a:ext cx="4081236" cy="182880"/>
          </a:xfrm>
          <a:prstGeom prst="roundRect">
            <a:avLst>
              <a:gd name="adj" fmla="val 25000"/>
            </a:avLst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7404596" y="2011680"/>
            <a:ext cx="40812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working days · 22 Oct → 14 Nov</a:t>
            </a:r>
            <a:endParaRPr lang="en-US" sz="850" dirty="0"/>
          </a:p>
        </p:txBody>
      </p:sp>
      <p:sp>
        <p:nvSpPr>
          <p:cNvPr id="159" name="Shape 157"/>
          <p:cNvSpPr/>
          <p:nvPr/>
        </p:nvSpPr>
        <p:spPr>
          <a:xfrm>
            <a:off x="365760" y="2240280"/>
            <a:ext cx="11460175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438912" y="2441448"/>
            <a:ext cx="237744" cy="237744"/>
          </a:xfrm>
          <a:prstGeom prst="ellipse">
            <a:avLst/>
          </a:prstGeom>
          <a:solidFill>
            <a:srgbClr val="C8503F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365760" y="22402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162" name="Text 160"/>
          <p:cNvSpPr/>
          <p:nvPr/>
        </p:nvSpPr>
        <p:spPr>
          <a:xfrm>
            <a:off x="822960" y="22402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Shoring system installation</a:t>
            </a:r>
            <a:endParaRPr lang="en-US" sz="900" dirty="0"/>
          </a:p>
        </p:txBody>
      </p:sp>
      <p:sp>
        <p:nvSpPr>
          <p:cNvPr id="163" name="Text 161"/>
          <p:cNvSpPr/>
          <p:nvPr/>
        </p:nvSpPr>
        <p:spPr>
          <a:xfrm>
            <a:off x="3447288" y="22402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164" name="Text 162"/>
          <p:cNvSpPr/>
          <p:nvPr/>
        </p:nvSpPr>
        <p:spPr>
          <a:xfrm>
            <a:off x="4224528" y="22402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165" name="Text 163"/>
          <p:cNvSpPr/>
          <p:nvPr/>
        </p:nvSpPr>
        <p:spPr>
          <a:xfrm>
            <a:off x="4727448" y="22402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Oct</a:t>
            </a:r>
            <a:endParaRPr lang="en-US" sz="850" dirty="0"/>
          </a:p>
        </p:txBody>
      </p:sp>
      <p:sp>
        <p:nvSpPr>
          <p:cNvPr id="166" name="Text 164"/>
          <p:cNvSpPr/>
          <p:nvPr/>
        </p:nvSpPr>
        <p:spPr>
          <a:xfrm>
            <a:off x="5385816" y="22402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850" dirty="0"/>
          </a:p>
        </p:txBody>
      </p:sp>
      <p:sp>
        <p:nvSpPr>
          <p:cNvPr id="167" name="Shape 165"/>
          <p:cNvSpPr/>
          <p:nvPr/>
        </p:nvSpPr>
        <p:spPr>
          <a:xfrm>
            <a:off x="7404596" y="2404872"/>
            <a:ext cx="850258" cy="310896"/>
          </a:xfrm>
          <a:prstGeom prst="roundRect">
            <a:avLst>
              <a:gd name="adj" fmla="val 11765"/>
            </a:avLst>
          </a:prstGeom>
          <a:solidFill>
            <a:srgbClr val="C8503F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168" name="Text 166"/>
          <p:cNvSpPr/>
          <p:nvPr/>
        </p:nvSpPr>
        <p:spPr>
          <a:xfrm>
            <a:off x="7404596" y="2404872"/>
            <a:ext cx="8502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365760" y="2880360"/>
            <a:ext cx="11460175" cy="640080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438912" y="3081528"/>
            <a:ext cx="237744" cy="237744"/>
          </a:xfrm>
          <a:prstGeom prst="ellipse">
            <a:avLst/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365760" y="288036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850" dirty="0"/>
          </a:p>
        </p:txBody>
      </p:sp>
      <p:sp>
        <p:nvSpPr>
          <p:cNvPr id="172" name="Text 170"/>
          <p:cNvSpPr/>
          <p:nvPr/>
        </p:nvSpPr>
        <p:spPr>
          <a:xfrm>
            <a:off x="822960" y="288036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foundation – excavation, compaction / testing, reinforcement &amp; concrete</a:t>
            </a:r>
            <a:endParaRPr lang="en-US" sz="900" dirty="0"/>
          </a:p>
        </p:txBody>
      </p:sp>
      <p:sp>
        <p:nvSpPr>
          <p:cNvPr id="173" name="Text 171"/>
          <p:cNvSpPr/>
          <p:nvPr/>
        </p:nvSpPr>
        <p:spPr>
          <a:xfrm>
            <a:off x="3447288" y="28803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FS</a:t>
            </a:r>
            <a:endParaRPr lang="en-US" sz="850" dirty="0"/>
          </a:p>
        </p:txBody>
      </p:sp>
      <p:sp>
        <p:nvSpPr>
          <p:cNvPr id="174" name="Text 172"/>
          <p:cNvSpPr/>
          <p:nvPr/>
        </p:nvSpPr>
        <p:spPr>
          <a:xfrm>
            <a:off x="4224528" y="288036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50" dirty="0"/>
          </a:p>
        </p:txBody>
      </p:sp>
      <p:sp>
        <p:nvSpPr>
          <p:cNvPr id="175" name="Text 173"/>
          <p:cNvSpPr/>
          <p:nvPr/>
        </p:nvSpPr>
        <p:spPr>
          <a:xfrm>
            <a:off x="4727448" y="288036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Oct</a:t>
            </a:r>
            <a:endParaRPr lang="en-US" sz="850" dirty="0"/>
          </a:p>
        </p:txBody>
      </p:sp>
      <p:sp>
        <p:nvSpPr>
          <p:cNvPr id="176" name="Text 174"/>
          <p:cNvSpPr/>
          <p:nvPr/>
        </p:nvSpPr>
        <p:spPr>
          <a:xfrm>
            <a:off x="5385816" y="288036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Nov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8254854" y="3044952"/>
            <a:ext cx="2720824" cy="310896"/>
          </a:xfrm>
          <a:prstGeom prst="roundRect">
            <a:avLst>
              <a:gd name="adj" fmla="val 11765"/>
            </a:avLst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8254854" y="3044952"/>
            <a:ext cx="2720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d</a:t>
            </a:r>
            <a:endParaRPr lang="en-US" sz="700" dirty="0"/>
          </a:p>
        </p:txBody>
      </p:sp>
      <p:sp>
        <p:nvSpPr>
          <p:cNvPr id="179" name="Shape 177"/>
          <p:cNvSpPr/>
          <p:nvPr/>
        </p:nvSpPr>
        <p:spPr>
          <a:xfrm>
            <a:off x="365760" y="3520440"/>
            <a:ext cx="11460175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438912" y="3721608"/>
            <a:ext cx="237744" cy="237744"/>
          </a:xfrm>
          <a:prstGeom prst="ellipse">
            <a:avLst/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65760" y="352044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850" dirty="0"/>
          </a:p>
        </p:txBody>
      </p:sp>
      <p:sp>
        <p:nvSpPr>
          <p:cNvPr id="182" name="Text 180"/>
          <p:cNvSpPr/>
          <p:nvPr/>
        </p:nvSpPr>
        <p:spPr>
          <a:xfrm>
            <a:off x="822960" y="35204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Backfilling works for the building</a:t>
            </a:r>
            <a:endParaRPr lang="en-US" sz="900" dirty="0"/>
          </a:p>
        </p:txBody>
      </p:sp>
      <p:sp>
        <p:nvSpPr>
          <p:cNvPr id="183" name="Text 181"/>
          <p:cNvSpPr/>
          <p:nvPr/>
        </p:nvSpPr>
        <p:spPr>
          <a:xfrm>
            <a:off x="3447288" y="352044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· FS</a:t>
            </a:r>
            <a:endParaRPr lang="en-US" sz="850" dirty="0"/>
          </a:p>
        </p:txBody>
      </p:sp>
      <p:sp>
        <p:nvSpPr>
          <p:cNvPr id="184" name="Text 182"/>
          <p:cNvSpPr/>
          <p:nvPr/>
        </p:nvSpPr>
        <p:spPr>
          <a:xfrm>
            <a:off x="4224528" y="35204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85" name="Text 183"/>
          <p:cNvSpPr/>
          <p:nvPr/>
        </p:nvSpPr>
        <p:spPr>
          <a:xfrm>
            <a:off x="4727448" y="352044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Nov</a:t>
            </a:r>
            <a:endParaRPr lang="en-US" sz="850" dirty="0"/>
          </a:p>
        </p:txBody>
      </p:sp>
      <p:sp>
        <p:nvSpPr>
          <p:cNvPr id="186" name="Text 184"/>
          <p:cNvSpPr/>
          <p:nvPr/>
        </p:nvSpPr>
        <p:spPr>
          <a:xfrm>
            <a:off x="5385816" y="352044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Nov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10975678" y="3685032"/>
            <a:ext cx="510155" cy="310896"/>
          </a:xfrm>
          <a:prstGeom prst="roundRect">
            <a:avLst>
              <a:gd name="adj" fmla="val 11765"/>
            </a:avLst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188" name="Text 186"/>
          <p:cNvSpPr/>
          <p:nvPr/>
        </p:nvSpPr>
        <p:spPr>
          <a:xfrm>
            <a:off x="10975678" y="3685032"/>
            <a:ext cx="5101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</a:t>
            </a:r>
            <a:endParaRPr lang="en-US" sz="700" dirty="0"/>
          </a:p>
        </p:txBody>
      </p:sp>
      <p:sp>
        <p:nvSpPr>
          <p:cNvPr id="189" name="Shape 187"/>
          <p:cNvSpPr/>
          <p:nvPr/>
        </p:nvSpPr>
        <p:spPr>
          <a:xfrm>
            <a:off x="8209134" y="2560320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8209134" y="2560320"/>
            <a:ext cx="0" cy="64008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8209134" y="3200400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192" name="Shape 190"/>
          <p:cNvSpPr/>
          <p:nvPr/>
        </p:nvSpPr>
        <p:spPr>
          <a:xfrm>
            <a:off x="10929958" y="3200400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10929958" y="3200400"/>
            <a:ext cx="0" cy="64008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10929958" y="3840480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195" name="Shape 193"/>
          <p:cNvSpPr/>
          <p:nvPr/>
        </p:nvSpPr>
        <p:spPr>
          <a:xfrm>
            <a:off x="7319570" y="1947672"/>
            <a:ext cx="0" cy="2212848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>
            <a:off x="6450890" y="2020824"/>
            <a:ext cx="841248" cy="155448"/>
          </a:xfrm>
          <a:prstGeom prst="roundRect">
            <a:avLst>
              <a:gd name="adj" fmla="val 47059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6450890" y="2020824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date · 21 Oct</a:t>
            </a:r>
            <a:endParaRPr lang="en-US" sz="650" dirty="0"/>
          </a:p>
        </p:txBody>
      </p:sp>
      <p:sp>
        <p:nvSpPr>
          <p:cNvPr id="198" name="Shape 196"/>
          <p:cNvSpPr/>
          <p:nvPr/>
        </p:nvSpPr>
        <p:spPr>
          <a:xfrm>
            <a:off x="365760" y="1325880"/>
            <a:ext cx="11460175" cy="28346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9C6CC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365760" y="5486400"/>
            <a:ext cx="2782748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00" name="Shape 198"/>
          <p:cNvSpPr/>
          <p:nvPr/>
        </p:nvSpPr>
        <p:spPr>
          <a:xfrm>
            <a:off x="420624" y="5486400"/>
            <a:ext cx="2673020" cy="54864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475488" y="5577840"/>
            <a:ext cx="25632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Commencement</a:t>
            </a:r>
            <a:endParaRPr lang="en-US" sz="850" dirty="0"/>
          </a:p>
        </p:txBody>
      </p:sp>
      <p:sp>
        <p:nvSpPr>
          <p:cNvPr id="202" name="Text 200"/>
          <p:cNvSpPr/>
          <p:nvPr/>
        </p:nvSpPr>
        <p:spPr>
          <a:xfrm>
            <a:off x="475488" y="5779008"/>
            <a:ext cx="25632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22 Oct 2026</a:t>
            </a:r>
            <a:endParaRPr lang="en-US" sz="1300" dirty="0"/>
          </a:p>
        </p:txBody>
      </p:sp>
      <p:sp>
        <p:nvSpPr>
          <p:cNvPr id="203" name="Text 201"/>
          <p:cNvSpPr/>
          <p:nvPr/>
        </p:nvSpPr>
        <p:spPr>
          <a:xfrm>
            <a:off x="475488" y="6071616"/>
            <a:ext cx="25632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1 / 20</a:t>
            </a:r>
            <a:endParaRPr lang="en-US" sz="750" dirty="0"/>
          </a:p>
        </p:txBody>
      </p:sp>
      <p:sp>
        <p:nvSpPr>
          <p:cNvPr id="204" name="Shape 202"/>
          <p:cNvSpPr/>
          <p:nvPr/>
        </p:nvSpPr>
        <p:spPr>
          <a:xfrm>
            <a:off x="3258236" y="5486400"/>
            <a:ext cx="2782748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05" name="Shape 203"/>
          <p:cNvSpPr/>
          <p:nvPr/>
        </p:nvSpPr>
        <p:spPr>
          <a:xfrm>
            <a:off x="3313100" y="5486400"/>
            <a:ext cx="2673020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3367964" y="5577840"/>
            <a:ext cx="25632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Shoring installation complete</a:t>
            </a:r>
            <a:endParaRPr lang="en-US" sz="850" dirty="0"/>
          </a:p>
        </p:txBody>
      </p:sp>
      <p:sp>
        <p:nvSpPr>
          <p:cNvPr id="207" name="Text 205"/>
          <p:cNvSpPr/>
          <p:nvPr/>
        </p:nvSpPr>
        <p:spPr>
          <a:xfrm>
            <a:off x="3367964" y="5779008"/>
            <a:ext cx="25632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26 Oct 2026</a:t>
            </a:r>
            <a:endParaRPr lang="en-US" sz="1300" dirty="0"/>
          </a:p>
        </p:txBody>
      </p:sp>
      <p:sp>
        <p:nvSpPr>
          <p:cNvPr id="208" name="Text 206"/>
          <p:cNvSpPr/>
          <p:nvPr/>
        </p:nvSpPr>
        <p:spPr>
          <a:xfrm>
            <a:off x="3367964" y="6071616"/>
            <a:ext cx="25632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4 / 20</a:t>
            </a:r>
            <a:endParaRPr lang="en-US" sz="750" dirty="0"/>
          </a:p>
        </p:txBody>
      </p:sp>
      <p:sp>
        <p:nvSpPr>
          <p:cNvPr id="209" name="Shape 207"/>
          <p:cNvSpPr/>
          <p:nvPr/>
        </p:nvSpPr>
        <p:spPr>
          <a:xfrm>
            <a:off x="6150712" y="5486400"/>
            <a:ext cx="2782748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10" name="Shape 208"/>
          <p:cNvSpPr/>
          <p:nvPr/>
        </p:nvSpPr>
        <p:spPr>
          <a:xfrm>
            <a:off x="6205576" y="5486400"/>
            <a:ext cx="2673020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6260440" y="5577840"/>
            <a:ext cx="25632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foundation complete</a:t>
            </a:r>
            <a:endParaRPr lang="en-US" sz="850" dirty="0"/>
          </a:p>
        </p:txBody>
      </p:sp>
      <p:sp>
        <p:nvSpPr>
          <p:cNvPr id="212" name="Text 210"/>
          <p:cNvSpPr/>
          <p:nvPr/>
        </p:nvSpPr>
        <p:spPr>
          <a:xfrm>
            <a:off x="6260440" y="5779008"/>
            <a:ext cx="25632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11 Nov 2026</a:t>
            </a:r>
            <a:endParaRPr lang="en-US" sz="1300" dirty="0"/>
          </a:p>
        </p:txBody>
      </p:sp>
      <p:sp>
        <p:nvSpPr>
          <p:cNvPr id="213" name="Text 211"/>
          <p:cNvSpPr/>
          <p:nvPr/>
        </p:nvSpPr>
        <p:spPr>
          <a:xfrm>
            <a:off x="6260440" y="6071616"/>
            <a:ext cx="25632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18 / 20</a:t>
            </a:r>
            <a:endParaRPr lang="en-US" sz="750" dirty="0"/>
          </a:p>
        </p:txBody>
      </p:sp>
      <p:sp>
        <p:nvSpPr>
          <p:cNvPr id="214" name="Shape 212"/>
          <p:cNvSpPr/>
          <p:nvPr/>
        </p:nvSpPr>
        <p:spPr>
          <a:xfrm>
            <a:off x="9043187" y="5486400"/>
            <a:ext cx="2782748" cy="822960"/>
          </a:xfrm>
          <a:prstGeom prst="roundRect">
            <a:avLst>
              <a:gd name="adj" fmla="val 7778"/>
            </a:avLst>
          </a:prstGeom>
          <a:solidFill>
            <a:srgbClr val="3D3935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215" name="Shape 213"/>
          <p:cNvSpPr/>
          <p:nvPr/>
        </p:nvSpPr>
        <p:spPr>
          <a:xfrm>
            <a:off x="9098051" y="5486400"/>
            <a:ext cx="2673020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16" name="Text 214"/>
          <p:cNvSpPr/>
          <p:nvPr/>
        </p:nvSpPr>
        <p:spPr>
          <a:xfrm>
            <a:off x="9152915" y="5577840"/>
            <a:ext cx="25632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completion</a:t>
            </a:r>
            <a:endParaRPr lang="en-US" sz="850" dirty="0"/>
          </a:p>
        </p:txBody>
      </p:sp>
      <p:sp>
        <p:nvSpPr>
          <p:cNvPr id="217" name="Text 215"/>
          <p:cNvSpPr/>
          <p:nvPr/>
        </p:nvSpPr>
        <p:spPr>
          <a:xfrm>
            <a:off x="9152915" y="5779008"/>
            <a:ext cx="25632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14 Nov 2026</a:t>
            </a:r>
            <a:endParaRPr lang="en-US" sz="1300" dirty="0"/>
          </a:p>
        </p:txBody>
      </p:sp>
      <p:sp>
        <p:nvSpPr>
          <p:cNvPr id="218" name="Text 216"/>
          <p:cNvSpPr/>
          <p:nvPr/>
        </p:nvSpPr>
        <p:spPr>
          <a:xfrm>
            <a:off x="9152915" y="6071616"/>
            <a:ext cx="25632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20 / 20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UFWL Project – Gantt Chart</dc:title>
  <dc:subject>PptxGenJS Presentation</dc:subject>
  <dc:creator>UFWL Project</dc:creator>
  <cp:lastModifiedBy>UFWL Project</cp:lastModifiedBy>
  <cp:revision>1</cp:revision>
  <dcterms:created xsi:type="dcterms:W3CDTF">2026-10-21T14:20:34Z</dcterms:created>
  <dcterms:modified xsi:type="dcterms:W3CDTF">2026-10-21T14:20:34Z</dcterms:modified>
</cp:coreProperties>
</file>