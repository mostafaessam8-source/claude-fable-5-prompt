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R">
    <p:bg>
      <p:bgPr>
        <a:solidFill>
          <a:srgbClr val="F6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78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68680"/>
            <a:ext cx="2011680" cy="45720"/>
          </a:xfrm>
          <a:prstGeom prst="rect">
            <a:avLst/>
          </a:prstGeom>
          <a:solidFill>
            <a:srgbClr val="3D393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4375" y="142875"/>
            <a:ext cx="1051560" cy="5829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3D3935"/>
          </a:solidFill>
          <a:ln/>
        </p:spPr>
      </p:sp>
      <p:sp>
        <p:nvSpPr>
          <p:cNvPr id="7" name="Text 4"/>
          <p:cNvSpPr/>
          <p:nvPr/>
        </p:nvSpPr>
        <p:spPr>
          <a:xfrm>
            <a:off x="365760" y="6492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Site Suspension &amp; Remaining Works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UFWL Project – Timeline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Activity Timeline · Site Suspension and Shoring Works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005840"/>
            <a:ext cx="1706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437790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8686" y="1005840"/>
            <a:ext cx="228965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93208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04104" y="1005840"/>
            <a:ext cx="27669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225942" y="1069848"/>
            <a:ext cx="256032" cy="109728"/>
          </a:xfrm>
          <a:prstGeom prst="roundRect">
            <a:avLst>
              <a:gd name="adj" fmla="val 25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36838" y="1005840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405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2489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7573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2657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77409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28247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908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29922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80760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3159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82435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33273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4111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334948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985786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636624" y="3803904"/>
            <a:ext cx="650838" cy="7315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287461" y="3803904"/>
            <a:ext cx="325419" cy="73152"/>
          </a:xfrm>
          <a:prstGeom prst="roundRect">
            <a:avLst>
              <a:gd name="adj" fmla="val 50000"/>
            </a:avLst>
          </a:prstGeom>
          <a:solidFill>
            <a:srgbClr val="C9D3D8"/>
          </a:solidFill>
          <a:ln w="12700">
            <a:solidFill>
              <a:srgbClr val="C9D3D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74059" y="3447288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3747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6374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4320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47472" y="2734056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31 Aug 2026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65760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Requested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24896" y="4050792"/>
            <a:ext cx="0" cy="182880"/>
          </a:xfrm>
          <a:prstGeom prst="line">
            <a:avLst/>
          </a:prstGeom>
          <a:noFill/>
          <a:ln w="19050">
            <a:solidFill>
              <a:srgbClr val="7A8791">
                <a:alpha val="65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314584" y="3630168"/>
            <a:ext cx="420624" cy="420624"/>
          </a:xfrm>
          <a:prstGeom prst="ellipse">
            <a:avLst/>
          </a:prstGeom>
          <a:solidFill>
            <a:srgbClr val="7A8791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31458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16098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89250" y="4233672"/>
            <a:ext cx="1871293" cy="54864"/>
          </a:xfrm>
          <a:prstGeom prst="rect">
            <a:avLst/>
          </a:prstGeom>
          <a:solidFill>
            <a:srgbClr val="7A8791"/>
          </a:solidFill>
          <a:ln w="12700">
            <a:solidFill>
              <a:srgbClr val="7A879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7538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28 Sep 2026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07538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7A8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– Permit Request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Request Rejected</a:t>
            </a:r>
            <a:endParaRPr lang="en-US" sz="650" dirty="0"/>
          </a:p>
        </p:txBody>
      </p:sp>
      <p:sp>
        <p:nvSpPr>
          <p:cNvPr id="44" name="Shape 42"/>
          <p:cNvSpPr/>
          <p:nvPr/>
        </p:nvSpPr>
        <p:spPr>
          <a:xfrm>
            <a:off x="2175734" y="2624328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65422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96542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166936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1240088" y="191109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58376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 Oct 2026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258376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Activities Suspended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2826572" y="4050792"/>
            <a:ext cx="0" cy="100584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16260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61626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1817773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1890925" y="505663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09213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3 Oct 2026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1909213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Site Visit</a:t>
            </a:r>
            <a:endParaRPr lang="en-US" sz="650" dirty="0"/>
          </a:p>
        </p:txBody>
      </p:sp>
      <p:sp>
        <p:nvSpPr>
          <p:cNvPr id="58" name="Shape 56"/>
          <p:cNvSpPr/>
          <p:nvPr/>
        </p:nvSpPr>
        <p:spPr>
          <a:xfrm>
            <a:off x="3477409" y="3447288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267097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3267097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2468611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2541763" y="2734056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560051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4 Oct 2026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2560051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&amp; Mitigation Plan Submitted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4128247" y="4050792"/>
            <a:ext cx="0" cy="182880"/>
          </a:xfrm>
          <a:prstGeom prst="line">
            <a:avLst/>
          </a:prstGeom>
          <a:noFill/>
          <a:ln w="19050">
            <a:solidFill>
              <a:srgbClr val="C8503F">
                <a:alpha val="6500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917935" y="3630168"/>
            <a:ext cx="420624" cy="420624"/>
          </a:xfrm>
          <a:prstGeom prst="ellipse">
            <a:avLst/>
          </a:prstGeom>
          <a:solidFill>
            <a:srgbClr val="C8503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3917935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311944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3192601" y="4233672"/>
            <a:ext cx="1871293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321088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5 Oct 2026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321088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C8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– Suspension &amp; Site Assessment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Action Plan Requested</a:t>
            </a:r>
            <a:endParaRPr lang="en-US" sz="650" dirty="0"/>
          </a:p>
        </p:txBody>
      </p:sp>
      <p:sp>
        <p:nvSpPr>
          <p:cNvPr id="72" name="Shape 70"/>
          <p:cNvSpPr/>
          <p:nvPr/>
        </p:nvSpPr>
        <p:spPr>
          <a:xfrm>
            <a:off x="4779085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56877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456877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3770286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76" name="Shape 74"/>
          <p:cNvSpPr/>
          <p:nvPr/>
        </p:nvSpPr>
        <p:spPr>
          <a:xfrm>
            <a:off x="3843438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861726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 2026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3861726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Statement (MoS) Submitted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5429922" y="4050792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219610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5219610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4421124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83" name="Shape 81"/>
          <p:cNvSpPr/>
          <p:nvPr/>
        </p:nvSpPr>
        <p:spPr>
          <a:xfrm>
            <a:off x="4494276" y="505663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512564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7 Oct 2026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4512564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Meeting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6080760" y="3447288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870448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5870448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89" name="Shape 87"/>
          <p:cNvSpPr/>
          <p:nvPr/>
        </p:nvSpPr>
        <p:spPr>
          <a:xfrm>
            <a:off x="5071962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5145114" y="273405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163402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8 Oct 2026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5163402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Stakeholders’ Clarifications Answered</a:t>
            </a:r>
            <a:endParaRPr lang="en-US" sz="650" dirty="0"/>
          </a:p>
        </p:txBody>
      </p:sp>
      <p:sp>
        <p:nvSpPr>
          <p:cNvPr id="93" name="Shape 91"/>
          <p:cNvSpPr/>
          <p:nvPr/>
        </p:nvSpPr>
        <p:spPr>
          <a:xfrm>
            <a:off x="6731598" y="4050792"/>
            <a:ext cx="0" cy="18288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521286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95" name="Text 93"/>
          <p:cNvSpPr/>
          <p:nvPr/>
        </p:nvSpPr>
        <p:spPr>
          <a:xfrm>
            <a:off x="652128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5722799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97" name="Shape 95"/>
          <p:cNvSpPr/>
          <p:nvPr/>
        </p:nvSpPr>
        <p:spPr>
          <a:xfrm>
            <a:off x="5795951" y="4233672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814239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11 Oct 2026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5814239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Clarification Received</a:t>
            </a:r>
            <a:endParaRPr lang="en-US" sz="650" dirty="0"/>
          </a:p>
        </p:txBody>
      </p:sp>
      <p:sp>
        <p:nvSpPr>
          <p:cNvPr id="100" name="Shape 98"/>
          <p:cNvSpPr/>
          <p:nvPr/>
        </p:nvSpPr>
        <p:spPr>
          <a:xfrm>
            <a:off x="7382435" y="2624328"/>
            <a:ext cx="0" cy="1005840"/>
          </a:xfrm>
          <a:prstGeom prst="line">
            <a:avLst/>
          </a:prstGeom>
          <a:noFill/>
          <a:ln w="19050">
            <a:solidFill>
              <a:srgbClr val="00778B">
                <a:alpha val="6500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72123" y="3630168"/>
            <a:ext cx="420624" cy="420624"/>
          </a:xfrm>
          <a:prstGeom prst="ellipse">
            <a:avLst/>
          </a:prstGeom>
          <a:solidFill>
            <a:srgbClr val="00778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7172123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103" name="Shape 101"/>
          <p:cNvSpPr/>
          <p:nvPr/>
        </p:nvSpPr>
        <p:spPr>
          <a:xfrm>
            <a:off x="6373637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04" name="Shape 102"/>
          <p:cNvSpPr/>
          <p:nvPr/>
        </p:nvSpPr>
        <p:spPr>
          <a:xfrm>
            <a:off x="6446789" y="1911096"/>
            <a:ext cx="1871293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465077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12 Oct 2026</a:t>
            </a:r>
            <a:endParaRPr lang="en-US" sz="950" dirty="0"/>
          </a:p>
        </p:txBody>
      </p:sp>
      <p:sp>
        <p:nvSpPr>
          <p:cNvPr id="106" name="Text 104"/>
          <p:cNvSpPr/>
          <p:nvPr/>
        </p:nvSpPr>
        <p:spPr>
          <a:xfrm>
            <a:off x="6465077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0077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– Method Statement Preparation &amp; Review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2 Submitted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8033273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822961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09" name="Text 107"/>
          <p:cNvSpPr/>
          <p:nvPr/>
        </p:nvSpPr>
        <p:spPr>
          <a:xfrm>
            <a:off x="7822961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702447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1" name="Shape 109"/>
          <p:cNvSpPr/>
          <p:nvPr/>
        </p:nvSpPr>
        <p:spPr>
          <a:xfrm>
            <a:off x="7097627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711591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13 Oct 2026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711591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Department Contacted</a:t>
            </a:r>
            <a:endParaRPr lang="en-US" sz="650" dirty="0"/>
          </a:p>
        </p:txBody>
      </p:sp>
      <p:sp>
        <p:nvSpPr>
          <p:cNvPr id="114" name="Shape 112"/>
          <p:cNvSpPr/>
          <p:nvPr/>
        </p:nvSpPr>
        <p:spPr>
          <a:xfrm>
            <a:off x="8684111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473799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16" name="Text 114"/>
          <p:cNvSpPr/>
          <p:nvPr/>
        </p:nvSpPr>
        <p:spPr>
          <a:xfrm>
            <a:off x="847379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117" name="Shape 115"/>
          <p:cNvSpPr/>
          <p:nvPr/>
        </p:nvSpPr>
        <p:spPr>
          <a:xfrm>
            <a:off x="7675312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18" name="Shape 116"/>
          <p:cNvSpPr/>
          <p:nvPr/>
        </p:nvSpPr>
        <p:spPr>
          <a:xfrm>
            <a:off x="7748464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766752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14 Oct 2026</a:t>
            </a:r>
            <a:endParaRPr lang="en-US" sz="950" dirty="0"/>
          </a:p>
        </p:txBody>
      </p:sp>
      <p:sp>
        <p:nvSpPr>
          <p:cNvPr id="120" name="Text 118"/>
          <p:cNvSpPr/>
          <p:nvPr/>
        </p:nvSpPr>
        <p:spPr>
          <a:xfrm>
            <a:off x="7766752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Circulated for Approvals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9334948" y="4050792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124636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23" name="Text 121"/>
          <p:cNvSpPr/>
          <p:nvPr/>
        </p:nvSpPr>
        <p:spPr>
          <a:xfrm>
            <a:off x="9124636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124" name="Shape 122"/>
          <p:cNvSpPr/>
          <p:nvPr/>
        </p:nvSpPr>
        <p:spPr>
          <a:xfrm>
            <a:off x="8326150" y="423367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25" name="Shape 123"/>
          <p:cNvSpPr/>
          <p:nvPr/>
        </p:nvSpPr>
        <p:spPr>
          <a:xfrm>
            <a:off x="8399302" y="423367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417590" y="430682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15 Oct 2026</a:t>
            </a:r>
            <a:endParaRPr lang="en-US" sz="950" dirty="0"/>
          </a:p>
        </p:txBody>
      </p:sp>
      <p:sp>
        <p:nvSpPr>
          <p:cNvPr id="127" name="Text 125"/>
          <p:cNvSpPr/>
          <p:nvPr/>
        </p:nvSpPr>
        <p:spPr>
          <a:xfrm>
            <a:off x="8417590" y="455371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Department Comments</a:t>
            </a:r>
            <a:endParaRPr lang="en-US" sz="650" dirty="0"/>
          </a:p>
        </p:txBody>
      </p:sp>
      <p:sp>
        <p:nvSpPr>
          <p:cNvPr id="128" name="Shape 126"/>
          <p:cNvSpPr/>
          <p:nvPr/>
        </p:nvSpPr>
        <p:spPr>
          <a:xfrm>
            <a:off x="9985786" y="2624328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775474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9775474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131" name="Shape 129"/>
          <p:cNvSpPr/>
          <p:nvPr/>
        </p:nvSpPr>
        <p:spPr>
          <a:xfrm>
            <a:off x="8976988" y="191109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2" name="Shape 130"/>
          <p:cNvSpPr/>
          <p:nvPr/>
        </p:nvSpPr>
        <p:spPr>
          <a:xfrm>
            <a:off x="9050140" y="191109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068428" y="198424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19 Oct 2026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9068428" y="223113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 Revision 3 Submitted</a:t>
            </a:r>
            <a:endParaRPr lang="en-US" sz="650" dirty="0"/>
          </a:p>
        </p:txBody>
      </p:sp>
      <p:sp>
        <p:nvSpPr>
          <p:cNvPr id="135" name="Shape 133"/>
          <p:cNvSpPr/>
          <p:nvPr/>
        </p:nvSpPr>
        <p:spPr>
          <a:xfrm>
            <a:off x="10636624" y="4050792"/>
            <a:ext cx="0" cy="100584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0426312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37" name="Text 135"/>
          <p:cNvSpPr/>
          <p:nvPr/>
        </p:nvSpPr>
        <p:spPr>
          <a:xfrm>
            <a:off x="10426312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138" name="Shape 136"/>
          <p:cNvSpPr/>
          <p:nvPr/>
        </p:nvSpPr>
        <p:spPr>
          <a:xfrm>
            <a:off x="9627825" y="5056632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39" name="Shape 137"/>
          <p:cNvSpPr/>
          <p:nvPr/>
        </p:nvSpPr>
        <p:spPr>
          <a:xfrm>
            <a:off x="9700977" y="5056632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9719265" y="5129784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20 Oct 2026</a:t>
            </a:r>
            <a:endParaRPr lang="en-US" sz="950" dirty="0"/>
          </a:p>
        </p:txBody>
      </p:sp>
      <p:sp>
        <p:nvSpPr>
          <p:cNvPr id="141" name="Text 139"/>
          <p:cNvSpPr/>
          <p:nvPr/>
        </p:nvSpPr>
        <p:spPr>
          <a:xfrm>
            <a:off x="9719265" y="5376672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Clarification Cleared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11287461" y="3447288"/>
            <a:ext cx="0" cy="182880"/>
          </a:xfrm>
          <a:prstGeom prst="line">
            <a:avLst/>
          </a:prstGeom>
          <a:noFill/>
          <a:ln w="19050">
            <a:solidFill>
              <a:srgbClr val="2E9E6B">
                <a:alpha val="6500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1077149" y="3630168"/>
            <a:ext cx="420624" cy="420624"/>
          </a:xfrm>
          <a:prstGeom prst="ellipse">
            <a:avLst/>
          </a:prstGeom>
          <a:solidFill>
            <a:srgbClr val="2E9E6B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11077149" y="3630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145" name="Shape 143"/>
          <p:cNvSpPr/>
          <p:nvPr/>
        </p:nvSpPr>
        <p:spPr>
          <a:xfrm>
            <a:off x="9899778" y="2734056"/>
            <a:ext cx="2017597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4000"/>
              </a:srgbClr>
            </a:outerShdw>
          </a:effectLst>
        </p:spPr>
      </p:sp>
      <p:sp>
        <p:nvSpPr>
          <p:cNvPr id="146" name="Shape 144"/>
          <p:cNvSpPr/>
          <p:nvPr/>
        </p:nvSpPr>
        <p:spPr>
          <a:xfrm>
            <a:off x="9972930" y="2734056"/>
            <a:ext cx="1871293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9991218" y="2807208"/>
            <a:ext cx="183471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21 Oct 2026</a:t>
            </a:r>
            <a:endParaRPr lang="en-US" sz="950" dirty="0"/>
          </a:p>
        </p:txBody>
      </p:sp>
      <p:sp>
        <p:nvSpPr>
          <p:cNvPr id="148" name="Text 146"/>
          <p:cNvSpPr/>
          <p:nvPr/>
        </p:nvSpPr>
        <p:spPr>
          <a:xfrm>
            <a:off x="9991218" y="3054096"/>
            <a:ext cx="183471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100"/>
              </a:spcAft>
              <a:buNone/>
            </a:pPr>
            <a:r>
              <a:rPr lang="en-US" altLang="en-US" sz="65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– Work Permit Issuance</a:t>
            </a:r>
            <a:endParaRPr lang="en-US" sz="65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altLang="en-US" sz="9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Permit Ready for Signature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10134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24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Works – Shoring &amp; Pit Works Programme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65760" y="548640"/>
            <a:ext cx="10134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RYDN-WLB pit works · Proposed by Gulf Development Company for Contracting · Rev 01 · 12 Oct 2026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65760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005840"/>
            <a:ext cx="10552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695298" y="1069848"/>
            <a:ext cx="274320" cy="109728"/>
          </a:xfrm>
          <a:prstGeom prst="roundRect">
            <a:avLst>
              <a:gd name="adj" fmla="val 25000"/>
            </a:avLst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24482" y="1005840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(colour = work group)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926434" y="1060704"/>
            <a:ext cx="128016" cy="128016"/>
          </a:xfrm>
          <a:prstGeom prst="diamond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55618" y="1005840"/>
            <a:ext cx="84307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43830" y="1060704"/>
            <a:ext cx="182880" cy="128016"/>
          </a:xfrm>
          <a:prstGeom prst="rect">
            <a:avLst/>
          </a:prstGeom>
          <a:solidFill>
            <a:srgbClr val="CFD8DC"/>
          </a:solidFill>
          <a:ln w="12700">
            <a:solidFill>
              <a:srgbClr val="CFD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73014" y="1005840"/>
            <a:ext cx="1161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Non-working day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25158" y="1042416"/>
            <a:ext cx="0" cy="164592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6808622" y="1005840"/>
            <a:ext cx="94914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date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02906" y="1005840"/>
            <a:ext cx="15325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Dependency (FS / SS)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325880"/>
            <a:ext cx="5678424" cy="640080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325880"/>
            <a:ext cx="384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" y="132588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47288" y="132588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Predecessor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224528" y="132588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Dur. (wd)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727448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385816" y="1325880"/>
            <a:ext cx="658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44184" y="1325880"/>
            <a:ext cx="2649969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44184" y="1325880"/>
            <a:ext cx="26499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2026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694153" y="1325880"/>
            <a:ext cx="3131782" cy="182880"/>
          </a:xfrm>
          <a:prstGeom prst="rect">
            <a:avLst/>
          </a:prstGeom>
          <a:solidFill>
            <a:srgbClr val="DCE8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94153" y="1325880"/>
            <a:ext cx="31317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November 2026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044184" y="1508760"/>
            <a:ext cx="843172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44184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6887356" y="1508760"/>
            <a:ext cx="843172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87356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7730528" y="1508760"/>
            <a:ext cx="843172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0528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8573700" y="1508760"/>
            <a:ext cx="843172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73700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9416872" y="1508760"/>
            <a:ext cx="843172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416872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10260044" y="1508760"/>
            <a:ext cx="843172" cy="155448"/>
          </a:xfrm>
          <a:prstGeom prst="rect">
            <a:avLst/>
          </a:prstGeom>
          <a:solidFill>
            <a:srgbClr val="E4F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260044" y="1508760"/>
            <a:ext cx="8431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11103216" y="1508760"/>
            <a:ext cx="722719" cy="155448"/>
          </a:xfrm>
          <a:prstGeom prst="rect">
            <a:avLst/>
          </a:prstGeom>
          <a:solidFill>
            <a:srgbClr val="D5E6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103216" y="1508760"/>
            <a:ext cx="72271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3450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6044184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44184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42" name="Text 40"/>
          <p:cNvSpPr/>
          <p:nvPr/>
        </p:nvSpPr>
        <p:spPr>
          <a:xfrm>
            <a:off x="6044184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550" dirty="0"/>
          </a:p>
        </p:txBody>
      </p:sp>
      <p:sp>
        <p:nvSpPr>
          <p:cNvPr id="43" name="Shape 41"/>
          <p:cNvSpPr/>
          <p:nvPr/>
        </p:nvSpPr>
        <p:spPr>
          <a:xfrm>
            <a:off x="6044184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164637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6463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46" name="Text 44"/>
          <p:cNvSpPr/>
          <p:nvPr/>
        </p:nvSpPr>
        <p:spPr>
          <a:xfrm>
            <a:off x="616463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550" dirty="0"/>
          </a:p>
        </p:txBody>
      </p:sp>
      <p:sp>
        <p:nvSpPr>
          <p:cNvPr id="47" name="Shape 45"/>
          <p:cNvSpPr/>
          <p:nvPr/>
        </p:nvSpPr>
        <p:spPr>
          <a:xfrm>
            <a:off x="628509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8509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49" name="Text 47"/>
          <p:cNvSpPr/>
          <p:nvPr/>
        </p:nvSpPr>
        <p:spPr>
          <a:xfrm>
            <a:off x="628509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6405543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554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52" name="Text 50"/>
          <p:cNvSpPr/>
          <p:nvPr/>
        </p:nvSpPr>
        <p:spPr>
          <a:xfrm>
            <a:off x="640554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550" dirty="0"/>
          </a:p>
        </p:txBody>
      </p:sp>
      <p:sp>
        <p:nvSpPr>
          <p:cNvPr id="53" name="Shape 51"/>
          <p:cNvSpPr/>
          <p:nvPr/>
        </p:nvSpPr>
        <p:spPr>
          <a:xfrm>
            <a:off x="6525997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99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55" name="Text 53"/>
          <p:cNvSpPr/>
          <p:nvPr/>
        </p:nvSpPr>
        <p:spPr>
          <a:xfrm>
            <a:off x="652599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550" dirty="0"/>
          </a:p>
        </p:txBody>
      </p:sp>
      <p:sp>
        <p:nvSpPr>
          <p:cNvPr id="56" name="Shape 54"/>
          <p:cNvSpPr/>
          <p:nvPr/>
        </p:nvSpPr>
        <p:spPr>
          <a:xfrm>
            <a:off x="664645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64645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58" name="Text 56"/>
          <p:cNvSpPr/>
          <p:nvPr/>
        </p:nvSpPr>
        <p:spPr>
          <a:xfrm>
            <a:off x="664645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550" dirty="0"/>
          </a:p>
        </p:txBody>
      </p:sp>
      <p:sp>
        <p:nvSpPr>
          <p:cNvPr id="59" name="Shape 57"/>
          <p:cNvSpPr/>
          <p:nvPr/>
        </p:nvSpPr>
        <p:spPr>
          <a:xfrm>
            <a:off x="6766903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6690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61" name="Text 59"/>
          <p:cNvSpPr/>
          <p:nvPr/>
        </p:nvSpPr>
        <p:spPr>
          <a:xfrm>
            <a:off x="676690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550" dirty="0"/>
          </a:p>
        </p:txBody>
      </p:sp>
      <p:sp>
        <p:nvSpPr>
          <p:cNvPr id="62" name="Shape 60"/>
          <p:cNvSpPr/>
          <p:nvPr/>
        </p:nvSpPr>
        <p:spPr>
          <a:xfrm>
            <a:off x="6766903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88735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8735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65" name="Text 63"/>
          <p:cNvSpPr/>
          <p:nvPr/>
        </p:nvSpPr>
        <p:spPr>
          <a:xfrm>
            <a:off x="688735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50" dirty="0"/>
          </a:p>
        </p:txBody>
      </p:sp>
      <p:sp>
        <p:nvSpPr>
          <p:cNvPr id="66" name="Shape 64"/>
          <p:cNvSpPr/>
          <p:nvPr/>
        </p:nvSpPr>
        <p:spPr>
          <a:xfrm>
            <a:off x="6887356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00780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00780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69" name="Text 67"/>
          <p:cNvSpPr/>
          <p:nvPr/>
        </p:nvSpPr>
        <p:spPr>
          <a:xfrm>
            <a:off x="700780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550" dirty="0"/>
          </a:p>
        </p:txBody>
      </p:sp>
      <p:sp>
        <p:nvSpPr>
          <p:cNvPr id="70" name="Shape 68"/>
          <p:cNvSpPr/>
          <p:nvPr/>
        </p:nvSpPr>
        <p:spPr>
          <a:xfrm>
            <a:off x="712826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12826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72" name="Text 70"/>
          <p:cNvSpPr/>
          <p:nvPr/>
        </p:nvSpPr>
        <p:spPr>
          <a:xfrm>
            <a:off x="712826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550" dirty="0"/>
          </a:p>
        </p:txBody>
      </p:sp>
      <p:sp>
        <p:nvSpPr>
          <p:cNvPr id="73" name="Shape 71"/>
          <p:cNvSpPr/>
          <p:nvPr/>
        </p:nvSpPr>
        <p:spPr>
          <a:xfrm>
            <a:off x="724871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24871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75" name="Text 73"/>
          <p:cNvSpPr/>
          <p:nvPr/>
        </p:nvSpPr>
        <p:spPr>
          <a:xfrm>
            <a:off x="724871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550" dirty="0"/>
          </a:p>
        </p:txBody>
      </p:sp>
      <p:sp>
        <p:nvSpPr>
          <p:cNvPr id="76" name="Shape 74"/>
          <p:cNvSpPr/>
          <p:nvPr/>
        </p:nvSpPr>
        <p:spPr>
          <a:xfrm>
            <a:off x="736916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36916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78" name="Text 76"/>
          <p:cNvSpPr/>
          <p:nvPr/>
        </p:nvSpPr>
        <p:spPr>
          <a:xfrm>
            <a:off x="736916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550" dirty="0"/>
          </a:p>
        </p:txBody>
      </p:sp>
      <p:sp>
        <p:nvSpPr>
          <p:cNvPr id="79" name="Shape 77"/>
          <p:cNvSpPr/>
          <p:nvPr/>
        </p:nvSpPr>
        <p:spPr>
          <a:xfrm>
            <a:off x="748962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48962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81" name="Text 79"/>
          <p:cNvSpPr/>
          <p:nvPr/>
        </p:nvSpPr>
        <p:spPr>
          <a:xfrm>
            <a:off x="748962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550" dirty="0"/>
          </a:p>
        </p:txBody>
      </p:sp>
      <p:sp>
        <p:nvSpPr>
          <p:cNvPr id="82" name="Shape 80"/>
          <p:cNvSpPr/>
          <p:nvPr/>
        </p:nvSpPr>
        <p:spPr>
          <a:xfrm>
            <a:off x="7610075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61007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84" name="Text 82"/>
          <p:cNvSpPr/>
          <p:nvPr/>
        </p:nvSpPr>
        <p:spPr>
          <a:xfrm>
            <a:off x="761007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550" dirty="0"/>
          </a:p>
        </p:txBody>
      </p:sp>
      <p:sp>
        <p:nvSpPr>
          <p:cNvPr id="85" name="Shape 83"/>
          <p:cNvSpPr/>
          <p:nvPr/>
        </p:nvSpPr>
        <p:spPr>
          <a:xfrm>
            <a:off x="7610075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730528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730528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88" name="Text 86"/>
          <p:cNvSpPr/>
          <p:nvPr/>
        </p:nvSpPr>
        <p:spPr>
          <a:xfrm>
            <a:off x="7730528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550" dirty="0"/>
          </a:p>
        </p:txBody>
      </p:sp>
      <p:sp>
        <p:nvSpPr>
          <p:cNvPr id="89" name="Shape 87"/>
          <p:cNvSpPr/>
          <p:nvPr/>
        </p:nvSpPr>
        <p:spPr>
          <a:xfrm>
            <a:off x="7730528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850981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7850981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92" name="Text 90"/>
          <p:cNvSpPr/>
          <p:nvPr/>
        </p:nvSpPr>
        <p:spPr>
          <a:xfrm>
            <a:off x="7850981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550" dirty="0"/>
          </a:p>
        </p:txBody>
      </p:sp>
      <p:sp>
        <p:nvSpPr>
          <p:cNvPr id="93" name="Shape 91"/>
          <p:cNvSpPr/>
          <p:nvPr/>
        </p:nvSpPr>
        <p:spPr>
          <a:xfrm>
            <a:off x="7971434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971434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95" name="Text 93"/>
          <p:cNvSpPr/>
          <p:nvPr/>
        </p:nvSpPr>
        <p:spPr>
          <a:xfrm>
            <a:off x="7971434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550" dirty="0"/>
          </a:p>
        </p:txBody>
      </p:sp>
      <p:sp>
        <p:nvSpPr>
          <p:cNvPr id="96" name="Shape 94"/>
          <p:cNvSpPr/>
          <p:nvPr/>
        </p:nvSpPr>
        <p:spPr>
          <a:xfrm>
            <a:off x="8091888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091888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98" name="Text 96"/>
          <p:cNvSpPr/>
          <p:nvPr/>
        </p:nvSpPr>
        <p:spPr>
          <a:xfrm>
            <a:off x="8091888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550" dirty="0"/>
          </a:p>
        </p:txBody>
      </p:sp>
      <p:sp>
        <p:nvSpPr>
          <p:cNvPr id="99" name="Shape 97"/>
          <p:cNvSpPr/>
          <p:nvPr/>
        </p:nvSpPr>
        <p:spPr>
          <a:xfrm>
            <a:off x="8212341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212341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01" name="Text 99"/>
          <p:cNvSpPr/>
          <p:nvPr/>
        </p:nvSpPr>
        <p:spPr>
          <a:xfrm>
            <a:off x="8212341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550" dirty="0"/>
          </a:p>
        </p:txBody>
      </p:sp>
      <p:sp>
        <p:nvSpPr>
          <p:cNvPr id="102" name="Shape 100"/>
          <p:cNvSpPr/>
          <p:nvPr/>
        </p:nvSpPr>
        <p:spPr>
          <a:xfrm>
            <a:off x="8332794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8332794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04" name="Text 102"/>
          <p:cNvSpPr/>
          <p:nvPr/>
        </p:nvSpPr>
        <p:spPr>
          <a:xfrm>
            <a:off x="8332794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550" dirty="0"/>
          </a:p>
        </p:txBody>
      </p:sp>
      <p:sp>
        <p:nvSpPr>
          <p:cNvPr id="105" name="Shape 103"/>
          <p:cNvSpPr/>
          <p:nvPr/>
        </p:nvSpPr>
        <p:spPr>
          <a:xfrm>
            <a:off x="8453247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45324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07" name="Text 105"/>
          <p:cNvSpPr/>
          <p:nvPr/>
        </p:nvSpPr>
        <p:spPr>
          <a:xfrm>
            <a:off x="845324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550" dirty="0"/>
          </a:p>
        </p:txBody>
      </p:sp>
      <p:sp>
        <p:nvSpPr>
          <p:cNvPr id="108" name="Shape 106"/>
          <p:cNvSpPr/>
          <p:nvPr/>
        </p:nvSpPr>
        <p:spPr>
          <a:xfrm>
            <a:off x="8453247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57370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57370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11" name="Text 109"/>
          <p:cNvSpPr/>
          <p:nvPr/>
        </p:nvSpPr>
        <p:spPr>
          <a:xfrm>
            <a:off x="857370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550" dirty="0"/>
          </a:p>
        </p:txBody>
      </p:sp>
      <p:sp>
        <p:nvSpPr>
          <p:cNvPr id="112" name="Shape 110"/>
          <p:cNvSpPr/>
          <p:nvPr/>
        </p:nvSpPr>
        <p:spPr>
          <a:xfrm>
            <a:off x="8573700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694153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869415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15" name="Text 113"/>
          <p:cNvSpPr/>
          <p:nvPr/>
        </p:nvSpPr>
        <p:spPr>
          <a:xfrm>
            <a:off x="869415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550" dirty="0"/>
          </a:p>
        </p:txBody>
      </p:sp>
      <p:sp>
        <p:nvSpPr>
          <p:cNvPr id="116" name="Shape 114"/>
          <p:cNvSpPr/>
          <p:nvPr/>
        </p:nvSpPr>
        <p:spPr>
          <a:xfrm>
            <a:off x="881460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881460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18" name="Text 116"/>
          <p:cNvSpPr/>
          <p:nvPr/>
        </p:nvSpPr>
        <p:spPr>
          <a:xfrm>
            <a:off x="881460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50" dirty="0"/>
          </a:p>
        </p:txBody>
      </p:sp>
      <p:sp>
        <p:nvSpPr>
          <p:cNvPr id="119" name="Shape 117"/>
          <p:cNvSpPr/>
          <p:nvPr/>
        </p:nvSpPr>
        <p:spPr>
          <a:xfrm>
            <a:off x="893506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893506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21" name="Text 119"/>
          <p:cNvSpPr/>
          <p:nvPr/>
        </p:nvSpPr>
        <p:spPr>
          <a:xfrm>
            <a:off x="893506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50" dirty="0"/>
          </a:p>
        </p:txBody>
      </p:sp>
      <p:sp>
        <p:nvSpPr>
          <p:cNvPr id="122" name="Shape 120"/>
          <p:cNvSpPr/>
          <p:nvPr/>
        </p:nvSpPr>
        <p:spPr>
          <a:xfrm>
            <a:off x="9055513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905551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24" name="Text 122"/>
          <p:cNvSpPr/>
          <p:nvPr/>
        </p:nvSpPr>
        <p:spPr>
          <a:xfrm>
            <a:off x="905551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550" dirty="0"/>
          </a:p>
        </p:txBody>
      </p:sp>
      <p:sp>
        <p:nvSpPr>
          <p:cNvPr id="125" name="Shape 123"/>
          <p:cNvSpPr/>
          <p:nvPr/>
        </p:nvSpPr>
        <p:spPr>
          <a:xfrm>
            <a:off x="917596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17596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27" name="Text 125"/>
          <p:cNvSpPr/>
          <p:nvPr/>
        </p:nvSpPr>
        <p:spPr>
          <a:xfrm>
            <a:off x="917596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550" dirty="0"/>
          </a:p>
        </p:txBody>
      </p:sp>
      <p:sp>
        <p:nvSpPr>
          <p:cNvPr id="128" name="Shape 126"/>
          <p:cNvSpPr/>
          <p:nvPr/>
        </p:nvSpPr>
        <p:spPr>
          <a:xfrm>
            <a:off x="9296419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929641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30" name="Text 128"/>
          <p:cNvSpPr/>
          <p:nvPr/>
        </p:nvSpPr>
        <p:spPr>
          <a:xfrm>
            <a:off x="929641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550" dirty="0"/>
          </a:p>
        </p:txBody>
      </p:sp>
      <p:sp>
        <p:nvSpPr>
          <p:cNvPr id="131" name="Shape 129"/>
          <p:cNvSpPr/>
          <p:nvPr/>
        </p:nvSpPr>
        <p:spPr>
          <a:xfrm>
            <a:off x="9296419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41687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41687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34" name="Text 132"/>
          <p:cNvSpPr/>
          <p:nvPr/>
        </p:nvSpPr>
        <p:spPr>
          <a:xfrm>
            <a:off x="941687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550" dirty="0"/>
          </a:p>
        </p:txBody>
      </p:sp>
      <p:sp>
        <p:nvSpPr>
          <p:cNvPr id="135" name="Shape 133"/>
          <p:cNvSpPr/>
          <p:nvPr/>
        </p:nvSpPr>
        <p:spPr>
          <a:xfrm>
            <a:off x="9416872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537325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953732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38" name="Text 136"/>
          <p:cNvSpPr/>
          <p:nvPr/>
        </p:nvSpPr>
        <p:spPr>
          <a:xfrm>
            <a:off x="953732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550" dirty="0"/>
          </a:p>
        </p:txBody>
      </p:sp>
      <p:sp>
        <p:nvSpPr>
          <p:cNvPr id="139" name="Shape 137"/>
          <p:cNvSpPr/>
          <p:nvPr/>
        </p:nvSpPr>
        <p:spPr>
          <a:xfrm>
            <a:off x="965777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965777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41" name="Text 139"/>
          <p:cNvSpPr/>
          <p:nvPr/>
        </p:nvSpPr>
        <p:spPr>
          <a:xfrm>
            <a:off x="965777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550" dirty="0"/>
          </a:p>
        </p:txBody>
      </p:sp>
      <p:sp>
        <p:nvSpPr>
          <p:cNvPr id="142" name="Shape 140"/>
          <p:cNvSpPr/>
          <p:nvPr/>
        </p:nvSpPr>
        <p:spPr>
          <a:xfrm>
            <a:off x="977823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977823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44" name="Text 142"/>
          <p:cNvSpPr/>
          <p:nvPr/>
        </p:nvSpPr>
        <p:spPr>
          <a:xfrm>
            <a:off x="977823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550" dirty="0"/>
          </a:p>
        </p:txBody>
      </p:sp>
      <p:sp>
        <p:nvSpPr>
          <p:cNvPr id="145" name="Shape 143"/>
          <p:cNvSpPr/>
          <p:nvPr/>
        </p:nvSpPr>
        <p:spPr>
          <a:xfrm>
            <a:off x="9898685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898685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47" name="Text 145"/>
          <p:cNvSpPr/>
          <p:nvPr/>
        </p:nvSpPr>
        <p:spPr>
          <a:xfrm>
            <a:off x="9898685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550" dirty="0"/>
          </a:p>
        </p:txBody>
      </p:sp>
      <p:sp>
        <p:nvSpPr>
          <p:cNvPr id="148" name="Shape 146"/>
          <p:cNvSpPr/>
          <p:nvPr/>
        </p:nvSpPr>
        <p:spPr>
          <a:xfrm>
            <a:off x="10019138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10019138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50" name="Text 148"/>
          <p:cNvSpPr/>
          <p:nvPr/>
        </p:nvSpPr>
        <p:spPr>
          <a:xfrm>
            <a:off x="10019138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550" dirty="0"/>
          </a:p>
        </p:txBody>
      </p:sp>
      <p:sp>
        <p:nvSpPr>
          <p:cNvPr id="151" name="Shape 149"/>
          <p:cNvSpPr/>
          <p:nvPr/>
        </p:nvSpPr>
        <p:spPr>
          <a:xfrm>
            <a:off x="10139591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10139591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53" name="Text 151"/>
          <p:cNvSpPr/>
          <p:nvPr/>
        </p:nvSpPr>
        <p:spPr>
          <a:xfrm>
            <a:off x="10139591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550" dirty="0"/>
          </a:p>
        </p:txBody>
      </p:sp>
      <p:sp>
        <p:nvSpPr>
          <p:cNvPr id="154" name="Shape 152"/>
          <p:cNvSpPr/>
          <p:nvPr/>
        </p:nvSpPr>
        <p:spPr>
          <a:xfrm>
            <a:off x="10139591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10260044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10260044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57" name="Text 155"/>
          <p:cNvSpPr/>
          <p:nvPr/>
        </p:nvSpPr>
        <p:spPr>
          <a:xfrm>
            <a:off x="10260044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550" dirty="0"/>
          </a:p>
        </p:txBody>
      </p:sp>
      <p:sp>
        <p:nvSpPr>
          <p:cNvPr id="158" name="Shape 156"/>
          <p:cNvSpPr/>
          <p:nvPr/>
        </p:nvSpPr>
        <p:spPr>
          <a:xfrm>
            <a:off x="10260044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10380497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1038049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61" name="Text 159"/>
          <p:cNvSpPr/>
          <p:nvPr/>
        </p:nvSpPr>
        <p:spPr>
          <a:xfrm>
            <a:off x="1038049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550" dirty="0"/>
          </a:p>
        </p:txBody>
      </p:sp>
      <p:sp>
        <p:nvSpPr>
          <p:cNvPr id="162" name="Shape 160"/>
          <p:cNvSpPr/>
          <p:nvPr/>
        </p:nvSpPr>
        <p:spPr>
          <a:xfrm>
            <a:off x="10500951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10500951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64" name="Text 162"/>
          <p:cNvSpPr/>
          <p:nvPr/>
        </p:nvSpPr>
        <p:spPr>
          <a:xfrm>
            <a:off x="10500951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550" dirty="0"/>
          </a:p>
        </p:txBody>
      </p:sp>
      <p:sp>
        <p:nvSpPr>
          <p:cNvPr id="165" name="Shape 163"/>
          <p:cNvSpPr/>
          <p:nvPr/>
        </p:nvSpPr>
        <p:spPr>
          <a:xfrm>
            <a:off x="10621404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10621404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67" name="Text 165"/>
          <p:cNvSpPr/>
          <p:nvPr/>
        </p:nvSpPr>
        <p:spPr>
          <a:xfrm>
            <a:off x="10621404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50" dirty="0"/>
          </a:p>
        </p:txBody>
      </p:sp>
      <p:sp>
        <p:nvSpPr>
          <p:cNvPr id="168" name="Shape 166"/>
          <p:cNvSpPr/>
          <p:nvPr/>
        </p:nvSpPr>
        <p:spPr>
          <a:xfrm>
            <a:off x="10741857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10741857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70" name="Text 168"/>
          <p:cNvSpPr/>
          <p:nvPr/>
        </p:nvSpPr>
        <p:spPr>
          <a:xfrm>
            <a:off x="10741857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550" dirty="0"/>
          </a:p>
        </p:txBody>
      </p:sp>
      <p:sp>
        <p:nvSpPr>
          <p:cNvPr id="171" name="Shape 169"/>
          <p:cNvSpPr/>
          <p:nvPr/>
        </p:nvSpPr>
        <p:spPr>
          <a:xfrm>
            <a:off x="10862310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10862310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73" name="Text 171"/>
          <p:cNvSpPr/>
          <p:nvPr/>
        </p:nvSpPr>
        <p:spPr>
          <a:xfrm>
            <a:off x="10862310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550" dirty="0"/>
          </a:p>
        </p:txBody>
      </p:sp>
      <p:sp>
        <p:nvSpPr>
          <p:cNvPr id="174" name="Shape 172"/>
          <p:cNvSpPr/>
          <p:nvPr/>
        </p:nvSpPr>
        <p:spPr>
          <a:xfrm>
            <a:off x="10982763" y="1664208"/>
            <a:ext cx="120453" cy="301752"/>
          </a:xfrm>
          <a:prstGeom prst="rect">
            <a:avLst/>
          </a:prstGeom>
          <a:solidFill>
            <a:srgbClr val="DBE3E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98276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500" dirty="0"/>
          </a:p>
        </p:txBody>
      </p:sp>
      <p:sp>
        <p:nvSpPr>
          <p:cNvPr id="176" name="Text 174"/>
          <p:cNvSpPr/>
          <p:nvPr/>
        </p:nvSpPr>
        <p:spPr>
          <a:xfrm>
            <a:off x="1098276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8A95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550" dirty="0"/>
          </a:p>
        </p:txBody>
      </p:sp>
      <p:sp>
        <p:nvSpPr>
          <p:cNvPr id="177" name="Shape 175"/>
          <p:cNvSpPr/>
          <p:nvPr/>
        </p:nvSpPr>
        <p:spPr>
          <a:xfrm>
            <a:off x="10982763" y="1965960"/>
            <a:ext cx="120453" cy="3502152"/>
          </a:xfrm>
          <a:prstGeom prst="rect">
            <a:avLst/>
          </a:prstGeom>
          <a:solidFill>
            <a:srgbClr val="000000">
              <a:alpha val="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1110321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110321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80" name="Text 178"/>
          <p:cNvSpPr/>
          <p:nvPr/>
        </p:nvSpPr>
        <p:spPr>
          <a:xfrm>
            <a:off x="1110321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550" dirty="0"/>
          </a:p>
        </p:txBody>
      </p:sp>
      <p:sp>
        <p:nvSpPr>
          <p:cNvPr id="181" name="Shape 179"/>
          <p:cNvSpPr/>
          <p:nvPr/>
        </p:nvSpPr>
        <p:spPr>
          <a:xfrm>
            <a:off x="11103216" y="1965960"/>
            <a:ext cx="0" cy="3502152"/>
          </a:xfrm>
          <a:prstGeom prst="line">
            <a:avLst/>
          </a:prstGeom>
          <a:noFill/>
          <a:ln w="6350">
            <a:solidFill>
              <a:srgbClr val="9DB2BB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1122366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1122366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500" dirty="0"/>
          </a:p>
        </p:txBody>
      </p:sp>
      <p:sp>
        <p:nvSpPr>
          <p:cNvPr id="184" name="Text 182"/>
          <p:cNvSpPr/>
          <p:nvPr/>
        </p:nvSpPr>
        <p:spPr>
          <a:xfrm>
            <a:off x="1122366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550" dirty="0"/>
          </a:p>
        </p:txBody>
      </p:sp>
      <p:sp>
        <p:nvSpPr>
          <p:cNvPr id="185" name="Shape 183"/>
          <p:cNvSpPr/>
          <p:nvPr/>
        </p:nvSpPr>
        <p:spPr>
          <a:xfrm>
            <a:off x="11344123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11344123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500" dirty="0"/>
          </a:p>
        </p:txBody>
      </p:sp>
      <p:sp>
        <p:nvSpPr>
          <p:cNvPr id="187" name="Text 185"/>
          <p:cNvSpPr/>
          <p:nvPr/>
        </p:nvSpPr>
        <p:spPr>
          <a:xfrm>
            <a:off x="11344123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550" dirty="0"/>
          </a:p>
        </p:txBody>
      </p:sp>
      <p:sp>
        <p:nvSpPr>
          <p:cNvPr id="188" name="Shape 186"/>
          <p:cNvSpPr/>
          <p:nvPr/>
        </p:nvSpPr>
        <p:spPr>
          <a:xfrm>
            <a:off x="11464576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9" name="Text 187"/>
          <p:cNvSpPr/>
          <p:nvPr/>
        </p:nvSpPr>
        <p:spPr>
          <a:xfrm>
            <a:off x="11464576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90" name="Text 188"/>
          <p:cNvSpPr/>
          <p:nvPr/>
        </p:nvSpPr>
        <p:spPr>
          <a:xfrm>
            <a:off x="11464576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550" dirty="0"/>
          </a:p>
        </p:txBody>
      </p:sp>
      <p:sp>
        <p:nvSpPr>
          <p:cNvPr id="191" name="Shape 189"/>
          <p:cNvSpPr/>
          <p:nvPr/>
        </p:nvSpPr>
        <p:spPr>
          <a:xfrm>
            <a:off x="11585029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11585029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500" dirty="0"/>
          </a:p>
        </p:txBody>
      </p:sp>
      <p:sp>
        <p:nvSpPr>
          <p:cNvPr id="193" name="Text 191"/>
          <p:cNvSpPr/>
          <p:nvPr/>
        </p:nvSpPr>
        <p:spPr>
          <a:xfrm>
            <a:off x="11585029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550" dirty="0"/>
          </a:p>
        </p:txBody>
      </p:sp>
      <p:sp>
        <p:nvSpPr>
          <p:cNvPr id="194" name="Shape 192"/>
          <p:cNvSpPr/>
          <p:nvPr/>
        </p:nvSpPr>
        <p:spPr>
          <a:xfrm>
            <a:off x="11705482" y="1664208"/>
            <a:ext cx="120453" cy="301752"/>
          </a:xfrm>
          <a:prstGeom prst="rect">
            <a:avLst/>
          </a:prstGeom>
          <a:solidFill>
            <a:srgbClr val="F4F7F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11705482" y="1664208"/>
            <a:ext cx="12045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00" b="1" dirty="0">
                <a:solidFill>
                  <a:srgbClr val="5A6A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500" dirty="0"/>
          </a:p>
        </p:txBody>
      </p:sp>
      <p:sp>
        <p:nvSpPr>
          <p:cNvPr id="196" name="Text 194"/>
          <p:cNvSpPr/>
          <p:nvPr/>
        </p:nvSpPr>
        <p:spPr>
          <a:xfrm>
            <a:off x="11705482" y="1801368"/>
            <a:ext cx="12045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5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550" dirty="0"/>
          </a:p>
        </p:txBody>
      </p:sp>
      <p:sp>
        <p:nvSpPr>
          <p:cNvPr id="197" name="Shape 195"/>
          <p:cNvSpPr/>
          <p:nvPr/>
        </p:nvSpPr>
        <p:spPr>
          <a:xfrm>
            <a:off x="365760" y="1965960"/>
            <a:ext cx="11460175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438912" y="1984248"/>
            <a:ext cx="237744" cy="237744"/>
          </a:xfrm>
          <a:prstGeom prst="ellipse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365760" y="19659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endParaRPr lang="en-US" sz="900" dirty="0"/>
          </a:p>
        </p:txBody>
      </p:sp>
      <p:sp>
        <p:nvSpPr>
          <p:cNvPr id="200" name="Text 198"/>
          <p:cNvSpPr/>
          <p:nvPr/>
        </p:nvSpPr>
        <p:spPr>
          <a:xfrm>
            <a:off x="822960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project duration</a:t>
            </a:r>
            <a:endParaRPr lang="en-US" sz="1000" dirty="0"/>
          </a:p>
        </p:txBody>
      </p:sp>
      <p:sp>
        <p:nvSpPr>
          <p:cNvPr id="201" name="Text 199"/>
          <p:cNvSpPr/>
          <p:nvPr/>
        </p:nvSpPr>
        <p:spPr>
          <a:xfrm>
            <a:off x="4224528" y="19659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00" dirty="0"/>
          </a:p>
        </p:txBody>
      </p:sp>
      <p:sp>
        <p:nvSpPr>
          <p:cNvPr id="202" name="Text 200"/>
          <p:cNvSpPr/>
          <p:nvPr/>
        </p:nvSpPr>
        <p:spPr>
          <a:xfrm>
            <a:off x="4727448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Oct</a:t>
            </a:r>
            <a:endParaRPr lang="en-US" sz="850" dirty="0"/>
          </a:p>
        </p:txBody>
      </p:sp>
      <p:sp>
        <p:nvSpPr>
          <p:cNvPr id="203" name="Text 201"/>
          <p:cNvSpPr/>
          <p:nvPr/>
        </p:nvSpPr>
        <p:spPr>
          <a:xfrm>
            <a:off x="5385816" y="19659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Nov</a:t>
            </a:r>
            <a:endParaRPr lang="en-US" sz="850" dirty="0"/>
          </a:p>
        </p:txBody>
      </p:sp>
      <p:sp>
        <p:nvSpPr>
          <p:cNvPr id="204" name="Shape 202"/>
          <p:cNvSpPr/>
          <p:nvPr/>
        </p:nvSpPr>
        <p:spPr>
          <a:xfrm>
            <a:off x="6405543" y="2011680"/>
            <a:ext cx="5179485" cy="182880"/>
          </a:xfrm>
          <a:prstGeom prst="roundRect">
            <a:avLst>
              <a:gd name="adj" fmla="val 25000"/>
            </a:avLst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6405543" y="2011680"/>
            <a:ext cx="517948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working days · 13 Oct → 24 Nov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365760" y="2240280"/>
            <a:ext cx="5678424" cy="640080"/>
          </a:xfrm>
          <a:prstGeom prst="rect">
            <a:avLst/>
          </a:prstGeom>
          <a:solidFill>
            <a:srgbClr val="FBFDFD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457200" y="2240280"/>
            <a:ext cx="5495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0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Milestone</a:t>
            </a:r>
            <a:endParaRPr lang="en-US" sz="1000" dirty="0"/>
          </a:p>
        </p:txBody>
      </p:sp>
      <p:sp>
        <p:nvSpPr>
          <p:cNvPr id="208" name="Shape 206"/>
          <p:cNvSpPr/>
          <p:nvPr/>
        </p:nvSpPr>
        <p:spPr>
          <a:xfrm>
            <a:off x="6383474" y="2313432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6036002" y="248716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Commencement</a:t>
            </a:r>
            <a:endParaRPr lang="en-US" sz="550" dirty="0"/>
          </a:p>
        </p:txBody>
      </p:sp>
      <p:sp>
        <p:nvSpPr>
          <p:cNvPr id="210" name="Text 208"/>
          <p:cNvSpPr/>
          <p:nvPr/>
        </p:nvSpPr>
        <p:spPr>
          <a:xfrm>
            <a:off x="5898842" y="269748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Oct</a:t>
            </a:r>
            <a:endParaRPr lang="en-US" sz="750" dirty="0"/>
          </a:p>
        </p:txBody>
      </p:sp>
      <p:sp>
        <p:nvSpPr>
          <p:cNvPr id="211" name="Shape 209"/>
          <p:cNvSpPr/>
          <p:nvPr/>
        </p:nvSpPr>
        <p:spPr>
          <a:xfrm>
            <a:off x="7106193" y="2313432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6758721" y="248716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Shoring installation complete</a:t>
            </a:r>
            <a:endParaRPr lang="en-US" sz="550" dirty="0"/>
          </a:p>
        </p:txBody>
      </p:sp>
      <p:sp>
        <p:nvSpPr>
          <p:cNvPr id="213" name="Text 211"/>
          <p:cNvSpPr/>
          <p:nvPr/>
        </p:nvSpPr>
        <p:spPr>
          <a:xfrm>
            <a:off x="6621561" y="269748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Oct</a:t>
            </a:r>
            <a:endParaRPr lang="en-US" sz="750" dirty="0"/>
          </a:p>
        </p:txBody>
      </p:sp>
      <p:sp>
        <p:nvSpPr>
          <p:cNvPr id="214" name="Shape 212"/>
          <p:cNvSpPr/>
          <p:nvPr/>
        </p:nvSpPr>
        <p:spPr>
          <a:xfrm>
            <a:off x="9876615" y="2313432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9529143" y="248716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works complete (pit wall)</a:t>
            </a:r>
            <a:endParaRPr lang="en-US" sz="550" dirty="0"/>
          </a:p>
        </p:txBody>
      </p:sp>
      <p:sp>
        <p:nvSpPr>
          <p:cNvPr id="216" name="Text 214"/>
          <p:cNvSpPr/>
          <p:nvPr/>
        </p:nvSpPr>
        <p:spPr>
          <a:xfrm>
            <a:off x="9391983" y="269748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Nov</a:t>
            </a:r>
            <a:endParaRPr lang="en-US" sz="750" dirty="0"/>
          </a:p>
        </p:txBody>
      </p:sp>
      <p:sp>
        <p:nvSpPr>
          <p:cNvPr id="217" name="Shape 215"/>
          <p:cNvSpPr/>
          <p:nvPr/>
        </p:nvSpPr>
        <p:spPr>
          <a:xfrm>
            <a:off x="10719787" y="2313432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10372315" y="248716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foundation complete</a:t>
            </a:r>
            <a:endParaRPr lang="en-US" sz="550" dirty="0"/>
          </a:p>
        </p:txBody>
      </p:sp>
      <p:sp>
        <p:nvSpPr>
          <p:cNvPr id="219" name="Text 217"/>
          <p:cNvSpPr/>
          <p:nvPr/>
        </p:nvSpPr>
        <p:spPr>
          <a:xfrm>
            <a:off x="10235155" y="269748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Nov</a:t>
            </a:r>
            <a:endParaRPr lang="en-US" sz="750" dirty="0"/>
          </a:p>
        </p:txBody>
      </p:sp>
      <p:sp>
        <p:nvSpPr>
          <p:cNvPr id="220" name="Shape 218"/>
          <p:cNvSpPr/>
          <p:nvPr/>
        </p:nvSpPr>
        <p:spPr>
          <a:xfrm>
            <a:off x="11442506" y="2313432"/>
            <a:ext cx="164592" cy="164592"/>
          </a:xfrm>
          <a:prstGeom prst="diamond">
            <a:avLst/>
          </a:prstGeom>
          <a:solidFill>
            <a:srgbClr val="3D393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11095034" y="2487168"/>
            <a:ext cx="859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altLang="en-US" sz="550" dirty="0">
                <a:solidFill>
                  <a:srgbClr val="55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completion</a:t>
            </a:r>
            <a:endParaRPr lang="en-US" sz="550" dirty="0"/>
          </a:p>
        </p:txBody>
      </p:sp>
      <p:sp>
        <p:nvSpPr>
          <p:cNvPr id="222" name="Text 220"/>
          <p:cNvSpPr/>
          <p:nvPr/>
        </p:nvSpPr>
        <p:spPr>
          <a:xfrm>
            <a:off x="10957874" y="2697480"/>
            <a:ext cx="11338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Nov</a:t>
            </a:r>
            <a:endParaRPr lang="en-US" sz="750" dirty="0"/>
          </a:p>
        </p:txBody>
      </p:sp>
      <p:sp>
        <p:nvSpPr>
          <p:cNvPr id="223" name="Shape 221"/>
          <p:cNvSpPr/>
          <p:nvPr/>
        </p:nvSpPr>
        <p:spPr>
          <a:xfrm>
            <a:off x="365760" y="2880360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438912" y="2869311"/>
            <a:ext cx="237744" cy="237744"/>
          </a:xfrm>
          <a:prstGeom prst="ellipse">
            <a:avLst>
              <a:gd name="adj" fmla="val 32692"/>
            </a:avLst>
          </a:prstGeom>
          <a:solidFill>
            <a:srgbClr val="C8503F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25" name="Text 223"/>
          <p:cNvSpPr/>
          <p:nvPr/>
        </p:nvSpPr>
        <p:spPr>
          <a:xfrm>
            <a:off x="365760" y="2880360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6" name="Text 224"/>
          <p:cNvSpPr/>
          <p:nvPr/>
        </p:nvSpPr>
        <p:spPr>
          <a:xfrm>
            <a:off x="822960" y="2880360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Shoring system installation</a:t>
            </a:r>
            <a:endParaRPr lang="en-US" sz="750" dirty="0"/>
          </a:p>
        </p:txBody>
      </p:sp>
      <p:sp>
        <p:nvSpPr>
          <p:cNvPr id="227" name="Text 225"/>
          <p:cNvSpPr/>
          <p:nvPr/>
        </p:nvSpPr>
        <p:spPr>
          <a:xfrm>
            <a:off x="3447288" y="2880360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228" name="Text 226"/>
          <p:cNvSpPr/>
          <p:nvPr/>
        </p:nvSpPr>
        <p:spPr>
          <a:xfrm>
            <a:off x="4224528" y="2880360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229" name="Text 227"/>
          <p:cNvSpPr/>
          <p:nvPr/>
        </p:nvSpPr>
        <p:spPr>
          <a:xfrm>
            <a:off x="4727448" y="288036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Oct</a:t>
            </a:r>
            <a:endParaRPr lang="en-US" sz="700" dirty="0"/>
          </a:p>
        </p:txBody>
      </p:sp>
      <p:sp>
        <p:nvSpPr>
          <p:cNvPr id="230" name="Text 228"/>
          <p:cNvSpPr/>
          <p:nvPr/>
        </p:nvSpPr>
        <p:spPr>
          <a:xfrm>
            <a:off x="5385816" y="288036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Oct</a:t>
            </a:r>
            <a:endParaRPr lang="en-US" sz="700" dirty="0"/>
          </a:p>
        </p:txBody>
      </p:sp>
      <p:sp>
        <p:nvSpPr>
          <p:cNvPr id="231" name="Shape 229"/>
          <p:cNvSpPr/>
          <p:nvPr/>
        </p:nvSpPr>
        <p:spPr>
          <a:xfrm>
            <a:off x="6405543" y="2928747"/>
            <a:ext cx="843172" cy="64008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 flipV="1">
            <a:off x="6405543" y="299275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 flipV="1">
            <a:off x="7184707" y="2992755"/>
            <a:ext cx="64008" cy="54864"/>
          </a:xfrm>
          <a:prstGeom prst="triangle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234" name="Text 232"/>
          <p:cNvSpPr/>
          <p:nvPr/>
        </p:nvSpPr>
        <p:spPr>
          <a:xfrm>
            <a:off x="7294435" y="2880360"/>
            <a:ext cx="5486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</a:t>
            </a:r>
            <a:endParaRPr lang="en-US" sz="750" dirty="0"/>
          </a:p>
        </p:txBody>
      </p:sp>
      <p:sp>
        <p:nvSpPr>
          <p:cNvPr id="235" name="Shape 233"/>
          <p:cNvSpPr/>
          <p:nvPr/>
        </p:nvSpPr>
        <p:spPr>
          <a:xfrm>
            <a:off x="365760" y="3096006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420624" y="3126105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393192" y="3096006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A.1</a:t>
            </a:r>
            <a:endParaRPr lang="en-US" sz="650" dirty="0"/>
          </a:p>
        </p:txBody>
      </p:sp>
      <p:sp>
        <p:nvSpPr>
          <p:cNvPr id="238" name="Text 236"/>
          <p:cNvSpPr/>
          <p:nvPr/>
        </p:nvSpPr>
        <p:spPr>
          <a:xfrm>
            <a:off x="987552" y="3096006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Excavation / digging for H-Beam</a:t>
            </a:r>
            <a:endParaRPr lang="en-US" sz="700" dirty="0"/>
          </a:p>
        </p:txBody>
      </p:sp>
      <p:sp>
        <p:nvSpPr>
          <p:cNvPr id="239" name="Text 237"/>
          <p:cNvSpPr/>
          <p:nvPr/>
        </p:nvSpPr>
        <p:spPr>
          <a:xfrm>
            <a:off x="3447288" y="3096006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240" name="Text 238"/>
          <p:cNvSpPr/>
          <p:nvPr/>
        </p:nvSpPr>
        <p:spPr>
          <a:xfrm>
            <a:off x="4224528" y="3096006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41" name="Text 239"/>
          <p:cNvSpPr/>
          <p:nvPr/>
        </p:nvSpPr>
        <p:spPr>
          <a:xfrm>
            <a:off x="4727448" y="309600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Oct</a:t>
            </a:r>
            <a:endParaRPr lang="en-US" sz="700" dirty="0"/>
          </a:p>
        </p:txBody>
      </p:sp>
      <p:sp>
        <p:nvSpPr>
          <p:cNvPr id="242" name="Text 240"/>
          <p:cNvSpPr/>
          <p:nvPr/>
        </p:nvSpPr>
        <p:spPr>
          <a:xfrm>
            <a:off x="5385816" y="309600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Oct</a:t>
            </a:r>
            <a:endParaRPr lang="en-US" sz="700" dirty="0"/>
          </a:p>
        </p:txBody>
      </p:sp>
      <p:sp>
        <p:nvSpPr>
          <p:cNvPr id="243" name="Shape 241"/>
          <p:cNvSpPr/>
          <p:nvPr/>
        </p:nvSpPr>
        <p:spPr>
          <a:xfrm>
            <a:off x="6405543" y="3141292"/>
            <a:ext cx="240906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44" name="Shape 242"/>
          <p:cNvSpPr/>
          <p:nvPr/>
        </p:nvSpPr>
        <p:spPr>
          <a:xfrm>
            <a:off x="365760" y="3311652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420624" y="3341751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46" name="Text 244"/>
          <p:cNvSpPr/>
          <p:nvPr/>
        </p:nvSpPr>
        <p:spPr>
          <a:xfrm>
            <a:off x="393192" y="3311652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A.2</a:t>
            </a:r>
            <a:endParaRPr lang="en-US" sz="650" dirty="0"/>
          </a:p>
        </p:txBody>
      </p:sp>
      <p:sp>
        <p:nvSpPr>
          <p:cNvPr id="247" name="Text 245"/>
          <p:cNvSpPr/>
          <p:nvPr/>
        </p:nvSpPr>
        <p:spPr>
          <a:xfrm>
            <a:off x="987552" y="3311652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 of H-Beam</a:t>
            </a:r>
            <a:endParaRPr lang="en-US" sz="700" dirty="0"/>
          </a:p>
        </p:txBody>
      </p:sp>
      <p:sp>
        <p:nvSpPr>
          <p:cNvPr id="248" name="Text 246"/>
          <p:cNvSpPr/>
          <p:nvPr/>
        </p:nvSpPr>
        <p:spPr>
          <a:xfrm>
            <a:off x="3447288" y="3311652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SS +1</a:t>
            </a:r>
            <a:endParaRPr lang="en-US" sz="700" dirty="0"/>
          </a:p>
        </p:txBody>
      </p:sp>
      <p:sp>
        <p:nvSpPr>
          <p:cNvPr id="249" name="Text 247"/>
          <p:cNvSpPr/>
          <p:nvPr/>
        </p:nvSpPr>
        <p:spPr>
          <a:xfrm>
            <a:off x="4224528" y="3311652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50" name="Text 248"/>
          <p:cNvSpPr/>
          <p:nvPr/>
        </p:nvSpPr>
        <p:spPr>
          <a:xfrm>
            <a:off x="4727448" y="331165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Oct</a:t>
            </a:r>
            <a:endParaRPr lang="en-US" sz="700" dirty="0"/>
          </a:p>
        </p:txBody>
      </p:sp>
      <p:sp>
        <p:nvSpPr>
          <p:cNvPr id="251" name="Text 249"/>
          <p:cNvSpPr/>
          <p:nvPr/>
        </p:nvSpPr>
        <p:spPr>
          <a:xfrm>
            <a:off x="5385816" y="331165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Oct</a:t>
            </a:r>
            <a:endParaRPr lang="en-US" sz="700" dirty="0"/>
          </a:p>
        </p:txBody>
      </p:sp>
      <p:sp>
        <p:nvSpPr>
          <p:cNvPr id="252" name="Shape 250"/>
          <p:cNvSpPr/>
          <p:nvPr/>
        </p:nvSpPr>
        <p:spPr>
          <a:xfrm>
            <a:off x="6525997" y="3356938"/>
            <a:ext cx="481813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53" name="Text 251"/>
          <p:cNvSpPr/>
          <p:nvPr/>
        </p:nvSpPr>
        <p:spPr>
          <a:xfrm>
            <a:off x="6525997" y="3356938"/>
            <a:ext cx="481813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</a:t>
            </a:r>
            <a:endParaRPr lang="en-US" sz="700" dirty="0"/>
          </a:p>
        </p:txBody>
      </p:sp>
      <p:sp>
        <p:nvSpPr>
          <p:cNvPr id="254" name="Shape 252"/>
          <p:cNvSpPr/>
          <p:nvPr/>
        </p:nvSpPr>
        <p:spPr>
          <a:xfrm>
            <a:off x="365760" y="3527298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420624" y="3557397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56" name="Text 254"/>
          <p:cNvSpPr/>
          <p:nvPr/>
        </p:nvSpPr>
        <p:spPr>
          <a:xfrm>
            <a:off x="393192" y="3527298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A.3</a:t>
            </a:r>
            <a:endParaRPr lang="en-US" sz="650" dirty="0"/>
          </a:p>
        </p:txBody>
      </p:sp>
      <p:sp>
        <p:nvSpPr>
          <p:cNvPr id="257" name="Text 255"/>
          <p:cNvSpPr/>
          <p:nvPr/>
        </p:nvSpPr>
        <p:spPr>
          <a:xfrm>
            <a:off x="987552" y="3527298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work for H-Beam</a:t>
            </a:r>
            <a:endParaRPr lang="en-US" sz="700" dirty="0"/>
          </a:p>
        </p:txBody>
      </p:sp>
      <p:sp>
        <p:nvSpPr>
          <p:cNvPr id="258" name="Text 256"/>
          <p:cNvSpPr/>
          <p:nvPr/>
        </p:nvSpPr>
        <p:spPr>
          <a:xfrm>
            <a:off x="3447288" y="3527298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· SS +1</a:t>
            </a:r>
            <a:endParaRPr lang="en-US" sz="700" dirty="0"/>
          </a:p>
        </p:txBody>
      </p:sp>
      <p:sp>
        <p:nvSpPr>
          <p:cNvPr id="259" name="Text 257"/>
          <p:cNvSpPr/>
          <p:nvPr/>
        </p:nvSpPr>
        <p:spPr>
          <a:xfrm>
            <a:off x="4224528" y="3527298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60" name="Text 258"/>
          <p:cNvSpPr/>
          <p:nvPr/>
        </p:nvSpPr>
        <p:spPr>
          <a:xfrm>
            <a:off x="4727448" y="352729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Oct</a:t>
            </a:r>
            <a:endParaRPr lang="en-US" sz="700" dirty="0"/>
          </a:p>
        </p:txBody>
      </p:sp>
      <p:sp>
        <p:nvSpPr>
          <p:cNvPr id="261" name="Text 259"/>
          <p:cNvSpPr/>
          <p:nvPr/>
        </p:nvSpPr>
        <p:spPr>
          <a:xfrm>
            <a:off x="5385816" y="352729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Oct</a:t>
            </a:r>
            <a:endParaRPr lang="en-US" sz="700" dirty="0"/>
          </a:p>
        </p:txBody>
      </p:sp>
      <p:sp>
        <p:nvSpPr>
          <p:cNvPr id="262" name="Shape 260"/>
          <p:cNvSpPr/>
          <p:nvPr/>
        </p:nvSpPr>
        <p:spPr>
          <a:xfrm>
            <a:off x="6646450" y="3572584"/>
            <a:ext cx="481813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63" name="Text 261"/>
          <p:cNvSpPr/>
          <p:nvPr/>
        </p:nvSpPr>
        <p:spPr>
          <a:xfrm>
            <a:off x="6646450" y="3572584"/>
            <a:ext cx="481813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</a:t>
            </a:r>
            <a:endParaRPr lang="en-US" sz="700" dirty="0"/>
          </a:p>
        </p:txBody>
      </p:sp>
      <p:sp>
        <p:nvSpPr>
          <p:cNvPr id="264" name="Shape 262"/>
          <p:cNvSpPr/>
          <p:nvPr/>
        </p:nvSpPr>
        <p:spPr>
          <a:xfrm>
            <a:off x="365760" y="3742944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420624" y="3773043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66" name="Text 264"/>
          <p:cNvSpPr/>
          <p:nvPr/>
        </p:nvSpPr>
        <p:spPr>
          <a:xfrm>
            <a:off x="393192" y="3742944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A.4</a:t>
            </a:r>
            <a:endParaRPr lang="en-US" sz="650" dirty="0"/>
          </a:p>
        </p:txBody>
      </p:sp>
      <p:sp>
        <p:nvSpPr>
          <p:cNvPr id="267" name="Text 265"/>
          <p:cNvSpPr/>
          <p:nvPr/>
        </p:nvSpPr>
        <p:spPr>
          <a:xfrm>
            <a:off x="987552" y="3742944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Bracing for shoring</a:t>
            </a:r>
            <a:endParaRPr lang="en-US" sz="700" dirty="0"/>
          </a:p>
        </p:txBody>
      </p:sp>
      <p:sp>
        <p:nvSpPr>
          <p:cNvPr id="268" name="Text 266"/>
          <p:cNvSpPr/>
          <p:nvPr/>
        </p:nvSpPr>
        <p:spPr>
          <a:xfrm>
            <a:off x="3447288" y="3742944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· SS +1</a:t>
            </a:r>
            <a:endParaRPr lang="en-US" sz="700" dirty="0"/>
          </a:p>
        </p:txBody>
      </p:sp>
      <p:sp>
        <p:nvSpPr>
          <p:cNvPr id="269" name="Text 267"/>
          <p:cNvSpPr/>
          <p:nvPr/>
        </p:nvSpPr>
        <p:spPr>
          <a:xfrm>
            <a:off x="4224528" y="3742944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70" name="Text 268"/>
          <p:cNvSpPr/>
          <p:nvPr/>
        </p:nvSpPr>
        <p:spPr>
          <a:xfrm>
            <a:off x="4727448" y="374294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Oct</a:t>
            </a:r>
            <a:endParaRPr lang="en-US" sz="700" dirty="0"/>
          </a:p>
        </p:txBody>
      </p:sp>
      <p:sp>
        <p:nvSpPr>
          <p:cNvPr id="271" name="Text 269"/>
          <p:cNvSpPr/>
          <p:nvPr/>
        </p:nvSpPr>
        <p:spPr>
          <a:xfrm>
            <a:off x="5385816" y="374294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Oct</a:t>
            </a:r>
            <a:endParaRPr lang="en-US" sz="700" dirty="0"/>
          </a:p>
        </p:txBody>
      </p:sp>
      <p:sp>
        <p:nvSpPr>
          <p:cNvPr id="272" name="Shape 270"/>
          <p:cNvSpPr/>
          <p:nvPr/>
        </p:nvSpPr>
        <p:spPr>
          <a:xfrm>
            <a:off x="6887356" y="3788230"/>
            <a:ext cx="361359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73" name="Text 271"/>
          <p:cNvSpPr/>
          <p:nvPr/>
        </p:nvSpPr>
        <p:spPr>
          <a:xfrm>
            <a:off x="6887356" y="3788230"/>
            <a:ext cx="361359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</a:t>
            </a:r>
            <a:endParaRPr lang="en-US" sz="700" dirty="0"/>
          </a:p>
        </p:txBody>
      </p:sp>
      <p:sp>
        <p:nvSpPr>
          <p:cNvPr id="274" name="Shape 272"/>
          <p:cNvSpPr/>
          <p:nvPr/>
        </p:nvSpPr>
        <p:spPr>
          <a:xfrm>
            <a:off x="365760" y="3958590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420624" y="3988689"/>
            <a:ext cx="329184" cy="155448"/>
          </a:xfrm>
          <a:prstGeom prst="roundRect">
            <a:avLst>
              <a:gd name="adj" fmla="val 50000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76" name="Text 274"/>
          <p:cNvSpPr/>
          <p:nvPr/>
        </p:nvSpPr>
        <p:spPr>
          <a:xfrm>
            <a:off x="393192" y="3958590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A.5</a:t>
            </a:r>
            <a:endParaRPr lang="en-US" sz="650" dirty="0"/>
          </a:p>
        </p:txBody>
      </p:sp>
      <p:sp>
        <p:nvSpPr>
          <p:cNvPr id="277" name="Text 275"/>
          <p:cNvSpPr/>
          <p:nvPr/>
        </p:nvSpPr>
        <p:spPr>
          <a:xfrm>
            <a:off x="987552" y="3958590"/>
            <a:ext cx="24414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Corrugated sheets installation / insertion</a:t>
            </a:r>
            <a:endParaRPr lang="en-US" sz="700" dirty="0"/>
          </a:p>
        </p:txBody>
      </p:sp>
      <p:sp>
        <p:nvSpPr>
          <p:cNvPr id="278" name="Text 276"/>
          <p:cNvSpPr/>
          <p:nvPr/>
        </p:nvSpPr>
        <p:spPr>
          <a:xfrm>
            <a:off x="3447288" y="3958590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· SS +1</a:t>
            </a:r>
            <a:endParaRPr lang="en-US" sz="700" dirty="0"/>
          </a:p>
        </p:txBody>
      </p:sp>
      <p:sp>
        <p:nvSpPr>
          <p:cNvPr id="279" name="Text 277"/>
          <p:cNvSpPr/>
          <p:nvPr/>
        </p:nvSpPr>
        <p:spPr>
          <a:xfrm>
            <a:off x="4224528" y="3958590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80" name="Text 278"/>
          <p:cNvSpPr/>
          <p:nvPr/>
        </p:nvSpPr>
        <p:spPr>
          <a:xfrm>
            <a:off x="4727448" y="395859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Oct</a:t>
            </a:r>
            <a:endParaRPr lang="en-US" sz="700" dirty="0"/>
          </a:p>
        </p:txBody>
      </p:sp>
      <p:sp>
        <p:nvSpPr>
          <p:cNvPr id="281" name="Text 279"/>
          <p:cNvSpPr/>
          <p:nvPr/>
        </p:nvSpPr>
        <p:spPr>
          <a:xfrm>
            <a:off x="5385816" y="395859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Oct</a:t>
            </a:r>
            <a:endParaRPr lang="en-US" sz="700" dirty="0"/>
          </a:p>
        </p:txBody>
      </p:sp>
      <p:sp>
        <p:nvSpPr>
          <p:cNvPr id="282" name="Shape 280"/>
          <p:cNvSpPr/>
          <p:nvPr/>
        </p:nvSpPr>
        <p:spPr>
          <a:xfrm>
            <a:off x="7007809" y="4003876"/>
            <a:ext cx="240906" cy="125075"/>
          </a:xfrm>
          <a:prstGeom prst="roundRect">
            <a:avLst>
              <a:gd name="adj" fmla="val 29243"/>
            </a:avLst>
          </a:prstGeom>
          <a:solidFill>
            <a:srgbClr val="D9695A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83" name="Shape 281"/>
          <p:cNvSpPr/>
          <p:nvPr/>
        </p:nvSpPr>
        <p:spPr>
          <a:xfrm>
            <a:off x="365760" y="4174236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438912" y="4163187"/>
            <a:ext cx="237744" cy="237744"/>
          </a:xfrm>
          <a:prstGeom prst="ellipse">
            <a:avLst>
              <a:gd name="adj" fmla="val 32692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285" name="Text 283"/>
          <p:cNvSpPr/>
          <p:nvPr/>
        </p:nvSpPr>
        <p:spPr>
          <a:xfrm>
            <a:off x="365760" y="4174236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850" dirty="0"/>
          </a:p>
        </p:txBody>
      </p:sp>
      <p:sp>
        <p:nvSpPr>
          <p:cNvPr id="286" name="Text 284"/>
          <p:cNvSpPr/>
          <p:nvPr/>
        </p:nvSpPr>
        <p:spPr>
          <a:xfrm>
            <a:off x="822960" y="4174236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concrete</a:t>
            </a:r>
            <a:endParaRPr lang="en-US" sz="750" dirty="0"/>
          </a:p>
        </p:txBody>
      </p:sp>
      <p:sp>
        <p:nvSpPr>
          <p:cNvPr id="287" name="Text 285"/>
          <p:cNvSpPr/>
          <p:nvPr/>
        </p:nvSpPr>
        <p:spPr>
          <a:xfrm>
            <a:off x="3447288" y="4174236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SS +6</a:t>
            </a:r>
            <a:endParaRPr lang="en-US" sz="700" dirty="0"/>
          </a:p>
        </p:txBody>
      </p:sp>
      <p:sp>
        <p:nvSpPr>
          <p:cNvPr id="288" name="Text 286"/>
          <p:cNvSpPr/>
          <p:nvPr/>
        </p:nvSpPr>
        <p:spPr>
          <a:xfrm>
            <a:off x="4224528" y="4174236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89" name="Text 287"/>
          <p:cNvSpPr/>
          <p:nvPr/>
        </p:nvSpPr>
        <p:spPr>
          <a:xfrm>
            <a:off x="4727448" y="417423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Oct</a:t>
            </a:r>
            <a:endParaRPr lang="en-US" sz="700" dirty="0"/>
          </a:p>
        </p:txBody>
      </p:sp>
      <p:sp>
        <p:nvSpPr>
          <p:cNvPr id="290" name="Text 288"/>
          <p:cNvSpPr/>
          <p:nvPr/>
        </p:nvSpPr>
        <p:spPr>
          <a:xfrm>
            <a:off x="5385816" y="417423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Oct</a:t>
            </a:r>
            <a:endParaRPr lang="en-US" sz="700" dirty="0"/>
          </a:p>
        </p:txBody>
      </p:sp>
      <p:sp>
        <p:nvSpPr>
          <p:cNvPr id="291" name="Shape 289"/>
          <p:cNvSpPr/>
          <p:nvPr/>
        </p:nvSpPr>
        <p:spPr>
          <a:xfrm>
            <a:off x="7248716" y="4219522"/>
            <a:ext cx="240906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292" name="Shape 290"/>
          <p:cNvSpPr/>
          <p:nvPr/>
        </p:nvSpPr>
        <p:spPr>
          <a:xfrm>
            <a:off x="365760" y="4389882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438912" y="4378833"/>
            <a:ext cx="237744" cy="237744"/>
          </a:xfrm>
          <a:prstGeom prst="ellipse">
            <a:avLst>
              <a:gd name="adj" fmla="val 32692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294" name="Text 292"/>
          <p:cNvSpPr/>
          <p:nvPr/>
        </p:nvSpPr>
        <p:spPr>
          <a:xfrm>
            <a:off x="365760" y="4389882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850" dirty="0"/>
          </a:p>
        </p:txBody>
      </p:sp>
      <p:sp>
        <p:nvSpPr>
          <p:cNvPr id="295" name="Text 293"/>
          <p:cNvSpPr/>
          <p:nvPr/>
        </p:nvSpPr>
        <p:spPr>
          <a:xfrm>
            <a:off x="822960" y="4389882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trench – reinforcement, formwork &amp; concrete</a:t>
            </a:r>
            <a:endParaRPr lang="en-US" sz="750" dirty="0"/>
          </a:p>
        </p:txBody>
      </p:sp>
      <p:sp>
        <p:nvSpPr>
          <p:cNvPr id="296" name="Text 294"/>
          <p:cNvSpPr/>
          <p:nvPr/>
        </p:nvSpPr>
        <p:spPr>
          <a:xfrm>
            <a:off x="3447288" y="4389882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FS</a:t>
            </a:r>
            <a:endParaRPr lang="en-US" sz="700" dirty="0"/>
          </a:p>
        </p:txBody>
      </p:sp>
      <p:sp>
        <p:nvSpPr>
          <p:cNvPr id="297" name="Text 295"/>
          <p:cNvSpPr/>
          <p:nvPr/>
        </p:nvSpPr>
        <p:spPr>
          <a:xfrm>
            <a:off x="4224528" y="4389882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98" name="Text 296"/>
          <p:cNvSpPr/>
          <p:nvPr/>
        </p:nvSpPr>
        <p:spPr>
          <a:xfrm>
            <a:off x="4727448" y="438988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Oct</a:t>
            </a:r>
            <a:endParaRPr lang="en-US" sz="700" dirty="0"/>
          </a:p>
        </p:txBody>
      </p:sp>
      <p:sp>
        <p:nvSpPr>
          <p:cNvPr id="299" name="Text 297"/>
          <p:cNvSpPr/>
          <p:nvPr/>
        </p:nvSpPr>
        <p:spPr>
          <a:xfrm>
            <a:off x="5385816" y="4389882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Oct</a:t>
            </a:r>
            <a:endParaRPr lang="en-US" sz="700" dirty="0"/>
          </a:p>
        </p:txBody>
      </p:sp>
      <p:sp>
        <p:nvSpPr>
          <p:cNvPr id="300" name="Shape 298"/>
          <p:cNvSpPr/>
          <p:nvPr/>
        </p:nvSpPr>
        <p:spPr>
          <a:xfrm>
            <a:off x="7248716" y="4435168"/>
            <a:ext cx="602266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01" name="Text 299"/>
          <p:cNvSpPr/>
          <p:nvPr/>
        </p:nvSpPr>
        <p:spPr>
          <a:xfrm>
            <a:off x="7248716" y="4435168"/>
            <a:ext cx="602266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</a:t>
            </a:r>
            <a:endParaRPr lang="en-US" sz="700" dirty="0"/>
          </a:p>
        </p:txBody>
      </p:sp>
      <p:sp>
        <p:nvSpPr>
          <p:cNvPr id="302" name="Shape 300"/>
          <p:cNvSpPr/>
          <p:nvPr/>
        </p:nvSpPr>
        <p:spPr>
          <a:xfrm>
            <a:off x="365760" y="4605528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438912" y="4594479"/>
            <a:ext cx="237744" cy="237744"/>
          </a:xfrm>
          <a:prstGeom prst="ellipse">
            <a:avLst>
              <a:gd name="adj" fmla="val 32692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04" name="Text 302"/>
          <p:cNvSpPr/>
          <p:nvPr/>
        </p:nvSpPr>
        <p:spPr>
          <a:xfrm>
            <a:off x="365760" y="4605528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850" dirty="0"/>
          </a:p>
        </p:txBody>
      </p:sp>
      <p:sp>
        <p:nvSpPr>
          <p:cNvPr id="305" name="Text 303"/>
          <p:cNvSpPr/>
          <p:nvPr/>
        </p:nvSpPr>
        <p:spPr>
          <a:xfrm>
            <a:off x="822960" y="4605528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slab / raft – reinforcement, formwork &amp; concrete</a:t>
            </a:r>
            <a:endParaRPr lang="en-US" sz="750" dirty="0"/>
          </a:p>
        </p:txBody>
      </p:sp>
      <p:sp>
        <p:nvSpPr>
          <p:cNvPr id="306" name="Text 304"/>
          <p:cNvSpPr/>
          <p:nvPr/>
        </p:nvSpPr>
        <p:spPr>
          <a:xfrm>
            <a:off x="3447288" y="4605528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FS</a:t>
            </a:r>
            <a:endParaRPr lang="en-US" sz="700" dirty="0"/>
          </a:p>
        </p:txBody>
      </p:sp>
      <p:sp>
        <p:nvSpPr>
          <p:cNvPr id="307" name="Text 305"/>
          <p:cNvSpPr/>
          <p:nvPr/>
        </p:nvSpPr>
        <p:spPr>
          <a:xfrm>
            <a:off x="4224528" y="4605528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308" name="Text 306"/>
          <p:cNvSpPr/>
          <p:nvPr/>
        </p:nvSpPr>
        <p:spPr>
          <a:xfrm>
            <a:off x="4727448" y="460552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Oct</a:t>
            </a:r>
            <a:endParaRPr lang="en-US" sz="700" dirty="0"/>
          </a:p>
        </p:txBody>
      </p:sp>
      <p:sp>
        <p:nvSpPr>
          <p:cNvPr id="309" name="Text 307"/>
          <p:cNvSpPr/>
          <p:nvPr/>
        </p:nvSpPr>
        <p:spPr>
          <a:xfrm>
            <a:off x="5385816" y="4605528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Nov</a:t>
            </a:r>
            <a:endParaRPr lang="en-US" sz="700" dirty="0"/>
          </a:p>
        </p:txBody>
      </p:sp>
      <p:sp>
        <p:nvSpPr>
          <p:cNvPr id="310" name="Shape 308"/>
          <p:cNvSpPr/>
          <p:nvPr/>
        </p:nvSpPr>
        <p:spPr>
          <a:xfrm>
            <a:off x="7850981" y="4650814"/>
            <a:ext cx="1324985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11" name="Text 309"/>
          <p:cNvSpPr/>
          <p:nvPr/>
        </p:nvSpPr>
        <p:spPr>
          <a:xfrm>
            <a:off x="7850981" y="4650814"/>
            <a:ext cx="1324985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</a:t>
            </a:r>
            <a:endParaRPr lang="en-US" sz="700" dirty="0"/>
          </a:p>
        </p:txBody>
      </p:sp>
      <p:sp>
        <p:nvSpPr>
          <p:cNvPr id="312" name="Shape 310"/>
          <p:cNvSpPr/>
          <p:nvPr/>
        </p:nvSpPr>
        <p:spPr>
          <a:xfrm>
            <a:off x="365760" y="4821174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438912" y="4810125"/>
            <a:ext cx="237744" cy="237744"/>
          </a:xfrm>
          <a:prstGeom prst="ellipse">
            <a:avLst>
              <a:gd name="adj" fmla="val 32692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</p:spPr>
      </p:sp>
      <p:sp>
        <p:nvSpPr>
          <p:cNvPr id="314" name="Text 312"/>
          <p:cNvSpPr/>
          <p:nvPr/>
        </p:nvSpPr>
        <p:spPr>
          <a:xfrm>
            <a:off x="365760" y="4821174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850" dirty="0"/>
          </a:p>
        </p:txBody>
      </p:sp>
      <p:sp>
        <p:nvSpPr>
          <p:cNvPr id="315" name="Text 313"/>
          <p:cNvSpPr/>
          <p:nvPr/>
        </p:nvSpPr>
        <p:spPr>
          <a:xfrm>
            <a:off x="822960" y="4821174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wall – reinforcement, formwork &amp; concrete</a:t>
            </a:r>
            <a:endParaRPr lang="en-US" sz="750" dirty="0"/>
          </a:p>
        </p:txBody>
      </p:sp>
      <p:sp>
        <p:nvSpPr>
          <p:cNvPr id="316" name="Text 314"/>
          <p:cNvSpPr/>
          <p:nvPr/>
        </p:nvSpPr>
        <p:spPr>
          <a:xfrm>
            <a:off x="3447288" y="4821174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FS</a:t>
            </a:r>
            <a:endParaRPr lang="en-US" sz="700" dirty="0"/>
          </a:p>
        </p:txBody>
      </p:sp>
      <p:sp>
        <p:nvSpPr>
          <p:cNvPr id="317" name="Text 315"/>
          <p:cNvSpPr/>
          <p:nvPr/>
        </p:nvSpPr>
        <p:spPr>
          <a:xfrm>
            <a:off x="4224528" y="4821174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18" name="Text 316"/>
          <p:cNvSpPr/>
          <p:nvPr/>
        </p:nvSpPr>
        <p:spPr>
          <a:xfrm>
            <a:off x="4727448" y="482117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Nov</a:t>
            </a:r>
            <a:endParaRPr lang="en-US" sz="700" dirty="0"/>
          </a:p>
        </p:txBody>
      </p:sp>
      <p:sp>
        <p:nvSpPr>
          <p:cNvPr id="319" name="Text 317"/>
          <p:cNvSpPr/>
          <p:nvPr/>
        </p:nvSpPr>
        <p:spPr>
          <a:xfrm>
            <a:off x="5385816" y="4821174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Nov</a:t>
            </a:r>
            <a:endParaRPr lang="en-US" sz="700" dirty="0"/>
          </a:p>
        </p:txBody>
      </p:sp>
      <p:sp>
        <p:nvSpPr>
          <p:cNvPr id="320" name="Shape 318"/>
          <p:cNvSpPr/>
          <p:nvPr/>
        </p:nvSpPr>
        <p:spPr>
          <a:xfrm>
            <a:off x="9175966" y="4866460"/>
            <a:ext cx="843172" cy="125075"/>
          </a:xfrm>
          <a:prstGeom prst="roundRect">
            <a:avLst>
              <a:gd name="adj" fmla="val 29243"/>
            </a:avLst>
          </a:prstGeom>
          <a:solidFill>
            <a:srgbClr val="00778B"/>
          </a:solidFill>
          <a:ln w="6350">
            <a:solidFill>
              <a:srgbClr val="00778B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21" name="Text 319"/>
          <p:cNvSpPr/>
          <p:nvPr/>
        </p:nvSpPr>
        <p:spPr>
          <a:xfrm>
            <a:off x="9175966" y="4866460"/>
            <a:ext cx="843172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</a:t>
            </a:r>
            <a:endParaRPr lang="en-US" sz="700" dirty="0"/>
          </a:p>
        </p:txBody>
      </p:sp>
      <p:sp>
        <p:nvSpPr>
          <p:cNvPr id="322" name="Shape 320"/>
          <p:cNvSpPr/>
          <p:nvPr/>
        </p:nvSpPr>
        <p:spPr>
          <a:xfrm>
            <a:off x="365760" y="5036820"/>
            <a:ext cx="11460175" cy="215646"/>
          </a:xfrm>
          <a:prstGeom prst="rect">
            <a:avLst/>
          </a:prstGeom>
          <a:solidFill>
            <a:srgbClr val="FFFFFF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438912" y="5025771"/>
            <a:ext cx="237744" cy="237744"/>
          </a:xfrm>
          <a:prstGeom prst="ellipse">
            <a:avLst>
              <a:gd name="adj" fmla="val 32692"/>
            </a:avLst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365760" y="5036820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850" dirty="0"/>
          </a:p>
        </p:txBody>
      </p:sp>
      <p:sp>
        <p:nvSpPr>
          <p:cNvPr id="325" name="Text 323"/>
          <p:cNvSpPr/>
          <p:nvPr/>
        </p:nvSpPr>
        <p:spPr>
          <a:xfrm>
            <a:off x="822960" y="5036820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foundation – excavation, compaction / testing, reinforcement &amp; concrete</a:t>
            </a:r>
            <a:endParaRPr lang="en-US" sz="750" dirty="0"/>
          </a:p>
        </p:txBody>
      </p:sp>
      <p:sp>
        <p:nvSpPr>
          <p:cNvPr id="326" name="Text 324"/>
          <p:cNvSpPr/>
          <p:nvPr/>
        </p:nvSpPr>
        <p:spPr>
          <a:xfrm>
            <a:off x="3447288" y="5036820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FS</a:t>
            </a:r>
            <a:endParaRPr lang="en-US" sz="700" dirty="0"/>
          </a:p>
        </p:txBody>
      </p:sp>
      <p:sp>
        <p:nvSpPr>
          <p:cNvPr id="327" name="Text 325"/>
          <p:cNvSpPr/>
          <p:nvPr/>
        </p:nvSpPr>
        <p:spPr>
          <a:xfrm>
            <a:off x="4224528" y="5036820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328" name="Text 326"/>
          <p:cNvSpPr/>
          <p:nvPr/>
        </p:nvSpPr>
        <p:spPr>
          <a:xfrm>
            <a:off x="4727448" y="503682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Nov</a:t>
            </a:r>
            <a:endParaRPr lang="en-US" sz="700" dirty="0"/>
          </a:p>
        </p:txBody>
      </p:sp>
      <p:sp>
        <p:nvSpPr>
          <p:cNvPr id="329" name="Text 327"/>
          <p:cNvSpPr/>
          <p:nvPr/>
        </p:nvSpPr>
        <p:spPr>
          <a:xfrm>
            <a:off x="5385816" y="5036820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Nov</a:t>
            </a:r>
            <a:endParaRPr lang="en-US" sz="700" dirty="0"/>
          </a:p>
        </p:txBody>
      </p:sp>
      <p:sp>
        <p:nvSpPr>
          <p:cNvPr id="330" name="Shape 328"/>
          <p:cNvSpPr/>
          <p:nvPr/>
        </p:nvSpPr>
        <p:spPr>
          <a:xfrm>
            <a:off x="9175966" y="5082106"/>
            <a:ext cx="1686344" cy="125075"/>
          </a:xfrm>
          <a:prstGeom prst="roundRect">
            <a:avLst>
              <a:gd name="adj" fmla="val 29243"/>
            </a:avLst>
          </a:prstGeom>
          <a:solidFill>
            <a:srgbClr val="2E9E6B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31" name="Text 329"/>
          <p:cNvSpPr/>
          <p:nvPr/>
        </p:nvSpPr>
        <p:spPr>
          <a:xfrm>
            <a:off x="9175966" y="5082106"/>
            <a:ext cx="1686344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d</a:t>
            </a:r>
            <a:endParaRPr lang="en-US" sz="700" dirty="0"/>
          </a:p>
        </p:txBody>
      </p:sp>
      <p:sp>
        <p:nvSpPr>
          <p:cNvPr id="332" name="Shape 330"/>
          <p:cNvSpPr/>
          <p:nvPr/>
        </p:nvSpPr>
        <p:spPr>
          <a:xfrm>
            <a:off x="365760" y="5252466"/>
            <a:ext cx="11460175" cy="215646"/>
          </a:xfrm>
          <a:prstGeom prst="rect">
            <a:avLst/>
          </a:prstGeom>
          <a:solidFill>
            <a:srgbClr val="F6F9FA"/>
          </a:solidFill>
          <a:ln w="6350">
            <a:solidFill>
              <a:srgbClr val="DFE6EA"/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438912" y="5241417"/>
            <a:ext cx="237744" cy="237744"/>
          </a:xfrm>
          <a:prstGeom prst="ellipse">
            <a:avLst>
              <a:gd name="adj" fmla="val 32692"/>
            </a:avLst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</p:spPr>
      </p:sp>
      <p:sp>
        <p:nvSpPr>
          <p:cNvPr id="334" name="Text 332"/>
          <p:cNvSpPr/>
          <p:nvPr/>
        </p:nvSpPr>
        <p:spPr>
          <a:xfrm>
            <a:off x="365760" y="5252466"/>
            <a:ext cx="38404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850" dirty="0"/>
          </a:p>
        </p:txBody>
      </p:sp>
      <p:sp>
        <p:nvSpPr>
          <p:cNvPr id="335" name="Text 333"/>
          <p:cNvSpPr/>
          <p:nvPr/>
        </p:nvSpPr>
        <p:spPr>
          <a:xfrm>
            <a:off x="822960" y="5252466"/>
            <a:ext cx="26060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Backfilling works for the building</a:t>
            </a:r>
            <a:endParaRPr lang="en-US" sz="750" dirty="0"/>
          </a:p>
        </p:txBody>
      </p:sp>
      <p:sp>
        <p:nvSpPr>
          <p:cNvPr id="336" name="Text 334"/>
          <p:cNvSpPr/>
          <p:nvPr/>
        </p:nvSpPr>
        <p:spPr>
          <a:xfrm>
            <a:off x="3447288" y="5252466"/>
            <a:ext cx="77724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· FS</a:t>
            </a:r>
            <a:endParaRPr lang="en-US" sz="700" dirty="0"/>
          </a:p>
        </p:txBody>
      </p:sp>
      <p:sp>
        <p:nvSpPr>
          <p:cNvPr id="337" name="Text 335"/>
          <p:cNvSpPr/>
          <p:nvPr/>
        </p:nvSpPr>
        <p:spPr>
          <a:xfrm>
            <a:off x="4224528" y="5252466"/>
            <a:ext cx="502920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9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38" name="Text 336"/>
          <p:cNvSpPr/>
          <p:nvPr/>
        </p:nvSpPr>
        <p:spPr>
          <a:xfrm>
            <a:off x="4727448" y="525246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Nov</a:t>
            </a:r>
            <a:endParaRPr lang="en-US" sz="700" dirty="0"/>
          </a:p>
        </p:txBody>
      </p:sp>
      <p:sp>
        <p:nvSpPr>
          <p:cNvPr id="339" name="Text 337"/>
          <p:cNvSpPr/>
          <p:nvPr/>
        </p:nvSpPr>
        <p:spPr>
          <a:xfrm>
            <a:off x="5385816" y="5252466"/>
            <a:ext cx="658368" cy="215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Nov</a:t>
            </a:r>
            <a:endParaRPr lang="en-US" sz="700" dirty="0"/>
          </a:p>
        </p:txBody>
      </p:sp>
      <p:sp>
        <p:nvSpPr>
          <p:cNvPr id="340" name="Shape 338"/>
          <p:cNvSpPr/>
          <p:nvPr/>
        </p:nvSpPr>
        <p:spPr>
          <a:xfrm>
            <a:off x="10862310" y="5297752"/>
            <a:ext cx="722719" cy="125075"/>
          </a:xfrm>
          <a:prstGeom prst="roundRect">
            <a:avLst>
              <a:gd name="adj" fmla="val 29243"/>
            </a:avLst>
          </a:prstGeom>
          <a:solidFill>
            <a:srgbClr val="D68A00"/>
          </a:solidFill>
          <a:ln w="19050">
            <a:solidFill>
              <a:srgbClr val="222222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20000"/>
              </a:srgbClr>
            </a:outerShdw>
          </a:effectLst>
        </p:spPr>
      </p:sp>
      <p:sp>
        <p:nvSpPr>
          <p:cNvPr id="341" name="Text 339"/>
          <p:cNvSpPr/>
          <p:nvPr/>
        </p:nvSpPr>
        <p:spPr>
          <a:xfrm>
            <a:off x="10862310" y="5297752"/>
            <a:ext cx="722719" cy="125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</a:t>
            </a:r>
            <a:endParaRPr lang="en-US" sz="700" dirty="0"/>
          </a:p>
        </p:txBody>
      </p:sp>
      <p:sp>
        <p:nvSpPr>
          <p:cNvPr id="342" name="Shape 340"/>
          <p:cNvSpPr/>
          <p:nvPr/>
        </p:nvSpPr>
        <p:spPr>
          <a:xfrm>
            <a:off x="6460407" y="3266366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6460407" y="3419475"/>
            <a:ext cx="56445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44" name="Shape 342"/>
          <p:cNvSpPr/>
          <p:nvPr/>
        </p:nvSpPr>
        <p:spPr>
          <a:xfrm>
            <a:off x="6580861" y="3482012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6580861" y="3635121"/>
            <a:ext cx="56445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46" name="Shape 344"/>
          <p:cNvSpPr/>
          <p:nvPr/>
        </p:nvSpPr>
        <p:spPr>
          <a:xfrm>
            <a:off x="6701314" y="3697658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6701314" y="3850767"/>
            <a:ext cx="176898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48" name="Shape 346"/>
          <p:cNvSpPr/>
          <p:nvPr/>
        </p:nvSpPr>
        <p:spPr>
          <a:xfrm>
            <a:off x="6942220" y="3913304"/>
            <a:ext cx="0" cy="15310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6942220" y="4066413"/>
            <a:ext cx="56445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0" name="Shape 348"/>
          <p:cNvSpPr/>
          <p:nvPr/>
        </p:nvSpPr>
        <p:spPr>
          <a:xfrm>
            <a:off x="6460407" y="3050720"/>
            <a:ext cx="0" cy="1231339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6460407" y="4282059"/>
            <a:ext cx="779164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2" name="Shape 350"/>
          <p:cNvSpPr/>
          <p:nvPr/>
        </p:nvSpPr>
        <p:spPr>
          <a:xfrm>
            <a:off x="7202996" y="298818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7202996" y="2988183"/>
            <a:ext cx="0" cy="150952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7202996" y="4497705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5" name="Shape 353"/>
          <p:cNvSpPr/>
          <p:nvPr/>
        </p:nvSpPr>
        <p:spPr>
          <a:xfrm>
            <a:off x="7805261" y="4497705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7805261" y="4497705"/>
            <a:ext cx="0" cy="21564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7805261" y="4713351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58" name="Shape 356"/>
          <p:cNvSpPr/>
          <p:nvPr/>
        </p:nvSpPr>
        <p:spPr>
          <a:xfrm>
            <a:off x="9130246" y="471335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9130246" y="4713351"/>
            <a:ext cx="0" cy="21564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9130246" y="4928997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1" name="Shape 359"/>
          <p:cNvSpPr/>
          <p:nvPr/>
        </p:nvSpPr>
        <p:spPr>
          <a:xfrm>
            <a:off x="9130246" y="4713351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9130246" y="4713351"/>
            <a:ext cx="0" cy="431292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9130246" y="5144643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4" name="Shape 362"/>
          <p:cNvSpPr/>
          <p:nvPr/>
        </p:nvSpPr>
        <p:spPr>
          <a:xfrm>
            <a:off x="10816590" y="5144643"/>
            <a:ext cx="45720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10816590" y="5144643"/>
            <a:ext cx="0" cy="215646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10816590" y="5360289"/>
            <a:ext cx="36576" cy="0"/>
          </a:xfrm>
          <a:prstGeom prst="line">
            <a:avLst/>
          </a:prstGeom>
          <a:noFill/>
          <a:ln w="13970">
            <a:solidFill>
              <a:srgbClr val="2D3338"/>
            </a:solidFill>
            <a:prstDash val="solid"/>
            <a:tailEnd type="triangle"/>
          </a:ln>
        </p:spPr>
      </p:sp>
      <p:sp>
        <p:nvSpPr>
          <p:cNvPr id="367" name="Shape 365"/>
          <p:cNvSpPr/>
          <p:nvPr/>
        </p:nvSpPr>
        <p:spPr>
          <a:xfrm>
            <a:off x="7429395" y="1947672"/>
            <a:ext cx="0" cy="3520440"/>
          </a:xfrm>
          <a:prstGeom prst="line">
            <a:avLst/>
          </a:prstGeom>
          <a:noFill/>
          <a:ln w="22225">
            <a:solidFill>
              <a:srgbClr val="C8503F"/>
            </a:solidFill>
            <a:prstDash val="dash"/>
          </a:ln>
        </p:spPr>
      </p:sp>
      <p:sp>
        <p:nvSpPr>
          <p:cNvPr id="368" name="Shape 366"/>
          <p:cNvSpPr/>
          <p:nvPr/>
        </p:nvSpPr>
        <p:spPr>
          <a:xfrm>
            <a:off x="7383675" y="2240280"/>
            <a:ext cx="1143000" cy="155448"/>
          </a:xfrm>
          <a:prstGeom prst="roundRect">
            <a:avLst>
              <a:gd name="adj" fmla="val 47059"/>
            </a:avLst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69" name="Text 367"/>
          <p:cNvSpPr/>
          <p:nvPr/>
        </p:nvSpPr>
        <p:spPr>
          <a:xfrm>
            <a:off x="7383675" y="2240280"/>
            <a:ext cx="1143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alt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date · 21 Oct</a:t>
            </a:r>
            <a:endParaRPr lang="en-US" sz="650" dirty="0"/>
          </a:p>
        </p:txBody>
      </p:sp>
      <p:sp>
        <p:nvSpPr>
          <p:cNvPr id="370" name="Shape 368"/>
          <p:cNvSpPr/>
          <p:nvPr/>
        </p:nvSpPr>
        <p:spPr>
          <a:xfrm>
            <a:off x="365760" y="1325880"/>
            <a:ext cx="11460175" cy="4142232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B9C6CC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365760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72" name="Shape 370"/>
          <p:cNvSpPr/>
          <p:nvPr/>
        </p:nvSpPr>
        <p:spPr>
          <a:xfrm>
            <a:off x="420624" y="5577840"/>
            <a:ext cx="2094525" cy="54864"/>
          </a:xfrm>
          <a:prstGeom prst="rect">
            <a:avLst/>
          </a:prstGeom>
          <a:solidFill>
            <a:srgbClr val="3D3935"/>
          </a:solidFill>
          <a:ln w="12700">
            <a:solidFill>
              <a:srgbClr val="3D3935"/>
            </a:solidFill>
            <a:prstDash val="solid"/>
          </a:ln>
        </p:spPr>
      </p:sp>
      <p:sp>
        <p:nvSpPr>
          <p:cNvPr id="373" name="Text 371"/>
          <p:cNvSpPr/>
          <p:nvPr/>
        </p:nvSpPr>
        <p:spPr>
          <a:xfrm>
            <a:off x="475488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Commencement</a:t>
            </a:r>
            <a:endParaRPr lang="en-US" sz="850" dirty="0"/>
          </a:p>
        </p:txBody>
      </p:sp>
      <p:sp>
        <p:nvSpPr>
          <p:cNvPr id="374" name="Text 372"/>
          <p:cNvSpPr/>
          <p:nvPr/>
        </p:nvSpPr>
        <p:spPr>
          <a:xfrm>
            <a:off x="475488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13 Oct 2026</a:t>
            </a:r>
            <a:endParaRPr lang="en-US" sz="1300" dirty="0"/>
          </a:p>
        </p:txBody>
      </p:sp>
      <p:sp>
        <p:nvSpPr>
          <p:cNvPr id="375" name="Text 373"/>
          <p:cNvSpPr/>
          <p:nvPr/>
        </p:nvSpPr>
        <p:spPr>
          <a:xfrm>
            <a:off x="475488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1 / 37</a:t>
            </a:r>
            <a:endParaRPr lang="en-US" sz="750" dirty="0"/>
          </a:p>
        </p:txBody>
      </p:sp>
      <p:sp>
        <p:nvSpPr>
          <p:cNvPr id="376" name="Shape 374"/>
          <p:cNvSpPr/>
          <p:nvPr/>
        </p:nvSpPr>
        <p:spPr>
          <a:xfrm>
            <a:off x="267974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77" name="Shape 375"/>
          <p:cNvSpPr/>
          <p:nvPr/>
        </p:nvSpPr>
        <p:spPr>
          <a:xfrm>
            <a:off x="2734605" y="5577840"/>
            <a:ext cx="2094525" cy="54864"/>
          </a:xfrm>
          <a:prstGeom prst="rect">
            <a:avLst/>
          </a:prstGeom>
          <a:solidFill>
            <a:srgbClr val="C8503F"/>
          </a:solidFill>
          <a:ln w="12700">
            <a:solidFill>
              <a:srgbClr val="C8503F"/>
            </a:solidFill>
            <a:prstDash val="solid"/>
          </a:ln>
        </p:spPr>
      </p:sp>
      <p:sp>
        <p:nvSpPr>
          <p:cNvPr id="378" name="Text 376"/>
          <p:cNvSpPr/>
          <p:nvPr/>
        </p:nvSpPr>
        <p:spPr>
          <a:xfrm>
            <a:off x="278946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Shoring installation complete</a:t>
            </a:r>
            <a:endParaRPr lang="en-US" sz="850" dirty="0"/>
          </a:p>
        </p:txBody>
      </p:sp>
      <p:sp>
        <p:nvSpPr>
          <p:cNvPr id="379" name="Text 377"/>
          <p:cNvSpPr/>
          <p:nvPr/>
        </p:nvSpPr>
        <p:spPr>
          <a:xfrm>
            <a:off x="278946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19 Oct 2026</a:t>
            </a:r>
            <a:endParaRPr lang="en-US" sz="1300" dirty="0"/>
          </a:p>
        </p:txBody>
      </p:sp>
      <p:sp>
        <p:nvSpPr>
          <p:cNvPr id="380" name="Text 378"/>
          <p:cNvSpPr/>
          <p:nvPr/>
        </p:nvSpPr>
        <p:spPr>
          <a:xfrm>
            <a:off x="278946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6 / 37</a:t>
            </a:r>
            <a:endParaRPr lang="en-US" sz="750" dirty="0"/>
          </a:p>
        </p:txBody>
      </p:sp>
      <p:sp>
        <p:nvSpPr>
          <p:cNvPr id="381" name="Shape 379"/>
          <p:cNvSpPr/>
          <p:nvPr/>
        </p:nvSpPr>
        <p:spPr>
          <a:xfrm>
            <a:off x="4993721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82" name="Shape 380"/>
          <p:cNvSpPr/>
          <p:nvPr/>
        </p:nvSpPr>
        <p:spPr>
          <a:xfrm>
            <a:off x="5048585" y="5577840"/>
            <a:ext cx="2094525" cy="54864"/>
          </a:xfrm>
          <a:prstGeom prst="rect">
            <a:avLst/>
          </a:prstGeom>
          <a:solidFill>
            <a:srgbClr val="00778B"/>
          </a:solidFill>
          <a:ln w="12700">
            <a:solidFill>
              <a:srgbClr val="00778B"/>
            </a:solidFill>
            <a:prstDash val="solid"/>
          </a:ln>
        </p:spPr>
      </p:sp>
      <p:sp>
        <p:nvSpPr>
          <p:cNvPr id="383" name="Text 381"/>
          <p:cNvSpPr/>
          <p:nvPr/>
        </p:nvSpPr>
        <p:spPr>
          <a:xfrm>
            <a:off x="5103449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works complete (pit wall)</a:t>
            </a:r>
            <a:endParaRPr lang="en-US" sz="850" dirty="0"/>
          </a:p>
        </p:txBody>
      </p:sp>
      <p:sp>
        <p:nvSpPr>
          <p:cNvPr id="384" name="Text 382"/>
          <p:cNvSpPr/>
          <p:nvPr/>
        </p:nvSpPr>
        <p:spPr>
          <a:xfrm>
            <a:off x="5103449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11 Nov 2026</a:t>
            </a:r>
            <a:endParaRPr lang="en-US" sz="1300" dirty="0"/>
          </a:p>
        </p:txBody>
      </p:sp>
      <p:sp>
        <p:nvSpPr>
          <p:cNvPr id="385" name="Text 383"/>
          <p:cNvSpPr/>
          <p:nvPr/>
        </p:nvSpPr>
        <p:spPr>
          <a:xfrm>
            <a:off x="5103449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26 / 37</a:t>
            </a:r>
            <a:endParaRPr lang="en-US" sz="750" dirty="0"/>
          </a:p>
        </p:txBody>
      </p:sp>
      <p:sp>
        <p:nvSpPr>
          <p:cNvPr id="386" name="Shape 384"/>
          <p:cNvSpPr/>
          <p:nvPr/>
        </p:nvSpPr>
        <p:spPr>
          <a:xfrm>
            <a:off x="7307702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87" name="Shape 385"/>
          <p:cNvSpPr/>
          <p:nvPr/>
        </p:nvSpPr>
        <p:spPr>
          <a:xfrm>
            <a:off x="7362566" y="5577840"/>
            <a:ext cx="2094525" cy="54864"/>
          </a:xfrm>
          <a:prstGeom prst="rect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388" name="Text 386"/>
          <p:cNvSpPr/>
          <p:nvPr/>
        </p:nvSpPr>
        <p:spPr>
          <a:xfrm>
            <a:off x="7417430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foundation complete</a:t>
            </a:r>
            <a:endParaRPr lang="en-US" sz="850" dirty="0"/>
          </a:p>
        </p:txBody>
      </p:sp>
      <p:sp>
        <p:nvSpPr>
          <p:cNvPr id="389" name="Text 387"/>
          <p:cNvSpPr/>
          <p:nvPr/>
        </p:nvSpPr>
        <p:spPr>
          <a:xfrm>
            <a:off x="7417430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3D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18 Nov 2026</a:t>
            </a:r>
            <a:endParaRPr lang="en-US" sz="1300" dirty="0"/>
          </a:p>
        </p:txBody>
      </p:sp>
      <p:sp>
        <p:nvSpPr>
          <p:cNvPr id="390" name="Text 388"/>
          <p:cNvSpPr/>
          <p:nvPr/>
        </p:nvSpPr>
        <p:spPr>
          <a:xfrm>
            <a:off x="7417430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667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32 / 37</a:t>
            </a:r>
            <a:endParaRPr lang="en-US" sz="750" dirty="0"/>
          </a:p>
        </p:txBody>
      </p:sp>
      <p:sp>
        <p:nvSpPr>
          <p:cNvPr id="391" name="Shape 389"/>
          <p:cNvSpPr/>
          <p:nvPr/>
        </p:nvSpPr>
        <p:spPr>
          <a:xfrm>
            <a:off x="9621683" y="5577840"/>
            <a:ext cx="2204253" cy="822960"/>
          </a:xfrm>
          <a:prstGeom prst="roundRect">
            <a:avLst>
              <a:gd name="adj" fmla="val 7778"/>
            </a:avLst>
          </a:prstGeom>
          <a:solidFill>
            <a:srgbClr val="3D3935"/>
          </a:solidFill>
          <a:ln w="9525">
            <a:solidFill>
              <a:srgbClr val="DFE6EA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2000"/>
              </a:srgbClr>
            </a:outerShdw>
          </a:effectLst>
        </p:spPr>
      </p:sp>
      <p:sp>
        <p:nvSpPr>
          <p:cNvPr id="392" name="Shape 390"/>
          <p:cNvSpPr/>
          <p:nvPr/>
        </p:nvSpPr>
        <p:spPr>
          <a:xfrm>
            <a:off x="9676547" y="5577840"/>
            <a:ext cx="2094525" cy="54864"/>
          </a:xfrm>
          <a:prstGeom prst="rect">
            <a:avLst/>
          </a:prstGeom>
          <a:solidFill>
            <a:srgbClr val="D68A00"/>
          </a:solidFill>
          <a:ln w="12700">
            <a:solidFill>
              <a:srgbClr val="D68A00"/>
            </a:solidFill>
            <a:prstDash val="solid"/>
          </a:ln>
        </p:spPr>
      </p:sp>
      <p:sp>
        <p:nvSpPr>
          <p:cNvPr id="393" name="Text 391"/>
          <p:cNvSpPr/>
          <p:nvPr/>
        </p:nvSpPr>
        <p:spPr>
          <a:xfrm>
            <a:off x="9731411" y="5669280"/>
            <a:ext cx="198479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850" b="1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completion</a:t>
            </a:r>
            <a:endParaRPr lang="en-US" sz="850" dirty="0"/>
          </a:p>
        </p:txBody>
      </p:sp>
      <p:sp>
        <p:nvSpPr>
          <p:cNvPr id="394" name="Text 392"/>
          <p:cNvSpPr/>
          <p:nvPr/>
        </p:nvSpPr>
        <p:spPr>
          <a:xfrm>
            <a:off x="9731411" y="5870448"/>
            <a:ext cx="198479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 24 Nov 2026</a:t>
            </a:r>
            <a:endParaRPr lang="en-US" sz="1300" dirty="0"/>
          </a:p>
        </p:txBody>
      </p:sp>
      <p:sp>
        <p:nvSpPr>
          <p:cNvPr id="395" name="Text 393"/>
          <p:cNvSpPr/>
          <p:nvPr/>
        </p:nvSpPr>
        <p:spPr>
          <a:xfrm>
            <a:off x="9731411" y="6163056"/>
            <a:ext cx="198479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altLang="en-US" sz="750" b="1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day 37 / 37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519672"/>
            <a:ext cx="54864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SAR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UFWL Project – Gantt Chart</dc:title>
  <dc:subject>PptxGenJS Presentation</dc:subject>
  <dc:creator>UFWL Project</dc:creator>
  <cp:lastModifiedBy>UFWL Project</cp:lastModifiedBy>
  <cp:revision>1</cp:revision>
  <dcterms:created xsi:type="dcterms:W3CDTF">2026-10-21T13:12:16Z</dcterms:created>
  <dcterms:modified xsi:type="dcterms:W3CDTF">2026-10-21T13:12:16Z</dcterms:modified>
</cp:coreProperties>
</file>