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R">
    <p:bg>
      <p:bgPr>
        <a:solidFill>
          <a:srgbClr val="F6F9FA"/>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FFFFFF"/>
          </a:solidFill>
          <a:ln/>
        </p:spPr>
      </p:sp>
      <p:sp>
        <p:nvSpPr>
          <p:cNvPr id="3" name="Shape 1"/>
          <p:cNvSpPr/>
          <p:nvPr/>
        </p:nvSpPr>
        <p:spPr>
          <a:xfrm>
            <a:off x="0" y="868680"/>
            <a:ext cx="12191695" cy="45720"/>
          </a:xfrm>
          <a:prstGeom prst="rect">
            <a:avLst/>
          </a:prstGeom>
          <a:solidFill>
            <a:srgbClr val="00778B"/>
          </a:solidFill>
          <a:ln/>
        </p:spPr>
      </p:sp>
      <p:sp>
        <p:nvSpPr>
          <p:cNvPr id="4" name="Shape 2"/>
          <p:cNvSpPr/>
          <p:nvPr/>
        </p:nvSpPr>
        <p:spPr>
          <a:xfrm>
            <a:off x="0" y="868680"/>
            <a:ext cx="2011680" cy="45720"/>
          </a:xfrm>
          <a:prstGeom prst="rect">
            <a:avLst/>
          </a:prstGeom>
          <a:solidFill>
            <a:srgbClr val="3D3935"/>
          </a:solidFill>
          <a:ln/>
        </p:spPr>
      </p:sp>
      <p:pic>
        <p:nvPicPr>
          <p:cNvPr id="5" name="Image 0" descr="preencoded.png">    </p:cNvPr>
          <p:cNvPicPr>
            <a:picLocks noChangeAspect="1"/>
          </p:cNvPicPr>
          <p:nvPr/>
        </p:nvPicPr>
        <p:blipFill>
          <a:blip r:embed="rId1"/>
          <a:stretch>
            <a:fillRect/>
          </a:stretch>
        </p:blipFill>
        <p:spPr>
          <a:xfrm>
            <a:off x="10774375" y="142875"/>
            <a:ext cx="1051560" cy="582930"/>
          </a:xfrm>
          <a:prstGeom prst="rect">
            <a:avLst/>
          </a:prstGeom>
        </p:spPr>
      </p:pic>
      <p:sp>
        <p:nvSpPr>
          <p:cNvPr id="6" name="Shape 3"/>
          <p:cNvSpPr/>
          <p:nvPr/>
        </p:nvSpPr>
        <p:spPr>
          <a:xfrm>
            <a:off x="0" y="6492240"/>
            <a:ext cx="12191695" cy="365760"/>
          </a:xfrm>
          <a:prstGeom prst="rect">
            <a:avLst/>
          </a:prstGeom>
          <a:solidFill>
            <a:srgbClr val="3D3935"/>
          </a:solidFill>
          <a:ln/>
        </p:spPr>
      </p:sp>
      <p:sp>
        <p:nvSpPr>
          <p:cNvPr id="7" name="Text 4"/>
          <p:cNvSpPr/>
          <p:nvPr/>
        </p:nvSpPr>
        <p:spPr>
          <a:xfrm>
            <a:off x="365760" y="6492240"/>
            <a:ext cx="9144000" cy="365760"/>
          </a:xfrm>
          <a:prstGeom prst="rect">
            <a:avLst/>
          </a:prstGeom>
          <a:noFill/>
          <a:ln/>
        </p:spPr>
        <p:txBody>
          <a:bodyPr wrap="square" lIns="0" tIns="0" rIns="0" bIns="0" rtlCol="0" anchor="ctr"/>
          <a:lstStyle/>
          <a:p>
            <a:pPr algn="l" indent="0" marL="0">
              <a:buNone/>
            </a:pPr>
            <a:r>
              <a:rPr lang="en-US" sz="1000" dirty="0">
                <a:solidFill>
                  <a:srgbClr val="FFFFFF"/>
                </a:solidFill>
                <a:latin typeface="Calibri" pitchFamily="34" charset="0"/>
                <a:ea typeface="Calibri" pitchFamily="34" charset="-122"/>
                <a:cs typeface="Calibri" pitchFamily="34" charset="-120"/>
              </a:rPr>
              <a:t>UFWL Project – Site Suspension &amp; Remaining Works</a:t>
            </a:r>
            <a:endParaRPr lang="en-US" sz="1000" dirty="0"/>
          </a:p>
        </p:txBody>
      </p:sp>
      <p:sp>
        <p:nvSpPr>
          <p:cNvPr id="25" name="Slide Number Placeholder 0"/>
          <p:cNvSpPr>
            <a:spLocks noGrp="1"/>
          </p:cNvSpPr>
          <p:nvPr>
            <p:ph type="sldNum" sz="quarter" idx="4294967295"/>
          </p:nvPr>
        </p:nvSpPr>
        <p:spPr>
          <a:xfrm>
            <a:off x="11323015" y="6519672"/>
            <a:ext cx="548640" cy="310896"/>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ct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23015" y="6519672"/>
            <a:ext cx="548640" cy="310896"/>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365760" y="109728"/>
            <a:ext cx="10134295" cy="457200"/>
          </a:xfrm>
          <a:prstGeom prst="rect">
            <a:avLst/>
          </a:prstGeom>
          <a:noFill/>
          <a:ln/>
        </p:spPr>
        <p:txBody>
          <a:bodyPr wrap="square" lIns="0" tIns="0" rIns="0" bIns="0" rtlCol="0" anchor="ctr">
            <a:normAutofit/>
          </a:bodyPr>
          <a:lstStyle/>
          <a:p>
            <a:pPr algn="l" indent="0" marL="0">
              <a:buNone/>
            </a:pPr>
            <a:r>
              <a:rPr lang="en-US" altLang="en-US" sz="2400" b="1" dirty="0">
                <a:solidFill>
                  <a:srgbClr val="3D3935"/>
                </a:solidFill>
                <a:latin typeface="Calibri" pitchFamily="34" charset="0"/>
                <a:ea typeface="Calibri" pitchFamily="34" charset="-122"/>
                <a:cs typeface="Calibri" pitchFamily="34" charset="-120"/>
              </a:rPr>
              <a:t>UFWL Project – Timeline</a:t>
            </a:r>
            <a:endParaRPr lang="en-US" sz="2400" dirty="0"/>
          </a:p>
        </p:txBody>
      </p:sp>
      <p:sp>
        <p:nvSpPr>
          <p:cNvPr id="3" name="Text 1"/>
          <p:cNvSpPr/>
          <p:nvPr/>
        </p:nvSpPr>
        <p:spPr>
          <a:xfrm>
            <a:off x="365760" y="548640"/>
            <a:ext cx="10134295" cy="256032"/>
          </a:xfrm>
          <a:prstGeom prst="rect">
            <a:avLst/>
          </a:prstGeom>
          <a:noFill/>
          <a:ln/>
        </p:spPr>
        <p:txBody>
          <a:bodyPr wrap="square" lIns="0" tIns="0" rIns="0" bIns="0" rtlCol="0" anchor="ctr">
            <a:normAutofit/>
          </a:bodyPr>
          <a:lstStyle/>
          <a:p>
            <a:pPr algn="l" indent="0" marL="0">
              <a:buNone/>
            </a:pPr>
            <a:r>
              <a:rPr lang="en-US" altLang="en-US" sz="1200" dirty="0">
                <a:solidFill>
                  <a:srgbClr val="66707A"/>
                </a:solidFill>
                <a:latin typeface="Calibri" pitchFamily="34" charset="0"/>
                <a:ea typeface="Calibri" pitchFamily="34" charset="-122"/>
                <a:cs typeface="Calibri" pitchFamily="34" charset="-120"/>
              </a:rPr>
              <a:t>Project Activity Timeline · Site Suspension and Shoring Works</a:t>
            </a:r>
            <a:endParaRPr lang="en-US" sz="1200" dirty="0"/>
          </a:p>
        </p:txBody>
      </p:sp>
      <p:sp>
        <p:nvSpPr>
          <p:cNvPr id="4" name="Shape 2"/>
          <p:cNvSpPr/>
          <p:nvPr/>
        </p:nvSpPr>
        <p:spPr>
          <a:xfrm>
            <a:off x="365760" y="1069848"/>
            <a:ext cx="256032" cy="109728"/>
          </a:xfrm>
          <a:prstGeom prst="roundRect">
            <a:avLst>
              <a:gd name="adj" fmla="val 25000"/>
            </a:avLst>
          </a:prstGeom>
          <a:solidFill>
            <a:srgbClr val="7A8791"/>
          </a:solidFill>
          <a:ln w="12700">
            <a:solidFill>
              <a:srgbClr val="7A8791"/>
            </a:solidFill>
            <a:prstDash val="solid"/>
          </a:ln>
        </p:spPr>
      </p:sp>
      <p:sp>
        <p:nvSpPr>
          <p:cNvPr id="5" name="Text 3"/>
          <p:cNvSpPr/>
          <p:nvPr/>
        </p:nvSpPr>
        <p:spPr>
          <a:xfrm>
            <a:off x="676656" y="1005840"/>
            <a:ext cx="1706270" cy="237744"/>
          </a:xfrm>
          <a:prstGeom prst="rect">
            <a:avLst/>
          </a:prstGeom>
          <a:noFill/>
          <a:ln/>
        </p:spPr>
        <p:txBody>
          <a:bodyPr wrap="square" lIns="0" tIns="0" rIns="0" bIns="0" rtlCol="0" anchor="ctr">
            <a:normAutofit/>
          </a:bodyPr>
          <a:lstStyle/>
          <a:p>
            <a:pPr algn="l" indent="0" marL="0">
              <a:buNone/>
            </a:pPr>
            <a:r>
              <a:rPr lang="en-US" altLang="en-US" sz="900" b="1" dirty="0">
                <a:solidFill>
                  <a:srgbClr val="333333"/>
                </a:solidFill>
                <a:latin typeface="Calibri" pitchFamily="34" charset="0"/>
                <a:ea typeface="Calibri" pitchFamily="34" charset="-122"/>
                <a:cs typeface="Calibri" pitchFamily="34" charset="-120"/>
              </a:rPr>
              <a:t>Background – Permit Request</a:t>
            </a:r>
            <a:endParaRPr lang="en-US" sz="900" dirty="0"/>
          </a:p>
        </p:txBody>
      </p:sp>
      <p:sp>
        <p:nvSpPr>
          <p:cNvPr id="6" name="Shape 4"/>
          <p:cNvSpPr/>
          <p:nvPr/>
        </p:nvSpPr>
        <p:spPr>
          <a:xfrm>
            <a:off x="2437790" y="1069848"/>
            <a:ext cx="256032" cy="109728"/>
          </a:xfrm>
          <a:prstGeom prst="roundRect">
            <a:avLst>
              <a:gd name="adj" fmla="val 25000"/>
            </a:avLst>
          </a:prstGeom>
          <a:solidFill>
            <a:srgbClr val="C8503F"/>
          </a:solidFill>
          <a:ln w="12700">
            <a:solidFill>
              <a:srgbClr val="C8503F"/>
            </a:solidFill>
            <a:prstDash val="solid"/>
          </a:ln>
        </p:spPr>
      </p:sp>
      <p:sp>
        <p:nvSpPr>
          <p:cNvPr id="7" name="Text 5"/>
          <p:cNvSpPr/>
          <p:nvPr/>
        </p:nvSpPr>
        <p:spPr>
          <a:xfrm>
            <a:off x="2748686" y="1005840"/>
            <a:ext cx="2289658" cy="237744"/>
          </a:xfrm>
          <a:prstGeom prst="rect">
            <a:avLst/>
          </a:prstGeom>
          <a:noFill/>
          <a:ln/>
        </p:spPr>
        <p:txBody>
          <a:bodyPr wrap="square" lIns="0" tIns="0" rIns="0" bIns="0" rtlCol="0" anchor="ctr">
            <a:normAutofit/>
          </a:bodyPr>
          <a:lstStyle/>
          <a:p>
            <a:pPr algn="l" indent="0" marL="0">
              <a:buNone/>
            </a:pPr>
            <a:r>
              <a:rPr lang="en-US" altLang="en-US" sz="900" b="1" dirty="0">
                <a:solidFill>
                  <a:srgbClr val="333333"/>
                </a:solidFill>
                <a:latin typeface="Calibri" pitchFamily="34" charset="0"/>
                <a:ea typeface="Calibri" pitchFamily="34" charset="-122"/>
                <a:cs typeface="Calibri" pitchFamily="34" charset="-120"/>
              </a:rPr>
              <a:t>Phase 1 – Suspension &amp; Site Assessment</a:t>
            </a:r>
            <a:endParaRPr lang="en-US" sz="900" dirty="0"/>
          </a:p>
        </p:txBody>
      </p:sp>
      <p:sp>
        <p:nvSpPr>
          <p:cNvPr id="8" name="Shape 6"/>
          <p:cNvSpPr/>
          <p:nvPr/>
        </p:nvSpPr>
        <p:spPr>
          <a:xfrm>
            <a:off x="5093208" y="1069848"/>
            <a:ext cx="256032" cy="109728"/>
          </a:xfrm>
          <a:prstGeom prst="roundRect">
            <a:avLst>
              <a:gd name="adj" fmla="val 25000"/>
            </a:avLst>
          </a:prstGeom>
          <a:solidFill>
            <a:srgbClr val="00778B"/>
          </a:solidFill>
          <a:ln w="12700">
            <a:solidFill>
              <a:srgbClr val="00778B"/>
            </a:solidFill>
            <a:prstDash val="solid"/>
          </a:ln>
        </p:spPr>
      </p:sp>
      <p:sp>
        <p:nvSpPr>
          <p:cNvPr id="9" name="Text 7"/>
          <p:cNvSpPr/>
          <p:nvPr/>
        </p:nvSpPr>
        <p:spPr>
          <a:xfrm>
            <a:off x="5404104" y="1005840"/>
            <a:ext cx="2766974" cy="237744"/>
          </a:xfrm>
          <a:prstGeom prst="rect">
            <a:avLst/>
          </a:prstGeom>
          <a:noFill/>
          <a:ln/>
        </p:spPr>
        <p:txBody>
          <a:bodyPr wrap="square" lIns="0" tIns="0" rIns="0" bIns="0" rtlCol="0" anchor="ctr">
            <a:normAutofit/>
          </a:bodyPr>
          <a:lstStyle/>
          <a:p>
            <a:pPr algn="l" indent="0" marL="0">
              <a:buNone/>
            </a:pPr>
            <a:r>
              <a:rPr lang="en-US" altLang="en-US" sz="900" b="1" dirty="0">
                <a:solidFill>
                  <a:srgbClr val="333333"/>
                </a:solidFill>
                <a:latin typeface="Calibri" pitchFamily="34" charset="0"/>
                <a:ea typeface="Calibri" pitchFamily="34" charset="-122"/>
                <a:cs typeface="Calibri" pitchFamily="34" charset="-120"/>
              </a:rPr>
              <a:t>Phase 2 – Method Statement Preparation &amp; Review</a:t>
            </a:r>
            <a:endParaRPr lang="en-US" sz="900" dirty="0"/>
          </a:p>
        </p:txBody>
      </p:sp>
      <p:sp>
        <p:nvSpPr>
          <p:cNvPr id="10" name="Shape 8"/>
          <p:cNvSpPr/>
          <p:nvPr/>
        </p:nvSpPr>
        <p:spPr>
          <a:xfrm>
            <a:off x="8225942" y="1069848"/>
            <a:ext cx="256032" cy="109728"/>
          </a:xfrm>
          <a:prstGeom prst="roundRect">
            <a:avLst>
              <a:gd name="adj" fmla="val 25000"/>
            </a:avLst>
          </a:prstGeom>
          <a:solidFill>
            <a:srgbClr val="2E9E6B"/>
          </a:solidFill>
          <a:ln w="12700">
            <a:solidFill>
              <a:srgbClr val="2E9E6B"/>
            </a:solidFill>
            <a:prstDash val="solid"/>
          </a:ln>
        </p:spPr>
      </p:sp>
      <p:sp>
        <p:nvSpPr>
          <p:cNvPr id="11" name="Text 9"/>
          <p:cNvSpPr/>
          <p:nvPr/>
        </p:nvSpPr>
        <p:spPr>
          <a:xfrm>
            <a:off x="8536838" y="1005840"/>
            <a:ext cx="1865376" cy="237744"/>
          </a:xfrm>
          <a:prstGeom prst="rect">
            <a:avLst/>
          </a:prstGeom>
          <a:noFill/>
          <a:ln/>
        </p:spPr>
        <p:txBody>
          <a:bodyPr wrap="square" lIns="0" tIns="0" rIns="0" bIns="0" rtlCol="0" anchor="ctr">
            <a:normAutofit/>
          </a:bodyPr>
          <a:lstStyle/>
          <a:p>
            <a:pPr algn="l" indent="0" marL="0">
              <a:buNone/>
            </a:pPr>
            <a:r>
              <a:rPr lang="en-US" altLang="en-US" sz="900" b="1" dirty="0">
                <a:solidFill>
                  <a:srgbClr val="333333"/>
                </a:solidFill>
                <a:latin typeface="Calibri" pitchFamily="34" charset="0"/>
                <a:ea typeface="Calibri" pitchFamily="34" charset="-122"/>
                <a:cs typeface="Calibri" pitchFamily="34" charset="-120"/>
              </a:rPr>
              <a:t>Phase 3 – Work Permit Issuance</a:t>
            </a:r>
            <a:endParaRPr lang="en-US" sz="900" dirty="0"/>
          </a:p>
        </p:txBody>
      </p:sp>
      <p:sp>
        <p:nvSpPr>
          <p:cNvPr id="12" name="Shape 10"/>
          <p:cNvSpPr/>
          <p:nvPr/>
        </p:nvSpPr>
        <p:spPr>
          <a:xfrm>
            <a:off x="548640" y="3803904"/>
            <a:ext cx="325419" cy="73152"/>
          </a:xfrm>
          <a:prstGeom prst="roundRect">
            <a:avLst>
              <a:gd name="adj" fmla="val 50000"/>
            </a:avLst>
          </a:prstGeom>
          <a:solidFill>
            <a:srgbClr val="7A8791"/>
          </a:solidFill>
          <a:ln w="12700">
            <a:solidFill>
              <a:srgbClr val="7A8791"/>
            </a:solidFill>
            <a:prstDash val="solid"/>
          </a:ln>
        </p:spPr>
      </p:sp>
      <p:sp>
        <p:nvSpPr>
          <p:cNvPr id="13" name="Shape 11"/>
          <p:cNvSpPr/>
          <p:nvPr/>
        </p:nvSpPr>
        <p:spPr>
          <a:xfrm>
            <a:off x="874059" y="3803904"/>
            <a:ext cx="650838" cy="73152"/>
          </a:xfrm>
          <a:prstGeom prst="roundRect">
            <a:avLst>
              <a:gd name="adj" fmla="val 50000"/>
            </a:avLst>
          </a:prstGeom>
          <a:solidFill>
            <a:srgbClr val="7A8791"/>
          </a:solidFill>
          <a:ln w="12700">
            <a:solidFill>
              <a:srgbClr val="7A8791"/>
            </a:solidFill>
            <a:prstDash val="solid"/>
          </a:ln>
        </p:spPr>
      </p:sp>
      <p:sp>
        <p:nvSpPr>
          <p:cNvPr id="14" name="Shape 12"/>
          <p:cNvSpPr/>
          <p:nvPr/>
        </p:nvSpPr>
        <p:spPr>
          <a:xfrm>
            <a:off x="1524896" y="3803904"/>
            <a:ext cx="650838" cy="73152"/>
          </a:xfrm>
          <a:prstGeom prst="roundRect">
            <a:avLst>
              <a:gd name="adj" fmla="val 50000"/>
            </a:avLst>
          </a:prstGeom>
          <a:solidFill>
            <a:srgbClr val="C8503F"/>
          </a:solidFill>
          <a:ln w="12700">
            <a:solidFill>
              <a:srgbClr val="C8503F"/>
            </a:solidFill>
            <a:prstDash val="solid"/>
          </a:ln>
        </p:spPr>
      </p:sp>
      <p:sp>
        <p:nvSpPr>
          <p:cNvPr id="15" name="Shape 13"/>
          <p:cNvSpPr/>
          <p:nvPr/>
        </p:nvSpPr>
        <p:spPr>
          <a:xfrm>
            <a:off x="2175734" y="3803904"/>
            <a:ext cx="650838" cy="73152"/>
          </a:xfrm>
          <a:prstGeom prst="roundRect">
            <a:avLst>
              <a:gd name="adj" fmla="val 50000"/>
            </a:avLst>
          </a:prstGeom>
          <a:solidFill>
            <a:srgbClr val="C8503F"/>
          </a:solidFill>
          <a:ln w="12700">
            <a:solidFill>
              <a:srgbClr val="C8503F"/>
            </a:solidFill>
            <a:prstDash val="solid"/>
          </a:ln>
        </p:spPr>
      </p:sp>
      <p:sp>
        <p:nvSpPr>
          <p:cNvPr id="16" name="Shape 14"/>
          <p:cNvSpPr/>
          <p:nvPr/>
        </p:nvSpPr>
        <p:spPr>
          <a:xfrm>
            <a:off x="2826572" y="3803904"/>
            <a:ext cx="650838" cy="73152"/>
          </a:xfrm>
          <a:prstGeom prst="roundRect">
            <a:avLst>
              <a:gd name="adj" fmla="val 50000"/>
            </a:avLst>
          </a:prstGeom>
          <a:solidFill>
            <a:srgbClr val="C8503F"/>
          </a:solidFill>
          <a:ln w="12700">
            <a:solidFill>
              <a:srgbClr val="C8503F"/>
            </a:solidFill>
            <a:prstDash val="solid"/>
          </a:ln>
        </p:spPr>
      </p:sp>
      <p:sp>
        <p:nvSpPr>
          <p:cNvPr id="17" name="Shape 15"/>
          <p:cNvSpPr/>
          <p:nvPr/>
        </p:nvSpPr>
        <p:spPr>
          <a:xfrm>
            <a:off x="3477409" y="3803904"/>
            <a:ext cx="650838" cy="73152"/>
          </a:xfrm>
          <a:prstGeom prst="roundRect">
            <a:avLst>
              <a:gd name="adj" fmla="val 50000"/>
            </a:avLst>
          </a:prstGeom>
          <a:solidFill>
            <a:srgbClr val="C8503F"/>
          </a:solidFill>
          <a:ln w="12700">
            <a:solidFill>
              <a:srgbClr val="C8503F"/>
            </a:solidFill>
            <a:prstDash val="solid"/>
          </a:ln>
        </p:spPr>
      </p:sp>
      <p:sp>
        <p:nvSpPr>
          <p:cNvPr id="18" name="Shape 16"/>
          <p:cNvSpPr/>
          <p:nvPr/>
        </p:nvSpPr>
        <p:spPr>
          <a:xfrm>
            <a:off x="4128247" y="3803904"/>
            <a:ext cx="650838" cy="73152"/>
          </a:xfrm>
          <a:prstGeom prst="roundRect">
            <a:avLst>
              <a:gd name="adj" fmla="val 50000"/>
            </a:avLst>
          </a:prstGeom>
          <a:solidFill>
            <a:srgbClr val="00778B"/>
          </a:solidFill>
          <a:ln w="12700">
            <a:solidFill>
              <a:srgbClr val="00778B"/>
            </a:solidFill>
            <a:prstDash val="solid"/>
          </a:ln>
        </p:spPr>
      </p:sp>
      <p:sp>
        <p:nvSpPr>
          <p:cNvPr id="19" name="Shape 17"/>
          <p:cNvSpPr/>
          <p:nvPr/>
        </p:nvSpPr>
        <p:spPr>
          <a:xfrm>
            <a:off x="4779085" y="3803904"/>
            <a:ext cx="650838" cy="73152"/>
          </a:xfrm>
          <a:prstGeom prst="roundRect">
            <a:avLst>
              <a:gd name="adj" fmla="val 50000"/>
            </a:avLst>
          </a:prstGeom>
          <a:solidFill>
            <a:srgbClr val="00778B"/>
          </a:solidFill>
          <a:ln w="12700">
            <a:solidFill>
              <a:srgbClr val="00778B"/>
            </a:solidFill>
            <a:prstDash val="solid"/>
          </a:ln>
        </p:spPr>
      </p:sp>
      <p:sp>
        <p:nvSpPr>
          <p:cNvPr id="20" name="Shape 18"/>
          <p:cNvSpPr/>
          <p:nvPr/>
        </p:nvSpPr>
        <p:spPr>
          <a:xfrm>
            <a:off x="5429922" y="3803904"/>
            <a:ext cx="650838" cy="73152"/>
          </a:xfrm>
          <a:prstGeom prst="roundRect">
            <a:avLst>
              <a:gd name="adj" fmla="val 50000"/>
            </a:avLst>
          </a:prstGeom>
          <a:solidFill>
            <a:srgbClr val="00778B"/>
          </a:solidFill>
          <a:ln w="12700">
            <a:solidFill>
              <a:srgbClr val="00778B"/>
            </a:solidFill>
            <a:prstDash val="solid"/>
          </a:ln>
        </p:spPr>
      </p:sp>
      <p:sp>
        <p:nvSpPr>
          <p:cNvPr id="21" name="Shape 19"/>
          <p:cNvSpPr/>
          <p:nvPr/>
        </p:nvSpPr>
        <p:spPr>
          <a:xfrm>
            <a:off x="6080760" y="3803904"/>
            <a:ext cx="650838" cy="73152"/>
          </a:xfrm>
          <a:prstGeom prst="roundRect">
            <a:avLst>
              <a:gd name="adj" fmla="val 50000"/>
            </a:avLst>
          </a:prstGeom>
          <a:solidFill>
            <a:srgbClr val="00778B"/>
          </a:solidFill>
          <a:ln w="12700">
            <a:solidFill>
              <a:srgbClr val="00778B"/>
            </a:solidFill>
            <a:prstDash val="solid"/>
          </a:ln>
        </p:spPr>
      </p:sp>
      <p:sp>
        <p:nvSpPr>
          <p:cNvPr id="22" name="Shape 20"/>
          <p:cNvSpPr/>
          <p:nvPr/>
        </p:nvSpPr>
        <p:spPr>
          <a:xfrm>
            <a:off x="6731598" y="3803904"/>
            <a:ext cx="650838" cy="73152"/>
          </a:xfrm>
          <a:prstGeom prst="roundRect">
            <a:avLst>
              <a:gd name="adj" fmla="val 50000"/>
            </a:avLst>
          </a:prstGeom>
          <a:solidFill>
            <a:srgbClr val="00778B"/>
          </a:solidFill>
          <a:ln w="12700">
            <a:solidFill>
              <a:srgbClr val="00778B"/>
            </a:solidFill>
            <a:prstDash val="solid"/>
          </a:ln>
        </p:spPr>
      </p:sp>
      <p:sp>
        <p:nvSpPr>
          <p:cNvPr id="23" name="Shape 21"/>
          <p:cNvSpPr/>
          <p:nvPr/>
        </p:nvSpPr>
        <p:spPr>
          <a:xfrm>
            <a:off x="7382435" y="3803904"/>
            <a:ext cx="650838" cy="73152"/>
          </a:xfrm>
          <a:prstGeom prst="roundRect">
            <a:avLst>
              <a:gd name="adj" fmla="val 50000"/>
            </a:avLst>
          </a:prstGeom>
          <a:solidFill>
            <a:srgbClr val="2E9E6B"/>
          </a:solidFill>
          <a:ln w="12700">
            <a:solidFill>
              <a:srgbClr val="2E9E6B"/>
            </a:solidFill>
            <a:prstDash val="solid"/>
          </a:ln>
        </p:spPr>
      </p:sp>
      <p:sp>
        <p:nvSpPr>
          <p:cNvPr id="24" name="Shape 22"/>
          <p:cNvSpPr/>
          <p:nvPr/>
        </p:nvSpPr>
        <p:spPr>
          <a:xfrm>
            <a:off x="8033273" y="3803904"/>
            <a:ext cx="650838" cy="73152"/>
          </a:xfrm>
          <a:prstGeom prst="roundRect">
            <a:avLst>
              <a:gd name="adj" fmla="val 50000"/>
            </a:avLst>
          </a:prstGeom>
          <a:solidFill>
            <a:srgbClr val="2E9E6B"/>
          </a:solidFill>
          <a:ln w="12700">
            <a:solidFill>
              <a:srgbClr val="2E9E6B"/>
            </a:solidFill>
            <a:prstDash val="solid"/>
          </a:ln>
        </p:spPr>
      </p:sp>
      <p:sp>
        <p:nvSpPr>
          <p:cNvPr id="25" name="Shape 23"/>
          <p:cNvSpPr/>
          <p:nvPr/>
        </p:nvSpPr>
        <p:spPr>
          <a:xfrm>
            <a:off x="8684111" y="3803904"/>
            <a:ext cx="650838" cy="73152"/>
          </a:xfrm>
          <a:prstGeom prst="roundRect">
            <a:avLst>
              <a:gd name="adj" fmla="val 50000"/>
            </a:avLst>
          </a:prstGeom>
          <a:solidFill>
            <a:srgbClr val="2E9E6B"/>
          </a:solidFill>
          <a:ln w="12700">
            <a:solidFill>
              <a:srgbClr val="2E9E6B"/>
            </a:solidFill>
            <a:prstDash val="solid"/>
          </a:ln>
        </p:spPr>
      </p:sp>
      <p:sp>
        <p:nvSpPr>
          <p:cNvPr id="26" name="Shape 24"/>
          <p:cNvSpPr/>
          <p:nvPr/>
        </p:nvSpPr>
        <p:spPr>
          <a:xfrm>
            <a:off x="9334948" y="3803904"/>
            <a:ext cx="650838" cy="73152"/>
          </a:xfrm>
          <a:prstGeom prst="roundRect">
            <a:avLst>
              <a:gd name="adj" fmla="val 50000"/>
            </a:avLst>
          </a:prstGeom>
          <a:solidFill>
            <a:srgbClr val="2E9E6B"/>
          </a:solidFill>
          <a:ln w="12700">
            <a:solidFill>
              <a:srgbClr val="2E9E6B"/>
            </a:solidFill>
            <a:prstDash val="solid"/>
          </a:ln>
        </p:spPr>
      </p:sp>
      <p:sp>
        <p:nvSpPr>
          <p:cNvPr id="27" name="Shape 25"/>
          <p:cNvSpPr/>
          <p:nvPr/>
        </p:nvSpPr>
        <p:spPr>
          <a:xfrm>
            <a:off x="9985786" y="3803904"/>
            <a:ext cx="650838" cy="73152"/>
          </a:xfrm>
          <a:prstGeom prst="roundRect">
            <a:avLst>
              <a:gd name="adj" fmla="val 50000"/>
            </a:avLst>
          </a:prstGeom>
          <a:solidFill>
            <a:srgbClr val="2E9E6B"/>
          </a:solidFill>
          <a:ln w="12700">
            <a:solidFill>
              <a:srgbClr val="2E9E6B"/>
            </a:solidFill>
            <a:prstDash val="solid"/>
          </a:ln>
        </p:spPr>
      </p:sp>
      <p:sp>
        <p:nvSpPr>
          <p:cNvPr id="28" name="Shape 26"/>
          <p:cNvSpPr/>
          <p:nvPr/>
        </p:nvSpPr>
        <p:spPr>
          <a:xfrm>
            <a:off x="10636624" y="3803904"/>
            <a:ext cx="650838" cy="73152"/>
          </a:xfrm>
          <a:prstGeom prst="roundRect">
            <a:avLst>
              <a:gd name="adj" fmla="val 50000"/>
            </a:avLst>
          </a:prstGeom>
          <a:solidFill>
            <a:srgbClr val="2E9E6B"/>
          </a:solidFill>
          <a:ln w="12700">
            <a:solidFill>
              <a:srgbClr val="2E9E6B"/>
            </a:solidFill>
            <a:prstDash val="solid"/>
          </a:ln>
        </p:spPr>
      </p:sp>
      <p:sp>
        <p:nvSpPr>
          <p:cNvPr id="29" name="Shape 27"/>
          <p:cNvSpPr/>
          <p:nvPr/>
        </p:nvSpPr>
        <p:spPr>
          <a:xfrm>
            <a:off x="11287461" y="3803904"/>
            <a:ext cx="325419" cy="73152"/>
          </a:xfrm>
          <a:prstGeom prst="roundRect">
            <a:avLst>
              <a:gd name="adj" fmla="val 50000"/>
            </a:avLst>
          </a:prstGeom>
          <a:solidFill>
            <a:srgbClr val="C9D3D8"/>
          </a:solidFill>
          <a:ln w="12700">
            <a:solidFill>
              <a:srgbClr val="C9D3D8"/>
            </a:solidFill>
            <a:prstDash val="solid"/>
          </a:ln>
        </p:spPr>
      </p:sp>
      <p:sp>
        <p:nvSpPr>
          <p:cNvPr id="30" name="Shape 28"/>
          <p:cNvSpPr/>
          <p:nvPr/>
        </p:nvSpPr>
        <p:spPr>
          <a:xfrm>
            <a:off x="874059" y="3447288"/>
            <a:ext cx="0" cy="182880"/>
          </a:xfrm>
          <a:prstGeom prst="line">
            <a:avLst/>
          </a:prstGeom>
          <a:noFill/>
          <a:ln w="19050">
            <a:solidFill>
              <a:srgbClr val="7A8791">
                <a:alpha val="65000"/>
              </a:srgbClr>
            </a:solidFill>
            <a:prstDash val="solid"/>
          </a:ln>
        </p:spPr>
      </p:sp>
      <p:sp>
        <p:nvSpPr>
          <p:cNvPr id="31" name="Shape 29"/>
          <p:cNvSpPr/>
          <p:nvPr/>
        </p:nvSpPr>
        <p:spPr>
          <a:xfrm>
            <a:off x="663747" y="3630168"/>
            <a:ext cx="420624" cy="420624"/>
          </a:xfrm>
          <a:prstGeom prst="ellipse">
            <a:avLst/>
          </a:prstGeom>
          <a:solidFill>
            <a:srgbClr val="7A8791"/>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32" name="Text 30"/>
          <p:cNvSpPr/>
          <p:nvPr/>
        </p:nvSpPr>
        <p:spPr>
          <a:xfrm>
            <a:off x="663747"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3" name="Shape 31"/>
          <p:cNvSpPr/>
          <p:nvPr/>
        </p:nvSpPr>
        <p:spPr>
          <a:xfrm>
            <a:off x="274320" y="273405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34" name="Shape 32"/>
          <p:cNvSpPr/>
          <p:nvPr/>
        </p:nvSpPr>
        <p:spPr>
          <a:xfrm>
            <a:off x="347472" y="2734056"/>
            <a:ext cx="1871293" cy="54864"/>
          </a:xfrm>
          <a:prstGeom prst="rect">
            <a:avLst/>
          </a:prstGeom>
          <a:solidFill>
            <a:srgbClr val="7A8791"/>
          </a:solidFill>
          <a:ln w="12700">
            <a:solidFill>
              <a:srgbClr val="7A8791"/>
            </a:solidFill>
            <a:prstDash val="solid"/>
          </a:ln>
        </p:spPr>
      </p:sp>
      <p:sp>
        <p:nvSpPr>
          <p:cNvPr id="35" name="Text 33"/>
          <p:cNvSpPr/>
          <p:nvPr/>
        </p:nvSpPr>
        <p:spPr>
          <a:xfrm>
            <a:off x="365760" y="2807208"/>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Mon 31 Aug 2026</a:t>
            </a:r>
            <a:endParaRPr lang="en-US" sz="950" dirty="0"/>
          </a:p>
        </p:txBody>
      </p:sp>
      <p:sp>
        <p:nvSpPr>
          <p:cNvPr id="36" name="Text 34"/>
          <p:cNvSpPr/>
          <p:nvPr/>
        </p:nvSpPr>
        <p:spPr>
          <a:xfrm>
            <a:off x="365760" y="3054096"/>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7A8791"/>
                </a:solidFill>
                <a:latin typeface="Calibri" pitchFamily="34" charset="0"/>
                <a:ea typeface="Calibri" pitchFamily="34" charset="-122"/>
                <a:cs typeface="Calibri" pitchFamily="34" charset="-120"/>
              </a:rPr>
              <a:t>Background – Permit Request</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Work Permit Requested</a:t>
            </a:r>
            <a:endParaRPr lang="en-US" sz="650" dirty="0"/>
          </a:p>
        </p:txBody>
      </p:sp>
      <p:sp>
        <p:nvSpPr>
          <p:cNvPr id="37" name="Shape 35"/>
          <p:cNvSpPr/>
          <p:nvPr/>
        </p:nvSpPr>
        <p:spPr>
          <a:xfrm>
            <a:off x="1524896" y="4050792"/>
            <a:ext cx="0" cy="182880"/>
          </a:xfrm>
          <a:prstGeom prst="line">
            <a:avLst/>
          </a:prstGeom>
          <a:noFill/>
          <a:ln w="19050">
            <a:solidFill>
              <a:srgbClr val="7A8791">
                <a:alpha val="65000"/>
              </a:srgbClr>
            </a:solidFill>
            <a:prstDash val="solid"/>
          </a:ln>
        </p:spPr>
      </p:sp>
      <p:sp>
        <p:nvSpPr>
          <p:cNvPr id="38" name="Shape 36"/>
          <p:cNvSpPr/>
          <p:nvPr/>
        </p:nvSpPr>
        <p:spPr>
          <a:xfrm>
            <a:off x="1314584" y="3630168"/>
            <a:ext cx="420624" cy="420624"/>
          </a:xfrm>
          <a:prstGeom prst="ellipse">
            <a:avLst/>
          </a:prstGeom>
          <a:solidFill>
            <a:srgbClr val="7A8791"/>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39" name="Text 37"/>
          <p:cNvSpPr/>
          <p:nvPr/>
        </p:nvSpPr>
        <p:spPr>
          <a:xfrm>
            <a:off x="1314584"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40" name="Shape 38"/>
          <p:cNvSpPr/>
          <p:nvPr/>
        </p:nvSpPr>
        <p:spPr>
          <a:xfrm>
            <a:off x="516098" y="4233672"/>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41" name="Shape 39"/>
          <p:cNvSpPr/>
          <p:nvPr/>
        </p:nvSpPr>
        <p:spPr>
          <a:xfrm>
            <a:off x="589250" y="4233672"/>
            <a:ext cx="1871293" cy="54864"/>
          </a:xfrm>
          <a:prstGeom prst="rect">
            <a:avLst/>
          </a:prstGeom>
          <a:solidFill>
            <a:srgbClr val="7A8791"/>
          </a:solidFill>
          <a:ln w="12700">
            <a:solidFill>
              <a:srgbClr val="7A8791"/>
            </a:solidFill>
            <a:prstDash val="solid"/>
          </a:ln>
        </p:spPr>
      </p:sp>
      <p:sp>
        <p:nvSpPr>
          <p:cNvPr id="42" name="Text 40"/>
          <p:cNvSpPr/>
          <p:nvPr/>
        </p:nvSpPr>
        <p:spPr>
          <a:xfrm>
            <a:off x="607538" y="4306824"/>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Mon 28 Sep 2026</a:t>
            </a:r>
            <a:endParaRPr lang="en-US" sz="950" dirty="0"/>
          </a:p>
        </p:txBody>
      </p:sp>
      <p:sp>
        <p:nvSpPr>
          <p:cNvPr id="43" name="Text 41"/>
          <p:cNvSpPr/>
          <p:nvPr/>
        </p:nvSpPr>
        <p:spPr>
          <a:xfrm>
            <a:off x="607538" y="4553712"/>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7A8791"/>
                </a:solidFill>
                <a:latin typeface="Calibri" pitchFamily="34" charset="0"/>
                <a:ea typeface="Calibri" pitchFamily="34" charset="-122"/>
                <a:cs typeface="Calibri" pitchFamily="34" charset="-120"/>
              </a:rPr>
              <a:t>Background – Permit Request</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Permit Request Rejected</a:t>
            </a:r>
            <a:endParaRPr lang="en-US" sz="650" dirty="0"/>
          </a:p>
        </p:txBody>
      </p:sp>
      <p:sp>
        <p:nvSpPr>
          <p:cNvPr id="44" name="Shape 42"/>
          <p:cNvSpPr/>
          <p:nvPr/>
        </p:nvSpPr>
        <p:spPr>
          <a:xfrm>
            <a:off x="2175734" y="2624328"/>
            <a:ext cx="0" cy="1005840"/>
          </a:xfrm>
          <a:prstGeom prst="line">
            <a:avLst/>
          </a:prstGeom>
          <a:noFill/>
          <a:ln w="19050">
            <a:solidFill>
              <a:srgbClr val="C8503F">
                <a:alpha val="65000"/>
              </a:srgbClr>
            </a:solidFill>
            <a:prstDash val="solid"/>
          </a:ln>
        </p:spPr>
      </p:sp>
      <p:sp>
        <p:nvSpPr>
          <p:cNvPr id="45" name="Shape 43"/>
          <p:cNvSpPr/>
          <p:nvPr/>
        </p:nvSpPr>
        <p:spPr>
          <a:xfrm>
            <a:off x="1965422" y="3630168"/>
            <a:ext cx="420624" cy="420624"/>
          </a:xfrm>
          <a:prstGeom prst="ellipse">
            <a:avLst/>
          </a:prstGeom>
          <a:solidFill>
            <a:srgbClr val="C8503F"/>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46" name="Text 44"/>
          <p:cNvSpPr/>
          <p:nvPr/>
        </p:nvSpPr>
        <p:spPr>
          <a:xfrm>
            <a:off x="1965422"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Shape 45"/>
          <p:cNvSpPr/>
          <p:nvPr/>
        </p:nvSpPr>
        <p:spPr>
          <a:xfrm>
            <a:off x="1166936" y="191109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48" name="Shape 46"/>
          <p:cNvSpPr/>
          <p:nvPr/>
        </p:nvSpPr>
        <p:spPr>
          <a:xfrm>
            <a:off x="1240088" y="1911096"/>
            <a:ext cx="1871293" cy="54864"/>
          </a:xfrm>
          <a:prstGeom prst="rect">
            <a:avLst/>
          </a:prstGeom>
          <a:solidFill>
            <a:srgbClr val="C8503F"/>
          </a:solidFill>
          <a:ln w="12700">
            <a:solidFill>
              <a:srgbClr val="C8503F"/>
            </a:solidFill>
            <a:prstDash val="solid"/>
          </a:ln>
        </p:spPr>
      </p:sp>
      <p:sp>
        <p:nvSpPr>
          <p:cNvPr id="49" name="Text 47"/>
          <p:cNvSpPr/>
          <p:nvPr/>
        </p:nvSpPr>
        <p:spPr>
          <a:xfrm>
            <a:off x="1258376" y="1984248"/>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Thu 1 Oct 2026</a:t>
            </a:r>
            <a:endParaRPr lang="en-US" sz="950" dirty="0"/>
          </a:p>
        </p:txBody>
      </p:sp>
      <p:sp>
        <p:nvSpPr>
          <p:cNvPr id="50" name="Text 48"/>
          <p:cNvSpPr/>
          <p:nvPr/>
        </p:nvSpPr>
        <p:spPr>
          <a:xfrm>
            <a:off x="1258376" y="2231136"/>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C8503F"/>
                </a:solidFill>
                <a:latin typeface="Calibri" pitchFamily="34" charset="0"/>
                <a:ea typeface="Calibri" pitchFamily="34" charset="-122"/>
                <a:cs typeface="Calibri" pitchFamily="34" charset="-120"/>
              </a:rPr>
              <a:t>Phase 1 – Suspension &amp; Site Assessment</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Project Activities Suspended</a:t>
            </a:r>
            <a:endParaRPr lang="en-US" sz="650" dirty="0"/>
          </a:p>
        </p:txBody>
      </p:sp>
      <p:sp>
        <p:nvSpPr>
          <p:cNvPr id="51" name="Shape 49"/>
          <p:cNvSpPr/>
          <p:nvPr/>
        </p:nvSpPr>
        <p:spPr>
          <a:xfrm>
            <a:off x="2826572" y="4050792"/>
            <a:ext cx="0" cy="1005840"/>
          </a:xfrm>
          <a:prstGeom prst="line">
            <a:avLst/>
          </a:prstGeom>
          <a:noFill/>
          <a:ln w="19050">
            <a:solidFill>
              <a:srgbClr val="C8503F">
                <a:alpha val="65000"/>
              </a:srgbClr>
            </a:solidFill>
            <a:prstDash val="solid"/>
          </a:ln>
        </p:spPr>
      </p:sp>
      <p:sp>
        <p:nvSpPr>
          <p:cNvPr id="52" name="Shape 50"/>
          <p:cNvSpPr/>
          <p:nvPr/>
        </p:nvSpPr>
        <p:spPr>
          <a:xfrm>
            <a:off x="2616260" y="3630168"/>
            <a:ext cx="420624" cy="420624"/>
          </a:xfrm>
          <a:prstGeom prst="ellipse">
            <a:avLst/>
          </a:prstGeom>
          <a:solidFill>
            <a:srgbClr val="C8503F"/>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53" name="Text 51"/>
          <p:cNvSpPr/>
          <p:nvPr/>
        </p:nvSpPr>
        <p:spPr>
          <a:xfrm>
            <a:off x="2616260"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Shape 52"/>
          <p:cNvSpPr/>
          <p:nvPr/>
        </p:nvSpPr>
        <p:spPr>
          <a:xfrm>
            <a:off x="1817773" y="5056632"/>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55" name="Shape 53"/>
          <p:cNvSpPr/>
          <p:nvPr/>
        </p:nvSpPr>
        <p:spPr>
          <a:xfrm>
            <a:off x="1890925" y="5056632"/>
            <a:ext cx="1871293" cy="54864"/>
          </a:xfrm>
          <a:prstGeom prst="rect">
            <a:avLst/>
          </a:prstGeom>
          <a:solidFill>
            <a:srgbClr val="C8503F"/>
          </a:solidFill>
          <a:ln w="12700">
            <a:solidFill>
              <a:srgbClr val="C8503F"/>
            </a:solidFill>
            <a:prstDash val="solid"/>
          </a:ln>
        </p:spPr>
      </p:sp>
      <p:sp>
        <p:nvSpPr>
          <p:cNvPr id="56" name="Text 54"/>
          <p:cNvSpPr/>
          <p:nvPr/>
        </p:nvSpPr>
        <p:spPr>
          <a:xfrm>
            <a:off x="1909213" y="5129784"/>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Sat 3 Oct 2026</a:t>
            </a:r>
            <a:endParaRPr lang="en-US" sz="950" dirty="0"/>
          </a:p>
        </p:txBody>
      </p:sp>
      <p:sp>
        <p:nvSpPr>
          <p:cNvPr id="57" name="Text 55"/>
          <p:cNvSpPr/>
          <p:nvPr/>
        </p:nvSpPr>
        <p:spPr>
          <a:xfrm>
            <a:off x="1909213" y="5376672"/>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C8503F"/>
                </a:solidFill>
                <a:latin typeface="Calibri" pitchFamily="34" charset="0"/>
                <a:ea typeface="Calibri" pitchFamily="34" charset="-122"/>
                <a:cs typeface="Calibri" pitchFamily="34" charset="-120"/>
              </a:rPr>
              <a:t>Phase 1 – Suspension &amp; Site Assessment</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Joint Site Visit</a:t>
            </a:r>
            <a:endParaRPr lang="en-US" sz="650" dirty="0"/>
          </a:p>
        </p:txBody>
      </p:sp>
      <p:sp>
        <p:nvSpPr>
          <p:cNvPr id="58" name="Shape 56"/>
          <p:cNvSpPr/>
          <p:nvPr/>
        </p:nvSpPr>
        <p:spPr>
          <a:xfrm>
            <a:off x="3477409" y="3447288"/>
            <a:ext cx="0" cy="182880"/>
          </a:xfrm>
          <a:prstGeom prst="line">
            <a:avLst/>
          </a:prstGeom>
          <a:noFill/>
          <a:ln w="19050">
            <a:solidFill>
              <a:srgbClr val="C8503F">
                <a:alpha val="65000"/>
              </a:srgbClr>
            </a:solidFill>
            <a:prstDash val="solid"/>
          </a:ln>
        </p:spPr>
      </p:sp>
      <p:sp>
        <p:nvSpPr>
          <p:cNvPr id="59" name="Shape 57"/>
          <p:cNvSpPr/>
          <p:nvPr/>
        </p:nvSpPr>
        <p:spPr>
          <a:xfrm>
            <a:off x="3267097" y="3630168"/>
            <a:ext cx="420624" cy="420624"/>
          </a:xfrm>
          <a:prstGeom prst="ellipse">
            <a:avLst/>
          </a:prstGeom>
          <a:solidFill>
            <a:srgbClr val="C8503F"/>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60" name="Text 58"/>
          <p:cNvSpPr/>
          <p:nvPr/>
        </p:nvSpPr>
        <p:spPr>
          <a:xfrm>
            <a:off x="3267097"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1" name="Shape 59"/>
          <p:cNvSpPr/>
          <p:nvPr/>
        </p:nvSpPr>
        <p:spPr>
          <a:xfrm>
            <a:off x="2468611" y="273405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62" name="Shape 60"/>
          <p:cNvSpPr/>
          <p:nvPr/>
        </p:nvSpPr>
        <p:spPr>
          <a:xfrm>
            <a:off x="2541763" y="2734056"/>
            <a:ext cx="1871293" cy="54864"/>
          </a:xfrm>
          <a:prstGeom prst="rect">
            <a:avLst/>
          </a:prstGeom>
          <a:solidFill>
            <a:srgbClr val="C8503F"/>
          </a:solidFill>
          <a:ln w="12700">
            <a:solidFill>
              <a:srgbClr val="C8503F"/>
            </a:solidFill>
            <a:prstDash val="solid"/>
          </a:ln>
        </p:spPr>
      </p:sp>
      <p:sp>
        <p:nvSpPr>
          <p:cNvPr id="63" name="Text 61"/>
          <p:cNvSpPr/>
          <p:nvPr/>
        </p:nvSpPr>
        <p:spPr>
          <a:xfrm>
            <a:off x="2560051" y="2807208"/>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Sun 4 Oct 2026</a:t>
            </a:r>
            <a:endParaRPr lang="en-US" sz="950" dirty="0"/>
          </a:p>
        </p:txBody>
      </p:sp>
      <p:sp>
        <p:nvSpPr>
          <p:cNvPr id="64" name="Text 62"/>
          <p:cNvSpPr/>
          <p:nvPr/>
        </p:nvSpPr>
        <p:spPr>
          <a:xfrm>
            <a:off x="2560051" y="3054096"/>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C8503F"/>
                </a:solidFill>
                <a:latin typeface="Calibri" pitchFamily="34" charset="0"/>
                <a:ea typeface="Calibri" pitchFamily="34" charset="-122"/>
                <a:cs typeface="Calibri" pitchFamily="34" charset="-120"/>
              </a:rPr>
              <a:t>Phase 1 – Suspension &amp; Site Assessment</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Risk Assessment &amp; Mitigation Plan Submitted</a:t>
            </a:r>
            <a:endParaRPr lang="en-US" sz="650" dirty="0"/>
          </a:p>
        </p:txBody>
      </p:sp>
      <p:sp>
        <p:nvSpPr>
          <p:cNvPr id="65" name="Shape 63"/>
          <p:cNvSpPr/>
          <p:nvPr/>
        </p:nvSpPr>
        <p:spPr>
          <a:xfrm>
            <a:off x="4128247" y="4050792"/>
            <a:ext cx="0" cy="182880"/>
          </a:xfrm>
          <a:prstGeom prst="line">
            <a:avLst/>
          </a:prstGeom>
          <a:noFill/>
          <a:ln w="19050">
            <a:solidFill>
              <a:srgbClr val="C8503F">
                <a:alpha val="65000"/>
              </a:srgbClr>
            </a:solidFill>
            <a:prstDash val="solid"/>
          </a:ln>
        </p:spPr>
      </p:sp>
      <p:sp>
        <p:nvSpPr>
          <p:cNvPr id="66" name="Shape 64"/>
          <p:cNvSpPr/>
          <p:nvPr/>
        </p:nvSpPr>
        <p:spPr>
          <a:xfrm>
            <a:off x="3917935" y="3630168"/>
            <a:ext cx="420624" cy="420624"/>
          </a:xfrm>
          <a:prstGeom prst="ellipse">
            <a:avLst/>
          </a:prstGeom>
          <a:solidFill>
            <a:srgbClr val="C8503F"/>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67" name="Text 65"/>
          <p:cNvSpPr/>
          <p:nvPr/>
        </p:nvSpPr>
        <p:spPr>
          <a:xfrm>
            <a:off x="3917935"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68" name="Shape 66"/>
          <p:cNvSpPr/>
          <p:nvPr/>
        </p:nvSpPr>
        <p:spPr>
          <a:xfrm>
            <a:off x="3119449" y="4233672"/>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69" name="Shape 67"/>
          <p:cNvSpPr/>
          <p:nvPr/>
        </p:nvSpPr>
        <p:spPr>
          <a:xfrm>
            <a:off x="3192601" y="4233672"/>
            <a:ext cx="1871293" cy="54864"/>
          </a:xfrm>
          <a:prstGeom prst="rect">
            <a:avLst/>
          </a:prstGeom>
          <a:solidFill>
            <a:srgbClr val="C8503F"/>
          </a:solidFill>
          <a:ln w="12700">
            <a:solidFill>
              <a:srgbClr val="C8503F"/>
            </a:solidFill>
            <a:prstDash val="solid"/>
          </a:ln>
        </p:spPr>
      </p:sp>
      <p:sp>
        <p:nvSpPr>
          <p:cNvPr id="70" name="Text 68"/>
          <p:cNvSpPr/>
          <p:nvPr/>
        </p:nvSpPr>
        <p:spPr>
          <a:xfrm>
            <a:off x="3210889" y="4306824"/>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Mon 5 Oct 2026</a:t>
            </a:r>
            <a:endParaRPr lang="en-US" sz="950" dirty="0"/>
          </a:p>
        </p:txBody>
      </p:sp>
      <p:sp>
        <p:nvSpPr>
          <p:cNvPr id="71" name="Text 69"/>
          <p:cNvSpPr/>
          <p:nvPr/>
        </p:nvSpPr>
        <p:spPr>
          <a:xfrm>
            <a:off x="3210889" y="4553712"/>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C8503F"/>
                </a:solidFill>
                <a:latin typeface="Calibri" pitchFamily="34" charset="0"/>
                <a:ea typeface="Calibri" pitchFamily="34" charset="-122"/>
                <a:cs typeface="Calibri" pitchFamily="34" charset="-120"/>
              </a:rPr>
              <a:t>Phase 1 – Suspension &amp; Site Assessment</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Detailed Action Plan Requested</a:t>
            </a:r>
            <a:endParaRPr lang="en-US" sz="650" dirty="0"/>
          </a:p>
        </p:txBody>
      </p:sp>
      <p:sp>
        <p:nvSpPr>
          <p:cNvPr id="72" name="Shape 70"/>
          <p:cNvSpPr/>
          <p:nvPr/>
        </p:nvSpPr>
        <p:spPr>
          <a:xfrm>
            <a:off x="4779085" y="2624328"/>
            <a:ext cx="0" cy="1005840"/>
          </a:xfrm>
          <a:prstGeom prst="line">
            <a:avLst/>
          </a:prstGeom>
          <a:noFill/>
          <a:ln w="19050">
            <a:solidFill>
              <a:srgbClr val="00778B">
                <a:alpha val="65000"/>
              </a:srgbClr>
            </a:solidFill>
            <a:prstDash val="solid"/>
          </a:ln>
        </p:spPr>
      </p:sp>
      <p:sp>
        <p:nvSpPr>
          <p:cNvPr id="73" name="Shape 71"/>
          <p:cNvSpPr/>
          <p:nvPr/>
        </p:nvSpPr>
        <p:spPr>
          <a:xfrm>
            <a:off x="4568773" y="3630168"/>
            <a:ext cx="420624" cy="420624"/>
          </a:xfrm>
          <a:prstGeom prst="ellipse">
            <a:avLst/>
          </a:prstGeom>
          <a:solidFill>
            <a:srgbClr val="00778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74" name="Text 72"/>
          <p:cNvSpPr/>
          <p:nvPr/>
        </p:nvSpPr>
        <p:spPr>
          <a:xfrm>
            <a:off x="4568773"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75" name="Shape 73"/>
          <p:cNvSpPr/>
          <p:nvPr/>
        </p:nvSpPr>
        <p:spPr>
          <a:xfrm>
            <a:off x="3770286" y="191109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76" name="Shape 74"/>
          <p:cNvSpPr/>
          <p:nvPr/>
        </p:nvSpPr>
        <p:spPr>
          <a:xfrm>
            <a:off x="3843438" y="1911096"/>
            <a:ext cx="1871293" cy="54864"/>
          </a:xfrm>
          <a:prstGeom prst="rect">
            <a:avLst/>
          </a:prstGeom>
          <a:solidFill>
            <a:srgbClr val="00778B"/>
          </a:solidFill>
          <a:ln w="12700">
            <a:solidFill>
              <a:srgbClr val="00778B"/>
            </a:solidFill>
            <a:prstDash val="solid"/>
          </a:ln>
        </p:spPr>
      </p:sp>
      <p:sp>
        <p:nvSpPr>
          <p:cNvPr id="77" name="Text 75"/>
          <p:cNvSpPr/>
          <p:nvPr/>
        </p:nvSpPr>
        <p:spPr>
          <a:xfrm>
            <a:off x="3861726" y="1984248"/>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Wed 7 Oct 2026</a:t>
            </a:r>
            <a:endParaRPr lang="en-US" sz="950" dirty="0"/>
          </a:p>
        </p:txBody>
      </p:sp>
      <p:sp>
        <p:nvSpPr>
          <p:cNvPr id="78" name="Text 76"/>
          <p:cNvSpPr/>
          <p:nvPr/>
        </p:nvSpPr>
        <p:spPr>
          <a:xfrm>
            <a:off x="3861726" y="2231136"/>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00778B"/>
                </a:solidFill>
                <a:latin typeface="Calibri" pitchFamily="34" charset="0"/>
                <a:ea typeface="Calibri" pitchFamily="34" charset="-122"/>
                <a:cs typeface="Calibri" pitchFamily="34" charset="-120"/>
              </a:rPr>
              <a:t>Phase 2 – Method Statement Preparation &amp; Review</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Method Statement (MoS) Submitted</a:t>
            </a:r>
            <a:endParaRPr lang="en-US" sz="650" dirty="0"/>
          </a:p>
        </p:txBody>
      </p:sp>
      <p:sp>
        <p:nvSpPr>
          <p:cNvPr id="79" name="Shape 77"/>
          <p:cNvSpPr/>
          <p:nvPr/>
        </p:nvSpPr>
        <p:spPr>
          <a:xfrm>
            <a:off x="5429922" y="4050792"/>
            <a:ext cx="0" cy="1005840"/>
          </a:xfrm>
          <a:prstGeom prst="line">
            <a:avLst/>
          </a:prstGeom>
          <a:noFill/>
          <a:ln w="19050">
            <a:solidFill>
              <a:srgbClr val="00778B">
                <a:alpha val="65000"/>
              </a:srgbClr>
            </a:solidFill>
            <a:prstDash val="solid"/>
          </a:ln>
        </p:spPr>
      </p:sp>
      <p:sp>
        <p:nvSpPr>
          <p:cNvPr id="80" name="Shape 78"/>
          <p:cNvSpPr/>
          <p:nvPr/>
        </p:nvSpPr>
        <p:spPr>
          <a:xfrm>
            <a:off x="5219610" y="3630168"/>
            <a:ext cx="420624" cy="420624"/>
          </a:xfrm>
          <a:prstGeom prst="ellipse">
            <a:avLst/>
          </a:prstGeom>
          <a:solidFill>
            <a:srgbClr val="00778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81" name="Text 79"/>
          <p:cNvSpPr/>
          <p:nvPr/>
        </p:nvSpPr>
        <p:spPr>
          <a:xfrm>
            <a:off x="5219610"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82" name="Shape 80"/>
          <p:cNvSpPr/>
          <p:nvPr/>
        </p:nvSpPr>
        <p:spPr>
          <a:xfrm>
            <a:off x="4421124" y="5056632"/>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83" name="Shape 81"/>
          <p:cNvSpPr/>
          <p:nvPr/>
        </p:nvSpPr>
        <p:spPr>
          <a:xfrm>
            <a:off x="4494276" y="5056632"/>
            <a:ext cx="1871293" cy="54864"/>
          </a:xfrm>
          <a:prstGeom prst="rect">
            <a:avLst/>
          </a:prstGeom>
          <a:solidFill>
            <a:srgbClr val="00778B"/>
          </a:solidFill>
          <a:ln w="12700">
            <a:solidFill>
              <a:srgbClr val="00778B"/>
            </a:solidFill>
            <a:prstDash val="solid"/>
          </a:ln>
        </p:spPr>
      </p:sp>
      <p:sp>
        <p:nvSpPr>
          <p:cNvPr id="84" name="Text 82"/>
          <p:cNvSpPr/>
          <p:nvPr/>
        </p:nvSpPr>
        <p:spPr>
          <a:xfrm>
            <a:off x="4512564" y="5129784"/>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Wed 7 Oct 2026</a:t>
            </a:r>
            <a:endParaRPr lang="en-US" sz="950" dirty="0"/>
          </a:p>
        </p:txBody>
      </p:sp>
      <p:sp>
        <p:nvSpPr>
          <p:cNvPr id="85" name="Text 83"/>
          <p:cNvSpPr/>
          <p:nvPr/>
        </p:nvSpPr>
        <p:spPr>
          <a:xfrm>
            <a:off x="4512564" y="5376672"/>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00778B"/>
                </a:solidFill>
                <a:latin typeface="Calibri" pitchFamily="34" charset="0"/>
                <a:ea typeface="Calibri" pitchFamily="34" charset="-122"/>
                <a:cs typeface="Calibri" pitchFamily="34" charset="-120"/>
              </a:rPr>
              <a:t>Phase 2 – Method Statement Preparation &amp; Review</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Stakeholders Meeting</a:t>
            </a:r>
            <a:endParaRPr lang="en-US" sz="650" dirty="0"/>
          </a:p>
        </p:txBody>
      </p:sp>
      <p:sp>
        <p:nvSpPr>
          <p:cNvPr id="86" name="Shape 84"/>
          <p:cNvSpPr/>
          <p:nvPr/>
        </p:nvSpPr>
        <p:spPr>
          <a:xfrm>
            <a:off x="6080760" y="3447288"/>
            <a:ext cx="0" cy="182880"/>
          </a:xfrm>
          <a:prstGeom prst="line">
            <a:avLst/>
          </a:prstGeom>
          <a:noFill/>
          <a:ln w="19050">
            <a:solidFill>
              <a:srgbClr val="00778B">
                <a:alpha val="65000"/>
              </a:srgbClr>
            </a:solidFill>
            <a:prstDash val="solid"/>
          </a:ln>
        </p:spPr>
      </p:sp>
      <p:sp>
        <p:nvSpPr>
          <p:cNvPr id="87" name="Shape 85"/>
          <p:cNvSpPr/>
          <p:nvPr/>
        </p:nvSpPr>
        <p:spPr>
          <a:xfrm>
            <a:off x="5870448" y="3630168"/>
            <a:ext cx="420624" cy="420624"/>
          </a:xfrm>
          <a:prstGeom prst="ellipse">
            <a:avLst/>
          </a:prstGeom>
          <a:solidFill>
            <a:srgbClr val="00778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88" name="Text 86"/>
          <p:cNvSpPr/>
          <p:nvPr/>
        </p:nvSpPr>
        <p:spPr>
          <a:xfrm>
            <a:off x="5870448"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89" name="Shape 87"/>
          <p:cNvSpPr/>
          <p:nvPr/>
        </p:nvSpPr>
        <p:spPr>
          <a:xfrm>
            <a:off x="5071962" y="273405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90" name="Shape 88"/>
          <p:cNvSpPr/>
          <p:nvPr/>
        </p:nvSpPr>
        <p:spPr>
          <a:xfrm>
            <a:off x="5145114" y="2734056"/>
            <a:ext cx="1871293" cy="54864"/>
          </a:xfrm>
          <a:prstGeom prst="rect">
            <a:avLst/>
          </a:prstGeom>
          <a:solidFill>
            <a:srgbClr val="00778B"/>
          </a:solidFill>
          <a:ln w="12700">
            <a:solidFill>
              <a:srgbClr val="00778B"/>
            </a:solidFill>
            <a:prstDash val="solid"/>
          </a:ln>
        </p:spPr>
      </p:sp>
      <p:sp>
        <p:nvSpPr>
          <p:cNvPr id="91" name="Text 89"/>
          <p:cNvSpPr/>
          <p:nvPr/>
        </p:nvSpPr>
        <p:spPr>
          <a:xfrm>
            <a:off x="5163402" y="2807208"/>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Thu 8 Oct 2026</a:t>
            </a:r>
            <a:endParaRPr lang="en-US" sz="950" dirty="0"/>
          </a:p>
        </p:txBody>
      </p:sp>
      <p:sp>
        <p:nvSpPr>
          <p:cNvPr id="92" name="Text 90"/>
          <p:cNvSpPr/>
          <p:nvPr/>
        </p:nvSpPr>
        <p:spPr>
          <a:xfrm>
            <a:off x="5163402" y="3054096"/>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00778B"/>
                </a:solidFill>
                <a:latin typeface="Calibri" pitchFamily="34" charset="0"/>
                <a:ea typeface="Calibri" pitchFamily="34" charset="-122"/>
                <a:cs typeface="Calibri" pitchFamily="34" charset="-120"/>
              </a:rPr>
              <a:t>Phase 2 – Method Statement Preparation &amp; Review</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Stakeholders’ Clarifications Answered</a:t>
            </a:r>
            <a:endParaRPr lang="en-US" sz="650" dirty="0"/>
          </a:p>
        </p:txBody>
      </p:sp>
      <p:sp>
        <p:nvSpPr>
          <p:cNvPr id="93" name="Shape 91"/>
          <p:cNvSpPr/>
          <p:nvPr/>
        </p:nvSpPr>
        <p:spPr>
          <a:xfrm>
            <a:off x="6731598" y="4050792"/>
            <a:ext cx="0" cy="182880"/>
          </a:xfrm>
          <a:prstGeom prst="line">
            <a:avLst/>
          </a:prstGeom>
          <a:noFill/>
          <a:ln w="19050">
            <a:solidFill>
              <a:srgbClr val="00778B">
                <a:alpha val="65000"/>
              </a:srgbClr>
            </a:solidFill>
            <a:prstDash val="solid"/>
          </a:ln>
        </p:spPr>
      </p:sp>
      <p:sp>
        <p:nvSpPr>
          <p:cNvPr id="94" name="Shape 92"/>
          <p:cNvSpPr/>
          <p:nvPr/>
        </p:nvSpPr>
        <p:spPr>
          <a:xfrm>
            <a:off x="6521286" y="3630168"/>
            <a:ext cx="420624" cy="420624"/>
          </a:xfrm>
          <a:prstGeom prst="ellipse">
            <a:avLst/>
          </a:prstGeom>
          <a:solidFill>
            <a:srgbClr val="00778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95" name="Text 93"/>
          <p:cNvSpPr/>
          <p:nvPr/>
        </p:nvSpPr>
        <p:spPr>
          <a:xfrm>
            <a:off x="6521286"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96" name="Shape 94"/>
          <p:cNvSpPr/>
          <p:nvPr/>
        </p:nvSpPr>
        <p:spPr>
          <a:xfrm>
            <a:off x="5722799" y="4233672"/>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97" name="Shape 95"/>
          <p:cNvSpPr/>
          <p:nvPr/>
        </p:nvSpPr>
        <p:spPr>
          <a:xfrm>
            <a:off x="5795951" y="4233672"/>
            <a:ext cx="1871293" cy="54864"/>
          </a:xfrm>
          <a:prstGeom prst="rect">
            <a:avLst/>
          </a:prstGeom>
          <a:solidFill>
            <a:srgbClr val="00778B"/>
          </a:solidFill>
          <a:ln w="12700">
            <a:solidFill>
              <a:srgbClr val="00778B"/>
            </a:solidFill>
            <a:prstDash val="solid"/>
          </a:ln>
        </p:spPr>
      </p:sp>
      <p:sp>
        <p:nvSpPr>
          <p:cNvPr id="98" name="Text 96"/>
          <p:cNvSpPr/>
          <p:nvPr/>
        </p:nvSpPr>
        <p:spPr>
          <a:xfrm>
            <a:off x="5814239" y="4306824"/>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Sun 11 Oct 2026</a:t>
            </a:r>
            <a:endParaRPr lang="en-US" sz="950" dirty="0"/>
          </a:p>
        </p:txBody>
      </p:sp>
      <p:sp>
        <p:nvSpPr>
          <p:cNvPr id="99" name="Text 97"/>
          <p:cNvSpPr/>
          <p:nvPr/>
        </p:nvSpPr>
        <p:spPr>
          <a:xfrm>
            <a:off x="5814239" y="4553712"/>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00778B"/>
                </a:solidFill>
                <a:latin typeface="Calibri" pitchFamily="34" charset="0"/>
                <a:ea typeface="Calibri" pitchFamily="34" charset="-122"/>
                <a:cs typeface="Calibri" pitchFamily="34" charset="-120"/>
              </a:rPr>
              <a:t>Phase 2 – Method Statement Preparation &amp; Review</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Engineering Clarification Received</a:t>
            </a:r>
            <a:endParaRPr lang="en-US" sz="650" dirty="0"/>
          </a:p>
        </p:txBody>
      </p:sp>
      <p:sp>
        <p:nvSpPr>
          <p:cNvPr id="100" name="Shape 98"/>
          <p:cNvSpPr/>
          <p:nvPr/>
        </p:nvSpPr>
        <p:spPr>
          <a:xfrm>
            <a:off x="7382435" y="2624328"/>
            <a:ext cx="0" cy="1005840"/>
          </a:xfrm>
          <a:prstGeom prst="line">
            <a:avLst/>
          </a:prstGeom>
          <a:noFill/>
          <a:ln w="19050">
            <a:solidFill>
              <a:srgbClr val="00778B">
                <a:alpha val="65000"/>
              </a:srgbClr>
            </a:solidFill>
            <a:prstDash val="solid"/>
          </a:ln>
        </p:spPr>
      </p:sp>
      <p:sp>
        <p:nvSpPr>
          <p:cNvPr id="101" name="Shape 99"/>
          <p:cNvSpPr/>
          <p:nvPr/>
        </p:nvSpPr>
        <p:spPr>
          <a:xfrm>
            <a:off x="7172123" y="3630168"/>
            <a:ext cx="420624" cy="420624"/>
          </a:xfrm>
          <a:prstGeom prst="ellipse">
            <a:avLst/>
          </a:prstGeom>
          <a:solidFill>
            <a:srgbClr val="00778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102" name="Text 100"/>
          <p:cNvSpPr/>
          <p:nvPr/>
        </p:nvSpPr>
        <p:spPr>
          <a:xfrm>
            <a:off x="7172123"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103" name="Shape 101"/>
          <p:cNvSpPr/>
          <p:nvPr/>
        </p:nvSpPr>
        <p:spPr>
          <a:xfrm>
            <a:off x="6373637" y="191109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104" name="Shape 102"/>
          <p:cNvSpPr/>
          <p:nvPr/>
        </p:nvSpPr>
        <p:spPr>
          <a:xfrm>
            <a:off x="6446789" y="1911096"/>
            <a:ext cx="1871293" cy="54864"/>
          </a:xfrm>
          <a:prstGeom prst="rect">
            <a:avLst/>
          </a:prstGeom>
          <a:solidFill>
            <a:srgbClr val="00778B"/>
          </a:solidFill>
          <a:ln w="12700">
            <a:solidFill>
              <a:srgbClr val="00778B"/>
            </a:solidFill>
            <a:prstDash val="solid"/>
          </a:ln>
        </p:spPr>
      </p:sp>
      <p:sp>
        <p:nvSpPr>
          <p:cNvPr id="105" name="Text 103"/>
          <p:cNvSpPr/>
          <p:nvPr/>
        </p:nvSpPr>
        <p:spPr>
          <a:xfrm>
            <a:off x="6465077" y="1984248"/>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Mon 12 Oct 2026</a:t>
            </a:r>
            <a:endParaRPr lang="en-US" sz="950" dirty="0"/>
          </a:p>
        </p:txBody>
      </p:sp>
      <p:sp>
        <p:nvSpPr>
          <p:cNvPr id="106" name="Text 104"/>
          <p:cNvSpPr/>
          <p:nvPr/>
        </p:nvSpPr>
        <p:spPr>
          <a:xfrm>
            <a:off x="6465077" y="2231136"/>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00778B"/>
                </a:solidFill>
                <a:latin typeface="Calibri" pitchFamily="34" charset="0"/>
                <a:ea typeface="Calibri" pitchFamily="34" charset="-122"/>
                <a:cs typeface="Calibri" pitchFamily="34" charset="-120"/>
              </a:rPr>
              <a:t>Phase 2 – Method Statement Preparation &amp; Review</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MoS Revision 2 Submitted</a:t>
            </a:r>
            <a:endParaRPr lang="en-US" sz="650" dirty="0"/>
          </a:p>
        </p:txBody>
      </p:sp>
      <p:sp>
        <p:nvSpPr>
          <p:cNvPr id="107" name="Shape 105"/>
          <p:cNvSpPr/>
          <p:nvPr/>
        </p:nvSpPr>
        <p:spPr>
          <a:xfrm>
            <a:off x="8033273" y="4050792"/>
            <a:ext cx="0" cy="1005840"/>
          </a:xfrm>
          <a:prstGeom prst="line">
            <a:avLst/>
          </a:prstGeom>
          <a:noFill/>
          <a:ln w="19050">
            <a:solidFill>
              <a:srgbClr val="2E9E6B">
                <a:alpha val="65000"/>
              </a:srgbClr>
            </a:solidFill>
            <a:prstDash val="solid"/>
          </a:ln>
        </p:spPr>
      </p:sp>
      <p:sp>
        <p:nvSpPr>
          <p:cNvPr id="108" name="Shape 106"/>
          <p:cNvSpPr/>
          <p:nvPr/>
        </p:nvSpPr>
        <p:spPr>
          <a:xfrm>
            <a:off x="7822961" y="3630168"/>
            <a:ext cx="420624" cy="420624"/>
          </a:xfrm>
          <a:prstGeom prst="ellipse">
            <a:avLst/>
          </a:prstGeom>
          <a:solidFill>
            <a:srgbClr val="2E9E6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109" name="Text 107"/>
          <p:cNvSpPr/>
          <p:nvPr/>
        </p:nvSpPr>
        <p:spPr>
          <a:xfrm>
            <a:off x="7822961"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110" name="Shape 108"/>
          <p:cNvSpPr/>
          <p:nvPr/>
        </p:nvSpPr>
        <p:spPr>
          <a:xfrm>
            <a:off x="7024475" y="5056632"/>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111" name="Shape 109"/>
          <p:cNvSpPr/>
          <p:nvPr/>
        </p:nvSpPr>
        <p:spPr>
          <a:xfrm>
            <a:off x="7097627" y="5056632"/>
            <a:ext cx="1871293" cy="54864"/>
          </a:xfrm>
          <a:prstGeom prst="rect">
            <a:avLst/>
          </a:prstGeom>
          <a:solidFill>
            <a:srgbClr val="2E9E6B"/>
          </a:solidFill>
          <a:ln w="12700">
            <a:solidFill>
              <a:srgbClr val="2E9E6B"/>
            </a:solidFill>
            <a:prstDash val="solid"/>
          </a:ln>
        </p:spPr>
      </p:sp>
      <p:sp>
        <p:nvSpPr>
          <p:cNvPr id="112" name="Text 110"/>
          <p:cNvSpPr/>
          <p:nvPr/>
        </p:nvSpPr>
        <p:spPr>
          <a:xfrm>
            <a:off x="7115915" y="5129784"/>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Tue 13 Oct 2026</a:t>
            </a:r>
            <a:endParaRPr lang="en-US" sz="950" dirty="0"/>
          </a:p>
        </p:txBody>
      </p:sp>
      <p:sp>
        <p:nvSpPr>
          <p:cNvPr id="113" name="Text 111"/>
          <p:cNvSpPr/>
          <p:nvPr/>
        </p:nvSpPr>
        <p:spPr>
          <a:xfrm>
            <a:off x="7115915" y="5376672"/>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2E9E6B"/>
                </a:solidFill>
                <a:latin typeface="Calibri" pitchFamily="34" charset="0"/>
                <a:ea typeface="Calibri" pitchFamily="34" charset="-122"/>
                <a:cs typeface="Calibri" pitchFamily="34" charset="-120"/>
              </a:rPr>
              <a:t>Phase 3 – Work Permit Issuance</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Safety Department Contacted</a:t>
            </a:r>
            <a:endParaRPr lang="en-US" sz="650" dirty="0"/>
          </a:p>
        </p:txBody>
      </p:sp>
      <p:sp>
        <p:nvSpPr>
          <p:cNvPr id="114" name="Shape 112"/>
          <p:cNvSpPr/>
          <p:nvPr/>
        </p:nvSpPr>
        <p:spPr>
          <a:xfrm>
            <a:off x="8684111" y="3447288"/>
            <a:ext cx="0" cy="182880"/>
          </a:xfrm>
          <a:prstGeom prst="line">
            <a:avLst/>
          </a:prstGeom>
          <a:noFill/>
          <a:ln w="19050">
            <a:solidFill>
              <a:srgbClr val="2E9E6B">
                <a:alpha val="65000"/>
              </a:srgbClr>
            </a:solidFill>
            <a:prstDash val="solid"/>
          </a:ln>
        </p:spPr>
      </p:sp>
      <p:sp>
        <p:nvSpPr>
          <p:cNvPr id="115" name="Shape 113"/>
          <p:cNvSpPr/>
          <p:nvPr/>
        </p:nvSpPr>
        <p:spPr>
          <a:xfrm>
            <a:off x="8473799" y="3630168"/>
            <a:ext cx="420624" cy="420624"/>
          </a:xfrm>
          <a:prstGeom prst="ellipse">
            <a:avLst/>
          </a:prstGeom>
          <a:solidFill>
            <a:srgbClr val="2E9E6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116" name="Text 114"/>
          <p:cNvSpPr/>
          <p:nvPr/>
        </p:nvSpPr>
        <p:spPr>
          <a:xfrm>
            <a:off x="8473799"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117" name="Shape 115"/>
          <p:cNvSpPr/>
          <p:nvPr/>
        </p:nvSpPr>
        <p:spPr>
          <a:xfrm>
            <a:off x="7675312" y="273405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118" name="Shape 116"/>
          <p:cNvSpPr/>
          <p:nvPr/>
        </p:nvSpPr>
        <p:spPr>
          <a:xfrm>
            <a:off x="7748464" y="2734056"/>
            <a:ext cx="1871293" cy="54864"/>
          </a:xfrm>
          <a:prstGeom prst="rect">
            <a:avLst/>
          </a:prstGeom>
          <a:solidFill>
            <a:srgbClr val="2E9E6B"/>
          </a:solidFill>
          <a:ln w="12700">
            <a:solidFill>
              <a:srgbClr val="2E9E6B"/>
            </a:solidFill>
            <a:prstDash val="solid"/>
          </a:ln>
        </p:spPr>
      </p:sp>
      <p:sp>
        <p:nvSpPr>
          <p:cNvPr id="119" name="Text 117"/>
          <p:cNvSpPr/>
          <p:nvPr/>
        </p:nvSpPr>
        <p:spPr>
          <a:xfrm>
            <a:off x="7766752" y="2807208"/>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Wed 14 Oct 2026</a:t>
            </a:r>
            <a:endParaRPr lang="en-US" sz="950" dirty="0"/>
          </a:p>
        </p:txBody>
      </p:sp>
      <p:sp>
        <p:nvSpPr>
          <p:cNvPr id="120" name="Text 118"/>
          <p:cNvSpPr/>
          <p:nvPr/>
        </p:nvSpPr>
        <p:spPr>
          <a:xfrm>
            <a:off x="7766752" y="3054096"/>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2E9E6B"/>
                </a:solidFill>
                <a:latin typeface="Calibri" pitchFamily="34" charset="0"/>
                <a:ea typeface="Calibri" pitchFamily="34" charset="-122"/>
                <a:cs typeface="Calibri" pitchFamily="34" charset="-120"/>
              </a:rPr>
              <a:t>Phase 3 – Work Permit Issuance</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Permit Circulated for Approvals</a:t>
            </a:r>
            <a:endParaRPr lang="en-US" sz="650" dirty="0"/>
          </a:p>
        </p:txBody>
      </p:sp>
      <p:sp>
        <p:nvSpPr>
          <p:cNvPr id="121" name="Shape 119"/>
          <p:cNvSpPr/>
          <p:nvPr/>
        </p:nvSpPr>
        <p:spPr>
          <a:xfrm>
            <a:off x="9334948" y="4050792"/>
            <a:ext cx="0" cy="182880"/>
          </a:xfrm>
          <a:prstGeom prst="line">
            <a:avLst/>
          </a:prstGeom>
          <a:noFill/>
          <a:ln w="19050">
            <a:solidFill>
              <a:srgbClr val="2E9E6B">
                <a:alpha val="65000"/>
              </a:srgbClr>
            </a:solidFill>
            <a:prstDash val="solid"/>
          </a:ln>
        </p:spPr>
      </p:sp>
      <p:sp>
        <p:nvSpPr>
          <p:cNvPr id="122" name="Shape 120"/>
          <p:cNvSpPr/>
          <p:nvPr/>
        </p:nvSpPr>
        <p:spPr>
          <a:xfrm>
            <a:off x="9124636" y="3630168"/>
            <a:ext cx="420624" cy="420624"/>
          </a:xfrm>
          <a:prstGeom prst="ellipse">
            <a:avLst/>
          </a:prstGeom>
          <a:solidFill>
            <a:srgbClr val="2E9E6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123" name="Text 121"/>
          <p:cNvSpPr/>
          <p:nvPr/>
        </p:nvSpPr>
        <p:spPr>
          <a:xfrm>
            <a:off x="9124636"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14</a:t>
            </a:r>
            <a:endParaRPr lang="en-US" sz="1100" dirty="0"/>
          </a:p>
        </p:txBody>
      </p:sp>
      <p:sp>
        <p:nvSpPr>
          <p:cNvPr id="124" name="Shape 122"/>
          <p:cNvSpPr/>
          <p:nvPr/>
        </p:nvSpPr>
        <p:spPr>
          <a:xfrm>
            <a:off x="8326150" y="4233672"/>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125" name="Shape 123"/>
          <p:cNvSpPr/>
          <p:nvPr/>
        </p:nvSpPr>
        <p:spPr>
          <a:xfrm>
            <a:off x="8399302" y="4233672"/>
            <a:ext cx="1871293" cy="54864"/>
          </a:xfrm>
          <a:prstGeom prst="rect">
            <a:avLst/>
          </a:prstGeom>
          <a:solidFill>
            <a:srgbClr val="2E9E6B"/>
          </a:solidFill>
          <a:ln w="12700">
            <a:solidFill>
              <a:srgbClr val="2E9E6B"/>
            </a:solidFill>
            <a:prstDash val="solid"/>
          </a:ln>
        </p:spPr>
      </p:sp>
      <p:sp>
        <p:nvSpPr>
          <p:cNvPr id="126" name="Text 124"/>
          <p:cNvSpPr/>
          <p:nvPr/>
        </p:nvSpPr>
        <p:spPr>
          <a:xfrm>
            <a:off x="8417590" y="4306824"/>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Thu 15 Oct 2026</a:t>
            </a:r>
            <a:endParaRPr lang="en-US" sz="950" dirty="0"/>
          </a:p>
        </p:txBody>
      </p:sp>
      <p:sp>
        <p:nvSpPr>
          <p:cNvPr id="127" name="Text 125"/>
          <p:cNvSpPr/>
          <p:nvPr/>
        </p:nvSpPr>
        <p:spPr>
          <a:xfrm>
            <a:off x="8417590" y="4553712"/>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2E9E6B"/>
                </a:solidFill>
                <a:latin typeface="Calibri" pitchFamily="34" charset="0"/>
                <a:ea typeface="Calibri" pitchFamily="34" charset="-122"/>
                <a:cs typeface="Calibri" pitchFamily="34" charset="-120"/>
              </a:rPr>
              <a:t>Phase 3 – Work Permit Issuance</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Further Department Comments</a:t>
            </a:r>
            <a:endParaRPr lang="en-US" sz="650" dirty="0"/>
          </a:p>
        </p:txBody>
      </p:sp>
      <p:sp>
        <p:nvSpPr>
          <p:cNvPr id="128" name="Shape 126"/>
          <p:cNvSpPr/>
          <p:nvPr/>
        </p:nvSpPr>
        <p:spPr>
          <a:xfrm>
            <a:off x="9985786" y="2624328"/>
            <a:ext cx="0" cy="1005840"/>
          </a:xfrm>
          <a:prstGeom prst="line">
            <a:avLst/>
          </a:prstGeom>
          <a:noFill/>
          <a:ln w="19050">
            <a:solidFill>
              <a:srgbClr val="2E9E6B">
                <a:alpha val="65000"/>
              </a:srgbClr>
            </a:solidFill>
            <a:prstDash val="solid"/>
          </a:ln>
        </p:spPr>
      </p:sp>
      <p:sp>
        <p:nvSpPr>
          <p:cNvPr id="129" name="Shape 127"/>
          <p:cNvSpPr/>
          <p:nvPr/>
        </p:nvSpPr>
        <p:spPr>
          <a:xfrm>
            <a:off x="9775474" y="3630168"/>
            <a:ext cx="420624" cy="420624"/>
          </a:xfrm>
          <a:prstGeom prst="ellipse">
            <a:avLst/>
          </a:prstGeom>
          <a:solidFill>
            <a:srgbClr val="2E9E6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130" name="Text 128"/>
          <p:cNvSpPr/>
          <p:nvPr/>
        </p:nvSpPr>
        <p:spPr>
          <a:xfrm>
            <a:off x="9775474"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15</a:t>
            </a:r>
            <a:endParaRPr lang="en-US" sz="1100" dirty="0"/>
          </a:p>
        </p:txBody>
      </p:sp>
      <p:sp>
        <p:nvSpPr>
          <p:cNvPr id="131" name="Shape 129"/>
          <p:cNvSpPr/>
          <p:nvPr/>
        </p:nvSpPr>
        <p:spPr>
          <a:xfrm>
            <a:off x="8976988" y="191109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132" name="Shape 130"/>
          <p:cNvSpPr/>
          <p:nvPr/>
        </p:nvSpPr>
        <p:spPr>
          <a:xfrm>
            <a:off x="9050140" y="1911096"/>
            <a:ext cx="1871293" cy="54864"/>
          </a:xfrm>
          <a:prstGeom prst="rect">
            <a:avLst/>
          </a:prstGeom>
          <a:solidFill>
            <a:srgbClr val="2E9E6B"/>
          </a:solidFill>
          <a:ln w="12700">
            <a:solidFill>
              <a:srgbClr val="2E9E6B"/>
            </a:solidFill>
            <a:prstDash val="solid"/>
          </a:ln>
        </p:spPr>
      </p:sp>
      <p:sp>
        <p:nvSpPr>
          <p:cNvPr id="133" name="Text 131"/>
          <p:cNvSpPr/>
          <p:nvPr/>
        </p:nvSpPr>
        <p:spPr>
          <a:xfrm>
            <a:off x="9068428" y="1984248"/>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Mon 19 Oct 2026</a:t>
            </a:r>
            <a:endParaRPr lang="en-US" sz="950" dirty="0"/>
          </a:p>
        </p:txBody>
      </p:sp>
      <p:sp>
        <p:nvSpPr>
          <p:cNvPr id="134" name="Text 132"/>
          <p:cNvSpPr/>
          <p:nvPr/>
        </p:nvSpPr>
        <p:spPr>
          <a:xfrm>
            <a:off x="9068428" y="2231136"/>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2E9E6B"/>
                </a:solidFill>
                <a:latin typeface="Calibri" pitchFamily="34" charset="0"/>
                <a:ea typeface="Calibri" pitchFamily="34" charset="-122"/>
                <a:cs typeface="Calibri" pitchFamily="34" charset="-120"/>
              </a:rPr>
              <a:t>Phase 3 – Work Permit Issuance</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MoS Revision 3 Submitted</a:t>
            </a:r>
            <a:endParaRPr lang="en-US" sz="650" dirty="0"/>
          </a:p>
        </p:txBody>
      </p:sp>
      <p:sp>
        <p:nvSpPr>
          <p:cNvPr id="135" name="Shape 133"/>
          <p:cNvSpPr/>
          <p:nvPr/>
        </p:nvSpPr>
        <p:spPr>
          <a:xfrm>
            <a:off x="10636624" y="4050792"/>
            <a:ext cx="0" cy="1005840"/>
          </a:xfrm>
          <a:prstGeom prst="line">
            <a:avLst/>
          </a:prstGeom>
          <a:noFill/>
          <a:ln w="19050">
            <a:solidFill>
              <a:srgbClr val="2E9E6B">
                <a:alpha val="65000"/>
              </a:srgbClr>
            </a:solidFill>
            <a:prstDash val="solid"/>
          </a:ln>
        </p:spPr>
      </p:sp>
      <p:sp>
        <p:nvSpPr>
          <p:cNvPr id="136" name="Shape 134"/>
          <p:cNvSpPr/>
          <p:nvPr/>
        </p:nvSpPr>
        <p:spPr>
          <a:xfrm>
            <a:off x="10426312" y="3630168"/>
            <a:ext cx="420624" cy="420624"/>
          </a:xfrm>
          <a:prstGeom prst="ellipse">
            <a:avLst/>
          </a:prstGeom>
          <a:solidFill>
            <a:srgbClr val="2E9E6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137" name="Text 135"/>
          <p:cNvSpPr/>
          <p:nvPr/>
        </p:nvSpPr>
        <p:spPr>
          <a:xfrm>
            <a:off x="10426312"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16</a:t>
            </a:r>
            <a:endParaRPr lang="en-US" sz="1100" dirty="0"/>
          </a:p>
        </p:txBody>
      </p:sp>
      <p:sp>
        <p:nvSpPr>
          <p:cNvPr id="138" name="Shape 136"/>
          <p:cNvSpPr/>
          <p:nvPr/>
        </p:nvSpPr>
        <p:spPr>
          <a:xfrm>
            <a:off x="9627825" y="5056632"/>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139" name="Shape 137"/>
          <p:cNvSpPr/>
          <p:nvPr/>
        </p:nvSpPr>
        <p:spPr>
          <a:xfrm>
            <a:off x="9700977" y="5056632"/>
            <a:ext cx="1871293" cy="54864"/>
          </a:xfrm>
          <a:prstGeom prst="rect">
            <a:avLst/>
          </a:prstGeom>
          <a:solidFill>
            <a:srgbClr val="2E9E6B"/>
          </a:solidFill>
          <a:ln w="12700">
            <a:solidFill>
              <a:srgbClr val="2E9E6B"/>
            </a:solidFill>
            <a:prstDash val="solid"/>
          </a:ln>
        </p:spPr>
      </p:sp>
      <p:sp>
        <p:nvSpPr>
          <p:cNvPr id="140" name="Text 138"/>
          <p:cNvSpPr/>
          <p:nvPr/>
        </p:nvSpPr>
        <p:spPr>
          <a:xfrm>
            <a:off x="9719265" y="5129784"/>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Tue 20 Oct 2026</a:t>
            </a:r>
            <a:endParaRPr lang="en-US" sz="950" dirty="0"/>
          </a:p>
        </p:txBody>
      </p:sp>
      <p:sp>
        <p:nvSpPr>
          <p:cNvPr id="141" name="Text 139"/>
          <p:cNvSpPr/>
          <p:nvPr/>
        </p:nvSpPr>
        <p:spPr>
          <a:xfrm>
            <a:off x="9719265" y="5376672"/>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2E9E6B"/>
                </a:solidFill>
                <a:latin typeface="Calibri" pitchFamily="34" charset="0"/>
                <a:ea typeface="Calibri" pitchFamily="34" charset="-122"/>
                <a:cs typeface="Calibri" pitchFamily="34" charset="-120"/>
              </a:rPr>
              <a:t>Phase 3 – Work Permit Issuance</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Last Clarification Cleared</a:t>
            </a:r>
            <a:endParaRPr lang="en-US" sz="650" dirty="0"/>
          </a:p>
        </p:txBody>
      </p:sp>
      <p:sp>
        <p:nvSpPr>
          <p:cNvPr id="142" name="Shape 140"/>
          <p:cNvSpPr/>
          <p:nvPr/>
        </p:nvSpPr>
        <p:spPr>
          <a:xfrm>
            <a:off x="11287461" y="3447288"/>
            <a:ext cx="0" cy="182880"/>
          </a:xfrm>
          <a:prstGeom prst="line">
            <a:avLst/>
          </a:prstGeom>
          <a:noFill/>
          <a:ln w="19050">
            <a:solidFill>
              <a:srgbClr val="2E9E6B">
                <a:alpha val="65000"/>
              </a:srgbClr>
            </a:solidFill>
            <a:prstDash val="solid"/>
          </a:ln>
        </p:spPr>
      </p:sp>
      <p:sp>
        <p:nvSpPr>
          <p:cNvPr id="143" name="Shape 141"/>
          <p:cNvSpPr/>
          <p:nvPr/>
        </p:nvSpPr>
        <p:spPr>
          <a:xfrm>
            <a:off x="11077149" y="3630168"/>
            <a:ext cx="420624" cy="420624"/>
          </a:xfrm>
          <a:prstGeom prst="ellipse">
            <a:avLst/>
          </a:prstGeom>
          <a:solidFill>
            <a:srgbClr val="2E9E6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144" name="Text 142"/>
          <p:cNvSpPr/>
          <p:nvPr/>
        </p:nvSpPr>
        <p:spPr>
          <a:xfrm>
            <a:off x="11077149" y="3630168"/>
            <a:ext cx="420624" cy="420624"/>
          </a:xfrm>
          <a:prstGeom prst="rect">
            <a:avLst/>
          </a:prstGeom>
          <a:noFill/>
          <a:ln/>
        </p:spPr>
        <p:txBody>
          <a:bodyPr wrap="square" lIns="0" tIns="0" rIns="0" bIns="0" rtlCol="0" anchor="ctr">
            <a:normAutofit/>
          </a:bodyPr>
          <a:lstStyle/>
          <a:p>
            <a:pPr algn="ctr" indent="0" marL="0">
              <a:buNone/>
            </a:pPr>
            <a:r>
              <a:rPr lang="en-US" altLang="en-US" sz="1100" b="1" dirty="0">
                <a:solidFill>
                  <a:srgbClr val="FFFFFF"/>
                </a:solidFill>
                <a:latin typeface="Calibri" pitchFamily="34" charset="0"/>
                <a:ea typeface="Calibri" pitchFamily="34" charset="-122"/>
                <a:cs typeface="Calibri" pitchFamily="34" charset="-120"/>
              </a:rPr>
              <a:t>17</a:t>
            </a:r>
            <a:endParaRPr lang="en-US" sz="1100" dirty="0"/>
          </a:p>
        </p:txBody>
      </p:sp>
      <p:sp>
        <p:nvSpPr>
          <p:cNvPr id="145" name="Shape 143"/>
          <p:cNvSpPr/>
          <p:nvPr/>
        </p:nvSpPr>
        <p:spPr>
          <a:xfrm>
            <a:off x="9899778" y="273405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146" name="Shape 144"/>
          <p:cNvSpPr/>
          <p:nvPr/>
        </p:nvSpPr>
        <p:spPr>
          <a:xfrm>
            <a:off x="9972930" y="2734056"/>
            <a:ext cx="1871293" cy="54864"/>
          </a:xfrm>
          <a:prstGeom prst="rect">
            <a:avLst/>
          </a:prstGeom>
          <a:solidFill>
            <a:srgbClr val="2E9E6B"/>
          </a:solidFill>
          <a:ln w="12700">
            <a:solidFill>
              <a:srgbClr val="2E9E6B"/>
            </a:solidFill>
            <a:prstDash val="solid"/>
          </a:ln>
        </p:spPr>
      </p:sp>
      <p:sp>
        <p:nvSpPr>
          <p:cNvPr id="147" name="Text 145"/>
          <p:cNvSpPr/>
          <p:nvPr/>
        </p:nvSpPr>
        <p:spPr>
          <a:xfrm>
            <a:off x="9991218" y="2807208"/>
            <a:ext cx="1834717" cy="210312"/>
          </a:xfrm>
          <a:prstGeom prst="rect">
            <a:avLst/>
          </a:prstGeom>
          <a:noFill/>
          <a:ln/>
        </p:spPr>
        <p:txBody>
          <a:bodyPr wrap="square" lIns="0" tIns="0" rIns="0" bIns="0" rtlCol="0" anchor="ctr">
            <a:normAutofit/>
          </a:bodyPr>
          <a:lstStyle/>
          <a:p>
            <a:pPr algn="l" indent="0" marL="0">
              <a:buNone/>
            </a:pPr>
            <a:r>
              <a:rPr lang="en-US" altLang="en-US" sz="950" b="1" dirty="0">
                <a:solidFill>
                  <a:srgbClr val="3D3935"/>
                </a:solidFill>
                <a:latin typeface="Calibri" pitchFamily="34" charset="0"/>
                <a:ea typeface="Calibri" pitchFamily="34" charset="-122"/>
                <a:cs typeface="Calibri" pitchFamily="34" charset="-120"/>
              </a:rPr>
              <a:t>Wed 21 Oct 2026</a:t>
            </a:r>
            <a:endParaRPr lang="en-US" sz="950" dirty="0"/>
          </a:p>
        </p:txBody>
      </p:sp>
      <p:sp>
        <p:nvSpPr>
          <p:cNvPr id="148" name="Text 146"/>
          <p:cNvSpPr/>
          <p:nvPr/>
        </p:nvSpPr>
        <p:spPr>
          <a:xfrm>
            <a:off x="9991218" y="3054096"/>
            <a:ext cx="1834717" cy="338328"/>
          </a:xfrm>
          <a:prstGeom prst="rect">
            <a:avLst/>
          </a:prstGeom>
          <a:noFill/>
          <a:ln/>
        </p:spPr>
        <p:txBody>
          <a:bodyPr wrap="square" lIns="0" tIns="0" rIns="0" bIns="0" rtlCol="0" anchor="t">
            <a:normAutofit/>
          </a:bodyPr>
          <a:lstStyle/>
          <a:p>
            <a:pPr algn="l" indent="0" marL="0">
              <a:spcAft>
                <a:spcPts val="100"/>
              </a:spcAft>
              <a:buNone/>
            </a:pPr>
            <a:r>
              <a:rPr lang="en-US" altLang="en-US" sz="650" b="1" dirty="0">
                <a:solidFill>
                  <a:srgbClr val="2E9E6B"/>
                </a:solidFill>
                <a:latin typeface="Calibri" pitchFamily="34" charset="0"/>
                <a:ea typeface="Calibri" pitchFamily="34" charset="-122"/>
                <a:cs typeface="Calibri" pitchFamily="34" charset="-120"/>
              </a:rPr>
              <a:t>Phase 3 – Work Permit Issuance</a:t>
            </a:r>
            <a:endParaRPr lang="en-US" sz="650" dirty="0"/>
          </a:p>
          <a:p>
            <a:pPr algn="l" indent="0" marL="0">
              <a:spcAft>
                <a:spcPts val="100"/>
              </a:spcAft>
              <a:buNone/>
            </a:pPr>
            <a:r>
              <a:rPr lang="en-US" altLang="en-US" sz="900" b="1" dirty="0">
                <a:solidFill>
                  <a:srgbClr val="3D3935"/>
                </a:solidFill>
                <a:latin typeface="Calibri" pitchFamily="34" charset="0"/>
                <a:ea typeface="Calibri" pitchFamily="34" charset="-122"/>
                <a:cs typeface="Calibri" pitchFamily="34" charset="-120"/>
              </a:rPr>
              <a:t>Work Permit Ready for Signature</a:t>
            </a:r>
            <a:endParaRPr lang="en-US" sz="650" dirty="0"/>
          </a:p>
        </p:txBody>
      </p:sp>
      <p:sp>
        <p:nvSpPr>
          <p:cNvPr id="25" name="Slide Number Placeholder 0"/>
          <p:cNvSpPr>
            <a:spLocks noGrp="1"/>
          </p:cNvSpPr>
          <p:nvPr>
            <p:ph type="sldNum" sz="quarter" idx="4294967295"/>
          </p:nvPr>
        </p:nvSpPr>
        <p:spPr>
          <a:xfrm>
            <a:off x="11323015" y="6519672"/>
            <a:ext cx="548640" cy="310896"/>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ct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365760" y="109728"/>
            <a:ext cx="10134295" cy="457200"/>
          </a:xfrm>
          <a:prstGeom prst="rect">
            <a:avLst/>
          </a:prstGeom>
          <a:noFill/>
          <a:ln/>
        </p:spPr>
        <p:txBody>
          <a:bodyPr wrap="square" lIns="0" tIns="0" rIns="0" bIns="0" rtlCol="0" anchor="ctr">
            <a:normAutofit/>
          </a:bodyPr>
          <a:lstStyle/>
          <a:p>
            <a:pPr algn="l" indent="0" marL="0">
              <a:buNone/>
            </a:pPr>
            <a:r>
              <a:rPr lang="en-US" altLang="en-US" sz="2400" b="1" dirty="0">
                <a:solidFill>
                  <a:srgbClr val="3D3935"/>
                </a:solidFill>
                <a:latin typeface="Calibri" pitchFamily="34" charset="0"/>
                <a:ea typeface="Calibri" pitchFamily="34" charset="-122"/>
                <a:cs typeface="Calibri" pitchFamily="34" charset="-120"/>
              </a:rPr>
              <a:t>Remaining Works – Shoring &amp; Pit Works Programme</a:t>
            </a:r>
            <a:endParaRPr lang="en-US" sz="2400" dirty="0"/>
          </a:p>
        </p:txBody>
      </p:sp>
      <p:sp>
        <p:nvSpPr>
          <p:cNvPr id="3" name="Text 1"/>
          <p:cNvSpPr/>
          <p:nvPr/>
        </p:nvSpPr>
        <p:spPr>
          <a:xfrm>
            <a:off x="365760" y="548640"/>
            <a:ext cx="10134295" cy="256032"/>
          </a:xfrm>
          <a:prstGeom prst="rect">
            <a:avLst/>
          </a:prstGeom>
          <a:noFill/>
          <a:ln/>
        </p:spPr>
        <p:txBody>
          <a:bodyPr wrap="square" lIns="0" tIns="0" rIns="0" bIns="0" rtlCol="0" anchor="ctr">
            <a:normAutofit/>
          </a:bodyPr>
          <a:lstStyle/>
          <a:p>
            <a:pPr algn="l" indent="0" marL="0">
              <a:buNone/>
            </a:pPr>
            <a:r>
              <a:rPr lang="en-US" altLang="en-US" sz="1200" dirty="0">
                <a:solidFill>
                  <a:srgbClr val="66707A"/>
                </a:solidFill>
                <a:latin typeface="Calibri" pitchFamily="34" charset="0"/>
                <a:ea typeface="Calibri" pitchFamily="34" charset="-122"/>
                <a:cs typeface="Calibri" pitchFamily="34" charset="-120"/>
              </a:rPr>
              <a:t>RYDN-WLB pit works · Proposed by Gulf Development Company for Contracting · Rev 01 · 12 Oct 2026</a:t>
            </a:r>
            <a:endParaRPr lang="en-US" sz="1200" dirty="0"/>
          </a:p>
        </p:txBody>
      </p:sp>
      <p:sp>
        <p:nvSpPr>
          <p:cNvPr id="4" name="Shape 2"/>
          <p:cNvSpPr/>
          <p:nvPr/>
        </p:nvSpPr>
        <p:spPr>
          <a:xfrm>
            <a:off x="365760" y="1069848"/>
            <a:ext cx="274320" cy="109728"/>
          </a:xfrm>
          <a:prstGeom prst="roundRect">
            <a:avLst>
              <a:gd name="adj" fmla="val 25000"/>
            </a:avLst>
          </a:prstGeom>
          <a:solidFill>
            <a:srgbClr val="00778B"/>
          </a:solidFill>
          <a:ln w="19050">
            <a:solidFill>
              <a:srgbClr val="222222"/>
            </a:solidFill>
            <a:prstDash val="solid"/>
          </a:ln>
        </p:spPr>
      </p:sp>
      <p:sp>
        <p:nvSpPr>
          <p:cNvPr id="5" name="Text 3"/>
          <p:cNvSpPr/>
          <p:nvPr/>
        </p:nvSpPr>
        <p:spPr>
          <a:xfrm>
            <a:off x="694944" y="1005840"/>
            <a:ext cx="1055218" cy="237744"/>
          </a:xfrm>
          <a:prstGeom prst="rect">
            <a:avLst/>
          </a:prstGeom>
          <a:noFill/>
          <a:ln/>
        </p:spPr>
        <p:txBody>
          <a:bodyPr wrap="square" lIns="0" tIns="0" rIns="0" bIns="0" rtlCol="0" anchor="ctr">
            <a:normAutofit/>
          </a:bodyPr>
          <a:lstStyle/>
          <a:p>
            <a:pPr algn="l" indent="0" marL="0">
              <a:buNone/>
            </a:pPr>
            <a:r>
              <a:rPr lang="en-US" altLang="en-US" sz="900" dirty="0">
                <a:solidFill>
                  <a:srgbClr val="333333"/>
                </a:solidFill>
                <a:latin typeface="Calibri" pitchFamily="34" charset="0"/>
                <a:ea typeface="Calibri" pitchFamily="34" charset="-122"/>
                <a:cs typeface="Calibri" pitchFamily="34" charset="-120"/>
              </a:rPr>
              <a:t>Critical path</a:t>
            </a:r>
            <a:endParaRPr lang="en-US" sz="900" dirty="0"/>
          </a:p>
        </p:txBody>
      </p:sp>
      <p:sp>
        <p:nvSpPr>
          <p:cNvPr id="6" name="Shape 4"/>
          <p:cNvSpPr/>
          <p:nvPr/>
        </p:nvSpPr>
        <p:spPr>
          <a:xfrm>
            <a:off x="1695298" y="1069848"/>
            <a:ext cx="274320" cy="109728"/>
          </a:xfrm>
          <a:prstGeom prst="roundRect">
            <a:avLst>
              <a:gd name="adj" fmla="val 25000"/>
            </a:avLst>
          </a:prstGeom>
          <a:solidFill>
            <a:srgbClr val="00778B"/>
          </a:solidFill>
          <a:ln w="12700">
            <a:solidFill>
              <a:srgbClr val="00778B"/>
            </a:solidFill>
            <a:prstDash val="solid"/>
          </a:ln>
        </p:spPr>
      </p:sp>
      <p:sp>
        <p:nvSpPr>
          <p:cNvPr id="7" name="Text 5"/>
          <p:cNvSpPr/>
          <p:nvPr/>
        </p:nvSpPr>
        <p:spPr>
          <a:xfrm>
            <a:off x="2024482" y="1005840"/>
            <a:ext cx="1956816" cy="237744"/>
          </a:xfrm>
          <a:prstGeom prst="rect">
            <a:avLst/>
          </a:prstGeom>
          <a:noFill/>
          <a:ln/>
        </p:spPr>
        <p:txBody>
          <a:bodyPr wrap="square" lIns="0" tIns="0" rIns="0" bIns="0" rtlCol="0" anchor="ctr">
            <a:normAutofit/>
          </a:bodyPr>
          <a:lstStyle/>
          <a:p>
            <a:pPr algn="l" indent="0" marL="0">
              <a:buNone/>
            </a:pPr>
            <a:r>
              <a:rPr lang="en-US" altLang="en-US" sz="900" dirty="0">
                <a:solidFill>
                  <a:srgbClr val="333333"/>
                </a:solidFill>
                <a:latin typeface="Calibri" pitchFamily="34" charset="0"/>
                <a:ea typeface="Calibri" pitchFamily="34" charset="-122"/>
                <a:cs typeface="Calibri" pitchFamily="34" charset="-120"/>
              </a:rPr>
              <a:t>Activity (colour = work group)</a:t>
            </a:r>
            <a:endParaRPr lang="en-US" sz="900" dirty="0"/>
          </a:p>
        </p:txBody>
      </p:sp>
      <p:sp>
        <p:nvSpPr>
          <p:cNvPr id="8" name="Shape 6"/>
          <p:cNvSpPr/>
          <p:nvPr/>
        </p:nvSpPr>
        <p:spPr>
          <a:xfrm>
            <a:off x="3926434" y="1060704"/>
            <a:ext cx="128016" cy="128016"/>
          </a:xfrm>
          <a:prstGeom prst="diamond">
            <a:avLst/>
          </a:prstGeom>
          <a:solidFill>
            <a:srgbClr val="3D3935"/>
          </a:solidFill>
          <a:ln w="12700">
            <a:solidFill>
              <a:srgbClr val="3D3935"/>
            </a:solidFill>
            <a:prstDash val="solid"/>
          </a:ln>
        </p:spPr>
      </p:sp>
      <p:sp>
        <p:nvSpPr>
          <p:cNvPr id="9" name="Text 7"/>
          <p:cNvSpPr/>
          <p:nvPr/>
        </p:nvSpPr>
        <p:spPr>
          <a:xfrm>
            <a:off x="4255618" y="1005840"/>
            <a:ext cx="843077" cy="237744"/>
          </a:xfrm>
          <a:prstGeom prst="rect">
            <a:avLst/>
          </a:prstGeom>
          <a:noFill/>
          <a:ln/>
        </p:spPr>
        <p:txBody>
          <a:bodyPr wrap="square" lIns="0" tIns="0" rIns="0" bIns="0" rtlCol="0" anchor="ctr">
            <a:normAutofit/>
          </a:bodyPr>
          <a:lstStyle/>
          <a:p>
            <a:pPr algn="l" indent="0" marL="0">
              <a:buNone/>
            </a:pPr>
            <a:r>
              <a:rPr lang="en-US" altLang="en-US" sz="900" dirty="0">
                <a:solidFill>
                  <a:srgbClr val="333333"/>
                </a:solidFill>
                <a:latin typeface="Calibri" pitchFamily="34" charset="0"/>
                <a:ea typeface="Calibri" pitchFamily="34" charset="-122"/>
                <a:cs typeface="Calibri" pitchFamily="34" charset="-120"/>
              </a:rPr>
              <a:t>Milestone</a:t>
            </a:r>
            <a:endParaRPr lang="en-US" sz="900" dirty="0"/>
          </a:p>
        </p:txBody>
      </p:sp>
      <p:sp>
        <p:nvSpPr>
          <p:cNvPr id="10" name="Shape 8"/>
          <p:cNvSpPr/>
          <p:nvPr/>
        </p:nvSpPr>
        <p:spPr>
          <a:xfrm>
            <a:off x="5043830" y="1060704"/>
            <a:ext cx="182880" cy="128016"/>
          </a:xfrm>
          <a:prstGeom prst="rect">
            <a:avLst/>
          </a:prstGeom>
          <a:solidFill>
            <a:srgbClr val="CFD8DC"/>
          </a:solidFill>
          <a:ln w="12700">
            <a:solidFill>
              <a:srgbClr val="CFD8DC"/>
            </a:solidFill>
            <a:prstDash val="solid"/>
          </a:ln>
        </p:spPr>
      </p:sp>
      <p:sp>
        <p:nvSpPr>
          <p:cNvPr id="11" name="Text 9"/>
          <p:cNvSpPr/>
          <p:nvPr/>
        </p:nvSpPr>
        <p:spPr>
          <a:xfrm>
            <a:off x="5373014" y="1005840"/>
            <a:ext cx="1161288" cy="237744"/>
          </a:xfrm>
          <a:prstGeom prst="rect">
            <a:avLst/>
          </a:prstGeom>
          <a:noFill/>
          <a:ln/>
        </p:spPr>
        <p:txBody>
          <a:bodyPr wrap="square" lIns="0" tIns="0" rIns="0" bIns="0" rtlCol="0" anchor="ctr">
            <a:normAutofit/>
          </a:bodyPr>
          <a:lstStyle/>
          <a:p>
            <a:pPr algn="l" indent="0" marL="0">
              <a:buNone/>
            </a:pPr>
            <a:r>
              <a:rPr lang="en-US" altLang="en-US" sz="900" dirty="0">
                <a:solidFill>
                  <a:srgbClr val="333333"/>
                </a:solidFill>
                <a:latin typeface="Calibri" pitchFamily="34" charset="0"/>
                <a:ea typeface="Calibri" pitchFamily="34" charset="-122"/>
                <a:cs typeface="Calibri" pitchFamily="34" charset="-120"/>
              </a:rPr>
              <a:t>Non-working day</a:t>
            </a:r>
            <a:endParaRPr lang="en-US" sz="900" dirty="0"/>
          </a:p>
        </p:txBody>
      </p:sp>
      <p:sp>
        <p:nvSpPr>
          <p:cNvPr id="12" name="Shape 10"/>
          <p:cNvSpPr/>
          <p:nvPr/>
        </p:nvSpPr>
        <p:spPr>
          <a:xfrm>
            <a:off x="6525158" y="1042416"/>
            <a:ext cx="0" cy="164592"/>
          </a:xfrm>
          <a:prstGeom prst="line">
            <a:avLst/>
          </a:prstGeom>
          <a:noFill/>
          <a:ln w="22225">
            <a:solidFill>
              <a:srgbClr val="C8503F"/>
            </a:solidFill>
            <a:prstDash val="dash"/>
          </a:ln>
        </p:spPr>
      </p:sp>
      <p:sp>
        <p:nvSpPr>
          <p:cNvPr id="13" name="Text 11"/>
          <p:cNvSpPr/>
          <p:nvPr/>
        </p:nvSpPr>
        <p:spPr>
          <a:xfrm>
            <a:off x="6808622" y="1005840"/>
            <a:ext cx="949147" cy="237744"/>
          </a:xfrm>
          <a:prstGeom prst="rect">
            <a:avLst/>
          </a:prstGeom>
          <a:noFill/>
          <a:ln/>
        </p:spPr>
        <p:txBody>
          <a:bodyPr wrap="square" lIns="0" tIns="0" rIns="0" bIns="0" rtlCol="0" anchor="ctr">
            <a:normAutofit/>
          </a:bodyPr>
          <a:lstStyle/>
          <a:p>
            <a:pPr algn="l" indent="0" marL="0">
              <a:buNone/>
            </a:pPr>
            <a:r>
              <a:rPr lang="en-US" altLang="en-US" sz="900" dirty="0">
                <a:solidFill>
                  <a:srgbClr val="333333"/>
                </a:solidFill>
                <a:latin typeface="Calibri" pitchFamily="34" charset="0"/>
                <a:ea typeface="Calibri" pitchFamily="34" charset="-122"/>
                <a:cs typeface="Calibri" pitchFamily="34" charset="-120"/>
              </a:rPr>
              <a:t>Status date</a:t>
            </a:r>
            <a:endParaRPr lang="en-US" sz="900" dirty="0"/>
          </a:p>
        </p:txBody>
      </p:sp>
      <p:sp>
        <p:nvSpPr>
          <p:cNvPr id="14" name="Text 12"/>
          <p:cNvSpPr/>
          <p:nvPr/>
        </p:nvSpPr>
        <p:spPr>
          <a:xfrm>
            <a:off x="7702906" y="1005840"/>
            <a:ext cx="1532534" cy="237744"/>
          </a:xfrm>
          <a:prstGeom prst="rect">
            <a:avLst/>
          </a:prstGeom>
          <a:noFill/>
          <a:ln/>
        </p:spPr>
        <p:txBody>
          <a:bodyPr wrap="square" lIns="0" tIns="0" rIns="0" bIns="0" rtlCol="0" anchor="ctr">
            <a:normAutofit/>
          </a:bodyPr>
          <a:lstStyle/>
          <a:p>
            <a:pPr algn="l" indent="0" marL="0">
              <a:buNone/>
            </a:pPr>
            <a:r>
              <a:rPr lang="en-US" altLang="en-US" sz="900" dirty="0">
                <a:solidFill>
                  <a:srgbClr val="333333"/>
                </a:solidFill>
                <a:latin typeface="Calibri" pitchFamily="34" charset="0"/>
                <a:ea typeface="Calibri" pitchFamily="34" charset="-122"/>
                <a:cs typeface="Calibri" pitchFamily="34" charset="-120"/>
              </a:rPr>
              <a:t>→ Dependency (FS / SS)</a:t>
            </a:r>
            <a:endParaRPr lang="en-US" sz="900" dirty="0"/>
          </a:p>
        </p:txBody>
      </p:sp>
      <p:sp>
        <p:nvSpPr>
          <p:cNvPr id="15" name="Shape 13"/>
          <p:cNvSpPr/>
          <p:nvPr/>
        </p:nvSpPr>
        <p:spPr>
          <a:xfrm>
            <a:off x="365760" y="1325880"/>
            <a:ext cx="5678424" cy="640080"/>
          </a:xfrm>
          <a:prstGeom prst="rect">
            <a:avLst/>
          </a:prstGeom>
          <a:solidFill>
            <a:srgbClr val="3D3935"/>
          </a:solidFill>
          <a:ln w="12700">
            <a:solidFill>
              <a:srgbClr val="3D3935"/>
            </a:solidFill>
            <a:prstDash val="solid"/>
          </a:ln>
        </p:spPr>
      </p:sp>
      <p:sp>
        <p:nvSpPr>
          <p:cNvPr id="16" name="Text 14"/>
          <p:cNvSpPr/>
          <p:nvPr/>
        </p:nvSpPr>
        <p:spPr>
          <a:xfrm>
            <a:off x="365760" y="1325880"/>
            <a:ext cx="384048" cy="640080"/>
          </a:xfrm>
          <a:prstGeom prst="rect">
            <a:avLst/>
          </a:prstGeom>
          <a:noFill/>
          <a:ln/>
        </p:spPr>
        <p:txBody>
          <a:bodyPr wrap="square" lIns="0" tIns="0" rIns="0" bIns="0" rtlCol="0" anchor="ctr">
            <a:normAutofit/>
          </a:bodyPr>
          <a:lstStyle/>
          <a:p>
            <a:pPr algn="ctr" indent="0" marL="0">
              <a:buNone/>
            </a:pPr>
            <a:r>
              <a:rPr lang="en-US" altLang="en-US" sz="900" b="1" dirty="0">
                <a:solidFill>
                  <a:srgbClr val="FFFFFF"/>
                </a:solidFill>
                <a:latin typeface="Calibri" pitchFamily="34" charset="0"/>
                <a:ea typeface="Calibri" pitchFamily="34" charset="-122"/>
                <a:cs typeface="Calibri" pitchFamily="34" charset="-120"/>
              </a:rPr>
              <a:t>Sr</a:t>
            </a:r>
            <a:endParaRPr lang="en-US" sz="900" dirty="0"/>
          </a:p>
        </p:txBody>
      </p:sp>
      <p:sp>
        <p:nvSpPr>
          <p:cNvPr id="17" name="Text 15"/>
          <p:cNvSpPr/>
          <p:nvPr/>
        </p:nvSpPr>
        <p:spPr>
          <a:xfrm>
            <a:off x="822960" y="1325880"/>
            <a:ext cx="2606040" cy="640080"/>
          </a:xfrm>
          <a:prstGeom prst="rect">
            <a:avLst/>
          </a:prstGeom>
          <a:noFill/>
          <a:ln/>
        </p:spPr>
        <p:txBody>
          <a:bodyPr wrap="square" lIns="0" tIns="0" rIns="0" bIns="0" rtlCol="0" anchor="ctr">
            <a:normAutofit/>
          </a:bodyPr>
          <a:lstStyle/>
          <a:p>
            <a:pPr algn="l" indent="0" marL="0">
              <a:buNone/>
            </a:pPr>
            <a:r>
              <a:rPr lang="en-US" altLang="en-US" sz="900" b="1" dirty="0">
                <a:solidFill>
                  <a:srgbClr val="FFFFFF"/>
                </a:solidFill>
                <a:latin typeface="Calibri" pitchFamily="34" charset="0"/>
                <a:ea typeface="Calibri" pitchFamily="34" charset="-122"/>
                <a:cs typeface="Calibri" pitchFamily="34" charset="-120"/>
              </a:rPr>
              <a:t>Activity</a:t>
            </a:r>
            <a:endParaRPr lang="en-US" sz="900" dirty="0"/>
          </a:p>
        </p:txBody>
      </p:sp>
      <p:sp>
        <p:nvSpPr>
          <p:cNvPr id="18" name="Text 16"/>
          <p:cNvSpPr/>
          <p:nvPr/>
        </p:nvSpPr>
        <p:spPr>
          <a:xfrm>
            <a:off x="3447288" y="1325880"/>
            <a:ext cx="777240" cy="640080"/>
          </a:xfrm>
          <a:prstGeom prst="rect">
            <a:avLst/>
          </a:prstGeom>
          <a:noFill/>
          <a:ln/>
        </p:spPr>
        <p:txBody>
          <a:bodyPr wrap="square" lIns="0" tIns="0" rIns="0" bIns="0" rtlCol="0" anchor="ctr">
            <a:normAutofit/>
          </a:bodyPr>
          <a:lstStyle/>
          <a:p>
            <a:pPr algn="ctr" indent="0" marL="0">
              <a:buNone/>
            </a:pPr>
            <a:r>
              <a:rPr lang="en-US" altLang="en-US" sz="900" b="1" dirty="0">
                <a:solidFill>
                  <a:srgbClr val="FFFFFF"/>
                </a:solidFill>
                <a:latin typeface="Calibri" pitchFamily="34" charset="0"/>
                <a:ea typeface="Calibri" pitchFamily="34" charset="-122"/>
                <a:cs typeface="Calibri" pitchFamily="34" charset="-120"/>
              </a:rPr>
              <a:t>Predecessor</a:t>
            </a:r>
            <a:endParaRPr lang="en-US" sz="900" dirty="0"/>
          </a:p>
        </p:txBody>
      </p:sp>
      <p:sp>
        <p:nvSpPr>
          <p:cNvPr id="19" name="Text 17"/>
          <p:cNvSpPr/>
          <p:nvPr/>
        </p:nvSpPr>
        <p:spPr>
          <a:xfrm>
            <a:off x="4224528" y="1325880"/>
            <a:ext cx="502920" cy="640080"/>
          </a:xfrm>
          <a:prstGeom prst="rect">
            <a:avLst/>
          </a:prstGeom>
          <a:noFill/>
          <a:ln/>
        </p:spPr>
        <p:txBody>
          <a:bodyPr wrap="square" lIns="0" tIns="0" rIns="0" bIns="0" rtlCol="0" anchor="ctr">
            <a:normAutofit/>
          </a:bodyPr>
          <a:lstStyle/>
          <a:p>
            <a:pPr algn="ctr" indent="0" marL="0">
              <a:buNone/>
            </a:pPr>
            <a:r>
              <a:rPr lang="en-US" altLang="en-US" sz="750" b="1" dirty="0">
                <a:solidFill>
                  <a:srgbClr val="FFFFFF"/>
                </a:solidFill>
                <a:latin typeface="Calibri" pitchFamily="34" charset="0"/>
                <a:ea typeface="Calibri" pitchFamily="34" charset="-122"/>
                <a:cs typeface="Calibri" pitchFamily="34" charset="-120"/>
              </a:rPr>
              <a:t>Dur. (wd)</a:t>
            </a:r>
            <a:endParaRPr lang="en-US" sz="750" dirty="0"/>
          </a:p>
        </p:txBody>
      </p:sp>
      <p:sp>
        <p:nvSpPr>
          <p:cNvPr id="20" name="Text 18"/>
          <p:cNvSpPr/>
          <p:nvPr/>
        </p:nvSpPr>
        <p:spPr>
          <a:xfrm>
            <a:off x="4727448" y="1325880"/>
            <a:ext cx="658368" cy="640080"/>
          </a:xfrm>
          <a:prstGeom prst="rect">
            <a:avLst/>
          </a:prstGeom>
          <a:noFill/>
          <a:ln/>
        </p:spPr>
        <p:txBody>
          <a:bodyPr wrap="square" lIns="0" tIns="0" rIns="0" bIns="0" rtlCol="0" anchor="ctr">
            <a:normAutofit/>
          </a:bodyPr>
          <a:lstStyle/>
          <a:p>
            <a:pPr algn="ctr" indent="0" marL="0">
              <a:buNone/>
            </a:pPr>
            <a:r>
              <a:rPr lang="en-US" altLang="en-US" sz="900" b="1" dirty="0">
                <a:solidFill>
                  <a:srgbClr val="FFFFFF"/>
                </a:solidFill>
                <a:latin typeface="Calibri" pitchFamily="34" charset="0"/>
                <a:ea typeface="Calibri" pitchFamily="34" charset="-122"/>
                <a:cs typeface="Calibri" pitchFamily="34" charset="-120"/>
              </a:rPr>
              <a:t>Start</a:t>
            </a:r>
            <a:endParaRPr lang="en-US" sz="900" dirty="0"/>
          </a:p>
        </p:txBody>
      </p:sp>
      <p:sp>
        <p:nvSpPr>
          <p:cNvPr id="21" name="Text 19"/>
          <p:cNvSpPr/>
          <p:nvPr/>
        </p:nvSpPr>
        <p:spPr>
          <a:xfrm>
            <a:off x="5385816" y="1325880"/>
            <a:ext cx="658368" cy="640080"/>
          </a:xfrm>
          <a:prstGeom prst="rect">
            <a:avLst/>
          </a:prstGeom>
          <a:noFill/>
          <a:ln/>
        </p:spPr>
        <p:txBody>
          <a:bodyPr wrap="square" lIns="0" tIns="0" rIns="0" bIns="0" rtlCol="0" anchor="ctr">
            <a:normAutofit/>
          </a:bodyPr>
          <a:lstStyle/>
          <a:p>
            <a:pPr algn="ctr" indent="0" marL="0">
              <a:buNone/>
            </a:pPr>
            <a:r>
              <a:rPr lang="en-US" altLang="en-US" sz="900" b="1" dirty="0">
                <a:solidFill>
                  <a:srgbClr val="FFFFFF"/>
                </a:solidFill>
                <a:latin typeface="Calibri" pitchFamily="34" charset="0"/>
                <a:ea typeface="Calibri" pitchFamily="34" charset="-122"/>
                <a:cs typeface="Calibri" pitchFamily="34" charset="-120"/>
              </a:rPr>
              <a:t>Finish</a:t>
            </a:r>
            <a:endParaRPr lang="en-US" sz="900" dirty="0"/>
          </a:p>
        </p:txBody>
      </p:sp>
      <p:sp>
        <p:nvSpPr>
          <p:cNvPr id="22" name="Shape 20"/>
          <p:cNvSpPr/>
          <p:nvPr/>
        </p:nvSpPr>
        <p:spPr>
          <a:xfrm>
            <a:off x="6044184" y="1325880"/>
            <a:ext cx="2649969" cy="182880"/>
          </a:xfrm>
          <a:prstGeom prst="rect">
            <a:avLst/>
          </a:prstGeom>
          <a:solidFill>
            <a:srgbClr val="DCE8EC"/>
          </a:solidFill>
          <a:ln w="12700">
            <a:solidFill>
              <a:srgbClr val="FFFFFF"/>
            </a:solidFill>
            <a:prstDash val="solid"/>
          </a:ln>
        </p:spPr>
      </p:sp>
      <p:sp>
        <p:nvSpPr>
          <p:cNvPr id="23" name="Text 21"/>
          <p:cNvSpPr/>
          <p:nvPr/>
        </p:nvSpPr>
        <p:spPr>
          <a:xfrm>
            <a:off x="6044184" y="1325880"/>
            <a:ext cx="2649969" cy="182880"/>
          </a:xfrm>
          <a:prstGeom prst="rect">
            <a:avLst/>
          </a:prstGeom>
          <a:noFill/>
          <a:ln/>
        </p:spPr>
        <p:txBody>
          <a:bodyPr wrap="square" lIns="0" tIns="0" rIns="0" bIns="0" rtlCol="0" anchor="ctr">
            <a:normAutofit/>
          </a:bodyPr>
          <a:lstStyle/>
          <a:p>
            <a:pPr algn="ctr" indent="0" marL="0">
              <a:buNone/>
            </a:pPr>
            <a:r>
              <a:rPr lang="en-US" altLang="en-US" sz="850" b="1" dirty="0">
                <a:solidFill>
                  <a:srgbClr val="3D3935"/>
                </a:solidFill>
                <a:latin typeface="Calibri" pitchFamily="34" charset="0"/>
                <a:ea typeface="Calibri" pitchFamily="34" charset="-122"/>
                <a:cs typeface="Calibri" pitchFamily="34" charset="-120"/>
              </a:rPr>
              <a:t>October 2026</a:t>
            </a:r>
            <a:endParaRPr lang="en-US" sz="850" dirty="0"/>
          </a:p>
        </p:txBody>
      </p:sp>
      <p:sp>
        <p:nvSpPr>
          <p:cNvPr id="24" name="Shape 22"/>
          <p:cNvSpPr/>
          <p:nvPr/>
        </p:nvSpPr>
        <p:spPr>
          <a:xfrm>
            <a:off x="8694153" y="1325880"/>
            <a:ext cx="3131782" cy="182880"/>
          </a:xfrm>
          <a:prstGeom prst="rect">
            <a:avLst/>
          </a:prstGeom>
          <a:solidFill>
            <a:srgbClr val="DCE8EC"/>
          </a:solidFill>
          <a:ln w="12700">
            <a:solidFill>
              <a:srgbClr val="FFFFFF"/>
            </a:solidFill>
            <a:prstDash val="solid"/>
          </a:ln>
        </p:spPr>
      </p:sp>
      <p:sp>
        <p:nvSpPr>
          <p:cNvPr id="25" name="Text 23"/>
          <p:cNvSpPr/>
          <p:nvPr/>
        </p:nvSpPr>
        <p:spPr>
          <a:xfrm>
            <a:off x="8694153" y="1325880"/>
            <a:ext cx="3131782" cy="182880"/>
          </a:xfrm>
          <a:prstGeom prst="rect">
            <a:avLst/>
          </a:prstGeom>
          <a:noFill/>
          <a:ln/>
        </p:spPr>
        <p:txBody>
          <a:bodyPr wrap="square" lIns="0" tIns="0" rIns="0" bIns="0" rtlCol="0" anchor="ctr">
            <a:normAutofit/>
          </a:bodyPr>
          <a:lstStyle/>
          <a:p>
            <a:pPr algn="ctr" indent="0" marL="0">
              <a:buNone/>
            </a:pPr>
            <a:r>
              <a:rPr lang="en-US" altLang="en-US" sz="850" b="1" dirty="0">
                <a:solidFill>
                  <a:srgbClr val="3D3935"/>
                </a:solidFill>
                <a:latin typeface="Calibri" pitchFamily="34" charset="0"/>
                <a:ea typeface="Calibri" pitchFamily="34" charset="-122"/>
                <a:cs typeface="Calibri" pitchFamily="34" charset="-120"/>
              </a:rPr>
              <a:t>November 2026</a:t>
            </a:r>
            <a:endParaRPr lang="en-US" sz="850" dirty="0"/>
          </a:p>
        </p:txBody>
      </p:sp>
      <p:sp>
        <p:nvSpPr>
          <p:cNvPr id="26" name="Shape 24"/>
          <p:cNvSpPr/>
          <p:nvPr/>
        </p:nvSpPr>
        <p:spPr>
          <a:xfrm>
            <a:off x="6044184" y="1508760"/>
            <a:ext cx="843172" cy="155448"/>
          </a:xfrm>
          <a:prstGeom prst="rect">
            <a:avLst/>
          </a:prstGeom>
          <a:solidFill>
            <a:srgbClr val="D5E6EA"/>
          </a:solidFill>
          <a:ln w="12700">
            <a:solidFill>
              <a:srgbClr val="FFFFFF"/>
            </a:solidFill>
            <a:prstDash val="solid"/>
          </a:ln>
        </p:spPr>
      </p:sp>
      <p:sp>
        <p:nvSpPr>
          <p:cNvPr id="27" name="Text 25"/>
          <p:cNvSpPr/>
          <p:nvPr/>
        </p:nvSpPr>
        <p:spPr>
          <a:xfrm>
            <a:off x="6044184" y="1508760"/>
            <a:ext cx="843172" cy="155448"/>
          </a:xfrm>
          <a:prstGeom prst="rect">
            <a:avLst/>
          </a:prstGeom>
          <a:noFill/>
          <a:ln/>
        </p:spPr>
        <p:txBody>
          <a:bodyPr wrap="square" lIns="0" tIns="0" rIns="0" bIns="0" rtlCol="0" anchor="ctr">
            <a:normAutofit/>
          </a:bodyPr>
          <a:lstStyle/>
          <a:p>
            <a:pPr algn="ctr" indent="0" marL="0">
              <a:buNone/>
            </a:pPr>
            <a:r>
              <a:rPr lang="en-US" altLang="en-US" sz="650" b="1" dirty="0">
                <a:solidFill>
                  <a:srgbClr val="34505A"/>
                </a:solidFill>
                <a:latin typeface="Calibri" pitchFamily="34" charset="0"/>
                <a:ea typeface="Calibri" pitchFamily="34" charset="-122"/>
                <a:cs typeface="Calibri" pitchFamily="34" charset="-120"/>
              </a:rPr>
              <a:t>Week 1</a:t>
            </a:r>
            <a:endParaRPr lang="en-US" sz="650" dirty="0"/>
          </a:p>
        </p:txBody>
      </p:sp>
      <p:sp>
        <p:nvSpPr>
          <p:cNvPr id="28" name="Shape 26"/>
          <p:cNvSpPr/>
          <p:nvPr/>
        </p:nvSpPr>
        <p:spPr>
          <a:xfrm>
            <a:off x="6887356" y="1508760"/>
            <a:ext cx="843172" cy="155448"/>
          </a:xfrm>
          <a:prstGeom prst="rect">
            <a:avLst/>
          </a:prstGeom>
          <a:solidFill>
            <a:srgbClr val="E4F0F3"/>
          </a:solidFill>
          <a:ln w="12700">
            <a:solidFill>
              <a:srgbClr val="FFFFFF"/>
            </a:solidFill>
            <a:prstDash val="solid"/>
          </a:ln>
        </p:spPr>
      </p:sp>
      <p:sp>
        <p:nvSpPr>
          <p:cNvPr id="29" name="Text 27"/>
          <p:cNvSpPr/>
          <p:nvPr/>
        </p:nvSpPr>
        <p:spPr>
          <a:xfrm>
            <a:off x="6887356" y="1508760"/>
            <a:ext cx="843172" cy="155448"/>
          </a:xfrm>
          <a:prstGeom prst="rect">
            <a:avLst/>
          </a:prstGeom>
          <a:noFill/>
          <a:ln/>
        </p:spPr>
        <p:txBody>
          <a:bodyPr wrap="square" lIns="0" tIns="0" rIns="0" bIns="0" rtlCol="0" anchor="ctr">
            <a:normAutofit/>
          </a:bodyPr>
          <a:lstStyle/>
          <a:p>
            <a:pPr algn="ctr" indent="0" marL="0">
              <a:buNone/>
            </a:pPr>
            <a:r>
              <a:rPr lang="en-US" altLang="en-US" sz="650" b="1" dirty="0">
                <a:solidFill>
                  <a:srgbClr val="34505A"/>
                </a:solidFill>
                <a:latin typeface="Calibri" pitchFamily="34" charset="0"/>
                <a:ea typeface="Calibri" pitchFamily="34" charset="-122"/>
                <a:cs typeface="Calibri" pitchFamily="34" charset="-120"/>
              </a:rPr>
              <a:t>Week 2</a:t>
            </a:r>
            <a:endParaRPr lang="en-US" sz="650" dirty="0"/>
          </a:p>
        </p:txBody>
      </p:sp>
      <p:sp>
        <p:nvSpPr>
          <p:cNvPr id="30" name="Shape 28"/>
          <p:cNvSpPr/>
          <p:nvPr/>
        </p:nvSpPr>
        <p:spPr>
          <a:xfrm>
            <a:off x="7730528" y="1508760"/>
            <a:ext cx="843172" cy="155448"/>
          </a:xfrm>
          <a:prstGeom prst="rect">
            <a:avLst/>
          </a:prstGeom>
          <a:solidFill>
            <a:srgbClr val="D5E6EA"/>
          </a:solidFill>
          <a:ln w="12700">
            <a:solidFill>
              <a:srgbClr val="FFFFFF"/>
            </a:solidFill>
            <a:prstDash val="solid"/>
          </a:ln>
        </p:spPr>
      </p:sp>
      <p:sp>
        <p:nvSpPr>
          <p:cNvPr id="31" name="Text 29"/>
          <p:cNvSpPr/>
          <p:nvPr/>
        </p:nvSpPr>
        <p:spPr>
          <a:xfrm>
            <a:off x="7730528" y="1508760"/>
            <a:ext cx="843172" cy="155448"/>
          </a:xfrm>
          <a:prstGeom prst="rect">
            <a:avLst/>
          </a:prstGeom>
          <a:noFill/>
          <a:ln/>
        </p:spPr>
        <p:txBody>
          <a:bodyPr wrap="square" lIns="0" tIns="0" rIns="0" bIns="0" rtlCol="0" anchor="ctr">
            <a:normAutofit/>
          </a:bodyPr>
          <a:lstStyle/>
          <a:p>
            <a:pPr algn="ctr" indent="0" marL="0">
              <a:buNone/>
            </a:pPr>
            <a:r>
              <a:rPr lang="en-US" altLang="en-US" sz="650" b="1" dirty="0">
                <a:solidFill>
                  <a:srgbClr val="34505A"/>
                </a:solidFill>
                <a:latin typeface="Calibri" pitchFamily="34" charset="0"/>
                <a:ea typeface="Calibri" pitchFamily="34" charset="-122"/>
                <a:cs typeface="Calibri" pitchFamily="34" charset="-120"/>
              </a:rPr>
              <a:t>Week 3</a:t>
            </a:r>
            <a:endParaRPr lang="en-US" sz="650" dirty="0"/>
          </a:p>
        </p:txBody>
      </p:sp>
      <p:sp>
        <p:nvSpPr>
          <p:cNvPr id="32" name="Shape 30"/>
          <p:cNvSpPr/>
          <p:nvPr/>
        </p:nvSpPr>
        <p:spPr>
          <a:xfrm>
            <a:off x="8573700" y="1508760"/>
            <a:ext cx="843172" cy="155448"/>
          </a:xfrm>
          <a:prstGeom prst="rect">
            <a:avLst/>
          </a:prstGeom>
          <a:solidFill>
            <a:srgbClr val="E4F0F3"/>
          </a:solidFill>
          <a:ln w="12700">
            <a:solidFill>
              <a:srgbClr val="FFFFFF"/>
            </a:solidFill>
            <a:prstDash val="solid"/>
          </a:ln>
        </p:spPr>
      </p:sp>
      <p:sp>
        <p:nvSpPr>
          <p:cNvPr id="33" name="Text 31"/>
          <p:cNvSpPr/>
          <p:nvPr/>
        </p:nvSpPr>
        <p:spPr>
          <a:xfrm>
            <a:off x="8573700" y="1508760"/>
            <a:ext cx="843172" cy="155448"/>
          </a:xfrm>
          <a:prstGeom prst="rect">
            <a:avLst/>
          </a:prstGeom>
          <a:noFill/>
          <a:ln/>
        </p:spPr>
        <p:txBody>
          <a:bodyPr wrap="square" lIns="0" tIns="0" rIns="0" bIns="0" rtlCol="0" anchor="ctr">
            <a:normAutofit/>
          </a:bodyPr>
          <a:lstStyle/>
          <a:p>
            <a:pPr algn="ctr" indent="0" marL="0">
              <a:buNone/>
            </a:pPr>
            <a:r>
              <a:rPr lang="en-US" altLang="en-US" sz="650" b="1" dirty="0">
                <a:solidFill>
                  <a:srgbClr val="34505A"/>
                </a:solidFill>
                <a:latin typeface="Calibri" pitchFamily="34" charset="0"/>
                <a:ea typeface="Calibri" pitchFamily="34" charset="-122"/>
                <a:cs typeface="Calibri" pitchFamily="34" charset="-120"/>
              </a:rPr>
              <a:t>Week 4</a:t>
            </a:r>
            <a:endParaRPr lang="en-US" sz="650" dirty="0"/>
          </a:p>
        </p:txBody>
      </p:sp>
      <p:sp>
        <p:nvSpPr>
          <p:cNvPr id="34" name="Shape 32"/>
          <p:cNvSpPr/>
          <p:nvPr/>
        </p:nvSpPr>
        <p:spPr>
          <a:xfrm>
            <a:off x="9416872" y="1508760"/>
            <a:ext cx="843172" cy="155448"/>
          </a:xfrm>
          <a:prstGeom prst="rect">
            <a:avLst/>
          </a:prstGeom>
          <a:solidFill>
            <a:srgbClr val="D5E6EA"/>
          </a:solidFill>
          <a:ln w="12700">
            <a:solidFill>
              <a:srgbClr val="FFFFFF"/>
            </a:solidFill>
            <a:prstDash val="solid"/>
          </a:ln>
        </p:spPr>
      </p:sp>
      <p:sp>
        <p:nvSpPr>
          <p:cNvPr id="35" name="Text 33"/>
          <p:cNvSpPr/>
          <p:nvPr/>
        </p:nvSpPr>
        <p:spPr>
          <a:xfrm>
            <a:off x="9416872" y="1508760"/>
            <a:ext cx="843172" cy="155448"/>
          </a:xfrm>
          <a:prstGeom prst="rect">
            <a:avLst/>
          </a:prstGeom>
          <a:noFill/>
          <a:ln/>
        </p:spPr>
        <p:txBody>
          <a:bodyPr wrap="square" lIns="0" tIns="0" rIns="0" bIns="0" rtlCol="0" anchor="ctr">
            <a:normAutofit/>
          </a:bodyPr>
          <a:lstStyle/>
          <a:p>
            <a:pPr algn="ctr" indent="0" marL="0">
              <a:buNone/>
            </a:pPr>
            <a:r>
              <a:rPr lang="en-US" altLang="en-US" sz="650" b="1" dirty="0">
                <a:solidFill>
                  <a:srgbClr val="34505A"/>
                </a:solidFill>
                <a:latin typeface="Calibri" pitchFamily="34" charset="0"/>
                <a:ea typeface="Calibri" pitchFamily="34" charset="-122"/>
                <a:cs typeface="Calibri" pitchFamily="34" charset="-120"/>
              </a:rPr>
              <a:t>Week 5</a:t>
            </a:r>
            <a:endParaRPr lang="en-US" sz="650" dirty="0"/>
          </a:p>
        </p:txBody>
      </p:sp>
      <p:sp>
        <p:nvSpPr>
          <p:cNvPr id="36" name="Shape 34"/>
          <p:cNvSpPr/>
          <p:nvPr/>
        </p:nvSpPr>
        <p:spPr>
          <a:xfrm>
            <a:off x="10260044" y="1508760"/>
            <a:ext cx="843172" cy="155448"/>
          </a:xfrm>
          <a:prstGeom prst="rect">
            <a:avLst/>
          </a:prstGeom>
          <a:solidFill>
            <a:srgbClr val="E4F0F3"/>
          </a:solidFill>
          <a:ln w="12700">
            <a:solidFill>
              <a:srgbClr val="FFFFFF"/>
            </a:solidFill>
            <a:prstDash val="solid"/>
          </a:ln>
        </p:spPr>
      </p:sp>
      <p:sp>
        <p:nvSpPr>
          <p:cNvPr id="37" name="Text 35"/>
          <p:cNvSpPr/>
          <p:nvPr/>
        </p:nvSpPr>
        <p:spPr>
          <a:xfrm>
            <a:off x="10260044" y="1508760"/>
            <a:ext cx="843172" cy="155448"/>
          </a:xfrm>
          <a:prstGeom prst="rect">
            <a:avLst/>
          </a:prstGeom>
          <a:noFill/>
          <a:ln/>
        </p:spPr>
        <p:txBody>
          <a:bodyPr wrap="square" lIns="0" tIns="0" rIns="0" bIns="0" rtlCol="0" anchor="ctr">
            <a:normAutofit/>
          </a:bodyPr>
          <a:lstStyle/>
          <a:p>
            <a:pPr algn="ctr" indent="0" marL="0">
              <a:buNone/>
            </a:pPr>
            <a:r>
              <a:rPr lang="en-US" altLang="en-US" sz="650" b="1" dirty="0">
                <a:solidFill>
                  <a:srgbClr val="34505A"/>
                </a:solidFill>
                <a:latin typeface="Calibri" pitchFamily="34" charset="0"/>
                <a:ea typeface="Calibri" pitchFamily="34" charset="-122"/>
                <a:cs typeface="Calibri" pitchFamily="34" charset="-120"/>
              </a:rPr>
              <a:t>Week 6</a:t>
            </a:r>
            <a:endParaRPr lang="en-US" sz="650" dirty="0"/>
          </a:p>
        </p:txBody>
      </p:sp>
      <p:sp>
        <p:nvSpPr>
          <p:cNvPr id="38" name="Shape 36"/>
          <p:cNvSpPr/>
          <p:nvPr/>
        </p:nvSpPr>
        <p:spPr>
          <a:xfrm>
            <a:off x="11103216" y="1508760"/>
            <a:ext cx="722719" cy="155448"/>
          </a:xfrm>
          <a:prstGeom prst="rect">
            <a:avLst/>
          </a:prstGeom>
          <a:solidFill>
            <a:srgbClr val="D5E6EA"/>
          </a:solidFill>
          <a:ln w="12700">
            <a:solidFill>
              <a:srgbClr val="FFFFFF"/>
            </a:solidFill>
            <a:prstDash val="solid"/>
          </a:ln>
        </p:spPr>
      </p:sp>
      <p:sp>
        <p:nvSpPr>
          <p:cNvPr id="39" name="Text 37"/>
          <p:cNvSpPr/>
          <p:nvPr/>
        </p:nvSpPr>
        <p:spPr>
          <a:xfrm>
            <a:off x="11103216" y="1508760"/>
            <a:ext cx="722719" cy="155448"/>
          </a:xfrm>
          <a:prstGeom prst="rect">
            <a:avLst/>
          </a:prstGeom>
          <a:noFill/>
          <a:ln/>
        </p:spPr>
        <p:txBody>
          <a:bodyPr wrap="square" lIns="0" tIns="0" rIns="0" bIns="0" rtlCol="0" anchor="ctr">
            <a:normAutofit/>
          </a:bodyPr>
          <a:lstStyle/>
          <a:p>
            <a:pPr algn="ctr" indent="0" marL="0">
              <a:buNone/>
            </a:pPr>
            <a:r>
              <a:rPr lang="en-US" altLang="en-US" sz="650" b="1" dirty="0">
                <a:solidFill>
                  <a:srgbClr val="34505A"/>
                </a:solidFill>
                <a:latin typeface="Calibri" pitchFamily="34" charset="0"/>
                <a:ea typeface="Calibri" pitchFamily="34" charset="-122"/>
                <a:cs typeface="Calibri" pitchFamily="34" charset="-120"/>
              </a:rPr>
              <a:t>Week 7</a:t>
            </a:r>
            <a:endParaRPr lang="en-US" sz="650" dirty="0"/>
          </a:p>
        </p:txBody>
      </p:sp>
      <p:sp>
        <p:nvSpPr>
          <p:cNvPr id="40" name="Shape 38"/>
          <p:cNvSpPr/>
          <p:nvPr/>
        </p:nvSpPr>
        <p:spPr>
          <a:xfrm>
            <a:off x="6044184" y="1664208"/>
            <a:ext cx="120453" cy="301752"/>
          </a:xfrm>
          <a:prstGeom prst="rect">
            <a:avLst/>
          </a:prstGeom>
          <a:solidFill>
            <a:srgbClr val="F4F7F8"/>
          </a:solidFill>
          <a:ln w="6350">
            <a:solidFill>
              <a:srgbClr val="FFFFFF"/>
            </a:solidFill>
            <a:prstDash val="solid"/>
          </a:ln>
        </p:spPr>
      </p:sp>
      <p:sp>
        <p:nvSpPr>
          <p:cNvPr id="41" name="Text 39"/>
          <p:cNvSpPr/>
          <p:nvPr/>
        </p:nvSpPr>
        <p:spPr>
          <a:xfrm>
            <a:off x="6044184"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S</a:t>
            </a:r>
            <a:endParaRPr lang="en-US" sz="500" dirty="0"/>
          </a:p>
        </p:txBody>
      </p:sp>
      <p:sp>
        <p:nvSpPr>
          <p:cNvPr id="42" name="Text 40"/>
          <p:cNvSpPr/>
          <p:nvPr/>
        </p:nvSpPr>
        <p:spPr>
          <a:xfrm>
            <a:off x="6044184"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10</a:t>
            </a:r>
            <a:endParaRPr lang="en-US" sz="550" dirty="0"/>
          </a:p>
        </p:txBody>
      </p:sp>
      <p:sp>
        <p:nvSpPr>
          <p:cNvPr id="43" name="Shape 41"/>
          <p:cNvSpPr/>
          <p:nvPr/>
        </p:nvSpPr>
        <p:spPr>
          <a:xfrm>
            <a:off x="6044184" y="1965960"/>
            <a:ext cx="0" cy="3502152"/>
          </a:xfrm>
          <a:prstGeom prst="line">
            <a:avLst/>
          </a:prstGeom>
          <a:noFill/>
          <a:ln w="6350">
            <a:solidFill>
              <a:srgbClr val="9DB2BB"/>
            </a:solidFill>
            <a:prstDash val="solid"/>
          </a:ln>
        </p:spPr>
      </p:sp>
      <p:sp>
        <p:nvSpPr>
          <p:cNvPr id="44" name="Shape 42"/>
          <p:cNvSpPr/>
          <p:nvPr/>
        </p:nvSpPr>
        <p:spPr>
          <a:xfrm>
            <a:off x="6164637" y="1664208"/>
            <a:ext cx="120453" cy="301752"/>
          </a:xfrm>
          <a:prstGeom prst="rect">
            <a:avLst/>
          </a:prstGeom>
          <a:solidFill>
            <a:srgbClr val="F4F7F8"/>
          </a:solidFill>
          <a:ln w="6350">
            <a:solidFill>
              <a:srgbClr val="FFFFFF"/>
            </a:solidFill>
            <a:prstDash val="solid"/>
          </a:ln>
        </p:spPr>
      </p:sp>
      <p:sp>
        <p:nvSpPr>
          <p:cNvPr id="45" name="Text 43"/>
          <p:cNvSpPr/>
          <p:nvPr/>
        </p:nvSpPr>
        <p:spPr>
          <a:xfrm>
            <a:off x="6164637"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S</a:t>
            </a:r>
            <a:endParaRPr lang="en-US" sz="500" dirty="0"/>
          </a:p>
        </p:txBody>
      </p:sp>
      <p:sp>
        <p:nvSpPr>
          <p:cNvPr id="46" name="Text 44"/>
          <p:cNvSpPr/>
          <p:nvPr/>
        </p:nvSpPr>
        <p:spPr>
          <a:xfrm>
            <a:off x="6164637"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11</a:t>
            </a:r>
            <a:endParaRPr lang="en-US" sz="550" dirty="0"/>
          </a:p>
        </p:txBody>
      </p:sp>
      <p:sp>
        <p:nvSpPr>
          <p:cNvPr id="47" name="Shape 45"/>
          <p:cNvSpPr/>
          <p:nvPr/>
        </p:nvSpPr>
        <p:spPr>
          <a:xfrm>
            <a:off x="6285090" y="1664208"/>
            <a:ext cx="120453" cy="301752"/>
          </a:xfrm>
          <a:prstGeom prst="rect">
            <a:avLst/>
          </a:prstGeom>
          <a:solidFill>
            <a:srgbClr val="F4F7F8"/>
          </a:solidFill>
          <a:ln w="6350">
            <a:solidFill>
              <a:srgbClr val="FFFFFF"/>
            </a:solidFill>
            <a:prstDash val="solid"/>
          </a:ln>
        </p:spPr>
      </p:sp>
      <p:sp>
        <p:nvSpPr>
          <p:cNvPr id="48" name="Text 46"/>
          <p:cNvSpPr/>
          <p:nvPr/>
        </p:nvSpPr>
        <p:spPr>
          <a:xfrm>
            <a:off x="6285090"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M</a:t>
            </a:r>
            <a:endParaRPr lang="en-US" sz="500" dirty="0"/>
          </a:p>
        </p:txBody>
      </p:sp>
      <p:sp>
        <p:nvSpPr>
          <p:cNvPr id="49" name="Text 47"/>
          <p:cNvSpPr/>
          <p:nvPr/>
        </p:nvSpPr>
        <p:spPr>
          <a:xfrm>
            <a:off x="6285090"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12</a:t>
            </a:r>
            <a:endParaRPr lang="en-US" sz="550" dirty="0"/>
          </a:p>
        </p:txBody>
      </p:sp>
      <p:sp>
        <p:nvSpPr>
          <p:cNvPr id="50" name="Shape 48"/>
          <p:cNvSpPr/>
          <p:nvPr/>
        </p:nvSpPr>
        <p:spPr>
          <a:xfrm>
            <a:off x="6405543" y="1664208"/>
            <a:ext cx="120453" cy="301752"/>
          </a:xfrm>
          <a:prstGeom prst="rect">
            <a:avLst/>
          </a:prstGeom>
          <a:solidFill>
            <a:srgbClr val="F4F7F8"/>
          </a:solidFill>
          <a:ln w="6350">
            <a:solidFill>
              <a:srgbClr val="FFFFFF"/>
            </a:solidFill>
            <a:prstDash val="solid"/>
          </a:ln>
        </p:spPr>
      </p:sp>
      <p:sp>
        <p:nvSpPr>
          <p:cNvPr id="51" name="Text 49"/>
          <p:cNvSpPr/>
          <p:nvPr/>
        </p:nvSpPr>
        <p:spPr>
          <a:xfrm>
            <a:off x="6405543"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T</a:t>
            </a:r>
            <a:endParaRPr lang="en-US" sz="500" dirty="0"/>
          </a:p>
        </p:txBody>
      </p:sp>
      <p:sp>
        <p:nvSpPr>
          <p:cNvPr id="52" name="Text 50"/>
          <p:cNvSpPr/>
          <p:nvPr/>
        </p:nvSpPr>
        <p:spPr>
          <a:xfrm>
            <a:off x="6405543"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13</a:t>
            </a:r>
            <a:endParaRPr lang="en-US" sz="550" dirty="0"/>
          </a:p>
        </p:txBody>
      </p:sp>
      <p:sp>
        <p:nvSpPr>
          <p:cNvPr id="53" name="Shape 51"/>
          <p:cNvSpPr/>
          <p:nvPr/>
        </p:nvSpPr>
        <p:spPr>
          <a:xfrm>
            <a:off x="6525997" y="1664208"/>
            <a:ext cx="120453" cy="301752"/>
          </a:xfrm>
          <a:prstGeom prst="rect">
            <a:avLst/>
          </a:prstGeom>
          <a:solidFill>
            <a:srgbClr val="F4F7F8"/>
          </a:solidFill>
          <a:ln w="6350">
            <a:solidFill>
              <a:srgbClr val="FFFFFF"/>
            </a:solidFill>
            <a:prstDash val="solid"/>
          </a:ln>
        </p:spPr>
      </p:sp>
      <p:sp>
        <p:nvSpPr>
          <p:cNvPr id="54" name="Text 52"/>
          <p:cNvSpPr/>
          <p:nvPr/>
        </p:nvSpPr>
        <p:spPr>
          <a:xfrm>
            <a:off x="6525997"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W</a:t>
            </a:r>
            <a:endParaRPr lang="en-US" sz="500" dirty="0"/>
          </a:p>
        </p:txBody>
      </p:sp>
      <p:sp>
        <p:nvSpPr>
          <p:cNvPr id="55" name="Text 53"/>
          <p:cNvSpPr/>
          <p:nvPr/>
        </p:nvSpPr>
        <p:spPr>
          <a:xfrm>
            <a:off x="6525997"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14</a:t>
            </a:r>
            <a:endParaRPr lang="en-US" sz="550" dirty="0"/>
          </a:p>
        </p:txBody>
      </p:sp>
      <p:sp>
        <p:nvSpPr>
          <p:cNvPr id="56" name="Shape 54"/>
          <p:cNvSpPr/>
          <p:nvPr/>
        </p:nvSpPr>
        <p:spPr>
          <a:xfrm>
            <a:off x="6646450" y="1664208"/>
            <a:ext cx="120453" cy="301752"/>
          </a:xfrm>
          <a:prstGeom prst="rect">
            <a:avLst/>
          </a:prstGeom>
          <a:solidFill>
            <a:srgbClr val="F4F7F8"/>
          </a:solidFill>
          <a:ln w="6350">
            <a:solidFill>
              <a:srgbClr val="FFFFFF"/>
            </a:solidFill>
            <a:prstDash val="solid"/>
          </a:ln>
        </p:spPr>
      </p:sp>
      <p:sp>
        <p:nvSpPr>
          <p:cNvPr id="57" name="Text 55"/>
          <p:cNvSpPr/>
          <p:nvPr/>
        </p:nvSpPr>
        <p:spPr>
          <a:xfrm>
            <a:off x="6646450"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T</a:t>
            </a:r>
            <a:endParaRPr lang="en-US" sz="500" dirty="0"/>
          </a:p>
        </p:txBody>
      </p:sp>
      <p:sp>
        <p:nvSpPr>
          <p:cNvPr id="58" name="Text 56"/>
          <p:cNvSpPr/>
          <p:nvPr/>
        </p:nvSpPr>
        <p:spPr>
          <a:xfrm>
            <a:off x="6646450"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15</a:t>
            </a:r>
            <a:endParaRPr lang="en-US" sz="550" dirty="0"/>
          </a:p>
        </p:txBody>
      </p:sp>
      <p:sp>
        <p:nvSpPr>
          <p:cNvPr id="59" name="Shape 57"/>
          <p:cNvSpPr/>
          <p:nvPr/>
        </p:nvSpPr>
        <p:spPr>
          <a:xfrm>
            <a:off x="6766903" y="1664208"/>
            <a:ext cx="120453" cy="301752"/>
          </a:xfrm>
          <a:prstGeom prst="rect">
            <a:avLst/>
          </a:prstGeom>
          <a:solidFill>
            <a:srgbClr val="DBE3E6"/>
          </a:solidFill>
          <a:ln w="6350">
            <a:solidFill>
              <a:srgbClr val="FFFFFF"/>
            </a:solidFill>
            <a:prstDash val="solid"/>
          </a:ln>
        </p:spPr>
      </p:sp>
      <p:sp>
        <p:nvSpPr>
          <p:cNvPr id="60" name="Text 58"/>
          <p:cNvSpPr/>
          <p:nvPr/>
        </p:nvSpPr>
        <p:spPr>
          <a:xfrm>
            <a:off x="6766903"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8A959C"/>
                </a:solidFill>
                <a:latin typeface="Calibri" pitchFamily="34" charset="0"/>
                <a:ea typeface="Calibri" pitchFamily="34" charset="-122"/>
                <a:cs typeface="Calibri" pitchFamily="34" charset="-120"/>
              </a:rPr>
              <a:t>F</a:t>
            </a:r>
            <a:endParaRPr lang="en-US" sz="500" dirty="0"/>
          </a:p>
        </p:txBody>
      </p:sp>
      <p:sp>
        <p:nvSpPr>
          <p:cNvPr id="61" name="Text 59"/>
          <p:cNvSpPr/>
          <p:nvPr/>
        </p:nvSpPr>
        <p:spPr>
          <a:xfrm>
            <a:off x="6766903"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8A959C"/>
                </a:solidFill>
                <a:latin typeface="Calibri" pitchFamily="34" charset="0"/>
                <a:ea typeface="Calibri" pitchFamily="34" charset="-122"/>
                <a:cs typeface="Calibri" pitchFamily="34" charset="-120"/>
              </a:rPr>
              <a:t>16</a:t>
            </a:r>
            <a:endParaRPr lang="en-US" sz="550" dirty="0"/>
          </a:p>
        </p:txBody>
      </p:sp>
      <p:sp>
        <p:nvSpPr>
          <p:cNvPr id="62" name="Shape 60"/>
          <p:cNvSpPr/>
          <p:nvPr/>
        </p:nvSpPr>
        <p:spPr>
          <a:xfrm>
            <a:off x="6766903" y="1965960"/>
            <a:ext cx="120453" cy="3502152"/>
          </a:xfrm>
          <a:prstGeom prst="rect">
            <a:avLst/>
          </a:prstGeom>
          <a:solidFill>
            <a:srgbClr val="000000">
              <a:alpha val="6000"/>
            </a:srgbClr>
          </a:solidFill>
          <a:ln w="12700">
            <a:solidFill>
              <a:srgbClr val="000000">
                <a:alpha val="0"/>
              </a:srgbClr>
            </a:solidFill>
            <a:prstDash val="solid"/>
          </a:ln>
        </p:spPr>
      </p:sp>
      <p:sp>
        <p:nvSpPr>
          <p:cNvPr id="63" name="Shape 61"/>
          <p:cNvSpPr/>
          <p:nvPr/>
        </p:nvSpPr>
        <p:spPr>
          <a:xfrm>
            <a:off x="6887356" y="1664208"/>
            <a:ext cx="120453" cy="301752"/>
          </a:xfrm>
          <a:prstGeom prst="rect">
            <a:avLst/>
          </a:prstGeom>
          <a:solidFill>
            <a:srgbClr val="F4F7F8"/>
          </a:solidFill>
          <a:ln w="6350">
            <a:solidFill>
              <a:srgbClr val="FFFFFF"/>
            </a:solidFill>
            <a:prstDash val="solid"/>
          </a:ln>
        </p:spPr>
      </p:sp>
      <p:sp>
        <p:nvSpPr>
          <p:cNvPr id="64" name="Text 62"/>
          <p:cNvSpPr/>
          <p:nvPr/>
        </p:nvSpPr>
        <p:spPr>
          <a:xfrm>
            <a:off x="6887356"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S</a:t>
            </a:r>
            <a:endParaRPr lang="en-US" sz="500" dirty="0"/>
          </a:p>
        </p:txBody>
      </p:sp>
      <p:sp>
        <p:nvSpPr>
          <p:cNvPr id="65" name="Text 63"/>
          <p:cNvSpPr/>
          <p:nvPr/>
        </p:nvSpPr>
        <p:spPr>
          <a:xfrm>
            <a:off x="6887356"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17</a:t>
            </a:r>
            <a:endParaRPr lang="en-US" sz="550" dirty="0"/>
          </a:p>
        </p:txBody>
      </p:sp>
      <p:sp>
        <p:nvSpPr>
          <p:cNvPr id="66" name="Shape 64"/>
          <p:cNvSpPr/>
          <p:nvPr/>
        </p:nvSpPr>
        <p:spPr>
          <a:xfrm>
            <a:off x="6887356" y="1965960"/>
            <a:ext cx="0" cy="3502152"/>
          </a:xfrm>
          <a:prstGeom prst="line">
            <a:avLst/>
          </a:prstGeom>
          <a:noFill/>
          <a:ln w="6350">
            <a:solidFill>
              <a:srgbClr val="9DB2BB"/>
            </a:solidFill>
            <a:prstDash val="solid"/>
          </a:ln>
        </p:spPr>
      </p:sp>
      <p:sp>
        <p:nvSpPr>
          <p:cNvPr id="67" name="Shape 65"/>
          <p:cNvSpPr/>
          <p:nvPr/>
        </p:nvSpPr>
        <p:spPr>
          <a:xfrm>
            <a:off x="7007809" y="1664208"/>
            <a:ext cx="120453" cy="301752"/>
          </a:xfrm>
          <a:prstGeom prst="rect">
            <a:avLst/>
          </a:prstGeom>
          <a:solidFill>
            <a:srgbClr val="F4F7F8"/>
          </a:solidFill>
          <a:ln w="6350">
            <a:solidFill>
              <a:srgbClr val="FFFFFF"/>
            </a:solidFill>
            <a:prstDash val="solid"/>
          </a:ln>
        </p:spPr>
      </p:sp>
      <p:sp>
        <p:nvSpPr>
          <p:cNvPr id="68" name="Text 66"/>
          <p:cNvSpPr/>
          <p:nvPr/>
        </p:nvSpPr>
        <p:spPr>
          <a:xfrm>
            <a:off x="7007809"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S</a:t>
            </a:r>
            <a:endParaRPr lang="en-US" sz="500" dirty="0"/>
          </a:p>
        </p:txBody>
      </p:sp>
      <p:sp>
        <p:nvSpPr>
          <p:cNvPr id="69" name="Text 67"/>
          <p:cNvSpPr/>
          <p:nvPr/>
        </p:nvSpPr>
        <p:spPr>
          <a:xfrm>
            <a:off x="7007809"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18</a:t>
            </a:r>
            <a:endParaRPr lang="en-US" sz="550" dirty="0"/>
          </a:p>
        </p:txBody>
      </p:sp>
      <p:sp>
        <p:nvSpPr>
          <p:cNvPr id="70" name="Shape 68"/>
          <p:cNvSpPr/>
          <p:nvPr/>
        </p:nvSpPr>
        <p:spPr>
          <a:xfrm>
            <a:off x="7128262" y="1664208"/>
            <a:ext cx="120453" cy="301752"/>
          </a:xfrm>
          <a:prstGeom prst="rect">
            <a:avLst/>
          </a:prstGeom>
          <a:solidFill>
            <a:srgbClr val="F4F7F8"/>
          </a:solidFill>
          <a:ln w="6350">
            <a:solidFill>
              <a:srgbClr val="FFFFFF"/>
            </a:solidFill>
            <a:prstDash val="solid"/>
          </a:ln>
        </p:spPr>
      </p:sp>
      <p:sp>
        <p:nvSpPr>
          <p:cNvPr id="71" name="Text 69"/>
          <p:cNvSpPr/>
          <p:nvPr/>
        </p:nvSpPr>
        <p:spPr>
          <a:xfrm>
            <a:off x="7128262"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M</a:t>
            </a:r>
            <a:endParaRPr lang="en-US" sz="500" dirty="0"/>
          </a:p>
        </p:txBody>
      </p:sp>
      <p:sp>
        <p:nvSpPr>
          <p:cNvPr id="72" name="Text 70"/>
          <p:cNvSpPr/>
          <p:nvPr/>
        </p:nvSpPr>
        <p:spPr>
          <a:xfrm>
            <a:off x="7128262"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19</a:t>
            </a:r>
            <a:endParaRPr lang="en-US" sz="550" dirty="0"/>
          </a:p>
        </p:txBody>
      </p:sp>
      <p:sp>
        <p:nvSpPr>
          <p:cNvPr id="73" name="Shape 71"/>
          <p:cNvSpPr/>
          <p:nvPr/>
        </p:nvSpPr>
        <p:spPr>
          <a:xfrm>
            <a:off x="7248716" y="1664208"/>
            <a:ext cx="120453" cy="301752"/>
          </a:xfrm>
          <a:prstGeom prst="rect">
            <a:avLst/>
          </a:prstGeom>
          <a:solidFill>
            <a:srgbClr val="F4F7F8"/>
          </a:solidFill>
          <a:ln w="6350">
            <a:solidFill>
              <a:srgbClr val="FFFFFF"/>
            </a:solidFill>
            <a:prstDash val="solid"/>
          </a:ln>
        </p:spPr>
      </p:sp>
      <p:sp>
        <p:nvSpPr>
          <p:cNvPr id="74" name="Text 72"/>
          <p:cNvSpPr/>
          <p:nvPr/>
        </p:nvSpPr>
        <p:spPr>
          <a:xfrm>
            <a:off x="7248716"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T</a:t>
            </a:r>
            <a:endParaRPr lang="en-US" sz="500" dirty="0"/>
          </a:p>
        </p:txBody>
      </p:sp>
      <p:sp>
        <p:nvSpPr>
          <p:cNvPr id="75" name="Text 73"/>
          <p:cNvSpPr/>
          <p:nvPr/>
        </p:nvSpPr>
        <p:spPr>
          <a:xfrm>
            <a:off x="7248716"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20</a:t>
            </a:r>
            <a:endParaRPr lang="en-US" sz="550" dirty="0"/>
          </a:p>
        </p:txBody>
      </p:sp>
      <p:sp>
        <p:nvSpPr>
          <p:cNvPr id="76" name="Shape 74"/>
          <p:cNvSpPr/>
          <p:nvPr/>
        </p:nvSpPr>
        <p:spPr>
          <a:xfrm>
            <a:off x="7369169" y="1664208"/>
            <a:ext cx="120453" cy="301752"/>
          </a:xfrm>
          <a:prstGeom prst="rect">
            <a:avLst/>
          </a:prstGeom>
          <a:solidFill>
            <a:srgbClr val="F4F7F8"/>
          </a:solidFill>
          <a:ln w="6350">
            <a:solidFill>
              <a:srgbClr val="FFFFFF"/>
            </a:solidFill>
            <a:prstDash val="solid"/>
          </a:ln>
        </p:spPr>
      </p:sp>
      <p:sp>
        <p:nvSpPr>
          <p:cNvPr id="77" name="Text 75"/>
          <p:cNvSpPr/>
          <p:nvPr/>
        </p:nvSpPr>
        <p:spPr>
          <a:xfrm>
            <a:off x="7369169"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W</a:t>
            </a:r>
            <a:endParaRPr lang="en-US" sz="500" dirty="0"/>
          </a:p>
        </p:txBody>
      </p:sp>
      <p:sp>
        <p:nvSpPr>
          <p:cNvPr id="78" name="Text 76"/>
          <p:cNvSpPr/>
          <p:nvPr/>
        </p:nvSpPr>
        <p:spPr>
          <a:xfrm>
            <a:off x="7369169"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21</a:t>
            </a:r>
            <a:endParaRPr lang="en-US" sz="550" dirty="0"/>
          </a:p>
        </p:txBody>
      </p:sp>
      <p:sp>
        <p:nvSpPr>
          <p:cNvPr id="79" name="Shape 77"/>
          <p:cNvSpPr/>
          <p:nvPr/>
        </p:nvSpPr>
        <p:spPr>
          <a:xfrm>
            <a:off x="7489622" y="1664208"/>
            <a:ext cx="120453" cy="301752"/>
          </a:xfrm>
          <a:prstGeom prst="rect">
            <a:avLst/>
          </a:prstGeom>
          <a:solidFill>
            <a:srgbClr val="F4F7F8"/>
          </a:solidFill>
          <a:ln w="6350">
            <a:solidFill>
              <a:srgbClr val="FFFFFF"/>
            </a:solidFill>
            <a:prstDash val="solid"/>
          </a:ln>
        </p:spPr>
      </p:sp>
      <p:sp>
        <p:nvSpPr>
          <p:cNvPr id="80" name="Text 78"/>
          <p:cNvSpPr/>
          <p:nvPr/>
        </p:nvSpPr>
        <p:spPr>
          <a:xfrm>
            <a:off x="7489622"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T</a:t>
            </a:r>
            <a:endParaRPr lang="en-US" sz="500" dirty="0"/>
          </a:p>
        </p:txBody>
      </p:sp>
      <p:sp>
        <p:nvSpPr>
          <p:cNvPr id="81" name="Text 79"/>
          <p:cNvSpPr/>
          <p:nvPr/>
        </p:nvSpPr>
        <p:spPr>
          <a:xfrm>
            <a:off x="7489622"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22</a:t>
            </a:r>
            <a:endParaRPr lang="en-US" sz="550" dirty="0"/>
          </a:p>
        </p:txBody>
      </p:sp>
      <p:sp>
        <p:nvSpPr>
          <p:cNvPr id="82" name="Shape 80"/>
          <p:cNvSpPr/>
          <p:nvPr/>
        </p:nvSpPr>
        <p:spPr>
          <a:xfrm>
            <a:off x="7610075" y="1664208"/>
            <a:ext cx="120453" cy="301752"/>
          </a:xfrm>
          <a:prstGeom prst="rect">
            <a:avLst/>
          </a:prstGeom>
          <a:solidFill>
            <a:srgbClr val="DBE3E6"/>
          </a:solidFill>
          <a:ln w="6350">
            <a:solidFill>
              <a:srgbClr val="FFFFFF"/>
            </a:solidFill>
            <a:prstDash val="solid"/>
          </a:ln>
        </p:spPr>
      </p:sp>
      <p:sp>
        <p:nvSpPr>
          <p:cNvPr id="83" name="Text 81"/>
          <p:cNvSpPr/>
          <p:nvPr/>
        </p:nvSpPr>
        <p:spPr>
          <a:xfrm>
            <a:off x="7610075"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8A959C"/>
                </a:solidFill>
                <a:latin typeface="Calibri" pitchFamily="34" charset="0"/>
                <a:ea typeface="Calibri" pitchFamily="34" charset="-122"/>
                <a:cs typeface="Calibri" pitchFamily="34" charset="-120"/>
              </a:rPr>
              <a:t>F</a:t>
            </a:r>
            <a:endParaRPr lang="en-US" sz="500" dirty="0"/>
          </a:p>
        </p:txBody>
      </p:sp>
      <p:sp>
        <p:nvSpPr>
          <p:cNvPr id="84" name="Text 82"/>
          <p:cNvSpPr/>
          <p:nvPr/>
        </p:nvSpPr>
        <p:spPr>
          <a:xfrm>
            <a:off x="7610075"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8A959C"/>
                </a:solidFill>
                <a:latin typeface="Calibri" pitchFamily="34" charset="0"/>
                <a:ea typeface="Calibri" pitchFamily="34" charset="-122"/>
                <a:cs typeface="Calibri" pitchFamily="34" charset="-120"/>
              </a:rPr>
              <a:t>23</a:t>
            </a:r>
            <a:endParaRPr lang="en-US" sz="550" dirty="0"/>
          </a:p>
        </p:txBody>
      </p:sp>
      <p:sp>
        <p:nvSpPr>
          <p:cNvPr id="85" name="Shape 83"/>
          <p:cNvSpPr/>
          <p:nvPr/>
        </p:nvSpPr>
        <p:spPr>
          <a:xfrm>
            <a:off x="7610075" y="1965960"/>
            <a:ext cx="120453" cy="3502152"/>
          </a:xfrm>
          <a:prstGeom prst="rect">
            <a:avLst/>
          </a:prstGeom>
          <a:solidFill>
            <a:srgbClr val="000000">
              <a:alpha val="6000"/>
            </a:srgbClr>
          </a:solidFill>
          <a:ln w="12700">
            <a:solidFill>
              <a:srgbClr val="000000">
                <a:alpha val="0"/>
              </a:srgbClr>
            </a:solidFill>
            <a:prstDash val="solid"/>
          </a:ln>
        </p:spPr>
      </p:sp>
      <p:sp>
        <p:nvSpPr>
          <p:cNvPr id="86" name="Shape 84"/>
          <p:cNvSpPr/>
          <p:nvPr/>
        </p:nvSpPr>
        <p:spPr>
          <a:xfrm>
            <a:off x="7730528" y="1664208"/>
            <a:ext cx="120453" cy="301752"/>
          </a:xfrm>
          <a:prstGeom prst="rect">
            <a:avLst/>
          </a:prstGeom>
          <a:solidFill>
            <a:srgbClr val="F4F7F8"/>
          </a:solidFill>
          <a:ln w="6350">
            <a:solidFill>
              <a:srgbClr val="FFFFFF"/>
            </a:solidFill>
            <a:prstDash val="solid"/>
          </a:ln>
        </p:spPr>
      </p:sp>
      <p:sp>
        <p:nvSpPr>
          <p:cNvPr id="87" name="Text 85"/>
          <p:cNvSpPr/>
          <p:nvPr/>
        </p:nvSpPr>
        <p:spPr>
          <a:xfrm>
            <a:off x="7730528"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S</a:t>
            </a:r>
            <a:endParaRPr lang="en-US" sz="500" dirty="0"/>
          </a:p>
        </p:txBody>
      </p:sp>
      <p:sp>
        <p:nvSpPr>
          <p:cNvPr id="88" name="Text 86"/>
          <p:cNvSpPr/>
          <p:nvPr/>
        </p:nvSpPr>
        <p:spPr>
          <a:xfrm>
            <a:off x="7730528"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24</a:t>
            </a:r>
            <a:endParaRPr lang="en-US" sz="550" dirty="0"/>
          </a:p>
        </p:txBody>
      </p:sp>
      <p:sp>
        <p:nvSpPr>
          <p:cNvPr id="89" name="Shape 87"/>
          <p:cNvSpPr/>
          <p:nvPr/>
        </p:nvSpPr>
        <p:spPr>
          <a:xfrm>
            <a:off x="7730528" y="1965960"/>
            <a:ext cx="0" cy="3502152"/>
          </a:xfrm>
          <a:prstGeom prst="line">
            <a:avLst/>
          </a:prstGeom>
          <a:noFill/>
          <a:ln w="6350">
            <a:solidFill>
              <a:srgbClr val="9DB2BB"/>
            </a:solidFill>
            <a:prstDash val="solid"/>
          </a:ln>
        </p:spPr>
      </p:sp>
      <p:sp>
        <p:nvSpPr>
          <p:cNvPr id="90" name="Shape 88"/>
          <p:cNvSpPr/>
          <p:nvPr/>
        </p:nvSpPr>
        <p:spPr>
          <a:xfrm>
            <a:off x="7850981" y="1664208"/>
            <a:ext cx="120453" cy="301752"/>
          </a:xfrm>
          <a:prstGeom prst="rect">
            <a:avLst/>
          </a:prstGeom>
          <a:solidFill>
            <a:srgbClr val="F4F7F8"/>
          </a:solidFill>
          <a:ln w="6350">
            <a:solidFill>
              <a:srgbClr val="FFFFFF"/>
            </a:solidFill>
            <a:prstDash val="solid"/>
          </a:ln>
        </p:spPr>
      </p:sp>
      <p:sp>
        <p:nvSpPr>
          <p:cNvPr id="91" name="Text 89"/>
          <p:cNvSpPr/>
          <p:nvPr/>
        </p:nvSpPr>
        <p:spPr>
          <a:xfrm>
            <a:off x="7850981"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S</a:t>
            </a:r>
            <a:endParaRPr lang="en-US" sz="500" dirty="0"/>
          </a:p>
        </p:txBody>
      </p:sp>
      <p:sp>
        <p:nvSpPr>
          <p:cNvPr id="92" name="Text 90"/>
          <p:cNvSpPr/>
          <p:nvPr/>
        </p:nvSpPr>
        <p:spPr>
          <a:xfrm>
            <a:off x="7850981"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25</a:t>
            </a:r>
            <a:endParaRPr lang="en-US" sz="550" dirty="0"/>
          </a:p>
        </p:txBody>
      </p:sp>
      <p:sp>
        <p:nvSpPr>
          <p:cNvPr id="93" name="Shape 91"/>
          <p:cNvSpPr/>
          <p:nvPr/>
        </p:nvSpPr>
        <p:spPr>
          <a:xfrm>
            <a:off x="7971434" y="1664208"/>
            <a:ext cx="120453" cy="301752"/>
          </a:xfrm>
          <a:prstGeom prst="rect">
            <a:avLst/>
          </a:prstGeom>
          <a:solidFill>
            <a:srgbClr val="F4F7F8"/>
          </a:solidFill>
          <a:ln w="6350">
            <a:solidFill>
              <a:srgbClr val="FFFFFF"/>
            </a:solidFill>
            <a:prstDash val="solid"/>
          </a:ln>
        </p:spPr>
      </p:sp>
      <p:sp>
        <p:nvSpPr>
          <p:cNvPr id="94" name="Text 92"/>
          <p:cNvSpPr/>
          <p:nvPr/>
        </p:nvSpPr>
        <p:spPr>
          <a:xfrm>
            <a:off x="7971434"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M</a:t>
            </a:r>
            <a:endParaRPr lang="en-US" sz="500" dirty="0"/>
          </a:p>
        </p:txBody>
      </p:sp>
      <p:sp>
        <p:nvSpPr>
          <p:cNvPr id="95" name="Text 93"/>
          <p:cNvSpPr/>
          <p:nvPr/>
        </p:nvSpPr>
        <p:spPr>
          <a:xfrm>
            <a:off x="7971434"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26</a:t>
            </a:r>
            <a:endParaRPr lang="en-US" sz="550" dirty="0"/>
          </a:p>
        </p:txBody>
      </p:sp>
      <p:sp>
        <p:nvSpPr>
          <p:cNvPr id="96" name="Shape 94"/>
          <p:cNvSpPr/>
          <p:nvPr/>
        </p:nvSpPr>
        <p:spPr>
          <a:xfrm>
            <a:off x="8091888" y="1664208"/>
            <a:ext cx="120453" cy="301752"/>
          </a:xfrm>
          <a:prstGeom prst="rect">
            <a:avLst/>
          </a:prstGeom>
          <a:solidFill>
            <a:srgbClr val="F4F7F8"/>
          </a:solidFill>
          <a:ln w="6350">
            <a:solidFill>
              <a:srgbClr val="FFFFFF"/>
            </a:solidFill>
            <a:prstDash val="solid"/>
          </a:ln>
        </p:spPr>
      </p:sp>
      <p:sp>
        <p:nvSpPr>
          <p:cNvPr id="97" name="Text 95"/>
          <p:cNvSpPr/>
          <p:nvPr/>
        </p:nvSpPr>
        <p:spPr>
          <a:xfrm>
            <a:off x="8091888"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T</a:t>
            </a:r>
            <a:endParaRPr lang="en-US" sz="500" dirty="0"/>
          </a:p>
        </p:txBody>
      </p:sp>
      <p:sp>
        <p:nvSpPr>
          <p:cNvPr id="98" name="Text 96"/>
          <p:cNvSpPr/>
          <p:nvPr/>
        </p:nvSpPr>
        <p:spPr>
          <a:xfrm>
            <a:off x="8091888"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27</a:t>
            </a:r>
            <a:endParaRPr lang="en-US" sz="550" dirty="0"/>
          </a:p>
        </p:txBody>
      </p:sp>
      <p:sp>
        <p:nvSpPr>
          <p:cNvPr id="99" name="Shape 97"/>
          <p:cNvSpPr/>
          <p:nvPr/>
        </p:nvSpPr>
        <p:spPr>
          <a:xfrm>
            <a:off x="8212341" y="1664208"/>
            <a:ext cx="120453" cy="301752"/>
          </a:xfrm>
          <a:prstGeom prst="rect">
            <a:avLst/>
          </a:prstGeom>
          <a:solidFill>
            <a:srgbClr val="F4F7F8"/>
          </a:solidFill>
          <a:ln w="6350">
            <a:solidFill>
              <a:srgbClr val="FFFFFF"/>
            </a:solidFill>
            <a:prstDash val="solid"/>
          </a:ln>
        </p:spPr>
      </p:sp>
      <p:sp>
        <p:nvSpPr>
          <p:cNvPr id="100" name="Text 98"/>
          <p:cNvSpPr/>
          <p:nvPr/>
        </p:nvSpPr>
        <p:spPr>
          <a:xfrm>
            <a:off x="8212341"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W</a:t>
            </a:r>
            <a:endParaRPr lang="en-US" sz="500" dirty="0"/>
          </a:p>
        </p:txBody>
      </p:sp>
      <p:sp>
        <p:nvSpPr>
          <p:cNvPr id="101" name="Text 99"/>
          <p:cNvSpPr/>
          <p:nvPr/>
        </p:nvSpPr>
        <p:spPr>
          <a:xfrm>
            <a:off x="8212341"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28</a:t>
            </a:r>
            <a:endParaRPr lang="en-US" sz="550" dirty="0"/>
          </a:p>
        </p:txBody>
      </p:sp>
      <p:sp>
        <p:nvSpPr>
          <p:cNvPr id="102" name="Shape 100"/>
          <p:cNvSpPr/>
          <p:nvPr/>
        </p:nvSpPr>
        <p:spPr>
          <a:xfrm>
            <a:off x="8332794" y="1664208"/>
            <a:ext cx="120453" cy="301752"/>
          </a:xfrm>
          <a:prstGeom prst="rect">
            <a:avLst/>
          </a:prstGeom>
          <a:solidFill>
            <a:srgbClr val="F4F7F8"/>
          </a:solidFill>
          <a:ln w="6350">
            <a:solidFill>
              <a:srgbClr val="FFFFFF"/>
            </a:solidFill>
            <a:prstDash val="solid"/>
          </a:ln>
        </p:spPr>
      </p:sp>
      <p:sp>
        <p:nvSpPr>
          <p:cNvPr id="103" name="Text 101"/>
          <p:cNvSpPr/>
          <p:nvPr/>
        </p:nvSpPr>
        <p:spPr>
          <a:xfrm>
            <a:off x="8332794"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T</a:t>
            </a:r>
            <a:endParaRPr lang="en-US" sz="500" dirty="0"/>
          </a:p>
        </p:txBody>
      </p:sp>
      <p:sp>
        <p:nvSpPr>
          <p:cNvPr id="104" name="Text 102"/>
          <p:cNvSpPr/>
          <p:nvPr/>
        </p:nvSpPr>
        <p:spPr>
          <a:xfrm>
            <a:off x="8332794"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29</a:t>
            </a:r>
            <a:endParaRPr lang="en-US" sz="550" dirty="0"/>
          </a:p>
        </p:txBody>
      </p:sp>
      <p:sp>
        <p:nvSpPr>
          <p:cNvPr id="105" name="Shape 103"/>
          <p:cNvSpPr/>
          <p:nvPr/>
        </p:nvSpPr>
        <p:spPr>
          <a:xfrm>
            <a:off x="8453247" y="1664208"/>
            <a:ext cx="120453" cy="301752"/>
          </a:xfrm>
          <a:prstGeom prst="rect">
            <a:avLst/>
          </a:prstGeom>
          <a:solidFill>
            <a:srgbClr val="DBE3E6"/>
          </a:solidFill>
          <a:ln w="6350">
            <a:solidFill>
              <a:srgbClr val="FFFFFF"/>
            </a:solidFill>
            <a:prstDash val="solid"/>
          </a:ln>
        </p:spPr>
      </p:sp>
      <p:sp>
        <p:nvSpPr>
          <p:cNvPr id="106" name="Text 104"/>
          <p:cNvSpPr/>
          <p:nvPr/>
        </p:nvSpPr>
        <p:spPr>
          <a:xfrm>
            <a:off x="8453247"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8A959C"/>
                </a:solidFill>
                <a:latin typeface="Calibri" pitchFamily="34" charset="0"/>
                <a:ea typeface="Calibri" pitchFamily="34" charset="-122"/>
                <a:cs typeface="Calibri" pitchFamily="34" charset="-120"/>
              </a:rPr>
              <a:t>F</a:t>
            </a:r>
            <a:endParaRPr lang="en-US" sz="500" dirty="0"/>
          </a:p>
        </p:txBody>
      </p:sp>
      <p:sp>
        <p:nvSpPr>
          <p:cNvPr id="107" name="Text 105"/>
          <p:cNvSpPr/>
          <p:nvPr/>
        </p:nvSpPr>
        <p:spPr>
          <a:xfrm>
            <a:off x="8453247"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8A959C"/>
                </a:solidFill>
                <a:latin typeface="Calibri" pitchFamily="34" charset="0"/>
                <a:ea typeface="Calibri" pitchFamily="34" charset="-122"/>
                <a:cs typeface="Calibri" pitchFamily="34" charset="-120"/>
              </a:rPr>
              <a:t>30</a:t>
            </a:r>
            <a:endParaRPr lang="en-US" sz="550" dirty="0"/>
          </a:p>
        </p:txBody>
      </p:sp>
      <p:sp>
        <p:nvSpPr>
          <p:cNvPr id="108" name="Shape 106"/>
          <p:cNvSpPr/>
          <p:nvPr/>
        </p:nvSpPr>
        <p:spPr>
          <a:xfrm>
            <a:off x="8453247" y="1965960"/>
            <a:ext cx="120453" cy="3502152"/>
          </a:xfrm>
          <a:prstGeom prst="rect">
            <a:avLst/>
          </a:prstGeom>
          <a:solidFill>
            <a:srgbClr val="000000">
              <a:alpha val="6000"/>
            </a:srgbClr>
          </a:solidFill>
          <a:ln w="12700">
            <a:solidFill>
              <a:srgbClr val="000000">
                <a:alpha val="0"/>
              </a:srgbClr>
            </a:solidFill>
            <a:prstDash val="solid"/>
          </a:ln>
        </p:spPr>
      </p:sp>
      <p:sp>
        <p:nvSpPr>
          <p:cNvPr id="109" name="Shape 107"/>
          <p:cNvSpPr/>
          <p:nvPr/>
        </p:nvSpPr>
        <p:spPr>
          <a:xfrm>
            <a:off x="8573700" y="1664208"/>
            <a:ext cx="120453" cy="301752"/>
          </a:xfrm>
          <a:prstGeom prst="rect">
            <a:avLst/>
          </a:prstGeom>
          <a:solidFill>
            <a:srgbClr val="F4F7F8"/>
          </a:solidFill>
          <a:ln w="6350">
            <a:solidFill>
              <a:srgbClr val="FFFFFF"/>
            </a:solidFill>
            <a:prstDash val="solid"/>
          </a:ln>
        </p:spPr>
      </p:sp>
      <p:sp>
        <p:nvSpPr>
          <p:cNvPr id="110" name="Text 108"/>
          <p:cNvSpPr/>
          <p:nvPr/>
        </p:nvSpPr>
        <p:spPr>
          <a:xfrm>
            <a:off x="8573700"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S</a:t>
            </a:r>
            <a:endParaRPr lang="en-US" sz="500" dirty="0"/>
          </a:p>
        </p:txBody>
      </p:sp>
      <p:sp>
        <p:nvSpPr>
          <p:cNvPr id="111" name="Text 109"/>
          <p:cNvSpPr/>
          <p:nvPr/>
        </p:nvSpPr>
        <p:spPr>
          <a:xfrm>
            <a:off x="8573700"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31</a:t>
            </a:r>
            <a:endParaRPr lang="en-US" sz="550" dirty="0"/>
          </a:p>
        </p:txBody>
      </p:sp>
      <p:sp>
        <p:nvSpPr>
          <p:cNvPr id="112" name="Shape 110"/>
          <p:cNvSpPr/>
          <p:nvPr/>
        </p:nvSpPr>
        <p:spPr>
          <a:xfrm>
            <a:off x="8573700" y="1965960"/>
            <a:ext cx="0" cy="3502152"/>
          </a:xfrm>
          <a:prstGeom prst="line">
            <a:avLst/>
          </a:prstGeom>
          <a:noFill/>
          <a:ln w="6350">
            <a:solidFill>
              <a:srgbClr val="9DB2BB"/>
            </a:solidFill>
            <a:prstDash val="solid"/>
          </a:ln>
        </p:spPr>
      </p:sp>
      <p:sp>
        <p:nvSpPr>
          <p:cNvPr id="113" name="Shape 111"/>
          <p:cNvSpPr/>
          <p:nvPr/>
        </p:nvSpPr>
        <p:spPr>
          <a:xfrm>
            <a:off x="8694153" y="1664208"/>
            <a:ext cx="120453" cy="301752"/>
          </a:xfrm>
          <a:prstGeom prst="rect">
            <a:avLst/>
          </a:prstGeom>
          <a:solidFill>
            <a:srgbClr val="F4F7F8"/>
          </a:solidFill>
          <a:ln w="6350">
            <a:solidFill>
              <a:srgbClr val="FFFFFF"/>
            </a:solidFill>
            <a:prstDash val="solid"/>
          </a:ln>
        </p:spPr>
      </p:sp>
      <p:sp>
        <p:nvSpPr>
          <p:cNvPr id="114" name="Text 112"/>
          <p:cNvSpPr/>
          <p:nvPr/>
        </p:nvSpPr>
        <p:spPr>
          <a:xfrm>
            <a:off x="8694153"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S</a:t>
            </a:r>
            <a:endParaRPr lang="en-US" sz="500" dirty="0"/>
          </a:p>
        </p:txBody>
      </p:sp>
      <p:sp>
        <p:nvSpPr>
          <p:cNvPr id="115" name="Text 113"/>
          <p:cNvSpPr/>
          <p:nvPr/>
        </p:nvSpPr>
        <p:spPr>
          <a:xfrm>
            <a:off x="8694153"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a:t>
            </a:r>
            <a:endParaRPr lang="en-US" sz="550" dirty="0"/>
          </a:p>
        </p:txBody>
      </p:sp>
      <p:sp>
        <p:nvSpPr>
          <p:cNvPr id="116" name="Shape 114"/>
          <p:cNvSpPr/>
          <p:nvPr/>
        </p:nvSpPr>
        <p:spPr>
          <a:xfrm>
            <a:off x="8814606" y="1664208"/>
            <a:ext cx="120453" cy="301752"/>
          </a:xfrm>
          <a:prstGeom prst="rect">
            <a:avLst/>
          </a:prstGeom>
          <a:solidFill>
            <a:srgbClr val="F4F7F8"/>
          </a:solidFill>
          <a:ln w="6350">
            <a:solidFill>
              <a:srgbClr val="FFFFFF"/>
            </a:solidFill>
            <a:prstDash val="solid"/>
          </a:ln>
        </p:spPr>
      </p:sp>
      <p:sp>
        <p:nvSpPr>
          <p:cNvPr id="117" name="Text 115"/>
          <p:cNvSpPr/>
          <p:nvPr/>
        </p:nvSpPr>
        <p:spPr>
          <a:xfrm>
            <a:off x="8814606"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M</a:t>
            </a:r>
            <a:endParaRPr lang="en-US" sz="500" dirty="0"/>
          </a:p>
        </p:txBody>
      </p:sp>
      <p:sp>
        <p:nvSpPr>
          <p:cNvPr id="118" name="Text 116"/>
          <p:cNvSpPr/>
          <p:nvPr/>
        </p:nvSpPr>
        <p:spPr>
          <a:xfrm>
            <a:off x="8814606"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2</a:t>
            </a:r>
            <a:endParaRPr lang="en-US" sz="550" dirty="0"/>
          </a:p>
        </p:txBody>
      </p:sp>
      <p:sp>
        <p:nvSpPr>
          <p:cNvPr id="119" name="Shape 117"/>
          <p:cNvSpPr/>
          <p:nvPr/>
        </p:nvSpPr>
        <p:spPr>
          <a:xfrm>
            <a:off x="8935060" y="1664208"/>
            <a:ext cx="120453" cy="301752"/>
          </a:xfrm>
          <a:prstGeom prst="rect">
            <a:avLst/>
          </a:prstGeom>
          <a:solidFill>
            <a:srgbClr val="F4F7F8"/>
          </a:solidFill>
          <a:ln w="6350">
            <a:solidFill>
              <a:srgbClr val="FFFFFF"/>
            </a:solidFill>
            <a:prstDash val="solid"/>
          </a:ln>
        </p:spPr>
      </p:sp>
      <p:sp>
        <p:nvSpPr>
          <p:cNvPr id="120" name="Text 118"/>
          <p:cNvSpPr/>
          <p:nvPr/>
        </p:nvSpPr>
        <p:spPr>
          <a:xfrm>
            <a:off x="8935060"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T</a:t>
            </a:r>
            <a:endParaRPr lang="en-US" sz="500" dirty="0"/>
          </a:p>
        </p:txBody>
      </p:sp>
      <p:sp>
        <p:nvSpPr>
          <p:cNvPr id="121" name="Text 119"/>
          <p:cNvSpPr/>
          <p:nvPr/>
        </p:nvSpPr>
        <p:spPr>
          <a:xfrm>
            <a:off x="8935060"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3</a:t>
            </a:r>
            <a:endParaRPr lang="en-US" sz="550" dirty="0"/>
          </a:p>
        </p:txBody>
      </p:sp>
      <p:sp>
        <p:nvSpPr>
          <p:cNvPr id="122" name="Shape 120"/>
          <p:cNvSpPr/>
          <p:nvPr/>
        </p:nvSpPr>
        <p:spPr>
          <a:xfrm>
            <a:off x="9055513" y="1664208"/>
            <a:ext cx="120453" cy="301752"/>
          </a:xfrm>
          <a:prstGeom prst="rect">
            <a:avLst/>
          </a:prstGeom>
          <a:solidFill>
            <a:srgbClr val="F4F7F8"/>
          </a:solidFill>
          <a:ln w="6350">
            <a:solidFill>
              <a:srgbClr val="FFFFFF"/>
            </a:solidFill>
            <a:prstDash val="solid"/>
          </a:ln>
        </p:spPr>
      </p:sp>
      <p:sp>
        <p:nvSpPr>
          <p:cNvPr id="123" name="Text 121"/>
          <p:cNvSpPr/>
          <p:nvPr/>
        </p:nvSpPr>
        <p:spPr>
          <a:xfrm>
            <a:off x="9055513"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W</a:t>
            </a:r>
            <a:endParaRPr lang="en-US" sz="500" dirty="0"/>
          </a:p>
        </p:txBody>
      </p:sp>
      <p:sp>
        <p:nvSpPr>
          <p:cNvPr id="124" name="Text 122"/>
          <p:cNvSpPr/>
          <p:nvPr/>
        </p:nvSpPr>
        <p:spPr>
          <a:xfrm>
            <a:off x="9055513"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4</a:t>
            </a:r>
            <a:endParaRPr lang="en-US" sz="550" dirty="0"/>
          </a:p>
        </p:txBody>
      </p:sp>
      <p:sp>
        <p:nvSpPr>
          <p:cNvPr id="125" name="Shape 123"/>
          <p:cNvSpPr/>
          <p:nvPr/>
        </p:nvSpPr>
        <p:spPr>
          <a:xfrm>
            <a:off x="9175966" y="1664208"/>
            <a:ext cx="120453" cy="301752"/>
          </a:xfrm>
          <a:prstGeom prst="rect">
            <a:avLst/>
          </a:prstGeom>
          <a:solidFill>
            <a:srgbClr val="F4F7F8"/>
          </a:solidFill>
          <a:ln w="6350">
            <a:solidFill>
              <a:srgbClr val="FFFFFF"/>
            </a:solidFill>
            <a:prstDash val="solid"/>
          </a:ln>
        </p:spPr>
      </p:sp>
      <p:sp>
        <p:nvSpPr>
          <p:cNvPr id="126" name="Text 124"/>
          <p:cNvSpPr/>
          <p:nvPr/>
        </p:nvSpPr>
        <p:spPr>
          <a:xfrm>
            <a:off x="9175966"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T</a:t>
            </a:r>
            <a:endParaRPr lang="en-US" sz="500" dirty="0"/>
          </a:p>
        </p:txBody>
      </p:sp>
      <p:sp>
        <p:nvSpPr>
          <p:cNvPr id="127" name="Text 125"/>
          <p:cNvSpPr/>
          <p:nvPr/>
        </p:nvSpPr>
        <p:spPr>
          <a:xfrm>
            <a:off x="9175966"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5</a:t>
            </a:r>
            <a:endParaRPr lang="en-US" sz="550" dirty="0"/>
          </a:p>
        </p:txBody>
      </p:sp>
      <p:sp>
        <p:nvSpPr>
          <p:cNvPr id="128" name="Shape 126"/>
          <p:cNvSpPr/>
          <p:nvPr/>
        </p:nvSpPr>
        <p:spPr>
          <a:xfrm>
            <a:off x="9296419" y="1664208"/>
            <a:ext cx="120453" cy="301752"/>
          </a:xfrm>
          <a:prstGeom prst="rect">
            <a:avLst/>
          </a:prstGeom>
          <a:solidFill>
            <a:srgbClr val="DBE3E6"/>
          </a:solidFill>
          <a:ln w="6350">
            <a:solidFill>
              <a:srgbClr val="FFFFFF"/>
            </a:solidFill>
            <a:prstDash val="solid"/>
          </a:ln>
        </p:spPr>
      </p:sp>
      <p:sp>
        <p:nvSpPr>
          <p:cNvPr id="129" name="Text 127"/>
          <p:cNvSpPr/>
          <p:nvPr/>
        </p:nvSpPr>
        <p:spPr>
          <a:xfrm>
            <a:off x="9296419"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8A959C"/>
                </a:solidFill>
                <a:latin typeface="Calibri" pitchFamily="34" charset="0"/>
                <a:ea typeface="Calibri" pitchFamily="34" charset="-122"/>
                <a:cs typeface="Calibri" pitchFamily="34" charset="-120"/>
              </a:rPr>
              <a:t>F</a:t>
            </a:r>
            <a:endParaRPr lang="en-US" sz="500" dirty="0"/>
          </a:p>
        </p:txBody>
      </p:sp>
      <p:sp>
        <p:nvSpPr>
          <p:cNvPr id="130" name="Text 128"/>
          <p:cNvSpPr/>
          <p:nvPr/>
        </p:nvSpPr>
        <p:spPr>
          <a:xfrm>
            <a:off x="9296419"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8A959C"/>
                </a:solidFill>
                <a:latin typeface="Calibri" pitchFamily="34" charset="0"/>
                <a:ea typeface="Calibri" pitchFamily="34" charset="-122"/>
                <a:cs typeface="Calibri" pitchFamily="34" charset="-120"/>
              </a:rPr>
              <a:t>6</a:t>
            </a:r>
            <a:endParaRPr lang="en-US" sz="550" dirty="0"/>
          </a:p>
        </p:txBody>
      </p:sp>
      <p:sp>
        <p:nvSpPr>
          <p:cNvPr id="131" name="Shape 129"/>
          <p:cNvSpPr/>
          <p:nvPr/>
        </p:nvSpPr>
        <p:spPr>
          <a:xfrm>
            <a:off x="9296419" y="1965960"/>
            <a:ext cx="120453" cy="3502152"/>
          </a:xfrm>
          <a:prstGeom prst="rect">
            <a:avLst/>
          </a:prstGeom>
          <a:solidFill>
            <a:srgbClr val="000000">
              <a:alpha val="6000"/>
            </a:srgbClr>
          </a:solidFill>
          <a:ln w="12700">
            <a:solidFill>
              <a:srgbClr val="000000">
                <a:alpha val="0"/>
              </a:srgbClr>
            </a:solidFill>
            <a:prstDash val="solid"/>
          </a:ln>
        </p:spPr>
      </p:sp>
      <p:sp>
        <p:nvSpPr>
          <p:cNvPr id="132" name="Shape 130"/>
          <p:cNvSpPr/>
          <p:nvPr/>
        </p:nvSpPr>
        <p:spPr>
          <a:xfrm>
            <a:off x="9416872" y="1664208"/>
            <a:ext cx="120453" cy="301752"/>
          </a:xfrm>
          <a:prstGeom prst="rect">
            <a:avLst/>
          </a:prstGeom>
          <a:solidFill>
            <a:srgbClr val="F4F7F8"/>
          </a:solidFill>
          <a:ln w="6350">
            <a:solidFill>
              <a:srgbClr val="FFFFFF"/>
            </a:solidFill>
            <a:prstDash val="solid"/>
          </a:ln>
        </p:spPr>
      </p:sp>
      <p:sp>
        <p:nvSpPr>
          <p:cNvPr id="133" name="Text 131"/>
          <p:cNvSpPr/>
          <p:nvPr/>
        </p:nvSpPr>
        <p:spPr>
          <a:xfrm>
            <a:off x="9416872"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S</a:t>
            </a:r>
            <a:endParaRPr lang="en-US" sz="500" dirty="0"/>
          </a:p>
        </p:txBody>
      </p:sp>
      <p:sp>
        <p:nvSpPr>
          <p:cNvPr id="134" name="Text 132"/>
          <p:cNvSpPr/>
          <p:nvPr/>
        </p:nvSpPr>
        <p:spPr>
          <a:xfrm>
            <a:off x="9416872"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7</a:t>
            </a:r>
            <a:endParaRPr lang="en-US" sz="550" dirty="0"/>
          </a:p>
        </p:txBody>
      </p:sp>
      <p:sp>
        <p:nvSpPr>
          <p:cNvPr id="135" name="Shape 133"/>
          <p:cNvSpPr/>
          <p:nvPr/>
        </p:nvSpPr>
        <p:spPr>
          <a:xfrm>
            <a:off x="9416872" y="1965960"/>
            <a:ext cx="0" cy="3502152"/>
          </a:xfrm>
          <a:prstGeom prst="line">
            <a:avLst/>
          </a:prstGeom>
          <a:noFill/>
          <a:ln w="6350">
            <a:solidFill>
              <a:srgbClr val="9DB2BB"/>
            </a:solidFill>
            <a:prstDash val="solid"/>
          </a:ln>
        </p:spPr>
      </p:sp>
      <p:sp>
        <p:nvSpPr>
          <p:cNvPr id="136" name="Shape 134"/>
          <p:cNvSpPr/>
          <p:nvPr/>
        </p:nvSpPr>
        <p:spPr>
          <a:xfrm>
            <a:off x="9537325" y="1664208"/>
            <a:ext cx="120453" cy="301752"/>
          </a:xfrm>
          <a:prstGeom prst="rect">
            <a:avLst/>
          </a:prstGeom>
          <a:solidFill>
            <a:srgbClr val="F4F7F8"/>
          </a:solidFill>
          <a:ln w="6350">
            <a:solidFill>
              <a:srgbClr val="FFFFFF"/>
            </a:solidFill>
            <a:prstDash val="solid"/>
          </a:ln>
        </p:spPr>
      </p:sp>
      <p:sp>
        <p:nvSpPr>
          <p:cNvPr id="137" name="Text 135"/>
          <p:cNvSpPr/>
          <p:nvPr/>
        </p:nvSpPr>
        <p:spPr>
          <a:xfrm>
            <a:off x="9537325"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S</a:t>
            </a:r>
            <a:endParaRPr lang="en-US" sz="500" dirty="0"/>
          </a:p>
        </p:txBody>
      </p:sp>
      <p:sp>
        <p:nvSpPr>
          <p:cNvPr id="138" name="Text 136"/>
          <p:cNvSpPr/>
          <p:nvPr/>
        </p:nvSpPr>
        <p:spPr>
          <a:xfrm>
            <a:off x="9537325"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8</a:t>
            </a:r>
            <a:endParaRPr lang="en-US" sz="550" dirty="0"/>
          </a:p>
        </p:txBody>
      </p:sp>
      <p:sp>
        <p:nvSpPr>
          <p:cNvPr id="139" name="Shape 137"/>
          <p:cNvSpPr/>
          <p:nvPr/>
        </p:nvSpPr>
        <p:spPr>
          <a:xfrm>
            <a:off x="9657779" y="1664208"/>
            <a:ext cx="120453" cy="301752"/>
          </a:xfrm>
          <a:prstGeom prst="rect">
            <a:avLst/>
          </a:prstGeom>
          <a:solidFill>
            <a:srgbClr val="F4F7F8"/>
          </a:solidFill>
          <a:ln w="6350">
            <a:solidFill>
              <a:srgbClr val="FFFFFF"/>
            </a:solidFill>
            <a:prstDash val="solid"/>
          </a:ln>
        </p:spPr>
      </p:sp>
      <p:sp>
        <p:nvSpPr>
          <p:cNvPr id="140" name="Text 138"/>
          <p:cNvSpPr/>
          <p:nvPr/>
        </p:nvSpPr>
        <p:spPr>
          <a:xfrm>
            <a:off x="9657779"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M</a:t>
            </a:r>
            <a:endParaRPr lang="en-US" sz="500" dirty="0"/>
          </a:p>
        </p:txBody>
      </p:sp>
      <p:sp>
        <p:nvSpPr>
          <p:cNvPr id="141" name="Text 139"/>
          <p:cNvSpPr/>
          <p:nvPr/>
        </p:nvSpPr>
        <p:spPr>
          <a:xfrm>
            <a:off x="9657779"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9</a:t>
            </a:r>
            <a:endParaRPr lang="en-US" sz="550" dirty="0"/>
          </a:p>
        </p:txBody>
      </p:sp>
      <p:sp>
        <p:nvSpPr>
          <p:cNvPr id="142" name="Shape 140"/>
          <p:cNvSpPr/>
          <p:nvPr/>
        </p:nvSpPr>
        <p:spPr>
          <a:xfrm>
            <a:off x="9778232" y="1664208"/>
            <a:ext cx="120453" cy="301752"/>
          </a:xfrm>
          <a:prstGeom prst="rect">
            <a:avLst/>
          </a:prstGeom>
          <a:solidFill>
            <a:srgbClr val="F4F7F8"/>
          </a:solidFill>
          <a:ln w="6350">
            <a:solidFill>
              <a:srgbClr val="FFFFFF"/>
            </a:solidFill>
            <a:prstDash val="solid"/>
          </a:ln>
        </p:spPr>
      </p:sp>
      <p:sp>
        <p:nvSpPr>
          <p:cNvPr id="143" name="Text 141"/>
          <p:cNvSpPr/>
          <p:nvPr/>
        </p:nvSpPr>
        <p:spPr>
          <a:xfrm>
            <a:off x="9778232"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T</a:t>
            </a:r>
            <a:endParaRPr lang="en-US" sz="500" dirty="0"/>
          </a:p>
        </p:txBody>
      </p:sp>
      <p:sp>
        <p:nvSpPr>
          <p:cNvPr id="144" name="Text 142"/>
          <p:cNvSpPr/>
          <p:nvPr/>
        </p:nvSpPr>
        <p:spPr>
          <a:xfrm>
            <a:off x="9778232"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10</a:t>
            </a:r>
            <a:endParaRPr lang="en-US" sz="550" dirty="0"/>
          </a:p>
        </p:txBody>
      </p:sp>
      <p:sp>
        <p:nvSpPr>
          <p:cNvPr id="145" name="Shape 143"/>
          <p:cNvSpPr/>
          <p:nvPr/>
        </p:nvSpPr>
        <p:spPr>
          <a:xfrm>
            <a:off x="9898685" y="1664208"/>
            <a:ext cx="120453" cy="301752"/>
          </a:xfrm>
          <a:prstGeom prst="rect">
            <a:avLst/>
          </a:prstGeom>
          <a:solidFill>
            <a:srgbClr val="F4F7F8"/>
          </a:solidFill>
          <a:ln w="6350">
            <a:solidFill>
              <a:srgbClr val="FFFFFF"/>
            </a:solidFill>
            <a:prstDash val="solid"/>
          </a:ln>
        </p:spPr>
      </p:sp>
      <p:sp>
        <p:nvSpPr>
          <p:cNvPr id="146" name="Text 144"/>
          <p:cNvSpPr/>
          <p:nvPr/>
        </p:nvSpPr>
        <p:spPr>
          <a:xfrm>
            <a:off x="9898685"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W</a:t>
            </a:r>
            <a:endParaRPr lang="en-US" sz="500" dirty="0"/>
          </a:p>
        </p:txBody>
      </p:sp>
      <p:sp>
        <p:nvSpPr>
          <p:cNvPr id="147" name="Text 145"/>
          <p:cNvSpPr/>
          <p:nvPr/>
        </p:nvSpPr>
        <p:spPr>
          <a:xfrm>
            <a:off x="9898685"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11</a:t>
            </a:r>
            <a:endParaRPr lang="en-US" sz="550" dirty="0"/>
          </a:p>
        </p:txBody>
      </p:sp>
      <p:sp>
        <p:nvSpPr>
          <p:cNvPr id="148" name="Shape 146"/>
          <p:cNvSpPr/>
          <p:nvPr/>
        </p:nvSpPr>
        <p:spPr>
          <a:xfrm>
            <a:off x="10019138" y="1664208"/>
            <a:ext cx="120453" cy="301752"/>
          </a:xfrm>
          <a:prstGeom prst="rect">
            <a:avLst/>
          </a:prstGeom>
          <a:solidFill>
            <a:srgbClr val="F4F7F8"/>
          </a:solidFill>
          <a:ln w="6350">
            <a:solidFill>
              <a:srgbClr val="FFFFFF"/>
            </a:solidFill>
            <a:prstDash val="solid"/>
          </a:ln>
        </p:spPr>
      </p:sp>
      <p:sp>
        <p:nvSpPr>
          <p:cNvPr id="149" name="Text 147"/>
          <p:cNvSpPr/>
          <p:nvPr/>
        </p:nvSpPr>
        <p:spPr>
          <a:xfrm>
            <a:off x="10019138"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T</a:t>
            </a:r>
            <a:endParaRPr lang="en-US" sz="500" dirty="0"/>
          </a:p>
        </p:txBody>
      </p:sp>
      <p:sp>
        <p:nvSpPr>
          <p:cNvPr id="150" name="Text 148"/>
          <p:cNvSpPr/>
          <p:nvPr/>
        </p:nvSpPr>
        <p:spPr>
          <a:xfrm>
            <a:off x="10019138"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12</a:t>
            </a:r>
            <a:endParaRPr lang="en-US" sz="550" dirty="0"/>
          </a:p>
        </p:txBody>
      </p:sp>
      <p:sp>
        <p:nvSpPr>
          <p:cNvPr id="151" name="Shape 149"/>
          <p:cNvSpPr/>
          <p:nvPr/>
        </p:nvSpPr>
        <p:spPr>
          <a:xfrm>
            <a:off x="10139591" y="1664208"/>
            <a:ext cx="120453" cy="301752"/>
          </a:xfrm>
          <a:prstGeom prst="rect">
            <a:avLst/>
          </a:prstGeom>
          <a:solidFill>
            <a:srgbClr val="DBE3E6"/>
          </a:solidFill>
          <a:ln w="6350">
            <a:solidFill>
              <a:srgbClr val="FFFFFF"/>
            </a:solidFill>
            <a:prstDash val="solid"/>
          </a:ln>
        </p:spPr>
      </p:sp>
      <p:sp>
        <p:nvSpPr>
          <p:cNvPr id="152" name="Text 150"/>
          <p:cNvSpPr/>
          <p:nvPr/>
        </p:nvSpPr>
        <p:spPr>
          <a:xfrm>
            <a:off x="10139591"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8A959C"/>
                </a:solidFill>
                <a:latin typeface="Calibri" pitchFamily="34" charset="0"/>
                <a:ea typeface="Calibri" pitchFamily="34" charset="-122"/>
                <a:cs typeface="Calibri" pitchFamily="34" charset="-120"/>
              </a:rPr>
              <a:t>F</a:t>
            </a:r>
            <a:endParaRPr lang="en-US" sz="500" dirty="0"/>
          </a:p>
        </p:txBody>
      </p:sp>
      <p:sp>
        <p:nvSpPr>
          <p:cNvPr id="153" name="Text 151"/>
          <p:cNvSpPr/>
          <p:nvPr/>
        </p:nvSpPr>
        <p:spPr>
          <a:xfrm>
            <a:off x="10139591"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8A959C"/>
                </a:solidFill>
                <a:latin typeface="Calibri" pitchFamily="34" charset="0"/>
                <a:ea typeface="Calibri" pitchFamily="34" charset="-122"/>
                <a:cs typeface="Calibri" pitchFamily="34" charset="-120"/>
              </a:rPr>
              <a:t>13</a:t>
            </a:r>
            <a:endParaRPr lang="en-US" sz="550" dirty="0"/>
          </a:p>
        </p:txBody>
      </p:sp>
      <p:sp>
        <p:nvSpPr>
          <p:cNvPr id="154" name="Shape 152"/>
          <p:cNvSpPr/>
          <p:nvPr/>
        </p:nvSpPr>
        <p:spPr>
          <a:xfrm>
            <a:off x="10139591" y="1965960"/>
            <a:ext cx="120453" cy="3502152"/>
          </a:xfrm>
          <a:prstGeom prst="rect">
            <a:avLst/>
          </a:prstGeom>
          <a:solidFill>
            <a:srgbClr val="000000">
              <a:alpha val="6000"/>
            </a:srgbClr>
          </a:solidFill>
          <a:ln w="12700">
            <a:solidFill>
              <a:srgbClr val="000000">
                <a:alpha val="0"/>
              </a:srgbClr>
            </a:solidFill>
            <a:prstDash val="solid"/>
          </a:ln>
        </p:spPr>
      </p:sp>
      <p:sp>
        <p:nvSpPr>
          <p:cNvPr id="155" name="Shape 153"/>
          <p:cNvSpPr/>
          <p:nvPr/>
        </p:nvSpPr>
        <p:spPr>
          <a:xfrm>
            <a:off x="10260044" y="1664208"/>
            <a:ext cx="120453" cy="301752"/>
          </a:xfrm>
          <a:prstGeom prst="rect">
            <a:avLst/>
          </a:prstGeom>
          <a:solidFill>
            <a:srgbClr val="F4F7F8"/>
          </a:solidFill>
          <a:ln w="6350">
            <a:solidFill>
              <a:srgbClr val="FFFFFF"/>
            </a:solidFill>
            <a:prstDash val="solid"/>
          </a:ln>
        </p:spPr>
      </p:sp>
      <p:sp>
        <p:nvSpPr>
          <p:cNvPr id="156" name="Text 154"/>
          <p:cNvSpPr/>
          <p:nvPr/>
        </p:nvSpPr>
        <p:spPr>
          <a:xfrm>
            <a:off x="10260044"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S</a:t>
            </a:r>
            <a:endParaRPr lang="en-US" sz="500" dirty="0"/>
          </a:p>
        </p:txBody>
      </p:sp>
      <p:sp>
        <p:nvSpPr>
          <p:cNvPr id="157" name="Text 155"/>
          <p:cNvSpPr/>
          <p:nvPr/>
        </p:nvSpPr>
        <p:spPr>
          <a:xfrm>
            <a:off x="10260044"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14</a:t>
            </a:r>
            <a:endParaRPr lang="en-US" sz="550" dirty="0"/>
          </a:p>
        </p:txBody>
      </p:sp>
      <p:sp>
        <p:nvSpPr>
          <p:cNvPr id="158" name="Shape 156"/>
          <p:cNvSpPr/>
          <p:nvPr/>
        </p:nvSpPr>
        <p:spPr>
          <a:xfrm>
            <a:off x="10260044" y="1965960"/>
            <a:ext cx="0" cy="3502152"/>
          </a:xfrm>
          <a:prstGeom prst="line">
            <a:avLst/>
          </a:prstGeom>
          <a:noFill/>
          <a:ln w="6350">
            <a:solidFill>
              <a:srgbClr val="9DB2BB"/>
            </a:solidFill>
            <a:prstDash val="solid"/>
          </a:ln>
        </p:spPr>
      </p:sp>
      <p:sp>
        <p:nvSpPr>
          <p:cNvPr id="159" name="Shape 157"/>
          <p:cNvSpPr/>
          <p:nvPr/>
        </p:nvSpPr>
        <p:spPr>
          <a:xfrm>
            <a:off x="10380497" y="1664208"/>
            <a:ext cx="120453" cy="301752"/>
          </a:xfrm>
          <a:prstGeom prst="rect">
            <a:avLst/>
          </a:prstGeom>
          <a:solidFill>
            <a:srgbClr val="F4F7F8"/>
          </a:solidFill>
          <a:ln w="6350">
            <a:solidFill>
              <a:srgbClr val="FFFFFF"/>
            </a:solidFill>
            <a:prstDash val="solid"/>
          </a:ln>
        </p:spPr>
      </p:sp>
      <p:sp>
        <p:nvSpPr>
          <p:cNvPr id="160" name="Text 158"/>
          <p:cNvSpPr/>
          <p:nvPr/>
        </p:nvSpPr>
        <p:spPr>
          <a:xfrm>
            <a:off x="10380497"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S</a:t>
            </a:r>
            <a:endParaRPr lang="en-US" sz="500" dirty="0"/>
          </a:p>
        </p:txBody>
      </p:sp>
      <p:sp>
        <p:nvSpPr>
          <p:cNvPr id="161" name="Text 159"/>
          <p:cNvSpPr/>
          <p:nvPr/>
        </p:nvSpPr>
        <p:spPr>
          <a:xfrm>
            <a:off x="10380497"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15</a:t>
            </a:r>
            <a:endParaRPr lang="en-US" sz="550" dirty="0"/>
          </a:p>
        </p:txBody>
      </p:sp>
      <p:sp>
        <p:nvSpPr>
          <p:cNvPr id="162" name="Shape 160"/>
          <p:cNvSpPr/>
          <p:nvPr/>
        </p:nvSpPr>
        <p:spPr>
          <a:xfrm>
            <a:off x="10500951" y="1664208"/>
            <a:ext cx="120453" cy="301752"/>
          </a:xfrm>
          <a:prstGeom prst="rect">
            <a:avLst/>
          </a:prstGeom>
          <a:solidFill>
            <a:srgbClr val="F4F7F8"/>
          </a:solidFill>
          <a:ln w="6350">
            <a:solidFill>
              <a:srgbClr val="FFFFFF"/>
            </a:solidFill>
            <a:prstDash val="solid"/>
          </a:ln>
        </p:spPr>
      </p:sp>
      <p:sp>
        <p:nvSpPr>
          <p:cNvPr id="163" name="Text 161"/>
          <p:cNvSpPr/>
          <p:nvPr/>
        </p:nvSpPr>
        <p:spPr>
          <a:xfrm>
            <a:off x="10500951"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M</a:t>
            </a:r>
            <a:endParaRPr lang="en-US" sz="500" dirty="0"/>
          </a:p>
        </p:txBody>
      </p:sp>
      <p:sp>
        <p:nvSpPr>
          <p:cNvPr id="164" name="Text 162"/>
          <p:cNvSpPr/>
          <p:nvPr/>
        </p:nvSpPr>
        <p:spPr>
          <a:xfrm>
            <a:off x="10500951"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16</a:t>
            </a:r>
            <a:endParaRPr lang="en-US" sz="550" dirty="0"/>
          </a:p>
        </p:txBody>
      </p:sp>
      <p:sp>
        <p:nvSpPr>
          <p:cNvPr id="165" name="Shape 163"/>
          <p:cNvSpPr/>
          <p:nvPr/>
        </p:nvSpPr>
        <p:spPr>
          <a:xfrm>
            <a:off x="10621404" y="1664208"/>
            <a:ext cx="120453" cy="301752"/>
          </a:xfrm>
          <a:prstGeom prst="rect">
            <a:avLst/>
          </a:prstGeom>
          <a:solidFill>
            <a:srgbClr val="F4F7F8"/>
          </a:solidFill>
          <a:ln w="6350">
            <a:solidFill>
              <a:srgbClr val="FFFFFF"/>
            </a:solidFill>
            <a:prstDash val="solid"/>
          </a:ln>
        </p:spPr>
      </p:sp>
      <p:sp>
        <p:nvSpPr>
          <p:cNvPr id="166" name="Text 164"/>
          <p:cNvSpPr/>
          <p:nvPr/>
        </p:nvSpPr>
        <p:spPr>
          <a:xfrm>
            <a:off x="10621404"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T</a:t>
            </a:r>
            <a:endParaRPr lang="en-US" sz="500" dirty="0"/>
          </a:p>
        </p:txBody>
      </p:sp>
      <p:sp>
        <p:nvSpPr>
          <p:cNvPr id="167" name="Text 165"/>
          <p:cNvSpPr/>
          <p:nvPr/>
        </p:nvSpPr>
        <p:spPr>
          <a:xfrm>
            <a:off x="10621404"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17</a:t>
            </a:r>
            <a:endParaRPr lang="en-US" sz="550" dirty="0"/>
          </a:p>
        </p:txBody>
      </p:sp>
      <p:sp>
        <p:nvSpPr>
          <p:cNvPr id="168" name="Shape 166"/>
          <p:cNvSpPr/>
          <p:nvPr/>
        </p:nvSpPr>
        <p:spPr>
          <a:xfrm>
            <a:off x="10741857" y="1664208"/>
            <a:ext cx="120453" cy="301752"/>
          </a:xfrm>
          <a:prstGeom prst="rect">
            <a:avLst/>
          </a:prstGeom>
          <a:solidFill>
            <a:srgbClr val="F4F7F8"/>
          </a:solidFill>
          <a:ln w="6350">
            <a:solidFill>
              <a:srgbClr val="FFFFFF"/>
            </a:solidFill>
            <a:prstDash val="solid"/>
          </a:ln>
        </p:spPr>
      </p:sp>
      <p:sp>
        <p:nvSpPr>
          <p:cNvPr id="169" name="Text 167"/>
          <p:cNvSpPr/>
          <p:nvPr/>
        </p:nvSpPr>
        <p:spPr>
          <a:xfrm>
            <a:off x="10741857"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W</a:t>
            </a:r>
            <a:endParaRPr lang="en-US" sz="500" dirty="0"/>
          </a:p>
        </p:txBody>
      </p:sp>
      <p:sp>
        <p:nvSpPr>
          <p:cNvPr id="170" name="Text 168"/>
          <p:cNvSpPr/>
          <p:nvPr/>
        </p:nvSpPr>
        <p:spPr>
          <a:xfrm>
            <a:off x="10741857"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18</a:t>
            </a:r>
            <a:endParaRPr lang="en-US" sz="550" dirty="0"/>
          </a:p>
        </p:txBody>
      </p:sp>
      <p:sp>
        <p:nvSpPr>
          <p:cNvPr id="171" name="Shape 169"/>
          <p:cNvSpPr/>
          <p:nvPr/>
        </p:nvSpPr>
        <p:spPr>
          <a:xfrm>
            <a:off x="10862310" y="1664208"/>
            <a:ext cx="120453" cy="301752"/>
          </a:xfrm>
          <a:prstGeom prst="rect">
            <a:avLst/>
          </a:prstGeom>
          <a:solidFill>
            <a:srgbClr val="F4F7F8"/>
          </a:solidFill>
          <a:ln w="6350">
            <a:solidFill>
              <a:srgbClr val="FFFFFF"/>
            </a:solidFill>
            <a:prstDash val="solid"/>
          </a:ln>
        </p:spPr>
      </p:sp>
      <p:sp>
        <p:nvSpPr>
          <p:cNvPr id="172" name="Text 170"/>
          <p:cNvSpPr/>
          <p:nvPr/>
        </p:nvSpPr>
        <p:spPr>
          <a:xfrm>
            <a:off x="10862310"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T</a:t>
            </a:r>
            <a:endParaRPr lang="en-US" sz="500" dirty="0"/>
          </a:p>
        </p:txBody>
      </p:sp>
      <p:sp>
        <p:nvSpPr>
          <p:cNvPr id="173" name="Text 171"/>
          <p:cNvSpPr/>
          <p:nvPr/>
        </p:nvSpPr>
        <p:spPr>
          <a:xfrm>
            <a:off x="10862310"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19</a:t>
            </a:r>
            <a:endParaRPr lang="en-US" sz="550" dirty="0"/>
          </a:p>
        </p:txBody>
      </p:sp>
      <p:sp>
        <p:nvSpPr>
          <p:cNvPr id="174" name="Shape 172"/>
          <p:cNvSpPr/>
          <p:nvPr/>
        </p:nvSpPr>
        <p:spPr>
          <a:xfrm>
            <a:off x="10982763" y="1664208"/>
            <a:ext cx="120453" cy="301752"/>
          </a:xfrm>
          <a:prstGeom prst="rect">
            <a:avLst/>
          </a:prstGeom>
          <a:solidFill>
            <a:srgbClr val="DBE3E6"/>
          </a:solidFill>
          <a:ln w="6350">
            <a:solidFill>
              <a:srgbClr val="FFFFFF"/>
            </a:solidFill>
            <a:prstDash val="solid"/>
          </a:ln>
        </p:spPr>
      </p:sp>
      <p:sp>
        <p:nvSpPr>
          <p:cNvPr id="175" name="Text 173"/>
          <p:cNvSpPr/>
          <p:nvPr/>
        </p:nvSpPr>
        <p:spPr>
          <a:xfrm>
            <a:off x="10982763"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8A959C"/>
                </a:solidFill>
                <a:latin typeface="Calibri" pitchFamily="34" charset="0"/>
                <a:ea typeface="Calibri" pitchFamily="34" charset="-122"/>
                <a:cs typeface="Calibri" pitchFamily="34" charset="-120"/>
              </a:rPr>
              <a:t>F</a:t>
            </a:r>
            <a:endParaRPr lang="en-US" sz="500" dirty="0"/>
          </a:p>
        </p:txBody>
      </p:sp>
      <p:sp>
        <p:nvSpPr>
          <p:cNvPr id="176" name="Text 174"/>
          <p:cNvSpPr/>
          <p:nvPr/>
        </p:nvSpPr>
        <p:spPr>
          <a:xfrm>
            <a:off x="10982763"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8A959C"/>
                </a:solidFill>
                <a:latin typeface="Calibri" pitchFamily="34" charset="0"/>
                <a:ea typeface="Calibri" pitchFamily="34" charset="-122"/>
                <a:cs typeface="Calibri" pitchFamily="34" charset="-120"/>
              </a:rPr>
              <a:t>20</a:t>
            </a:r>
            <a:endParaRPr lang="en-US" sz="550" dirty="0"/>
          </a:p>
        </p:txBody>
      </p:sp>
      <p:sp>
        <p:nvSpPr>
          <p:cNvPr id="177" name="Shape 175"/>
          <p:cNvSpPr/>
          <p:nvPr/>
        </p:nvSpPr>
        <p:spPr>
          <a:xfrm>
            <a:off x="10982763" y="1965960"/>
            <a:ext cx="120453" cy="3502152"/>
          </a:xfrm>
          <a:prstGeom prst="rect">
            <a:avLst/>
          </a:prstGeom>
          <a:solidFill>
            <a:srgbClr val="000000">
              <a:alpha val="6000"/>
            </a:srgbClr>
          </a:solidFill>
          <a:ln w="12700">
            <a:solidFill>
              <a:srgbClr val="000000">
                <a:alpha val="0"/>
              </a:srgbClr>
            </a:solidFill>
            <a:prstDash val="solid"/>
          </a:ln>
        </p:spPr>
      </p:sp>
      <p:sp>
        <p:nvSpPr>
          <p:cNvPr id="178" name="Shape 176"/>
          <p:cNvSpPr/>
          <p:nvPr/>
        </p:nvSpPr>
        <p:spPr>
          <a:xfrm>
            <a:off x="11103216" y="1664208"/>
            <a:ext cx="120453" cy="301752"/>
          </a:xfrm>
          <a:prstGeom prst="rect">
            <a:avLst/>
          </a:prstGeom>
          <a:solidFill>
            <a:srgbClr val="F4F7F8"/>
          </a:solidFill>
          <a:ln w="6350">
            <a:solidFill>
              <a:srgbClr val="FFFFFF"/>
            </a:solidFill>
            <a:prstDash val="solid"/>
          </a:ln>
        </p:spPr>
      </p:sp>
      <p:sp>
        <p:nvSpPr>
          <p:cNvPr id="179" name="Text 177"/>
          <p:cNvSpPr/>
          <p:nvPr/>
        </p:nvSpPr>
        <p:spPr>
          <a:xfrm>
            <a:off x="11103216"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S</a:t>
            </a:r>
            <a:endParaRPr lang="en-US" sz="500" dirty="0"/>
          </a:p>
        </p:txBody>
      </p:sp>
      <p:sp>
        <p:nvSpPr>
          <p:cNvPr id="180" name="Text 178"/>
          <p:cNvSpPr/>
          <p:nvPr/>
        </p:nvSpPr>
        <p:spPr>
          <a:xfrm>
            <a:off x="11103216"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21</a:t>
            </a:r>
            <a:endParaRPr lang="en-US" sz="550" dirty="0"/>
          </a:p>
        </p:txBody>
      </p:sp>
      <p:sp>
        <p:nvSpPr>
          <p:cNvPr id="181" name="Shape 179"/>
          <p:cNvSpPr/>
          <p:nvPr/>
        </p:nvSpPr>
        <p:spPr>
          <a:xfrm>
            <a:off x="11103216" y="1965960"/>
            <a:ext cx="0" cy="3502152"/>
          </a:xfrm>
          <a:prstGeom prst="line">
            <a:avLst/>
          </a:prstGeom>
          <a:noFill/>
          <a:ln w="6350">
            <a:solidFill>
              <a:srgbClr val="9DB2BB"/>
            </a:solidFill>
            <a:prstDash val="solid"/>
          </a:ln>
        </p:spPr>
      </p:sp>
      <p:sp>
        <p:nvSpPr>
          <p:cNvPr id="182" name="Shape 180"/>
          <p:cNvSpPr/>
          <p:nvPr/>
        </p:nvSpPr>
        <p:spPr>
          <a:xfrm>
            <a:off x="11223669" y="1664208"/>
            <a:ext cx="120453" cy="301752"/>
          </a:xfrm>
          <a:prstGeom prst="rect">
            <a:avLst/>
          </a:prstGeom>
          <a:solidFill>
            <a:srgbClr val="F4F7F8"/>
          </a:solidFill>
          <a:ln w="6350">
            <a:solidFill>
              <a:srgbClr val="FFFFFF"/>
            </a:solidFill>
            <a:prstDash val="solid"/>
          </a:ln>
        </p:spPr>
      </p:sp>
      <p:sp>
        <p:nvSpPr>
          <p:cNvPr id="183" name="Text 181"/>
          <p:cNvSpPr/>
          <p:nvPr/>
        </p:nvSpPr>
        <p:spPr>
          <a:xfrm>
            <a:off x="11223669"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S</a:t>
            </a:r>
            <a:endParaRPr lang="en-US" sz="500" dirty="0"/>
          </a:p>
        </p:txBody>
      </p:sp>
      <p:sp>
        <p:nvSpPr>
          <p:cNvPr id="184" name="Text 182"/>
          <p:cNvSpPr/>
          <p:nvPr/>
        </p:nvSpPr>
        <p:spPr>
          <a:xfrm>
            <a:off x="11223669"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22</a:t>
            </a:r>
            <a:endParaRPr lang="en-US" sz="550" dirty="0"/>
          </a:p>
        </p:txBody>
      </p:sp>
      <p:sp>
        <p:nvSpPr>
          <p:cNvPr id="185" name="Shape 183"/>
          <p:cNvSpPr/>
          <p:nvPr/>
        </p:nvSpPr>
        <p:spPr>
          <a:xfrm>
            <a:off x="11344123" y="1664208"/>
            <a:ext cx="120453" cy="301752"/>
          </a:xfrm>
          <a:prstGeom prst="rect">
            <a:avLst/>
          </a:prstGeom>
          <a:solidFill>
            <a:srgbClr val="F4F7F8"/>
          </a:solidFill>
          <a:ln w="6350">
            <a:solidFill>
              <a:srgbClr val="FFFFFF"/>
            </a:solidFill>
            <a:prstDash val="solid"/>
          </a:ln>
        </p:spPr>
      </p:sp>
      <p:sp>
        <p:nvSpPr>
          <p:cNvPr id="186" name="Text 184"/>
          <p:cNvSpPr/>
          <p:nvPr/>
        </p:nvSpPr>
        <p:spPr>
          <a:xfrm>
            <a:off x="11344123"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M</a:t>
            </a:r>
            <a:endParaRPr lang="en-US" sz="500" dirty="0"/>
          </a:p>
        </p:txBody>
      </p:sp>
      <p:sp>
        <p:nvSpPr>
          <p:cNvPr id="187" name="Text 185"/>
          <p:cNvSpPr/>
          <p:nvPr/>
        </p:nvSpPr>
        <p:spPr>
          <a:xfrm>
            <a:off x="11344123"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23</a:t>
            </a:r>
            <a:endParaRPr lang="en-US" sz="550" dirty="0"/>
          </a:p>
        </p:txBody>
      </p:sp>
      <p:sp>
        <p:nvSpPr>
          <p:cNvPr id="188" name="Shape 186"/>
          <p:cNvSpPr/>
          <p:nvPr/>
        </p:nvSpPr>
        <p:spPr>
          <a:xfrm>
            <a:off x="11464576" y="1664208"/>
            <a:ext cx="120453" cy="301752"/>
          </a:xfrm>
          <a:prstGeom prst="rect">
            <a:avLst/>
          </a:prstGeom>
          <a:solidFill>
            <a:srgbClr val="F4F7F8"/>
          </a:solidFill>
          <a:ln w="6350">
            <a:solidFill>
              <a:srgbClr val="FFFFFF"/>
            </a:solidFill>
            <a:prstDash val="solid"/>
          </a:ln>
        </p:spPr>
      </p:sp>
      <p:sp>
        <p:nvSpPr>
          <p:cNvPr id="189" name="Text 187"/>
          <p:cNvSpPr/>
          <p:nvPr/>
        </p:nvSpPr>
        <p:spPr>
          <a:xfrm>
            <a:off x="11464576"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T</a:t>
            </a:r>
            <a:endParaRPr lang="en-US" sz="500" dirty="0"/>
          </a:p>
        </p:txBody>
      </p:sp>
      <p:sp>
        <p:nvSpPr>
          <p:cNvPr id="190" name="Text 188"/>
          <p:cNvSpPr/>
          <p:nvPr/>
        </p:nvSpPr>
        <p:spPr>
          <a:xfrm>
            <a:off x="11464576"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24</a:t>
            </a:r>
            <a:endParaRPr lang="en-US" sz="550" dirty="0"/>
          </a:p>
        </p:txBody>
      </p:sp>
      <p:sp>
        <p:nvSpPr>
          <p:cNvPr id="191" name="Shape 189"/>
          <p:cNvSpPr/>
          <p:nvPr/>
        </p:nvSpPr>
        <p:spPr>
          <a:xfrm>
            <a:off x="11585029" y="1664208"/>
            <a:ext cx="120453" cy="301752"/>
          </a:xfrm>
          <a:prstGeom prst="rect">
            <a:avLst/>
          </a:prstGeom>
          <a:solidFill>
            <a:srgbClr val="F4F7F8"/>
          </a:solidFill>
          <a:ln w="6350">
            <a:solidFill>
              <a:srgbClr val="FFFFFF"/>
            </a:solidFill>
            <a:prstDash val="solid"/>
          </a:ln>
        </p:spPr>
      </p:sp>
      <p:sp>
        <p:nvSpPr>
          <p:cNvPr id="192" name="Text 190"/>
          <p:cNvSpPr/>
          <p:nvPr/>
        </p:nvSpPr>
        <p:spPr>
          <a:xfrm>
            <a:off x="11585029"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W</a:t>
            </a:r>
            <a:endParaRPr lang="en-US" sz="500" dirty="0"/>
          </a:p>
        </p:txBody>
      </p:sp>
      <p:sp>
        <p:nvSpPr>
          <p:cNvPr id="193" name="Text 191"/>
          <p:cNvSpPr/>
          <p:nvPr/>
        </p:nvSpPr>
        <p:spPr>
          <a:xfrm>
            <a:off x="11585029"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25</a:t>
            </a:r>
            <a:endParaRPr lang="en-US" sz="550" dirty="0"/>
          </a:p>
        </p:txBody>
      </p:sp>
      <p:sp>
        <p:nvSpPr>
          <p:cNvPr id="194" name="Shape 192"/>
          <p:cNvSpPr/>
          <p:nvPr/>
        </p:nvSpPr>
        <p:spPr>
          <a:xfrm>
            <a:off x="11705482" y="1664208"/>
            <a:ext cx="120453" cy="301752"/>
          </a:xfrm>
          <a:prstGeom prst="rect">
            <a:avLst/>
          </a:prstGeom>
          <a:solidFill>
            <a:srgbClr val="F4F7F8"/>
          </a:solidFill>
          <a:ln w="6350">
            <a:solidFill>
              <a:srgbClr val="FFFFFF"/>
            </a:solidFill>
            <a:prstDash val="solid"/>
          </a:ln>
        </p:spPr>
      </p:sp>
      <p:sp>
        <p:nvSpPr>
          <p:cNvPr id="195" name="Text 193"/>
          <p:cNvSpPr/>
          <p:nvPr/>
        </p:nvSpPr>
        <p:spPr>
          <a:xfrm>
            <a:off x="11705482" y="1664208"/>
            <a:ext cx="120453" cy="137160"/>
          </a:xfrm>
          <a:prstGeom prst="rect">
            <a:avLst/>
          </a:prstGeom>
          <a:noFill/>
          <a:ln/>
        </p:spPr>
        <p:txBody>
          <a:bodyPr wrap="square" lIns="0" tIns="0" rIns="0" bIns="0" rtlCol="0" anchor="ctr">
            <a:normAutofit/>
          </a:bodyPr>
          <a:lstStyle/>
          <a:p>
            <a:pPr algn="ctr" indent="0" marL="0">
              <a:buNone/>
            </a:pPr>
            <a:r>
              <a:rPr lang="en-US" altLang="en-US" sz="500" b="1" dirty="0">
                <a:solidFill>
                  <a:srgbClr val="5A6A73"/>
                </a:solidFill>
                <a:latin typeface="Calibri" pitchFamily="34" charset="0"/>
                <a:ea typeface="Calibri" pitchFamily="34" charset="-122"/>
                <a:cs typeface="Calibri" pitchFamily="34" charset="-120"/>
              </a:rPr>
              <a:t>T</a:t>
            </a:r>
            <a:endParaRPr lang="en-US" sz="500" dirty="0"/>
          </a:p>
        </p:txBody>
      </p:sp>
      <p:sp>
        <p:nvSpPr>
          <p:cNvPr id="196" name="Text 194"/>
          <p:cNvSpPr/>
          <p:nvPr/>
        </p:nvSpPr>
        <p:spPr>
          <a:xfrm>
            <a:off x="11705482" y="1801368"/>
            <a:ext cx="120453" cy="164592"/>
          </a:xfrm>
          <a:prstGeom prst="rect">
            <a:avLst/>
          </a:prstGeom>
          <a:noFill/>
          <a:ln/>
        </p:spPr>
        <p:txBody>
          <a:bodyPr wrap="square" lIns="0" tIns="0" rIns="0" bIns="0" rtlCol="0" anchor="ctr">
            <a:normAutofit/>
          </a:bodyPr>
          <a:lstStyle/>
          <a:p>
            <a:pPr algn="ctr" indent="0" marL="0">
              <a:buNone/>
            </a:pPr>
            <a:r>
              <a:rPr lang="en-US" altLang="en-US" sz="550" b="1" dirty="0">
                <a:solidFill>
                  <a:srgbClr val="222222"/>
                </a:solidFill>
                <a:latin typeface="Calibri" pitchFamily="34" charset="0"/>
                <a:ea typeface="Calibri" pitchFamily="34" charset="-122"/>
                <a:cs typeface="Calibri" pitchFamily="34" charset="-120"/>
              </a:rPr>
              <a:t>26</a:t>
            </a:r>
            <a:endParaRPr lang="en-US" sz="550" dirty="0"/>
          </a:p>
        </p:txBody>
      </p:sp>
      <p:sp>
        <p:nvSpPr>
          <p:cNvPr id="197" name="Shape 195"/>
          <p:cNvSpPr/>
          <p:nvPr/>
        </p:nvSpPr>
        <p:spPr>
          <a:xfrm>
            <a:off x="365760" y="1965960"/>
            <a:ext cx="11460175" cy="274320"/>
          </a:xfrm>
          <a:prstGeom prst="rect">
            <a:avLst/>
          </a:prstGeom>
          <a:solidFill>
            <a:srgbClr val="FFFFFF"/>
          </a:solidFill>
          <a:ln w="6350">
            <a:solidFill>
              <a:srgbClr val="DFE6EA"/>
            </a:solidFill>
            <a:prstDash val="solid"/>
          </a:ln>
        </p:spPr>
      </p:sp>
      <p:sp>
        <p:nvSpPr>
          <p:cNvPr id="198" name="Shape 196"/>
          <p:cNvSpPr/>
          <p:nvPr/>
        </p:nvSpPr>
        <p:spPr>
          <a:xfrm>
            <a:off x="438912" y="1984248"/>
            <a:ext cx="237744" cy="237744"/>
          </a:xfrm>
          <a:prstGeom prst="ellipse">
            <a:avLst/>
          </a:prstGeom>
          <a:solidFill>
            <a:srgbClr val="3D3935"/>
          </a:solidFill>
          <a:ln w="12700">
            <a:solidFill>
              <a:srgbClr val="3D3935"/>
            </a:solidFill>
            <a:prstDash val="solid"/>
          </a:ln>
        </p:spPr>
      </p:sp>
      <p:sp>
        <p:nvSpPr>
          <p:cNvPr id="199" name="Text 197"/>
          <p:cNvSpPr/>
          <p:nvPr/>
        </p:nvSpPr>
        <p:spPr>
          <a:xfrm>
            <a:off x="365760" y="1965960"/>
            <a:ext cx="384048" cy="274320"/>
          </a:xfrm>
          <a:prstGeom prst="rect">
            <a:avLst/>
          </a:prstGeom>
          <a:noFill/>
          <a:ln/>
        </p:spPr>
        <p:txBody>
          <a:bodyPr wrap="square" lIns="0" tIns="0" rIns="0" bIns="0" rtlCol="0" anchor="ctr">
            <a:normAutofit/>
          </a:bodyPr>
          <a:lstStyle/>
          <a:p>
            <a:pPr algn="ctr" indent="0" marL="0">
              <a:buNone/>
            </a:pPr>
            <a:r>
              <a:rPr lang="en-US" altLang="en-US" sz="900" b="1" dirty="0">
                <a:solidFill>
                  <a:srgbClr val="FFFFFF"/>
                </a:solidFill>
                <a:latin typeface="Calibri" pitchFamily="34" charset="0"/>
                <a:ea typeface="Calibri" pitchFamily="34" charset="-122"/>
                <a:cs typeface="Calibri" pitchFamily="34" charset="-120"/>
              </a:rPr>
              <a:t>Σ</a:t>
            </a:r>
            <a:endParaRPr lang="en-US" sz="900" dirty="0"/>
          </a:p>
        </p:txBody>
      </p:sp>
      <p:sp>
        <p:nvSpPr>
          <p:cNvPr id="200" name="Text 198"/>
          <p:cNvSpPr/>
          <p:nvPr/>
        </p:nvSpPr>
        <p:spPr>
          <a:xfrm>
            <a:off x="822960" y="1965960"/>
            <a:ext cx="2606040" cy="274320"/>
          </a:xfrm>
          <a:prstGeom prst="rect">
            <a:avLst/>
          </a:prstGeom>
          <a:noFill/>
          <a:ln/>
        </p:spPr>
        <p:txBody>
          <a:bodyPr wrap="square" lIns="0" tIns="0" rIns="0" bIns="0" rtlCol="0" anchor="ctr">
            <a:normAutofit/>
          </a:bodyPr>
          <a:lstStyle/>
          <a:p>
            <a:pPr algn="l" indent="0" marL="0">
              <a:buNone/>
            </a:pPr>
            <a:r>
              <a:rPr lang="en-US" altLang="en-US" sz="1000" b="1" dirty="0">
                <a:solidFill>
                  <a:srgbClr val="3D3935"/>
                </a:solidFill>
                <a:latin typeface="Calibri" pitchFamily="34" charset="0"/>
                <a:ea typeface="Calibri" pitchFamily="34" charset="-122"/>
                <a:cs typeface="Calibri" pitchFamily="34" charset="-120"/>
              </a:rPr>
              <a:t>Overall project duration</a:t>
            </a:r>
            <a:endParaRPr lang="en-US" sz="1000" dirty="0"/>
          </a:p>
        </p:txBody>
      </p:sp>
      <p:sp>
        <p:nvSpPr>
          <p:cNvPr id="201" name="Text 199"/>
          <p:cNvSpPr/>
          <p:nvPr/>
        </p:nvSpPr>
        <p:spPr>
          <a:xfrm>
            <a:off x="4224528" y="1965960"/>
            <a:ext cx="502920" cy="274320"/>
          </a:xfrm>
          <a:prstGeom prst="rect">
            <a:avLst/>
          </a:prstGeom>
          <a:noFill/>
          <a:ln/>
        </p:spPr>
        <p:txBody>
          <a:bodyPr wrap="square" lIns="0" tIns="0" rIns="0" bIns="0" rtlCol="0" anchor="ctr">
            <a:normAutofit/>
          </a:bodyPr>
          <a:lstStyle/>
          <a:p>
            <a:pPr algn="ctr" indent="0" marL="0">
              <a:buNone/>
            </a:pPr>
            <a:r>
              <a:rPr lang="en-US" altLang="en-US" sz="1100" b="1" dirty="0">
                <a:solidFill>
                  <a:srgbClr val="222222"/>
                </a:solidFill>
                <a:latin typeface="Calibri" pitchFamily="34" charset="0"/>
                <a:ea typeface="Calibri" pitchFamily="34" charset="-122"/>
                <a:cs typeface="Calibri" pitchFamily="34" charset="-120"/>
              </a:rPr>
              <a:t>37</a:t>
            </a:r>
            <a:endParaRPr lang="en-US" sz="1100" dirty="0"/>
          </a:p>
        </p:txBody>
      </p:sp>
      <p:sp>
        <p:nvSpPr>
          <p:cNvPr id="202" name="Text 200"/>
          <p:cNvSpPr/>
          <p:nvPr/>
        </p:nvSpPr>
        <p:spPr>
          <a:xfrm>
            <a:off x="4727448" y="1965960"/>
            <a:ext cx="658368" cy="274320"/>
          </a:xfrm>
          <a:prstGeom prst="rect">
            <a:avLst/>
          </a:prstGeom>
          <a:noFill/>
          <a:ln/>
        </p:spPr>
        <p:txBody>
          <a:bodyPr wrap="square" lIns="0" tIns="0" rIns="0" bIns="0" rtlCol="0" anchor="ctr">
            <a:normAutofit/>
          </a:bodyPr>
          <a:lstStyle/>
          <a:p>
            <a:pPr algn="ctr" indent="0" marL="0">
              <a:buNone/>
            </a:pPr>
            <a:r>
              <a:rPr lang="en-US" altLang="en-US" sz="850" b="1" dirty="0">
                <a:solidFill>
                  <a:srgbClr val="222222"/>
                </a:solidFill>
                <a:latin typeface="Calibri" pitchFamily="34" charset="0"/>
                <a:ea typeface="Calibri" pitchFamily="34" charset="-122"/>
                <a:cs typeface="Calibri" pitchFamily="34" charset="-120"/>
              </a:rPr>
              <a:t>13 Oct</a:t>
            </a:r>
            <a:endParaRPr lang="en-US" sz="850" dirty="0"/>
          </a:p>
        </p:txBody>
      </p:sp>
      <p:sp>
        <p:nvSpPr>
          <p:cNvPr id="203" name="Text 201"/>
          <p:cNvSpPr/>
          <p:nvPr/>
        </p:nvSpPr>
        <p:spPr>
          <a:xfrm>
            <a:off x="5385816" y="1965960"/>
            <a:ext cx="658368" cy="274320"/>
          </a:xfrm>
          <a:prstGeom prst="rect">
            <a:avLst/>
          </a:prstGeom>
          <a:noFill/>
          <a:ln/>
        </p:spPr>
        <p:txBody>
          <a:bodyPr wrap="square" lIns="0" tIns="0" rIns="0" bIns="0" rtlCol="0" anchor="ctr">
            <a:normAutofit/>
          </a:bodyPr>
          <a:lstStyle/>
          <a:p>
            <a:pPr algn="ctr" indent="0" marL="0">
              <a:buNone/>
            </a:pPr>
            <a:r>
              <a:rPr lang="en-US" altLang="en-US" sz="850" b="1" dirty="0">
                <a:solidFill>
                  <a:srgbClr val="222222"/>
                </a:solidFill>
                <a:latin typeface="Calibri" pitchFamily="34" charset="0"/>
                <a:ea typeface="Calibri" pitchFamily="34" charset="-122"/>
                <a:cs typeface="Calibri" pitchFamily="34" charset="-120"/>
              </a:rPr>
              <a:t>24 Nov</a:t>
            </a:r>
            <a:endParaRPr lang="en-US" sz="850" dirty="0"/>
          </a:p>
        </p:txBody>
      </p:sp>
      <p:sp>
        <p:nvSpPr>
          <p:cNvPr id="204" name="Shape 202"/>
          <p:cNvSpPr/>
          <p:nvPr/>
        </p:nvSpPr>
        <p:spPr>
          <a:xfrm>
            <a:off x="6405543" y="2011680"/>
            <a:ext cx="5179485" cy="182880"/>
          </a:xfrm>
          <a:prstGeom prst="roundRect">
            <a:avLst>
              <a:gd name="adj" fmla="val 25000"/>
            </a:avLst>
          </a:prstGeom>
          <a:solidFill>
            <a:srgbClr val="3D3935"/>
          </a:solidFill>
          <a:ln w="12700">
            <a:solidFill>
              <a:srgbClr val="3D3935"/>
            </a:solidFill>
            <a:prstDash val="solid"/>
          </a:ln>
        </p:spPr>
      </p:sp>
      <p:sp>
        <p:nvSpPr>
          <p:cNvPr id="205" name="Text 203"/>
          <p:cNvSpPr/>
          <p:nvPr/>
        </p:nvSpPr>
        <p:spPr>
          <a:xfrm>
            <a:off x="6405543" y="2011680"/>
            <a:ext cx="5179485" cy="182880"/>
          </a:xfrm>
          <a:prstGeom prst="rect">
            <a:avLst/>
          </a:prstGeom>
          <a:noFill/>
          <a:ln/>
        </p:spPr>
        <p:txBody>
          <a:bodyPr wrap="square" lIns="0" tIns="0" rIns="0" bIns="0" rtlCol="0" anchor="ctr">
            <a:normAutofit/>
          </a:bodyPr>
          <a:lstStyle/>
          <a:p>
            <a:pPr algn="ctr" indent="0" marL="0">
              <a:buNone/>
            </a:pPr>
            <a:r>
              <a:rPr lang="en-US" altLang="en-US" sz="850" b="1" dirty="0">
                <a:solidFill>
                  <a:srgbClr val="FFFFFF"/>
                </a:solidFill>
                <a:latin typeface="Calibri" pitchFamily="34" charset="0"/>
                <a:ea typeface="Calibri" pitchFamily="34" charset="-122"/>
                <a:cs typeface="Calibri" pitchFamily="34" charset="-120"/>
              </a:rPr>
              <a:t>37 working days · 13 Oct → 24 Nov</a:t>
            </a:r>
            <a:endParaRPr lang="en-US" sz="850" dirty="0"/>
          </a:p>
        </p:txBody>
      </p:sp>
      <p:sp>
        <p:nvSpPr>
          <p:cNvPr id="206" name="Shape 204"/>
          <p:cNvSpPr/>
          <p:nvPr/>
        </p:nvSpPr>
        <p:spPr>
          <a:xfrm>
            <a:off x="365760" y="2240280"/>
            <a:ext cx="5678424" cy="640080"/>
          </a:xfrm>
          <a:prstGeom prst="rect">
            <a:avLst/>
          </a:prstGeom>
          <a:solidFill>
            <a:srgbClr val="FBFDFD"/>
          </a:solidFill>
          <a:ln w="6350">
            <a:solidFill>
              <a:srgbClr val="DFE6EA"/>
            </a:solidFill>
            <a:prstDash val="solid"/>
          </a:ln>
        </p:spPr>
      </p:sp>
      <p:sp>
        <p:nvSpPr>
          <p:cNvPr id="207" name="Text 205"/>
          <p:cNvSpPr/>
          <p:nvPr/>
        </p:nvSpPr>
        <p:spPr>
          <a:xfrm>
            <a:off x="457200" y="2240280"/>
            <a:ext cx="5495544" cy="640080"/>
          </a:xfrm>
          <a:prstGeom prst="rect">
            <a:avLst/>
          </a:prstGeom>
          <a:noFill/>
          <a:ln/>
        </p:spPr>
        <p:txBody>
          <a:bodyPr wrap="square" lIns="0" tIns="0" rIns="0" bIns="0" rtlCol="0" anchor="ctr">
            <a:normAutofit/>
          </a:bodyPr>
          <a:lstStyle/>
          <a:p>
            <a:pPr algn="l" indent="0" marL="0">
              <a:buNone/>
            </a:pPr>
            <a:r>
              <a:rPr lang="en-US" altLang="en-US" sz="1000" b="1" dirty="0">
                <a:solidFill>
                  <a:srgbClr val="3D3935"/>
                </a:solidFill>
                <a:latin typeface="Calibri" pitchFamily="34" charset="0"/>
                <a:ea typeface="Calibri" pitchFamily="34" charset="-122"/>
                <a:cs typeface="Calibri" pitchFamily="34" charset="-120"/>
              </a:rPr>
              <a:t>◆  Milestone</a:t>
            </a:r>
            <a:endParaRPr lang="en-US" sz="1000" dirty="0"/>
          </a:p>
        </p:txBody>
      </p:sp>
      <p:sp>
        <p:nvSpPr>
          <p:cNvPr id="208" name="Shape 206"/>
          <p:cNvSpPr/>
          <p:nvPr/>
        </p:nvSpPr>
        <p:spPr>
          <a:xfrm>
            <a:off x="6383474" y="2313432"/>
            <a:ext cx="164592" cy="164592"/>
          </a:xfrm>
          <a:prstGeom prst="diamond">
            <a:avLst/>
          </a:prstGeom>
          <a:solidFill>
            <a:srgbClr val="3D3935"/>
          </a:solidFill>
          <a:ln w="19050">
            <a:solidFill>
              <a:srgbClr val="FFFFFF"/>
            </a:solidFill>
            <a:prstDash val="solid"/>
          </a:ln>
        </p:spPr>
      </p:sp>
      <p:sp>
        <p:nvSpPr>
          <p:cNvPr id="209" name="Text 207"/>
          <p:cNvSpPr/>
          <p:nvPr/>
        </p:nvSpPr>
        <p:spPr>
          <a:xfrm>
            <a:off x="6036002" y="2487168"/>
            <a:ext cx="859536" cy="201168"/>
          </a:xfrm>
          <a:prstGeom prst="rect">
            <a:avLst/>
          </a:prstGeom>
          <a:noFill/>
          <a:ln/>
        </p:spPr>
        <p:txBody>
          <a:bodyPr wrap="square" lIns="0" tIns="0" rIns="0" bIns="0" rtlCol="0" anchor="t">
            <a:normAutofit/>
          </a:bodyPr>
          <a:lstStyle/>
          <a:p>
            <a:pPr algn="ctr" indent="0" marL="0">
              <a:buNone/>
            </a:pPr>
            <a:r>
              <a:rPr lang="en-US" altLang="en-US" sz="550" dirty="0">
                <a:solidFill>
                  <a:srgbClr val="556070"/>
                </a:solidFill>
                <a:latin typeface="Calibri" pitchFamily="34" charset="0"/>
                <a:ea typeface="Calibri" pitchFamily="34" charset="-122"/>
                <a:cs typeface="Calibri" pitchFamily="34" charset="-120"/>
              </a:rPr>
              <a:t>Commencement</a:t>
            </a:r>
            <a:endParaRPr lang="en-US" sz="550" dirty="0"/>
          </a:p>
        </p:txBody>
      </p:sp>
      <p:sp>
        <p:nvSpPr>
          <p:cNvPr id="210" name="Text 208"/>
          <p:cNvSpPr/>
          <p:nvPr/>
        </p:nvSpPr>
        <p:spPr>
          <a:xfrm>
            <a:off x="5898842" y="2697480"/>
            <a:ext cx="1133856" cy="164592"/>
          </a:xfrm>
          <a:prstGeom prst="rect">
            <a:avLst/>
          </a:prstGeom>
          <a:noFill/>
          <a:ln/>
        </p:spPr>
        <p:txBody>
          <a:bodyPr wrap="square" lIns="0" tIns="0" rIns="0" bIns="0" rtlCol="0" anchor="ctr">
            <a:normAutofit/>
          </a:bodyPr>
          <a:lstStyle/>
          <a:p>
            <a:pPr algn="ctr" indent="0" marL="0">
              <a:buNone/>
            </a:pPr>
            <a:r>
              <a:rPr lang="en-US" altLang="en-US" sz="750" b="1" dirty="0">
                <a:solidFill>
                  <a:srgbClr val="3D3935"/>
                </a:solidFill>
                <a:latin typeface="Calibri" pitchFamily="34" charset="0"/>
                <a:ea typeface="Calibri" pitchFamily="34" charset="-122"/>
                <a:cs typeface="Calibri" pitchFamily="34" charset="-120"/>
              </a:rPr>
              <a:t>13 Oct</a:t>
            </a:r>
            <a:endParaRPr lang="en-US" sz="750" dirty="0"/>
          </a:p>
        </p:txBody>
      </p:sp>
      <p:sp>
        <p:nvSpPr>
          <p:cNvPr id="211" name="Shape 209"/>
          <p:cNvSpPr/>
          <p:nvPr/>
        </p:nvSpPr>
        <p:spPr>
          <a:xfrm>
            <a:off x="7106193" y="2313432"/>
            <a:ext cx="164592" cy="164592"/>
          </a:xfrm>
          <a:prstGeom prst="diamond">
            <a:avLst/>
          </a:prstGeom>
          <a:solidFill>
            <a:srgbClr val="3D3935"/>
          </a:solidFill>
          <a:ln w="19050">
            <a:solidFill>
              <a:srgbClr val="FFFFFF"/>
            </a:solidFill>
            <a:prstDash val="solid"/>
          </a:ln>
        </p:spPr>
      </p:sp>
      <p:sp>
        <p:nvSpPr>
          <p:cNvPr id="212" name="Text 210"/>
          <p:cNvSpPr/>
          <p:nvPr/>
        </p:nvSpPr>
        <p:spPr>
          <a:xfrm>
            <a:off x="6758721" y="2487168"/>
            <a:ext cx="859536" cy="201168"/>
          </a:xfrm>
          <a:prstGeom prst="rect">
            <a:avLst/>
          </a:prstGeom>
          <a:noFill/>
          <a:ln/>
        </p:spPr>
        <p:txBody>
          <a:bodyPr wrap="square" lIns="0" tIns="0" rIns="0" bIns="0" rtlCol="0" anchor="t">
            <a:normAutofit/>
          </a:bodyPr>
          <a:lstStyle/>
          <a:p>
            <a:pPr algn="ctr" indent="0" marL="0">
              <a:buNone/>
            </a:pPr>
            <a:r>
              <a:rPr lang="en-US" altLang="en-US" sz="550" dirty="0">
                <a:solidFill>
                  <a:srgbClr val="556070"/>
                </a:solidFill>
                <a:latin typeface="Calibri" pitchFamily="34" charset="0"/>
                <a:ea typeface="Calibri" pitchFamily="34" charset="-122"/>
                <a:cs typeface="Calibri" pitchFamily="34" charset="-120"/>
              </a:rPr>
              <a:t>Shoring installation complete</a:t>
            </a:r>
            <a:endParaRPr lang="en-US" sz="550" dirty="0"/>
          </a:p>
        </p:txBody>
      </p:sp>
      <p:sp>
        <p:nvSpPr>
          <p:cNvPr id="213" name="Text 211"/>
          <p:cNvSpPr/>
          <p:nvPr/>
        </p:nvSpPr>
        <p:spPr>
          <a:xfrm>
            <a:off x="6621561" y="2697480"/>
            <a:ext cx="1133856" cy="164592"/>
          </a:xfrm>
          <a:prstGeom prst="rect">
            <a:avLst/>
          </a:prstGeom>
          <a:noFill/>
          <a:ln/>
        </p:spPr>
        <p:txBody>
          <a:bodyPr wrap="square" lIns="0" tIns="0" rIns="0" bIns="0" rtlCol="0" anchor="ctr">
            <a:normAutofit/>
          </a:bodyPr>
          <a:lstStyle/>
          <a:p>
            <a:pPr algn="ctr" indent="0" marL="0">
              <a:buNone/>
            </a:pPr>
            <a:r>
              <a:rPr lang="en-US" altLang="en-US" sz="750" b="1" dirty="0">
                <a:solidFill>
                  <a:srgbClr val="3D3935"/>
                </a:solidFill>
                <a:latin typeface="Calibri" pitchFamily="34" charset="0"/>
                <a:ea typeface="Calibri" pitchFamily="34" charset="-122"/>
                <a:cs typeface="Calibri" pitchFamily="34" charset="-120"/>
              </a:rPr>
              <a:t>19 Oct</a:t>
            </a:r>
            <a:endParaRPr lang="en-US" sz="750" dirty="0"/>
          </a:p>
        </p:txBody>
      </p:sp>
      <p:sp>
        <p:nvSpPr>
          <p:cNvPr id="214" name="Shape 212"/>
          <p:cNvSpPr/>
          <p:nvPr/>
        </p:nvSpPr>
        <p:spPr>
          <a:xfrm>
            <a:off x="9876615" y="2313432"/>
            <a:ext cx="164592" cy="164592"/>
          </a:xfrm>
          <a:prstGeom prst="diamond">
            <a:avLst/>
          </a:prstGeom>
          <a:solidFill>
            <a:srgbClr val="3D3935"/>
          </a:solidFill>
          <a:ln w="19050">
            <a:solidFill>
              <a:srgbClr val="FFFFFF"/>
            </a:solidFill>
            <a:prstDash val="solid"/>
          </a:ln>
        </p:spPr>
      </p:sp>
      <p:sp>
        <p:nvSpPr>
          <p:cNvPr id="215" name="Text 213"/>
          <p:cNvSpPr/>
          <p:nvPr/>
        </p:nvSpPr>
        <p:spPr>
          <a:xfrm>
            <a:off x="9529143" y="2487168"/>
            <a:ext cx="859536" cy="201168"/>
          </a:xfrm>
          <a:prstGeom prst="rect">
            <a:avLst/>
          </a:prstGeom>
          <a:noFill/>
          <a:ln/>
        </p:spPr>
        <p:txBody>
          <a:bodyPr wrap="square" lIns="0" tIns="0" rIns="0" bIns="0" rtlCol="0" anchor="t">
            <a:normAutofit/>
          </a:bodyPr>
          <a:lstStyle/>
          <a:p>
            <a:pPr algn="ctr" indent="0" marL="0">
              <a:buNone/>
            </a:pPr>
            <a:r>
              <a:rPr lang="en-US" altLang="en-US" sz="550" dirty="0">
                <a:solidFill>
                  <a:srgbClr val="556070"/>
                </a:solidFill>
                <a:latin typeface="Calibri" pitchFamily="34" charset="0"/>
                <a:ea typeface="Calibri" pitchFamily="34" charset="-122"/>
                <a:cs typeface="Calibri" pitchFamily="34" charset="-120"/>
              </a:rPr>
              <a:t>Pit works complete (pit wall)</a:t>
            </a:r>
            <a:endParaRPr lang="en-US" sz="550" dirty="0"/>
          </a:p>
        </p:txBody>
      </p:sp>
      <p:sp>
        <p:nvSpPr>
          <p:cNvPr id="216" name="Text 214"/>
          <p:cNvSpPr/>
          <p:nvPr/>
        </p:nvSpPr>
        <p:spPr>
          <a:xfrm>
            <a:off x="9391983" y="2697480"/>
            <a:ext cx="1133856" cy="164592"/>
          </a:xfrm>
          <a:prstGeom prst="rect">
            <a:avLst/>
          </a:prstGeom>
          <a:noFill/>
          <a:ln/>
        </p:spPr>
        <p:txBody>
          <a:bodyPr wrap="square" lIns="0" tIns="0" rIns="0" bIns="0" rtlCol="0" anchor="ctr">
            <a:normAutofit/>
          </a:bodyPr>
          <a:lstStyle/>
          <a:p>
            <a:pPr algn="ctr" indent="0" marL="0">
              <a:buNone/>
            </a:pPr>
            <a:r>
              <a:rPr lang="en-US" altLang="en-US" sz="750" b="1" dirty="0">
                <a:solidFill>
                  <a:srgbClr val="3D3935"/>
                </a:solidFill>
                <a:latin typeface="Calibri" pitchFamily="34" charset="0"/>
                <a:ea typeface="Calibri" pitchFamily="34" charset="-122"/>
                <a:cs typeface="Calibri" pitchFamily="34" charset="-120"/>
              </a:rPr>
              <a:t>11 Nov</a:t>
            </a:r>
            <a:endParaRPr lang="en-US" sz="750" dirty="0"/>
          </a:p>
        </p:txBody>
      </p:sp>
      <p:sp>
        <p:nvSpPr>
          <p:cNvPr id="217" name="Shape 215"/>
          <p:cNvSpPr/>
          <p:nvPr/>
        </p:nvSpPr>
        <p:spPr>
          <a:xfrm>
            <a:off x="10719787" y="2313432"/>
            <a:ext cx="164592" cy="164592"/>
          </a:xfrm>
          <a:prstGeom prst="diamond">
            <a:avLst/>
          </a:prstGeom>
          <a:solidFill>
            <a:srgbClr val="3D3935"/>
          </a:solidFill>
          <a:ln w="19050">
            <a:solidFill>
              <a:srgbClr val="FFFFFF"/>
            </a:solidFill>
            <a:prstDash val="solid"/>
          </a:ln>
        </p:spPr>
      </p:sp>
      <p:sp>
        <p:nvSpPr>
          <p:cNvPr id="218" name="Text 216"/>
          <p:cNvSpPr/>
          <p:nvPr/>
        </p:nvSpPr>
        <p:spPr>
          <a:xfrm>
            <a:off x="10372315" y="2487168"/>
            <a:ext cx="859536" cy="201168"/>
          </a:xfrm>
          <a:prstGeom prst="rect">
            <a:avLst/>
          </a:prstGeom>
          <a:noFill/>
          <a:ln/>
        </p:spPr>
        <p:txBody>
          <a:bodyPr wrap="square" lIns="0" tIns="0" rIns="0" bIns="0" rtlCol="0" anchor="t">
            <a:normAutofit/>
          </a:bodyPr>
          <a:lstStyle/>
          <a:p>
            <a:pPr algn="ctr" indent="0" marL="0">
              <a:buNone/>
            </a:pPr>
            <a:r>
              <a:rPr lang="en-US" altLang="en-US" sz="550" dirty="0">
                <a:solidFill>
                  <a:srgbClr val="556070"/>
                </a:solidFill>
                <a:latin typeface="Calibri" pitchFamily="34" charset="0"/>
                <a:ea typeface="Calibri" pitchFamily="34" charset="-122"/>
                <a:cs typeface="Calibri" pitchFamily="34" charset="-120"/>
              </a:rPr>
              <a:t>Building foundation complete</a:t>
            </a:r>
            <a:endParaRPr lang="en-US" sz="550" dirty="0"/>
          </a:p>
        </p:txBody>
      </p:sp>
      <p:sp>
        <p:nvSpPr>
          <p:cNvPr id="219" name="Text 217"/>
          <p:cNvSpPr/>
          <p:nvPr/>
        </p:nvSpPr>
        <p:spPr>
          <a:xfrm>
            <a:off x="10235155" y="2697480"/>
            <a:ext cx="1133856" cy="164592"/>
          </a:xfrm>
          <a:prstGeom prst="rect">
            <a:avLst/>
          </a:prstGeom>
          <a:noFill/>
          <a:ln/>
        </p:spPr>
        <p:txBody>
          <a:bodyPr wrap="square" lIns="0" tIns="0" rIns="0" bIns="0" rtlCol="0" anchor="ctr">
            <a:normAutofit/>
          </a:bodyPr>
          <a:lstStyle/>
          <a:p>
            <a:pPr algn="ctr" indent="0" marL="0">
              <a:buNone/>
            </a:pPr>
            <a:r>
              <a:rPr lang="en-US" altLang="en-US" sz="750" b="1" dirty="0">
                <a:solidFill>
                  <a:srgbClr val="3D3935"/>
                </a:solidFill>
                <a:latin typeface="Calibri" pitchFamily="34" charset="0"/>
                <a:ea typeface="Calibri" pitchFamily="34" charset="-122"/>
                <a:cs typeface="Calibri" pitchFamily="34" charset="-120"/>
              </a:rPr>
              <a:t>18 Nov</a:t>
            </a:r>
            <a:endParaRPr lang="en-US" sz="750" dirty="0"/>
          </a:p>
        </p:txBody>
      </p:sp>
      <p:sp>
        <p:nvSpPr>
          <p:cNvPr id="220" name="Shape 218"/>
          <p:cNvSpPr/>
          <p:nvPr/>
        </p:nvSpPr>
        <p:spPr>
          <a:xfrm>
            <a:off x="11442506" y="2313432"/>
            <a:ext cx="164592" cy="164592"/>
          </a:xfrm>
          <a:prstGeom prst="diamond">
            <a:avLst/>
          </a:prstGeom>
          <a:solidFill>
            <a:srgbClr val="3D3935"/>
          </a:solidFill>
          <a:ln w="19050">
            <a:solidFill>
              <a:srgbClr val="FFFFFF"/>
            </a:solidFill>
            <a:prstDash val="solid"/>
          </a:ln>
        </p:spPr>
      </p:sp>
      <p:sp>
        <p:nvSpPr>
          <p:cNvPr id="221" name="Text 219"/>
          <p:cNvSpPr/>
          <p:nvPr/>
        </p:nvSpPr>
        <p:spPr>
          <a:xfrm>
            <a:off x="11095034" y="2487168"/>
            <a:ext cx="859536" cy="201168"/>
          </a:xfrm>
          <a:prstGeom prst="rect">
            <a:avLst/>
          </a:prstGeom>
          <a:noFill/>
          <a:ln/>
        </p:spPr>
        <p:txBody>
          <a:bodyPr wrap="square" lIns="0" tIns="0" rIns="0" bIns="0" rtlCol="0" anchor="t">
            <a:normAutofit/>
          </a:bodyPr>
          <a:lstStyle/>
          <a:p>
            <a:pPr algn="ctr" indent="0" marL="0">
              <a:buNone/>
            </a:pPr>
            <a:r>
              <a:rPr lang="en-US" altLang="en-US" sz="550" dirty="0">
                <a:solidFill>
                  <a:srgbClr val="556070"/>
                </a:solidFill>
                <a:latin typeface="Calibri" pitchFamily="34" charset="0"/>
                <a:ea typeface="Calibri" pitchFamily="34" charset="-122"/>
                <a:cs typeface="Calibri" pitchFamily="34" charset="-120"/>
              </a:rPr>
              <a:t>Overall completion</a:t>
            </a:r>
            <a:endParaRPr lang="en-US" sz="550" dirty="0"/>
          </a:p>
        </p:txBody>
      </p:sp>
      <p:sp>
        <p:nvSpPr>
          <p:cNvPr id="222" name="Text 220"/>
          <p:cNvSpPr/>
          <p:nvPr/>
        </p:nvSpPr>
        <p:spPr>
          <a:xfrm>
            <a:off x="10957874" y="2697480"/>
            <a:ext cx="1133856" cy="164592"/>
          </a:xfrm>
          <a:prstGeom prst="rect">
            <a:avLst/>
          </a:prstGeom>
          <a:noFill/>
          <a:ln/>
        </p:spPr>
        <p:txBody>
          <a:bodyPr wrap="square" lIns="0" tIns="0" rIns="0" bIns="0" rtlCol="0" anchor="ctr">
            <a:normAutofit/>
          </a:bodyPr>
          <a:lstStyle/>
          <a:p>
            <a:pPr algn="ctr" indent="0" marL="0">
              <a:buNone/>
            </a:pPr>
            <a:r>
              <a:rPr lang="en-US" altLang="en-US" sz="750" b="1" dirty="0">
                <a:solidFill>
                  <a:srgbClr val="3D3935"/>
                </a:solidFill>
                <a:latin typeface="Calibri" pitchFamily="34" charset="0"/>
                <a:ea typeface="Calibri" pitchFamily="34" charset="-122"/>
                <a:cs typeface="Calibri" pitchFamily="34" charset="-120"/>
              </a:rPr>
              <a:t>24 Nov</a:t>
            </a:r>
            <a:endParaRPr lang="en-US" sz="750" dirty="0"/>
          </a:p>
        </p:txBody>
      </p:sp>
      <p:sp>
        <p:nvSpPr>
          <p:cNvPr id="223" name="Shape 221"/>
          <p:cNvSpPr/>
          <p:nvPr/>
        </p:nvSpPr>
        <p:spPr>
          <a:xfrm>
            <a:off x="365760" y="2880360"/>
            <a:ext cx="11460175" cy="215646"/>
          </a:xfrm>
          <a:prstGeom prst="rect">
            <a:avLst/>
          </a:prstGeom>
          <a:solidFill>
            <a:srgbClr val="FFFFFF"/>
          </a:solidFill>
          <a:ln w="6350">
            <a:solidFill>
              <a:srgbClr val="DFE6EA"/>
            </a:solidFill>
            <a:prstDash val="solid"/>
          </a:ln>
        </p:spPr>
      </p:sp>
      <p:sp>
        <p:nvSpPr>
          <p:cNvPr id="224" name="Shape 222"/>
          <p:cNvSpPr/>
          <p:nvPr/>
        </p:nvSpPr>
        <p:spPr>
          <a:xfrm>
            <a:off x="438912" y="2869311"/>
            <a:ext cx="237744" cy="237744"/>
          </a:xfrm>
          <a:prstGeom prst="ellipse">
            <a:avLst>
              <a:gd name="adj" fmla="val 32692"/>
            </a:avLst>
          </a:prstGeom>
          <a:solidFill>
            <a:srgbClr val="C8503F"/>
          </a:solidFill>
          <a:ln w="19050">
            <a:solidFill>
              <a:srgbClr val="222222"/>
            </a:solidFill>
            <a:prstDash val="solid"/>
          </a:ln>
        </p:spPr>
      </p:sp>
      <p:sp>
        <p:nvSpPr>
          <p:cNvPr id="225" name="Text 223"/>
          <p:cNvSpPr/>
          <p:nvPr/>
        </p:nvSpPr>
        <p:spPr>
          <a:xfrm>
            <a:off x="365760" y="2880360"/>
            <a:ext cx="384048" cy="215646"/>
          </a:xfrm>
          <a:prstGeom prst="rect">
            <a:avLst/>
          </a:prstGeom>
          <a:noFill/>
          <a:ln/>
        </p:spPr>
        <p:txBody>
          <a:bodyPr wrap="square" lIns="0" tIns="0" rIns="0" bIns="0" rtlCol="0" anchor="ctr">
            <a:normAutofit/>
          </a:bodyPr>
          <a:lstStyle/>
          <a:p>
            <a:pPr algn="ctr" indent="0" marL="0">
              <a:buNone/>
            </a:pPr>
            <a:r>
              <a:rPr lang="en-US" altLang="en-US" sz="850" b="1" dirty="0">
                <a:solidFill>
                  <a:srgbClr val="FFFFFF"/>
                </a:solidFill>
                <a:latin typeface="Calibri" pitchFamily="34" charset="0"/>
                <a:ea typeface="Calibri" pitchFamily="34" charset="-122"/>
                <a:cs typeface="Calibri" pitchFamily="34" charset="-120"/>
              </a:rPr>
              <a:t>A</a:t>
            </a:r>
            <a:endParaRPr lang="en-US" sz="850" dirty="0"/>
          </a:p>
        </p:txBody>
      </p:sp>
      <p:sp>
        <p:nvSpPr>
          <p:cNvPr id="226" name="Text 224"/>
          <p:cNvSpPr/>
          <p:nvPr/>
        </p:nvSpPr>
        <p:spPr>
          <a:xfrm>
            <a:off x="822960" y="2880360"/>
            <a:ext cx="2606040" cy="215646"/>
          </a:xfrm>
          <a:prstGeom prst="rect">
            <a:avLst/>
          </a:prstGeom>
          <a:noFill/>
          <a:ln/>
        </p:spPr>
        <p:txBody>
          <a:bodyPr wrap="square" lIns="0" tIns="0" rIns="0" bIns="0" rtlCol="0" anchor="ctr">
            <a:normAutofit/>
          </a:bodyPr>
          <a:lstStyle/>
          <a:p>
            <a:pPr algn="l" indent="0" marL="0">
              <a:buNone/>
            </a:pPr>
            <a:r>
              <a:rPr lang="en-US" altLang="en-US" sz="750" b="1" dirty="0">
                <a:solidFill>
                  <a:srgbClr val="222222"/>
                </a:solidFill>
                <a:latin typeface="Calibri" pitchFamily="34" charset="0"/>
                <a:ea typeface="Calibri" pitchFamily="34" charset="-122"/>
                <a:cs typeface="Calibri" pitchFamily="34" charset="-120"/>
              </a:rPr>
              <a:t>Shoring system installation</a:t>
            </a:r>
            <a:endParaRPr lang="en-US" sz="750" dirty="0"/>
          </a:p>
        </p:txBody>
      </p:sp>
      <p:sp>
        <p:nvSpPr>
          <p:cNvPr id="227" name="Text 225"/>
          <p:cNvSpPr/>
          <p:nvPr/>
        </p:nvSpPr>
        <p:spPr>
          <a:xfrm>
            <a:off x="3447288" y="2880360"/>
            <a:ext cx="777240" cy="215646"/>
          </a:xfrm>
          <a:prstGeom prst="rect">
            <a:avLst/>
          </a:prstGeom>
          <a:noFill/>
          <a:ln/>
        </p:spPr>
        <p:txBody>
          <a:bodyPr wrap="square" lIns="0" tIns="0" rIns="0" bIns="0" rtlCol="0" anchor="ctr">
            <a:normAutofit/>
          </a:bodyPr>
          <a:lstStyle/>
          <a:p>
            <a:pPr algn="ctr" indent="0" marL="0">
              <a:buNone/>
            </a:pPr>
            <a:r>
              <a:rPr lang="en-US" altLang="en-US" sz="700" dirty="0">
                <a:solidFill>
                  <a:srgbClr val="444444"/>
                </a:solidFill>
                <a:latin typeface="Calibri" pitchFamily="34" charset="0"/>
                <a:ea typeface="Calibri" pitchFamily="34" charset="-122"/>
                <a:cs typeface="Calibri" pitchFamily="34" charset="-120"/>
              </a:rPr>
              <a:t>—</a:t>
            </a:r>
            <a:endParaRPr lang="en-US" sz="700" dirty="0"/>
          </a:p>
        </p:txBody>
      </p:sp>
      <p:sp>
        <p:nvSpPr>
          <p:cNvPr id="228" name="Text 226"/>
          <p:cNvSpPr/>
          <p:nvPr/>
        </p:nvSpPr>
        <p:spPr>
          <a:xfrm>
            <a:off x="4224528" y="2880360"/>
            <a:ext cx="502920" cy="215646"/>
          </a:xfrm>
          <a:prstGeom prst="rect">
            <a:avLst/>
          </a:prstGeom>
          <a:noFill/>
          <a:ln/>
        </p:spPr>
        <p:txBody>
          <a:bodyPr wrap="square" lIns="0" tIns="0" rIns="0" bIns="0" rtlCol="0" anchor="ctr">
            <a:normAutofit/>
          </a:bodyPr>
          <a:lstStyle/>
          <a:p>
            <a:pPr algn="ctr" indent="0" marL="0">
              <a:buNone/>
            </a:pPr>
            <a:r>
              <a:rPr lang="en-US" altLang="en-US" sz="900" b="1" dirty="0">
                <a:solidFill>
                  <a:srgbClr val="222222"/>
                </a:solidFill>
                <a:latin typeface="Calibri" pitchFamily="34" charset="0"/>
                <a:ea typeface="Calibri" pitchFamily="34" charset="-122"/>
                <a:cs typeface="Calibri" pitchFamily="34" charset="-120"/>
              </a:rPr>
              <a:t>6</a:t>
            </a:r>
            <a:endParaRPr lang="en-US" sz="900" dirty="0"/>
          </a:p>
        </p:txBody>
      </p:sp>
      <p:sp>
        <p:nvSpPr>
          <p:cNvPr id="229" name="Text 227"/>
          <p:cNvSpPr/>
          <p:nvPr/>
        </p:nvSpPr>
        <p:spPr>
          <a:xfrm>
            <a:off x="4727448" y="2880360"/>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13 Oct</a:t>
            </a:r>
            <a:endParaRPr lang="en-US" sz="700" dirty="0"/>
          </a:p>
        </p:txBody>
      </p:sp>
      <p:sp>
        <p:nvSpPr>
          <p:cNvPr id="230" name="Text 228"/>
          <p:cNvSpPr/>
          <p:nvPr/>
        </p:nvSpPr>
        <p:spPr>
          <a:xfrm>
            <a:off x="5385816" y="2880360"/>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19 Oct</a:t>
            </a:r>
            <a:endParaRPr lang="en-US" sz="700" dirty="0"/>
          </a:p>
        </p:txBody>
      </p:sp>
      <p:sp>
        <p:nvSpPr>
          <p:cNvPr id="231" name="Shape 229"/>
          <p:cNvSpPr/>
          <p:nvPr/>
        </p:nvSpPr>
        <p:spPr>
          <a:xfrm>
            <a:off x="6405543" y="2928747"/>
            <a:ext cx="843172" cy="64008"/>
          </a:xfrm>
          <a:prstGeom prst="rect">
            <a:avLst/>
          </a:prstGeom>
          <a:solidFill>
            <a:srgbClr val="C8503F"/>
          </a:solidFill>
          <a:ln w="12700">
            <a:solidFill>
              <a:srgbClr val="C8503F"/>
            </a:solidFill>
            <a:prstDash val="solid"/>
          </a:ln>
        </p:spPr>
      </p:sp>
      <p:sp>
        <p:nvSpPr>
          <p:cNvPr id="232" name="Shape 230"/>
          <p:cNvSpPr/>
          <p:nvPr/>
        </p:nvSpPr>
        <p:spPr>
          <a:xfrm flipV="1">
            <a:off x="6405543" y="2992755"/>
            <a:ext cx="64008" cy="54864"/>
          </a:xfrm>
          <a:prstGeom prst="triangle">
            <a:avLst/>
          </a:prstGeom>
          <a:solidFill>
            <a:srgbClr val="C8503F"/>
          </a:solidFill>
          <a:ln w="12700">
            <a:solidFill>
              <a:srgbClr val="C8503F"/>
            </a:solidFill>
            <a:prstDash val="solid"/>
          </a:ln>
        </p:spPr>
      </p:sp>
      <p:sp>
        <p:nvSpPr>
          <p:cNvPr id="233" name="Shape 231"/>
          <p:cNvSpPr/>
          <p:nvPr/>
        </p:nvSpPr>
        <p:spPr>
          <a:xfrm flipV="1">
            <a:off x="7184707" y="2992755"/>
            <a:ext cx="64008" cy="54864"/>
          </a:xfrm>
          <a:prstGeom prst="triangle">
            <a:avLst/>
          </a:prstGeom>
          <a:solidFill>
            <a:srgbClr val="C8503F"/>
          </a:solidFill>
          <a:ln w="12700">
            <a:solidFill>
              <a:srgbClr val="C8503F"/>
            </a:solidFill>
            <a:prstDash val="solid"/>
          </a:ln>
        </p:spPr>
      </p:sp>
      <p:sp>
        <p:nvSpPr>
          <p:cNvPr id="234" name="Text 232"/>
          <p:cNvSpPr/>
          <p:nvPr/>
        </p:nvSpPr>
        <p:spPr>
          <a:xfrm>
            <a:off x="7294435" y="2880360"/>
            <a:ext cx="548640" cy="215646"/>
          </a:xfrm>
          <a:prstGeom prst="rect">
            <a:avLst/>
          </a:prstGeom>
          <a:noFill/>
          <a:ln/>
        </p:spPr>
        <p:txBody>
          <a:bodyPr wrap="square" lIns="0" tIns="0" rIns="0" bIns="0" rtlCol="0" anchor="ctr">
            <a:normAutofit/>
          </a:bodyPr>
          <a:lstStyle/>
          <a:p>
            <a:pPr algn="l" indent="0" marL="0">
              <a:buNone/>
            </a:pPr>
            <a:r>
              <a:rPr lang="en-US" altLang="en-US" sz="750" b="1" dirty="0">
                <a:solidFill>
                  <a:srgbClr val="3D3935"/>
                </a:solidFill>
                <a:latin typeface="Calibri" pitchFamily="34" charset="0"/>
                <a:ea typeface="Calibri" pitchFamily="34" charset="-122"/>
                <a:cs typeface="Calibri" pitchFamily="34" charset="-120"/>
              </a:rPr>
              <a:t>6 d</a:t>
            </a:r>
            <a:endParaRPr lang="en-US" sz="750" dirty="0"/>
          </a:p>
        </p:txBody>
      </p:sp>
      <p:sp>
        <p:nvSpPr>
          <p:cNvPr id="235" name="Shape 233"/>
          <p:cNvSpPr/>
          <p:nvPr/>
        </p:nvSpPr>
        <p:spPr>
          <a:xfrm>
            <a:off x="365760" y="3096006"/>
            <a:ext cx="11460175" cy="215646"/>
          </a:xfrm>
          <a:prstGeom prst="rect">
            <a:avLst/>
          </a:prstGeom>
          <a:solidFill>
            <a:srgbClr val="F6F9FA"/>
          </a:solidFill>
          <a:ln w="6350">
            <a:solidFill>
              <a:srgbClr val="DFE6EA"/>
            </a:solidFill>
            <a:prstDash val="solid"/>
          </a:ln>
        </p:spPr>
      </p:sp>
      <p:sp>
        <p:nvSpPr>
          <p:cNvPr id="236" name="Shape 234"/>
          <p:cNvSpPr/>
          <p:nvPr/>
        </p:nvSpPr>
        <p:spPr>
          <a:xfrm>
            <a:off x="420624" y="3126105"/>
            <a:ext cx="329184" cy="155448"/>
          </a:xfrm>
          <a:prstGeom prst="roundRect">
            <a:avLst>
              <a:gd name="adj" fmla="val 50000"/>
            </a:avLst>
          </a:prstGeom>
          <a:solidFill>
            <a:srgbClr val="D9695A"/>
          </a:solidFill>
          <a:ln w="19050">
            <a:solidFill>
              <a:srgbClr val="222222"/>
            </a:solidFill>
            <a:prstDash val="solid"/>
          </a:ln>
        </p:spPr>
      </p:sp>
      <p:sp>
        <p:nvSpPr>
          <p:cNvPr id="237" name="Text 235"/>
          <p:cNvSpPr/>
          <p:nvPr/>
        </p:nvSpPr>
        <p:spPr>
          <a:xfrm>
            <a:off x="393192" y="3096006"/>
            <a:ext cx="384048" cy="215646"/>
          </a:xfrm>
          <a:prstGeom prst="rect">
            <a:avLst/>
          </a:prstGeom>
          <a:noFill/>
          <a:ln/>
        </p:spPr>
        <p:txBody>
          <a:bodyPr wrap="square" lIns="0" tIns="0" rIns="0" bIns="0" rtlCol="0" anchor="ctr">
            <a:normAutofit/>
          </a:bodyPr>
          <a:lstStyle/>
          <a:p>
            <a:pPr algn="ctr" indent="0" marL="0">
              <a:buNone/>
            </a:pPr>
            <a:r>
              <a:rPr lang="en-US" altLang="en-US" sz="650" b="1" dirty="0">
                <a:solidFill>
                  <a:srgbClr val="FFFFFF"/>
                </a:solidFill>
                <a:latin typeface="Calibri" pitchFamily="34" charset="0"/>
                <a:ea typeface="Calibri" pitchFamily="34" charset="-122"/>
                <a:cs typeface="Calibri" pitchFamily="34" charset="-120"/>
              </a:rPr>
              <a:t>A.1</a:t>
            </a:r>
            <a:endParaRPr lang="en-US" sz="650" dirty="0"/>
          </a:p>
        </p:txBody>
      </p:sp>
      <p:sp>
        <p:nvSpPr>
          <p:cNvPr id="238" name="Text 236"/>
          <p:cNvSpPr/>
          <p:nvPr/>
        </p:nvSpPr>
        <p:spPr>
          <a:xfrm>
            <a:off x="987552" y="3096006"/>
            <a:ext cx="2441448" cy="215646"/>
          </a:xfrm>
          <a:prstGeom prst="rect">
            <a:avLst/>
          </a:prstGeom>
          <a:noFill/>
          <a:ln/>
        </p:spPr>
        <p:txBody>
          <a:bodyPr wrap="square" lIns="0" tIns="0" rIns="0" bIns="0" rtlCol="0" anchor="ctr">
            <a:normAutofit/>
          </a:bodyPr>
          <a:lstStyle/>
          <a:p>
            <a:pPr algn="l" indent="0" marL="0">
              <a:buNone/>
            </a:pPr>
            <a:r>
              <a:rPr lang="en-US" altLang="en-US" sz="700" dirty="0">
                <a:solidFill>
                  <a:srgbClr val="222222"/>
                </a:solidFill>
                <a:latin typeface="Calibri" pitchFamily="34" charset="0"/>
                <a:ea typeface="Calibri" pitchFamily="34" charset="-122"/>
                <a:cs typeface="Calibri" pitchFamily="34" charset="-120"/>
              </a:rPr>
              <a:t>Excavation / digging for H-Beam</a:t>
            </a:r>
            <a:endParaRPr lang="en-US" sz="700" dirty="0"/>
          </a:p>
        </p:txBody>
      </p:sp>
      <p:sp>
        <p:nvSpPr>
          <p:cNvPr id="239" name="Text 237"/>
          <p:cNvSpPr/>
          <p:nvPr/>
        </p:nvSpPr>
        <p:spPr>
          <a:xfrm>
            <a:off x="3447288" y="3096006"/>
            <a:ext cx="777240" cy="215646"/>
          </a:xfrm>
          <a:prstGeom prst="rect">
            <a:avLst/>
          </a:prstGeom>
          <a:noFill/>
          <a:ln/>
        </p:spPr>
        <p:txBody>
          <a:bodyPr wrap="square" lIns="0" tIns="0" rIns="0" bIns="0" rtlCol="0" anchor="ctr">
            <a:normAutofit/>
          </a:bodyPr>
          <a:lstStyle/>
          <a:p>
            <a:pPr algn="ctr" indent="0" marL="0">
              <a:buNone/>
            </a:pPr>
            <a:r>
              <a:rPr lang="en-US" altLang="en-US" sz="700" dirty="0">
                <a:solidFill>
                  <a:srgbClr val="444444"/>
                </a:solidFill>
                <a:latin typeface="Calibri" pitchFamily="34" charset="0"/>
                <a:ea typeface="Calibri" pitchFamily="34" charset="-122"/>
                <a:cs typeface="Calibri" pitchFamily="34" charset="-120"/>
              </a:rPr>
              <a:t>—</a:t>
            </a:r>
            <a:endParaRPr lang="en-US" sz="700" dirty="0"/>
          </a:p>
        </p:txBody>
      </p:sp>
      <p:sp>
        <p:nvSpPr>
          <p:cNvPr id="240" name="Text 238"/>
          <p:cNvSpPr/>
          <p:nvPr/>
        </p:nvSpPr>
        <p:spPr>
          <a:xfrm>
            <a:off x="4224528" y="3096006"/>
            <a:ext cx="502920" cy="215646"/>
          </a:xfrm>
          <a:prstGeom prst="rect">
            <a:avLst/>
          </a:prstGeom>
          <a:noFill/>
          <a:ln/>
        </p:spPr>
        <p:txBody>
          <a:bodyPr wrap="square" lIns="0" tIns="0" rIns="0" bIns="0" rtlCol="0" anchor="ctr">
            <a:normAutofit/>
          </a:bodyPr>
          <a:lstStyle/>
          <a:p>
            <a:pPr algn="ctr" indent="0" marL="0">
              <a:buNone/>
            </a:pPr>
            <a:r>
              <a:rPr lang="en-US" altLang="en-US" sz="900" b="1" dirty="0">
                <a:solidFill>
                  <a:srgbClr val="222222"/>
                </a:solidFill>
                <a:latin typeface="Calibri" pitchFamily="34" charset="0"/>
                <a:ea typeface="Calibri" pitchFamily="34" charset="-122"/>
                <a:cs typeface="Calibri" pitchFamily="34" charset="-120"/>
              </a:rPr>
              <a:t>2</a:t>
            </a:r>
            <a:endParaRPr lang="en-US" sz="900" dirty="0"/>
          </a:p>
        </p:txBody>
      </p:sp>
      <p:sp>
        <p:nvSpPr>
          <p:cNvPr id="241" name="Text 239"/>
          <p:cNvSpPr/>
          <p:nvPr/>
        </p:nvSpPr>
        <p:spPr>
          <a:xfrm>
            <a:off x="4727448" y="3096006"/>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13 Oct</a:t>
            </a:r>
            <a:endParaRPr lang="en-US" sz="700" dirty="0"/>
          </a:p>
        </p:txBody>
      </p:sp>
      <p:sp>
        <p:nvSpPr>
          <p:cNvPr id="242" name="Text 240"/>
          <p:cNvSpPr/>
          <p:nvPr/>
        </p:nvSpPr>
        <p:spPr>
          <a:xfrm>
            <a:off x="5385816" y="3096006"/>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14 Oct</a:t>
            </a:r>
            <a:endParaRPr lang="en-US" sz="700" dirty="0"/>
          </a:p>
        </p:txBody>
      </p:sp>
      <p:sp>
        <p:nvSpPr>
          <p:cNvPr id="243" name="Shape 241"/>
          <p:cNvSpPr/>
          <p:nvPr/>
        </p:nvSpPr>
        <p:spPr>
          <a:xfrm>
            <a:off x="6405543" y="3141292"/>
            <a:ext cx="240906" cy="125075"/>
          </a:xfrm>
          <a:prstGeom prst="roundRect">
            <a:avLst>
              <a:gd name="adj" fmla="val 29243"/>
            </a:avLst>
          </a:prstGeom>
          <a:solidFill>
            <a:srgbClr val="D9695A"/>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244" name="Shape 242"/>
          <p:cNvSpPr/>
          <p:nvPr/>
        </p:nvSpPr>
        <p:spPr>
          <a:xfrm>
            <a:off x="365760" y="3311652"/>
            <a:ext cx="11460175" cy="215646"/>
          </a:xfrm>
          <a:prstGeom prst="rect">
            <a:avLst/>
          </a:prstGeom>
          <a:solidFill>
            <a:srgbClr val="FFFFFF"/>
          </a:solidFill>
          <a:ln w="6350">
            <a:solidFill>
              <a:srgbClr val="DFE6EA"/>
            </a:solidFill>
            <a:prstDash val="solid"/>
          </a:ln>
        </p:spPr>
      </p:sp>
      <p:sp>
        <p:nvSpPr>
          <p:cNvPr id="245" name="Shape 243"/>
          <p:cNvSpPr/>
          <p:nvPr/>
        </p:nvSpPr>
        <p:spPr>
          <a:xfrm>
            <a:off x="420624" y="3341751"/>
            <a:ext cx="329184" cy="155448"/>
          </a:xfrm>
          <a:prstGeom prst="roundRect">
            <a:avLst>
              <a:gd name="adj" fmla="val 50000"/>
            </a:avLst>
          </a:prstGeom>
          <a:solidFill>
            <a:srgbClr val="D9695A"/>
          </a:solidFill>
          <a:ln w="19050">
            <a:solidFill>
              <a:srgbClr val="222222"/>
            </a:solidFill>
            <a:prstDash val="solid"/>
          </a:ln>
        </p:spPr>
      </p:sp>
      <p:sp>
        <p:nvSpPr>
          <p:cNvPr id="246" name="Text 244"/>
          <p:cNvSpPr/>
          <p:nvPr/>
        </p:nvSpPr>
        <p:spPr>
          <a:xfrm>
            <a:off x="393192" y="3311652"/>
            <a:ext cx="384048" cy="215646"/>
          </a:xfrm>
          <a:prstGeom prst="rect">
            <a:avLst/>
          </a:prstGeom>
          <a:noFill/>
          <a:ln/>
        </p:spPr>
        <p:txBody>
          <a:bodyPr wrap="square" lIns="0" tIns="0" rIns="0" bIns="0" rtlCol="0" anchor="ctr">
            <a:normAutofit/>
          </a:bodyPr>
          <a:lstStyle/>
          <a:p>
            <a:pPr algn="ctr" indent="0" marL="0">
              <a:buNone/>
            </a:pPr>
            <a:r>
              <a:rPr lang="en-US" altLang="en-US" sz="650" b="1" dirty="0">
                <a:solidFill>
                  <a:srgbClr val="FFFFFF"/>
                </a:solidFill>
                <a:latin typeface="Calibri" pitchFamily="34" charset="0"/>
                <a:ea typeface="Calibri" pitchFamily="34" charset="-122"/>
                <a:cs typeface="Calibri" pitchFamily="34" charset="-120"/>
              </a:rPr>
              <a:t>A.2</a:t>
            </a:r>
            <a:endParaRPr lang="en-US" sz="650" dirty="0"/>
          </a:p>
        </p:txBody>
      </p:sp>
      <p:sp>
        <p:nvSpPr>
          <p:cNvPr id="247" name="Text 245"/>
          <p:cNvSpPr/>
          <p:nvPr/>
        </p:nvSpPr>
        <p:spPr>
          <a:xfrm>
            <a:off x="987552" y="3311652"/>
            <a:ext cx="2441448" cy="215646"/>
          </a:xfrm>
          <a:prstGeom prst="rect">
            <a:avLst/>
          </a:prstGeom>
          <a:noFill/>
          <a:ln/>
        </p:spPr>
        <p:txBody>
          <a:bodyPr wrap="square" lIns="0" tIns="0" rIns="0" bIns="0" rtlCol="0" anchor="ctr">
            <a:normAutofit/>
          </a:bodyPr>
          <a:lstStyle/>
          <a:p>
            <a:pPr algn="l" indent="0" marL="0">
              <a:buNone/>
            </a:pPr>
            <a:r>
              <a:rPr lang="en-US" altLang="en-US" sz="700" dirty="0">
                <a:solidFill>
                  <a:srgbClr val="222222"/>
                </a:solidFill>
                <a:latin typeface="Calibri" pitchFamily="34" charset="0"/>
                <a:ea typeface="Calibri" pitchFamily="34" charset="-122"/>
                <a:cs typeface="Calibri" pitchFamily="34" charset="-120"/>
              </a:rPr>
              <a:t>Installation of H-Beam</a:t>
            </a:r>
            <a:endParaRPr lang="en-US" sz="700" dirty="0"/>
          </a:p>
        </p:txBody>
      </p:sp>
      <p:sp>
        <p:nvSpPr>
          <p:cNvPr id="248" name="Text 246"/>
          <p:cNvSpPr/>
          <p:nvPr/>
        </p:nvSpPr>
        <p:spPr>
          <a:xfrm>
            <a:off x="3447288" y="3311652"/>
            <a:ext cx="777240" cy="215646"/>
          </a:xfrm>
          <a:prstGeom prst="rect">
            <a:avLst/>
          </a:prstGeom>
          <a:noFill/>
          <a:ln/>
        </p:spPr>
        <p:txBody>
          <a:bodyPr wrap="square" lIns="0" tIns="0" rIns="0" bIns="0" rtlCol="0" anchor="ctr">
            <a:normAutofit/>
          </a:bodyPr>
          <a:lstStyle/>
          <a:p>
            <a:pPr algn="ctr" indent="0" marL="0">
              <a:buNone/>
            </a:pPr>
            <a:r>
              <a:rPr lang="en-US" altLang="en-US" sz="700" dirty="0">
                <a:solidFill>
                  <a:srgbClr val="444444"/>
                </a:solidFill>
                <a:latin typeface="Calibri" pitchFamily="34" charset="0"/>
                <a:ea typeface="Calibri" pitchFamily="34" charset="-122"/>
                <a:cs typeface="Calibri" pitchFamily="34" charset="-120"/>
              </a:rPr>
              <a:t>A1 · SS +1</a:t>
            </a:r>
            <a:endParaRPr lang="en-US" sz="700" dirty="0"/>
          </a:p>
        </p:txBody>
      </p:sp>
      <p:sp>
        <p:nvSpPr>
          <p:cNvPr id="249" name="Text 247"/>
          <p:cNvSpPr/>
          <p:nvPr/>
        </p:nvSpPr>
        <p:spPr>
          <a:xfrm>
            <a:off x="4224528" y="3311652"/>
            <a:ext cx="502920" cy="215646"/>
          </a:xfrm>
          <a:prstGeom prst="rect">
            <a:avLst/>
          </a:prstGeom>
          <a:noFill/>
          <a:ln/>
        </p:spPr>
        <p:txBody>
          <a:bodyPr wrap="square" lIns="0" tIns="0" rIns="0" bIns="0" rtlCol="0" anchor="ctr">
            <a:normAutofit/>
          </a:bodyPr>
          <a:lstStyle/>
          <a:p>
            <a:pPr algn="ctr" indent="0" marL="0">
              <a:buNone/>
            </a:pPr>
            <a:r>
              <a:rPr lang="en-US" altLang="en-US" sz="900" b="1" dirty="0">
                <a:solidFill>
                  <a:srgbClr val="222222"/>
                </a:solidFill>
                <a:latin typeface="Calibri" pitchFamily="34" charset="0"/>
                <a:ea typeface="Calibri" pitchFamily="34" charset="-122"/>
                <a:cs typeface="Calibri" pitchFamily="34" charset="-120"/>
              </a:rPr>
              <a:t>3</a:t>
            </a:r>
            <a:endParaRPr lang="en-US" sz="900" dirty="0"/>
          </a:p>
        </p:txBody>
      </p:sp>
      <p:sp>
        <p:nvSpPr>
          <p:cNvPr id="250" name="Text 248"/>
          <p:cNvSpPr/>
          <p:nvPr/>
        </p:nvSpPr>
        <p:spPr>
          <a:xfrm>
            <a:off x="4727448" y="3311652"/>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14 Oct</a:t>
            </a:r>
            <a:endParaRPr lang="en-US" sz="700" dirty="0"/>
          </a:p>
        </p:txBody>
      </p:sp>
      <p:sp>
        <p:nvSpPr>
          <p:cNvPr id="251" name="Text 249"/>
          <p:cNvSpPr/>
          <p:nvPr/>
        </p:nvSpPr>
        <p:spPr>
          <a:xfrm>
            <a:off x="5385816" y="3311652"/>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17 Oct</a:t>
            </a:r>
            <a:endParaRPr lang="en-US" sz="700" dirty="0"/>
          </a:p>
        </p:txBody>
      </p:sp>
      <p:sp>
        <p:nvSpPr>
          <p:cNvPr id="252" name="Shape 250"/>
          <p:cNvSpPr/>
          <p:nvPr/>
        </p:nvSpPr>
        <p:spPr>
          <a:xfrm>
            <a:off x="6525997" y="3356938"/>
            <a:ext cx="481813" cy="125075"/>
          </a:xfrm>
          <a:prstGeom prst="roundRect">
            <a:avLst>
              <a:gd name="adj" fmla="val 29243"/>
            </a:avLst>
          </a:prstGeom>
          <a:solidFill>
            <a:srgbClr val="D9695A"/>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253" name="Text 251"/>
          <p:cNvSpPr/>
          <p:nvPr/>
        </p:nvSpPr>
        <p:spPr>
          <a:xfrm>
            <a:off x="6525997" y="3356938"/>
            <a:ext cx="481813" cy="125075"/>
          </a:xfrm>
          <a:prstGeom prst="rect">
            <a:avLst/>
          </a:prstGeom>
          <a:noFill/>
          <a:ln/>
        </p:spPr>
        <p:txBody>
          <a:bodyPr wrap="square" lIns="0" tIns="0" rIns="0" bIns="0" rtlCol="0" anchor="ctr">
            <a:normAutofit/>
          </a:bodyPr>
          <a:lstStyle/>
          <a:p>
            <a:pPr algn="ctr" indent="0" marL="0">
              <a:buNone/>
            </a:pPr>
            <a:r>
              <a:rPr lang="en-US" altLang="en-US" sz="700" b="1" dirty="0">
                <a:solidFill>
                  <a:srgbClr val="FFFFFF"/>
                </a:solidFill>
                <a:latin typeface="Calibri" pitchFamily="34" charset="0"/>
                <a:ea typeface="Calibri" pitchFamily="34" charset="-122"/>
                <a:cs typeface="Calibri" pitchFamily="34" charset="-120"/>
              </a:rPr>
              <a:t>3 d</a:t>
            </a:r>
            <a:endParaRPr lang="en-US" sz="700" dirty="0"/>
          </a:p>
        </p:txBody>
      </p:sp>
      <p:sp>
        <p:nvSpPr>
          <p:cNvPr id="254" name="Shape 252"/>
          <p:cNvSpPr/>
          <p:nvPr/>
        </p:nvSpPr>
        <p:spPr>
          <a:xfrm>
            <a:off x="365760" y="3527298"/>
            <a:ext cx="11460175" cy="215646"/>
          </a:xfrm>
          <a:prstGeom prst="rect">
            <a:avLst/>
          </a:prstGeom>
          <a:solidFill>
            <a:srgbClr val="F6F9FA"/>
          </a:solidFill>
          <a:ln w="6350">
            <a:solidFill>
              <a:srgbClr val="DFE6EA"/>
            </a:solidFill>
            <a:prstDash val="solid"/>
          </a:ln>
        </p:spPr>
      </p:sp>
      <p:sp>
        <p:nvSpPr>
          <p:cNvPr id="255" name="Shape 253"/>
          <p:cNvSpPr/>
          <p:nvPr/>
        </p:nvSpPr>
        <p:spPr>
          <a:xfrm>
            <a:off x="420624" y="3557397"/>
            <a:ext cx="329184" cy="155448"/>
          </a:xfrm>
          <a:prstGeom prst="roundRect">
            <a:avLst>
              <a:gd name="adj" fmla="val 50000"/>
            </a:avLst>
          </a:prstGeom>
          <a:solidFill>
            <a:srgbClr val="D9695A"/>
          </a:solidFill>
          <a:ln w="19050">
            <a:solidFill>
              <a:srgbClr val="222222"/>
            </a:solidFill>
            <a:prstDash val="solid"/>
          </a:ln>
        </p:spPr>
      </p:sp>
      <p:sp>
        <p:nvSpPr>
          <p:cNvPr id="256" name="Text 254"/>
          <p:cNvSpPr/>
          <p:nvPr/>
        </p:nvSpPr>
        <p:spPr>
          <a:xfrm>
            <a:off x="393192" y="3527298"/>
            <a:ext cx="384048" cy="215646"/>
          </a:xfrm>
          <a:prstGeom prst="rect">
            <a:avLst/>
          </a:prstGeom>
          <a:noFill/>
          <a:ln/>
        </p:spPr>
        <p:txBody>
          <a:bodyPr wrap="square" lIns="0" tIns="0" rIns="0" bIns="0" rtlCol="0" anchor="ctr">
            <a:normAutofit/>
          </a:bodyPr>
          <a:lstStyle/>
          <a:p>
            <a:pPr algn="ctr" indent="0" marL="0">
              <a:buNone/>
            </a:pPr>
            <a:r>
              <a:rPr lang="en-US" altLang="en-US" sz="650" b="1" dirty="0">
                <a:solidFill>
                  <a:srgbClr val="FFFFFF"/>
                </a:solidFill>
                <a:latin typeface="Calibri" pitchFamily="34" charset="0"/>
                <a:ea typeface="Calibri" pitchFamily="34" charset="-122"/>
                <a:cs typeface="Calibri" pitchFamily="34" charset="-120"/>
              </a:rPr>
              <a:t>A.3</a:t>
            </a:r>
            <a:endParaRPr lang="en-US" sz="650" dirty="0"/>
          </a:p>
        </p:txBody>
      </p:sp>
      <p:sp>
        <p:nvSpPr>
          <p:cNvPr id="257" name="Text 255"/>
          <p:cNvSpPr/>
          <p:nvPr/>
        </p:nvSpPr>
        <p:spPr>
          <a:xfrm>
            <a:off x="987552" y="3527298"/>
            <a:ext cx="2441448" cy="215646"/>
          </a:xfrm>
          <a:prstGeom prst="rect">
            <a:avLst/>
          </a:prstGeom>
          <a:noFill/>
          <a:ln/>
        </p:spPr>
        <p:txBody>
          <a:bodyPr wrap="square" lIns="0" tIns="0" rIns="0" bIns="0" rtlCol="0" anchor="ctr">
            <a:normAutofit/>
          </a:bodyPr>
          <a:lstStyle/>
          <a:p>
            <a:pPr algn="l" indent="0" marL="0">
              <a:buNone/>
            </a:pPr>
            <a:r>
              <a:rPr lang="en-US" altLang="en-US" sz="700" dirty="0">
                <a:solidFill>
                  <a:srgbClr val="222222"/>
                </a:solidFill>
                <a:latin typeface="Calibri" pitchFamily="34" charset="0"/>
                <a:ea typeface="Calibri" pitchFamily="34" charset="-122"/>
                <a:cs typeface="Calibri" pitchFamily="34" charset="-120"/>
              </a:rPr>
              <a:t>Concrete work for H-Beam</a:t>
            </a:r>
            <a:endParaRPr lang="en-US" sz="700" dirty="0"/>
          </a:p>
        </p:txBody>
      </p:sp>
      <p:sp>
        <p:nvSpPr>
          <p:cNvPr id="258" name="Text 256"/>
          <p:cNvSpPr/>
          <p:nvPr/>
        </p:nvSpPr>
        <p:spPr>
          <a:xfrm>
            <a:off x="3447288" y="3527298"/>
            <a:ext cx="777240" cy="215646"/>
          </a:xfrm>
          <a:prstGeom prst="rect">
            <a:avLst/>
          </a:prstGeom>
          <a:noFill/>
          <a:ln/>
        </p:spPr>
        <p:txBody>
          <a:bodyPr wrap="square" lIns="0" tIns="0" rIns="0" bIns="0" rtlCol="0" anchor="ctr">
            <a:normAutofit/>
          </a:bodyPr>
          <a:lstStyle/>
          <a:p>
            <a:pPr algn="ctr" indent="0" marL="0">
              <a:buNone/>
            </a:pPr>
            <a:r>
              <a:rPr lang="en-US" altLang="en-US" sz="700" dirty="0">
                <a:solidFill>
                  <a:srgbClr val="444444"/>
                </a:solidFill>
                <a:latin typeface="Calibri" pitchFamily="34" charset="0"/>
                <a:ea typeface="Calibri" pitchFamily="34" charset="-122"/>
                <a:cs typeface="Calibri" pitchFamily="34" charset="-120"/>
              </a:rPr>
              <a:t>A2 · SS +1</a:t>
            </a:r>
            <a:endParaRPr lang="en-US" sz="700" dirty="0"/>
          </a:p>
        </p:txBody>
      </p:sp>
      <p:sp>
        <p:nvSpPr>
          <p:cNvPr id="259" name="Text 257"/>
          <p:cNvSpPr/>
          <p:nvPr/>
        </p:nvSpPr>
        <p:spPr>
          <a:xfrm>
            <a:off x="4224528" y="3527298"/>
            <a:ext cx="502920" cy="215646"/>
          </a:xfrm>
          <a:prstGeom prst="rect">
            <a:avLst/>
          </a:prstGeom>
          <a:noFill/>
          <a:ln/>
        </p:spPr>
        <p:txBody>
          <a:bodyPr wrap="square" lIns="0" tIns="0" rIns="0" bIns="0" rtlCol="0" anchor="ctr">
            <a:normAutofit/>
          </a:bodyPr>
          <a:lstStyle/>
          <a:p>
            <a:pPr algn="ctr" indent="0" marL="0">
              <a:buNone/>
            </a:pPr>
            <a:r>
              <a:rPr lang="en-US" altLang="en-US" sz="900" b="1" dirty="0">
                <a:solidFill>
                  <a:srgbClr val="222222"/>
                </a:solidFill>
                <a:latin typeface="Calibri" pitchFamily="34" charset="0"/>
                <a:ea typeface="Calibri" pitchFamily="34" charset="-122"/>
                <a:cs typeface="Calibri" pitchFamily="34" charset="-120"/>
              </a:rPr>
              <a:t>3</a:t>
            </a:r>
            <a:endParaRPr lang="en-US" sz="900" dirty="0"/>
          </a:p>
        </p:txBody>
      </p:sp>
      <p:sp>
        <p:nvSpPr>
          <p:cNvPr id="260" name="Text 258"/>
          <p:cNvSpPr/>
          <p:nvPr/>
        </p:nvSpPr>
        <p:spPr>
          <a:xfrm>
            <a:off x="4727448" y="3527298"/>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15 Oct</a:t>
            </a:r>
            <a:endParaRPr lang="en-US" sz="700" dirty="0"/>
          </a:p>
        </p:txBody>
      </p:sp>
      <p:sp>
        <p:nvSpPr>
          <p:cNvPr id="261" name="Text 259"/>
          <p:cNvSpPr/>
          <p:nvPr/>
        </p:nvSpPr>
        <p:spPr>
          <a:xfrm>
            <a:off x="5385816" y="3527298"/>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18 Oct</a:t>
            </a:r>
            <a:endParaRPr lang="en-US" sz="700" dirty="0"/>
          </a:p>
        </p:txBody>
      </p:sp>
      <p:sp>
        <p:nvSpPr>
          <p:cNvPr id="262" name="Shape 260"/>
          <p:cNvSpPr/>
          <p:nvPr/>
        </p:nvSpPr>
        <p:spPr>
          <a:xfrm>
            <a:off x="6646450" y="3572584"/>
            <a:ext cx="481813" cy="125075"/>
          </a:xfrm>
          <a:prstGeom prst="roundRect">
            <a:avLst>
              <a:gd name="adj" fmla="val 29243"/>
            </a:avLst>
          </a:prstGeom>
          <a:solidFill>
            <a:srgbClr val="D9695A"/>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263" name="Text 261"/>
          <p:cNvSpPr/>
          <p:nvPr/>
        </p:nvSpPr>
        <p:spPr>
          <a:xfrm>
            <a:off x="6646450" y="3572584"/>
            <a:ext cx="481813" cy="125075"/>
          </a:xfrm>
          <a:prstGeom prst="rect">
            <a:avLst/>
          </a:prstGeom>
          <a:noFill/>
          <a:ln/>
        </p:spPr>
        <p:txBody>
          <a:bodyPr wrap="square" lIns="0" tIns="0" rIns="0" bIns="0" rtlCol="0" anchor="ctr">
            <a:normAutofit/>
          </a:bodyPr>
          <a:lstStyle/>
          <a:p>
            <a:pPr algn="ctr" indent="0" marL="0">
              <a:buNone/>
            </a:pPr>
            <a:r>
              <a:rPr lang="en-US" altLang="en-US" sz="700" b="1" dirty="0">
                <a:solidFill>
                  <a:srgbClr val="FFFFFF"/>
                </a:solidFill>
                <a:latin typeface="Calibri" pitchFamily="34" charset="0"/>
                <a:ea typeface="Calibri" pitchFamily="34" charset="-122"/>
                <a:cs typeface="Calibri" pitchFamily="34" charset="-120"/>
              </a:rPr>
              <a:t>3 d</a:t>
            </a:r>
            <a:endParaRPr lang="en-US" sz="700" dirty="0"/>
          </a:p>
        </p:txBody>
      </p:sp>
      <p:sp>
        <p:nvSpPr>
          <p:cNvPr id="264" name="Shape 262"/>
          <p:cNvSpPr/>
          <p:nvPr/>
        </p:nvSpPr>
        <p:spPr>
          <a:xfrm>
            <a:off x="365760" y="3742944"/>
            <a:ext cx="11460175" cy="215646"/>
          </a:xfrm>
          <a:prstGeom prst="rect">
            <a:avLst/>
          </a:prstGeom>
          <a:solidFill>
            <a:srgbClr val="FFFFFF"/>
          </a:solidFill>
          <a:ln w="6350">
            <a:solidFill>
              <a:srgbClr val="DFE6EA"/>
            </a:solidFill>
            <a:prstDash val="solid"/>
          </a:ln>
        </p:spPr>
      </p:sp>
      <p:sp>
        <p:nvSpPr>
          <p:cNvPr id="265" name="Shape 263"/>
          <p:cNvSpPr/>
          <p:nvPr/>
        </p:nvSpPr>
        <p:spPr>
          <a:xfrm>
            <a:off x="420624" y="3773043"/>
            <a:ext cx="329184" cy="155448"/>
          </a:xfrm>
          <a:prstGeom prst="roundRect">
            <a:avLst>
              <a:gd name="adj" fmla="val 50000"/>
            </a:avLst>
          </a:prstGeom>
          <a:solidFill>
            <a:srgbClr val="D9695A"/>
          </a:solidFill>
          <a:ln w="19050">
            <a:solidFill>
              <a:srgbClr val="222222"/>
            </a:solidFill>
            <a:prstDash val="solid"/>
          </a:ln>
        </p:spPr>
      </p:sp>
      <p:sp>
        <p:nvSpPr>
          <p:cNvPr id="266" name="Text 264"/>
          <p:cNvSpPr/>
          <p:nvPr/>
        </p:nvSpPr>
        <p:spPr>
          <a:xfrm>
            <a:off x="393192" y="3742944"/>
            <a:ext cx="384048" cy="215646"/>
          </a:xfrm>
          <a:prstGeom prst="rect">
            <a:avLst/>
          </a:prstGeom>
          <a:noFill/>
          <a:ln/>
        </p:spPr>
        <p:txBody>
          <a:bodyPr wrap="square" lIns="0" tIns="0" rIns="0" bIns="0" rtlCol="0" anchor="ctr">
            <a:normAutofit/>
          </a:bodyPr>
          <a:lstStyle/>
          <a:p>
            <a:pPr algn="ctr" indent="0" marL="0">
              <a:buNone/>
            </a:pPr>
            <a:r>
              <a:rPr lang="en-US" altLang="en-US" sz="650" b="1" dirty="0">
                <a:solidFill>
                  <a:srgbClr val="FFFFFF"/>
                </a:solidFill>
                <a:latin typeface="Calibri" pitchFamily="34" charset="0"/>
                <a:ea typeface="Calibri" pitchFamily="34" charset="-122"/>
                <a:cs typeface="Calibri" pitchFamily="34" charset="-120"/>
              </a:rPr>
              <a:t>A.4</a:t>
            </a:r>
            <a:endParaRPr lang="en-US" sz="650" dirty="0"/>
          </a:p>
        </p:txBody>
      </p:sp>
      <p:sp>
        <p:nvSpPr>
          <p:cNvPr id="267" name="Text 265"/>
          <p:cNvSpPr/>
          <p:nvPr/>
        </p:nvSpPr>
        <p:spPr>
          <a:xfrm>
            <a:off x="987552" y="3742944"/>
            <a:ext cx="2441448" cy="215646"/>
          </a:xfrm>
          <a:prstGeom prst="rect">
            <a:avLst/>
          </a:prstGeom>
          <a:noFill/>
          <a:ln/>
        </p:spPr>
        <p:txBody>
          <a:bodyPr wrap="square" lIns="0" tIns="0" rIns="0" bIns="0" rtlCol="0" anchor="ctr">
            <a:normAutofit/>
          </a:bodyPr>
          <a:lstStyle/>
          <a:p>
            <a:pPr algn="l" indent="0" marL="0">
              <a:buNone/>
            </a:pPr>
            <a:r>
              <a:rPr lang="en-US" altLang="en-US" sz="700" dirty="0">
                <a:solidFill>
                  <a:srgbClr val="222222"/>
                </a:solidFill>
                <a:latin typeface="Calibri" pitchFamily="34" charset="0"/>
                <a:ea typeface="Calibri" pitchFamily="34" charset="-122"/>
                <a:cs typeface="Calibri" pitchFamily="34" charset="-120"/>
              </a:rPr>
              <a:t>Bracing for shoring</a:t>
            </a:r>
            <a:endParaRPr lang="en-US" sz="700" dirty="0"/>
          </a:p>
        </p:txBody>
      </p:sp>
      <p:sp>
        <p:nvSpPr>
          <p:cNvPr id="268" name="Text 266"/>
          <p:cNvSpPr/>
          <p:nvPr/>
        </p:nvSpPr>
        <p:spPr>
          <a:xfrm>
            <a:off x="3447288" y="3742944"/>
            <a:ext cx="777240" cy="215646"/>
          </a:xfrm>
          <a:prstGeom prst="rect">
            <a:avLst/>
          </a:prstGeom>
          <a:noFill/>
          <a:ln/>
        </p:spPr>
        <p:txBody>
          <a:bodyPr wrap="square" lIns="0" tIns="0" rIns="0" bIns="0" rtlCol="0" anchor="ctr">
            <a:normAutofit/>
          </a:bodyPr>
          <a:lstStyle/>
          <a:p>
            <a:pPr algn="ctr" indent="0" marL="0">
              <a:buNone/>
            </a:pPr>
            <a:r>
              <a:rPr lang="en-US" altLang="en-US" sz="700" dirty="0">
                <a:solidFill>
                  <a:srgbClr val="444444"/>
                </a:solidFill>
                <a:latin typeface="Calibri" pitchFamily="34" charset="0"/>
                <a:ea typeface="Calibri" pitchFamily="34" charset="-122"/>
                <a:cs typeface="Calibri" pitchFamily="34" charset="-120"/>
              </a:rPr>
              <a:t>A3 · SS +1</a:t>
            </a:r>
            <a:endParaRPr lang="en-US" sz="700" dirty="0"/>
          </a:p>
        </p:txBody>
      </p:sp>
      <p:sp>
        <p:nvSpPr>
          <p:cNvPr id="269" name="Text 267"/>
          <p:cNvSpPr/>
          <p:nvPr/>
        </p:nvSpPr>
        <p:spPr>
          <a:xfrm>
            <a:off x="4224528" y="3742944"/>
            <a:ext cx="502920" cy="215646"/>
          </a:xfrm>
          <a:prstGeom prst="rect">
            <a:avLst/>
          </a:prstGeom>
          <a:noFill/>
          <a:ln/>
        </p:spPr>
        <p:txBody>
          <a:bodyPr wrap="square" lIns="0" tIns="0" rIns="0" bIns="0" rtlCol="0" anchor="ctr">
            <a:normAutofit/>
          </a:bodyPr>
          <a:lstStyle/>
          <a:p>
            <a:pPr algn="ctr" indent="0" marL="0">
              <a:buNone/>
            </a:pPr>
            <a:r>
              <a:rPr lang="en-US" altLang="en-US" sz="900" b="1" dirty="0">
                <a:solidFill>
                  <a:srgbClr val="222222"/>
                </a:solidFill>
                <a:latin typeface="Calibri" pitchFamily="34" charset="0"/>
                <a:ea typeface="Calibri" pitchFamily="34" charset="-122"/>
                <a:cs typeface="Calibri" pitchFamily="34" charset="-120"/>
              </a:rPr>
              <a:t>3</a:t>
            </a:r>
            <a:endParaRPr lang="en-US" sz="900" dirty="0"/>
          </a:p>
        </p:txBody>
      </p:sp>
      <p:sp>
        <p:nvSpPr>
          <p:cNvPr id="270" name="Text 268"/>
          <p:cNvSpPr/>
          <p:nvPr/>
        </p:nvSpPr>
        <p:spPr>
          <a:xfrm>
            <a:off x="4727448" y="3742944"/>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17 Oct</a:t>
            </a:r>
            <a:endParaRPr lang="en-US" sz="700" dirty="0"/>
          </a:p>
        </p:txBody>
      </p:sp>
      <p:sp>
        <p:nvSpPr>
          <p:cNvPr id="271" name="Text 269"/>
          <p:cNvSpPr/>
          <p:nvPr/>
        </p:nvSpPr>
        <p:spPr>
          <a:xfrm>
            <a:off x="5385816" y="3742944"/>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19 Oct</a:t>
            </a:r>
            <a:endParaRPr lang="en-US" sz="700" dirty="0"/>
          </a:p>
        </p:txBody>
      </p:sp>
      <p:sp>
        <p:nvSpPr>
          <p:cNvPr id="272" name="Shape 270"/>
          <p:cNvSpPr/>
          <p:nvPr/>
        </p:nvSpPr>
        <p:spPr>
          <a:xfrm>
            <a:off x="6887356" y="3788230"/>
            <a:ext cx="361359" cy="125075"/>
          </a:xfrm>
          <a:prstGeom prst="roundRect">
            <a:avLst>
              <a:gd name="adj" fmla="val 29243"/>
            </a:avLst>
          </a:prstGeom>
          <a:solidFill>
            <a:srgbClr val="D9695A"/>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273" name="Text 271"/>
          <p:cNvSpPr/>
          <p:nvPr/>
        </p:nvSpPr>
        <p:spPr>
          <a:xfrm>
            <a:off x="6887356" y="3788230"/>
            <a:ext cx="361359" cy="125075"/>
          </a:xfrm>
          <a:prstGeom prst="rect">
            <a:avLst/>
          </a:prstGeom>
          <a:noFill/>
          <a:ln/>
        </p:spPr>
        <p:txBody>
          <a:bodyPr wrap="square" lIns="0" tIns="0" rIns="0" bIns="0" rtlCol="0" anchor="ctr">
            <a:normAutofit/>
          </a:bodyPr>
          <a:lstStyle/>
          <a:p>
            <a:pPr algn="ctr" indent="0" marL="0">
              <a:buNone/>
            </a:pPr>
            <a:r>
              <a:rPr lang="en-US" altLang="en-US" sz="700" b="1" dirty="0">
                <a:solidFill>
                  <a:srgbClr val="FFFFFF"/>
                </a:solidFill>
                <a:latin typeface="Calibri" pitchFamily="34" charset="0"/>
                <a:ea typeface="Calibri" pitchFamily="34" charset="-122"/>
                <a:cs typeface="Calibri" pitchFamily="34" charset="-120"/>
              </a:rPr>
              <a:t>3 d</a:t>
            </a:r>
            <a:endParaRPr lang="en-US" sz="700" dirty="0"/>
          </a:p>
        </p:txBody>
      </p:sp>
      <p:sp>
        <p:nvSpPr>
          <p:cNvPr id="274" name="Shape 272"/>
          <p:cNvSpPr/>
          <p:nvPr/>
        </p:nvSpPr>
        <p:spPr>
          <a:xfrm>
            <a:off x="365760" y="3958590"/>
            <a:ext cx="11460175" cy="215646"/>
          </a:xfrm>
          <a:prstGeom prst="rect">
            <a:avLst/>
          </a:prstGeom>
          <a:solidFill>
            <a:srgbClr val="F6F9FA"/>
          </a:solidFill>
          <a:ln w="6350">
            <a:solidFill>
              <a:srgbClr val="DFE6EA"/>
            </a:solidFill>
            <a:prstDash val="solid"/>
          </a:ln>
        </p:spPr>
      </p:sp>
      <p:sp>
        <p:nvSpPr>
          <p:cNvPr id="275" name="Shape 273"/>
          <p:cNvSpPr/>
          <p:nvPr/>
        </p:nvSpPr>
        <p:spPr>
          <a:xfrm>
            <a:off x="420624" y="3988689"/>
            <a:ext cx="329184" cy="155448"/>
          </a:xfrm>
          <a:prstGeom prst="roundRect">
            <a:avLst>
              <a:gd name="adj" fmla="val 50000"/>
            </a:avLst>
          </a:prstGeom>
          <a:solidFill>
            <a:srgbClr val="D9695A"/>
          </a:solidFill>
          <a:ln w="19050">
            <a:solidFill>
              <a:srgbClr val="222222"/>
            </a:solidFill>
            <a:prstDash val="solid"/>
          </a:ln>
        </p:spPr>
      </p:sp>
      <p:sp>
        <p:nvSpPr>
          <p:cNvPr id="276" name="Text 274"/>
          <p:cNvSpPr/>
          <p:nvPr/>
        </p:nvSpPr>
        <p:spPr>
          <a:xfrm>
            <a:off x="393192" y="3958590"/>
            <a:ext cx="384048" cy="215646"/>
          </a:xfrm>
          <a:prstGeom prst="rect">
            <a:avLst/>
          </a:prstGeom>
          <a:noFill/>
          <a:ln/>
        </p:spPr>
        <p:txBody>
          <a:bodyPr wrap="square" lIns="0" tIns="0" rIns="0" bIns="0" rtlCol="0" anchor="ctr">
            <a:normAutofit/>
          </a:bodyPr>
          <a:lstStyle/>
          <a:p>
            <a:pPr algn="ctr" indent="0" marL="0">
              <a:buNone/>
            </a:pPr>
            <a:r>
              <a:rPr lang="en-US" altLang="en-US" sz="650" b="1" dirty="0">
                <a:solidFill>
                  <a:srgbClr val="FFFFFF"/>
                </a:solidFill>
                <a:latin typeface="Calibri" pitchFamily="34" charset="0"/>
                <a:ea typeface="Calibri" pitchFamily="34" charset="-122"/>
                <a:cs typeface="Calibri" pitchFamily="34" charset="-120"/>
              </a:rPr>
              <a:t>A.5</a:t>
            </a:r>
            <a:endParaRPr lang="en-US" sz="650" dirty="0"/>
          </a:p>
        </p:txBody>
      </p:sp>
      <p:sp>
        <p:nvSpPr>
          <p:cNvPr id="277" name="Text 275"/>
          <p:cNvSpPr/>
          <p:nvPr/>
        </p:nvSpPr>
        <p:spPr>
          <a:xfrm>
            <a:off x="987552" y="3958590"/>
            <a:ext cx="2441448" cy="215646"/>
          </a:xfrm>
          <a:prstGeom prst="rect">
            <a:avLst/>
          </a:prstGeom>
          <a:noFill/>
          <a:ln/>
        </p:spPr>
        <p:txBody>
          <a:bodyPr wrap="square" lIns="0" tIns="0" rIns="0" bIns="0" rtlCol="0" anchor="ctr">
            <a:normAutofit/>
          </a:bodyPr>
          <a:lstStyle/>
          <a:p>
            <a:pPr algn="l" indent="0" marL="0">
              <a:buNone/>
            </a:pPr>
            <a:r>
              <a:rPr lang="en-US" altLang="en-US" sz="700" dirty="0">
                <a:solidFill>
                  <a:srgbClr val="222222"/>
                </a:solidFill>
                <a:latin typeface="Calibri" pitchFamily="34" charset="0"/>
                <a:ea typeface="Calibri" pitchFamily="34" charset="-122"/>
                <a:cs typeface="Calibri" pitchFamily="34" charset="-120"/>
              </a:rPr>
              <a:t>Corrugated sheets installation / insertion</a:t>
            </a:r>
            <a:endParaRPr lang="en-US" sz="700" dirty="0"/>
          </a:p>
        </p:txBody>
      </p:sp>
      <p:sp>
        <p:nvSpPr>
          <p:cNvPr id="278" name="Text 276"/>
          <p:cNvSpPr/>
          <p:nvPr/>
        </p:nvSpPr>
        <p:spPr>
          <a:xfrm>
            <a:off x="3447288" y="3958590"/>
            <a:ext cx="777240" cy="215646"/>
          </a:xfrm>
          <a:prstGeom prst="rect">
            <a:avLst/>
          </a:prstGeom>
          <a:noFill/>
          <a:ln/>
        </p:spPr>
        <p:txBody>
          <a:bodyPr wrap="square" lIns="0" tIns="0" rIns="0" bIns="0" rtlCol="0" anchor="ctr">
            <a:normAutofit/>
          </a:bodyPr>
          <a:lstStyle/>
          <a:p>
            <a:pPr algn="ctr" indent="0" marL="0">
              <a:buNone/>
            </a:pPr>
            <a:r>
              <a:rPr lang="en-US" altLang="en-US" sz="700" dirty="0">
                <a:solidFill>
                  <a:srgbClr val="444444"/>
                </a:solidFill>
                <a:latin typeface="Calibri" pitchFamily="34" charset="0"/>
                <a:ea typeface="Calibri" pitchFamily="34" charset="-122"/>
                <a:cs typeface="Calibri" pitchFamily="34" charset="-120"/>
              </a:rPr>
              <a:t>A4 · SS +1</a:t>
            </a:r>
            <a:endParaRPr lang="en-US" sz="700" dirty="0"/>
          </a:p>
        </p:txBody>
      </p:sp>
      <p:sp>
        <p:nvSpPr>
          <p:cNvPr id="279" name="Text 277"/>
          <p:cNvSpPr/>
          <p:nvPr/>
        </p:nvSpPr>
        <p:spPr>
          <a:xfrm>
            <a:off x="4224528" y="3958590"/>
            <a:ext cx="502920" cy="215646"/>
          </a:xfrm>
          <a:prstGeom prst="rect">
            <a:avLst/>
          </a:prstGeom>
          <a:noFill/>
          <a:ln/>
        </p:spPr>
        <p:txBody>
          <a:bodyPr wrap="square" lIns="0" tIns="0" rIns="0" bIns="0" rtlCol="0" anchor="ctr">
            <a:normAutofit/>
          </a:bodyPr>
          <a:lstStyle/>
          <a:p>
            <a:pPr algn="ctr" indent="0" marL="0">
              <a:buNone/>
            </a:pPr>
            <a:r>
              <a:rPr lang="en-US" altLang="en-US" sz="900" b="1" dirty="0">
                <a:solidFill>
                  <a:srgbClr val="222222"/>
                </a:solidFill>
                <a:latin typeface="Calibri" pitchFamily="34" charset="0"/>
                <a:ea typeface="Calibri" pitchFamily="34" charset="-122"/>
                <a:cs typeface="Calibri" pitchFamily="34" charset="-120"/>
              </a:rPr>
              <a:t>2</a:t>
            </a:r>
            <a:endParaRPr lang="en-US" sz="900" dirty="0"/>
          </a:p>
        </p:txBody>
      </p:sp>
      <p:sp>
        <p:nvSpPr>
          <p:cNvPr id="280" name="Text 278"/>
          <p:cNvSpPr/>
          <p:nvPr/>
        </p:nvSpPr>
        <p:spPr>
          <a:xfrm>
            <a:off x="4727448" y="3958590"/>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18 Oct</a:t>
            </a:r>
            <a:endParaRPr lang="en-US" sz="700" dirty="0"/>
          </a:p>
        </p:txBody>
      </p:sp>
      <p:sp>
        <p:nvSpPr>
          <p:cNvPr id="281" name="Text 279"/>
          <p:cNvSpPr/>
          <p:nvPr/>
        </p:nvSpPr>
        <p:spPr>
          <a:xfrm>
            <a:off x="5385816" y="3958590"/>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19 Oct</a:t>
            </a:r>
            <a:endParaRPr lang="en-US" sz="700" dirty="0"/>
          </a:p>
        </p:txBody>
      </p:sp>
      <p:sp>
        <p:nvSpPr>
          <p:cNvPr id="282" name="Shape 280"/>
          <p:cNvSpPr/>
          <p:nvPr/>
        </p:nvSpPr>
        <p:spPr>
          <a:xfrm>
            <a:off x="7007809" y="4003876"/>
            <a:ext cx="240906" cy="125075"/>
          </a:xfrm>
          <a:prstGeom prst="roundRect">
            <a:avLst>
              <a:gd name="adj" fmla="val 29243"/>
            </a:avLst>
          </a:prstGeom>
          <a:solidFill>
            <a:srgbClr val="D9695A"/>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283" name="Shape 281"/>
          <p:cNvSpPr/>
          <p:nvPr/>
        </p:nvSpPr>
        <p:spPr>
          <a:xfrm>
            <a:off x="365760" y="4174236"/>
            <a:ext cx="11460175" cy="215646"/>
          </a:xfrm>
          <a:prstGeom prst="rect">
            <a:avLst/>
          </a:prstGeom>
          <a:solidFill>
            <a:srgbClr val="FFFFFF"/>
          </a:solidFill>
          <a:ln w="6350">
            <a:solidFill>
              <a:srgbClr val="DFE6EA"/>
            </a:solidFill>
            <a:prstDash val="solid"/>
          </a:ln>
        </p:spPr>
      </p:sp>
      <p:sp>
        <p:nvSpPr>
          <p:cNvPr id="284" name="Shape 282"/>
          <p:cNvSpPr/>
          <p:nvPr/>
        </p:nvSpPr>
        <p:spPr>
          <a:xfrm>
            <a:off x="438912" y="4163187"/>
            <a:ext cx="237744" cy="237744"/>
          </a:xfrm>
          <a:prstGeom prst="ellipse">
            <a:avLst>
              <a:gd name="adj" fmla="val 32692"/>
            </a:avLst>
          </a:prstGeom>
          <a:solidFill>
            <a:srgbClr val="00778B"/>
          </a:solidFill>
          <a:ln w="6350">
            <a:solidFill>
              <a:srgbClr val="00778B"/>
            </a:solidFill>
            <a:prstDash val="solid"/>
          </a:ln>
        </p:spPr>
      </p:sp>
      <p:sp>
        <p:nvSpPr>
          <p:cNvPr id="285" name="Text 283"/>
          <p:cNvSpPr/>
          <p:nvPr/>
        </p:nvSpPr>
        <p:spPr>
          <a:xfrm>
            <a:off x="365760" y="4174236"/>
            <a:ext cx="384048" cy="215646"/>
          </a:xfrm>
          <a:prstGeom prst="rect">
            <a:avLst/>
          </a:prstGeom>
          <a:noFill/>
          <a:ln/>
        </p:spPr>
        <p:txBody>
          <a:bodyPr wrap="square" lIns="0" tIns="0" rIns="0" bIns="0" rtlCol="0" anchor="ctr">
            <a:normAutofit/>
          </a:bodyPr>
          <a:lstStyle/>
          <a:p>
            <a:pPr algn="ctr" indent="0" marL="0">
              <a:buNone/>
            </a:pPr>
            <a:r>
              <a:rPr lang="en-US" altLang="en-US" sz="850" b="1" dirty="0">
                <a:solidFill>
                  <a:srgbClr val="FFFFFF"/>
                </a:solidFill>
                <a:latin typeface="Calibri" pitchFamily="34" charset="0"/>
                <a:ea typeface="Calibri" pitchFamily="34" charset="-122"/>
                <a:cs typeface="Calibri" pitchFamily="34" charset="-120"/>
              </a:rPr>
              <a:t>B</a:t>
            </a:r>
            <a:endParaRPr lang="en-US" sz="850" dirty="0"/>
          </a:p>
        </p:txBody>
      </p:sp>
      <p:sp>
        <p:nvSpPr>
          <p:cNvPr id="286" name="Text 284"/>
          <p:cNvSpPr/>
          <p:nvPr/>
        </p:nvSpPr>
        <p:spPr>
          <a:xfrm>
            <a:off x="822960" y="4174236"/>
            <a:ext cx="2606040" cy="215646"/>
          </a:xfrm>
          <a:prstGeom prst="rect">
            <a:avLst/>
          </a:prstGeom>
          <a:noFill/>
          <a:ln/>
        </p:spPr>
        <p:txBody>
          <a:bodyPr wrap="square" lIns="0" tIns="0" rIns="0" bIns="0" rtlCol="0" anchor="ctr">
            <a:normAutofit/>
          </a:bodyPr>
          <a:lstStyle/>
          <a:p>
            <a:pPr algn="l" indent="0" marL="0">
              <a:buNone/>
            </a:pPr>
            <a:r>
              <a:rPr lang="en-US" altLang="en-US" sz="750" b="1" dirty="0">
                <a:solidFill>
                  <a:srgbClr val="222222"/>
                </a:solidFill>
                <a:latin typeface="Calibri" pitchFamily="34" charset="0"/>
                <a:ea typeface="Calibri" pitchFamily="34" charset="-122"/>
                <a:cs typeface="Calibri" pitchFamily="34" charset="-120"/>
              </a:rPr>
              <a:t>Lean concrete</a:t>
            </a:r>
            <a:endParaRPr lang="en-US" sz="750" dirty="0"/>
          </a:p>
        </p:txBody>
      </p:sp>
      <p:sp>
        <p:nvSpPr>
          <p:cNvPr id="287" name="Text 285"/>
          <p:cNvSpPr/>
          <p:nvPr/>
        </p:nvSpPr>
        <p:spPr>
          <a:xfrm>
            <a:off x="3447288" y="4174236"/>
            <a:ext cx="777240" cy="215646"/>
          </a:xfrm>
          <a:prstGeom prst="rect">
            <a:avLst/>
          </a:prstGeom>
          <a:noFill/>
          <a:ln/>
        </p:spPr>
        <p:txBody>
          <a:bodyPr wrap="square" lIns="0" tIns="0" rIns="0" bIns="0" rtlCol="0" anchor="ctr">
            <a:normAutofit/>
          </a:bodyPr>
          <a:lstStyle/>
          <a:p>
            <a:pPr algn="ctr" indent="0" marL="0">
              <a:buNone/>
            </a:pPr>
            <a:r>
              <a:rPr lang="en-US" altLang="en-US" sz="700" dirty="0">
                <a:solidFill>
                  <a:srgbClr val="444444"/>
                </a:solidFill>
                <a:latin typeface="Calibri" pitchFamily="34" charset="0"/>
                <a:ea typeface="Calibri" pitchFamily="34" charset="-122"/>
                <a:cs typeface="Calibri" pitchFamily="34" charset="-120"/>
              </a:rPr>
              <a:t>A · SS +6</a:t>
            </a:r>
            <a:endParaRPr lang="en-US" sz="700" dirty="0"/>
          </a:p>
        </p:txBody>
      </p:sp>
      <p:sp>
        <p:nvSpPr>
          <p:cNvPr id="288" name="Text 286"/>
          <p:cNvSpPr/>
          <p:nvPr/>
        </p:nvSpPr>
        <p:spPr>
          <a:xfrm>
            <a:off x="4224528" y="4174236"/>
            <a:ext cx="502920" cy="215646"/>
          </a:xfrm>
          <a:prstGeom prst="rect">
            <a:avLst/>
          </a:prstGeom>
          <a:noFill/>
          <a:ln/>
        </p:spPr>
        <p:txBody>
          <a:bodyPr wrap="square" lIns="0" tIns="0" rIns="0" bIns="0" rtlCol="0" anchor="ctr">
            <a:normAutofit/>
          </a:bodyPr>
          <a:lstStyle/>
          <a:p>
            <a:pPr algn="ctr" indent="0" marL="0">
              <a:buNone/>
            </a:pPr>
            <a:r>
              <a:rPr lang="en-US" altLang="en-US" sz="900" b="1" dirty="0">
                <a:solidFill>
                  <a:srgbClr val="222222"/>
                </a:solidFill>
                <a:latin typeface="Calibri" pitchFamily="34" charset="0"/>
                <a:ea typeface="Calibri" pitchFamily="34" charset="-122"/>
                <a:cs typeface="Calibri" pitchFamily="34" charset="-120"/>
              </a:rPr>
              <a:t>2</a:t>
            </a:r>
            <a:endParaRPr lang="en-US" sz="900" dirty="0"/>
          </a:p>
        </p:txBody>
      </p:sp>
      <p:sp>
        <p:nvSpPr>
          <p:cNvPr id="289" name="Text 287"/>
          <p:cNvSpPr/>
          <p:nvPr/>
        </p:nvSpPr>
        <p:spPr>
          <a:xfrm>
            <a:off x="4727448" y="4174236"/>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20 Oct</a:t>
            </a:r>
            <a:endParaRPr lang="en-US" sz="700" dirty="0"/>
          </a:p>
        </p:txBody>
      </p:sp>
      <p:sp>
        <p:nvSpPr>
          <p:cNvPr id="290" name="Text 288"/>
          <p:cNvSpPr/>
          <p:nvPr/>
        </p:nvSpPr>
        <p:spPr>
          <a:xfrm>
            <a:off x="5385816" y="4174236"/>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21 Oct</a:t>
            </a:r>
            <a:endParaRPr lang="en-US" sz="700" dirty="0"/>
          </a:p>
        </p:txBody>
      </p:sp>
      <p:sp>
        <p:nvSpPr>
          <p:cNvPr id="291" name="Shape 289"/>
          <p:cNvSpPr/>
          <p:nvPr/>
        </p:nvSpPr>
        <p:spPr>
          <a:xfrm>
            <a:off x="7248716" y="4219522"/>
            <a:ext cx="240906" cy="125075"/>
          </a:xfrm>
          <a:prstGeom prst="roundRect">
            <a:avLst>
              <a:gd name="adj" fmla="val 29243"/>
            </a:avLst>
          </a:prstGeom>
          <a:solidFill>
            <a:srgbClr val="00778B"/>
          </a:solidFill>
          <a:ln w="6350">
            <a:solidFill>
              <a:srgbClr val="00778B"/>
            </a:solidFill>
            <a:prstDash val="solid"/>
          </a:ln>
          <a:effectLst>
            <a:outerShdw sx="100000" sy="100000" kx="0" ky="0" algn="bl" rotWithShape="0" blurRad="38100" dist="12700" dir="5400000">
              <a:srgbClr val="000000">
                <a:alpha val="20000"/>
              </a:srgbClr>
            </a:outerShdw>
          </a:effectLst>
        </p:spPr>
      </p:sp>
      <p:sp>
        <p:nvSpPr>
          <p:cNvPr id="292" name="Shape 290"/>
          <p:cNvSpPr/>
          <p:nvPr/>
        </p:nvSpPr>
        <p:spPr>
          <a:xfrm>
            <a:off x="365760" y="4389882"/>
            <a:ext cx="11460175" cy="215646"/>
          </a:xfrm>
          <a:prstGeom prst="rect">
            <a:avLst/>
          </a:prstGeom>
          <a:solidFill>
            <a:srgbClr val="F6F9FA"/>
          </a:solidFill>
          <a:ln w="6350">
            <a:solidFill>
              <a:srgbClr val="DFE6EA"/>
            </a:solidFill>
            <a:prstDash val="solid"/>
          </a:ln>
        </p:spPr>
      </p:sp>
      <p:sp>
        <p:nvSpPr>
          <p:cNvPr id="293" name="Shape 291"/>
          <p:cNvSpPr/>
          <p:nvPr/>
        </p:nvSpPr>
        <p:spPr>
          <a:xfrm>
            <a:off x="438912" y="4378833"/>
            <a:ext cx="237744" cy="237744"/>
          </a:xfrm>
          <a:prstGeom prst="ellipse">
            <a:avLst>
              <a:gd name="adj" fmla="val 32692"/>
            </a:avLst>
          </a:prstGeom>
          <a:solidFill>
            <a:srgbClr val="00778B"/>
          </a:solidFill>
          <a:ln w="19050">
            <a:solidFill>
              <a:srgbClr val="222222"/>
            </a:solidFill>
            <a:prstDash val="solid"/>
          </a:ln>
        </p:spPr>
      </p:sp>
      <p:sp>
        <p:nvSpPr>
          <p:cNvPr id="294" name="Text 292"/>
          <p:cNvSpPr/>
          <p:nvPr/>
        </p:nvSpPr>
        <p:spPr>
          <a:xfrm>
            <a:off x="365760" y="4389882"/>
            <a:ext cx="384048" cy="215646"/>
          </a:xfrm>
          <a:prstGeom prst="rect">
            <a:avLst/>
          </a:prstGeom>
          <a:noFill/>
          <a:ln/>
        </p:spPr>
        <p:txBody>
          <a:bodyPr wrap="square" lIns="0" tIns="0" rIns="0" bIns="0" rtlCol="0" anchor="ctr">
            <a:normAutofit/>
          </a:bodyPr>
          <a:lstStyle/>
          <a:p>
            <a:pPr algn="ctr" indent="0" marL="0">
              <a:buNone/>
            </a:pPr>
            <a:r>
              <a:rPr lang="en-US" altLang="en-US" sz="850" b="1" dirty="0">
                <a:solidFill>
                  <a:srgbClr val="FFFFFF"/>
                </a:solidFill>
                <a:latin typeface="Calibri" pitchFamily="34" charset="0"/>
                <a:ea typeface="Calibri" pitchFamily="34" charset="-122"/>
                <a:cs typeface="Calibri" pitchFamily="34" charset="-120"/>
              </a:rPr>
              <a:t>C</a:t>
            </a:r>
            <a:endParaRPr lang="en-US" sz="850" dirty="0"/>
          </a:p>
        </p:txBody>
      </p:sp>
      <p:sp>
        <p:nvSpPr>
          <p:cNvPr id="295" name="Text 293"/>
          <p:cNvSpPr/>
          <p:nvPr/>
        </p:nvSpPr>
        <p:spPr>
          <a:xfrm>
            <a:off x="822960" y="4389882"/>
            <a:ext cx="2606040" cy="215646"/>
          </a:xfrm>
          <a:prstGeom prst="rect">
            <a:avLst/>
          </a:prstGeom>
          <a:noFill/>
          <a:ln/>
        </p:spPr>
        <p:txBody>
          <a:bodyPr wrap="square" lIns="0" tIns="0" rIns="0" bIns="0" rtlCol="0" anchor="ctr">
            <a:normAutofit/>
          </a:bodyPr>
          <a:lstStyle/>
          <a:p>
            <a:pPr algn="l" indent="0" marL="0">
              <a:buNone/>
            </a:pPr>
            <a:r>
              <a:rPr lang="en-US" altLang="en-US" sz="750" b="1" dirty="0">
                <a:solidFill>
                  <a:srgbClr val="222222"/>
                </a:solidFill>
                <a:latin typeface="Calibri" pitchFamily="34" charset="0"/>
                <a:ea typeface="Calibri" pitchFamily="34" charset="-122"/>
                <a:cs typeface="Calibri" pitchFamily="34" charset="-120"/>
              </a:rPr>
              <a:t>Pit trench – reinforcement, formwork &amp; concrete</a:t>
            </a:r>
            <a:endParaRPr lang="en-US" sz="750" dirty="0"/>
          </a:p>
        </p:txBody>
      </p:sp>
      <p:sp>
        <p:nvSpPr>
          <p:cNvPr id="296" name="Text 294"/>
          <p:cNvSpPr/>
          <p:nvPr/>
        </p:nvSpPr>
        <p:spPr>
          <a:xfrm>
            <a:off x="3447288" y="4389882"/>
            <a:ext cx="777240" cy="215646"/>
          </a:xfrm>
          <a:prstGeom prst="rect">
            <a:avLst/>
          </a:prstGeom>
          <a:noFill/>
          <a:ln/>
        </p:spPr>
        <p:txBody>
          <a:bodyPr wrap="square" lIns="0" tIns="0" rIns="0" bIns="0" rtlCol="0" anchor="ctr">
            <a:normAutofit/>
          </a:bodyPr>
          <a:lstStyle/>
          <a:p>
            <a:pPr algn="ctr" indent="0" marL="0">
              <a:buNone/>
            </a:pPr>
            <a:r>
              <a:rPr lang="en-US" altLang="en-US" sz="700" dirty="0">
                <a:solidFill>
                  <a:srgbClr val="444444"/>
                </a:solidFill>
                <a:latin typeface="Calibri" pitchFamily="34" charset="0"/>
                <a:ea typeface="Calibri" pitchFamily="34" charset="-122"/>
                <a:cs typeface="Calibri" pitchFamily="34" charset="-120"/>
              </a:rPr>
              <a:t>A · FS</a:t>
            </a:r>
            <a:endParaRPr lang="en-US" sz="700" dirty="0"/>
          </a:p>
        </p:txBody>
      </p:sp>
      <p:sp>
        <p:nvSpPr>
          <p:cNvPr id="297" name="Text 295"/>
          <p:cNvSpPr/>
          <p:nvPr/>
        </p:nvSpPr>
        <p:spPr>
          <a:xfrm>
            <a:off x="4224528" y="4389882"/>
            <a:ext cx="502920" cy="215646"/>
          </a:xfrm>
          <a:prstGeom prst="rect">
            <a:avLst/>
          </a:prstGeom>
          <a:noFill/>
          <a:ln/>
        </p:spPr>
        <p:txBody>
          <a:bodyPr wrap="square" lIns="0" tIns="0" rIns="0" bIns="0" rtlCol="0" anchor="ctr">
            <a:normAutofit/>
          </a:bodyPr>
          <a:lstStyle/>
          <a:p>
            <a:pPr algn="ctr" indent="0" marL="0">
              <a:buNone/>
            </a:pPr>
            <a:r>
              <a:rPr lang="en-US" altLang="en-US" sz="900" b="1" dirty="0">
                <a:solidFill>
                  <a:srgbClr val="222222"/>
                </a:solidFill>
                <a:latin typeface="Calibri" pitchFamily="34" charset="0"/>
                <a:ea typeface="Calibri" pitchFamily="34" charset="-122"/>
                <a:cs typeface="Calibri" pitchFamily="34" charset="-120"/>
              </a:rPr>
              <a:t>4</a:t>
            </a:r>
            <a:endParaRPr lang="en-US" sz="900" dirty="0"/>
          </a:p>
        </p:txBody>
      </p:sp>
      <p:sp>
        <p:nvSpPr>
          <p:cNvPr id="298" name="Text 296"/>
          <p:cNvSpPr/>
          <p:nvPr/>
        </p:nvSpPr>
        <p:spPr>
          <a:xfrm>
            <a:off x="4727448" y="4389882"/>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20 Oct</a:t>
            </a:r>
            <a:endParaRPr lang="en-US" sz="700" dirty="0"/>
          </a:p>
        </p:txBody>
      </p:sp>
      <p:sp>
        <p:nvSpPr>
          <p:cNvPr id="299" name="Text 297"/>
          <p:cNvSpPr/>
          <p:nvPr/>
        </p:nvSpPr>
        <p:spPr>
          <a:xfrm>
            <a:off x="5385816" y="4389882"/>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24 Oct</a:t>
            </a:r>
            <a:endParaRPr lang="en-US" sz="700" dirty="0"/>
          </a:p>
        </p:txBody>
      </p:sp>
      <p:sp>
        <p:nvSpPr>
          <p:cNvPr id="300" name="Shape 298"/>
          <p:cNvSpPr/>
          <p:nvPr/>
        </p:nvSpPr>
        <p:spPr>
          <a:xfrm>
            <a:off x="7248716" y="4435168"/>
            <a:ext cx="602266" cy="125075"/>
          </a:xfrm>
          <a:prstGeom prst="roundRect">
            <a:avLst>
              <a:gd name="adj" fmla="val 29243"/>
            </a:avLst>
          </a:prstGeom>
          <a:solidFill>
            <a:srgbClr val="00778B"/>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301" name="Text 299"/>
          <p:cNvSpPr/>
          <p:nvPr/>
        </p:nvSpPr>
        <p:spPr>
          <a:xfrm>
            <a:off x="7248716" y="4435168"/>
            <a:ext cx="602266" cy="125075"/>
          </a:xfrm>
          <a:prstGeom prst="rect">
            <a:avLst/>
          </a:prstGeom>
          <a:noFill/>
          <a:ln/>
        </p:spPr>
        <p:txBody>
          <a:bodyPr wrap="square" lIns="0" tIns="0" rIns="0" bIns="0" rtlCol="0" anchor="ctr">
            <a:normAutofit/>
          </a:bodyPr>
          <a:lstStyle/>
          <a:p>
            <a:pPr algn="ctr" indent="0" marL="0">
              <a:buNone/>
            </a:pPr>
            <a:r>
              <a:rPr lang="en-US" altLang="en-US" sz="700" b="1" dirty="0">
                <a:solidFill>
                  <a:srgbClr val="FFFFFF"/>
                </a:solidFill>
                <a:latin typeface="Calibri" pitchFamily="34" charset="0"/>
                <a:ea typeface="Calibri" pitchFamily="34" charset="-122"/>
                <a:cs typeface="Calibri" pitchFamily="34" charset="-120"/>
              </a:rPr>
              <a:t>4 d</a:t>
            </a:r>
            <a:endParaRPr lang="en-US" sz="700" dirty="0"/>
          </a:p>
        </p:txBody>
      </p:sp>
      <p:sp>
        <p:nvSpPr>
          <p:cNvPr id="302" name="Shape 300"/>
          <p:cNvSpPr/>
          <p:nvPr/>
        </p:nvSpPr>
        <p:spPr>
          <a:xfrm>
            <a:off x="365760" y="4605528"/>
            <a:ext cx="11460175" cy="215646"/>
          </a:xfrm>
          <a:prstGeom prst="rect">
            <a:avLst/>
          </a:prstGeom>
          <a:solidFill>
            <a:srgbClr val="FFFFFF"/>
          </a:solidFill>
          <a:ln w="6350">
            <a:solidFill>
              <a:srgbClr val="DFE6EA"/>
            </a:solidFill>
            <a:prstDash val="solid"/>
          </a:ln>
        </p:spPr>
      </p:sp>
      <p:sp>
        <p:nvSpPr>
          <p:cNvPr id="303" name="Shape 301"/>
          <p:cNvSpPr/>
          <p:nvPr/>
        </p:nvSpPr>
        <p:spPr>
          <a:xfrm>
            <a:off x="438912" y="4594479"/>
            <a:ext cx="237744" cy="237744"/>
          </a:xfrm>
          <a:prstGeom prst="ellipse">
            <a:avLst>
              <a:gd name="adj" fmla="val 32692"/>
            </a:avLst>
          </a:prstGeom>
          <a:solidFill>
            <a:srgbClr val="00778B"/>
          </a:solidFill>
          <a:ln w="19050">
            <a:solidFill>
              <a:srgbClr val="222222"/>
            </a:solidFill>
            <a:prstDash val="solid"/>
          </a:ln>
        </p:spPr>
      </p:sp>
      <p:sp>
        <p:nvSpPr>
          <p:cNvPr id="304" name="Text 302"/>
          <p:cNvSpPr/>
          <p:nvPr/>
        </p:nvSpPr>
        <p:spPr>
          <a:xfrm>
            <a:off x="365760" y="4605528"/>
            <a:ext cx="384048" cy="215646"/>
          </a:xfrm>
          <a:prstGeom prst="rect">
            <a:avLst/>
          </a:prstGeom>
          <a:noFill/>
          <a:ln/>
        </p:spPr>
        <p:txBody>
          <a:bodyPr wrap="square" lIns="0" tIns="0" rIns="0" bIns="0" rtlCol="0" anchor="ctr">
            <a:normAutofit/>
          </a:bodyPr>
          <a:lstStyle/>
          <a:p>
            <a:pPr algn="ctr" indent="0" marL="0">
              <a:buNone/>
            </a:pPr>
            <a:r>
              <a:rPr lang="en-US" altLang="en-US" sz="850" b="1" dirty="0">
                <a:solidFill>
                  <a:srgbClr val="FFFFFF"/>
                </a:solidFill>
                <a:latin typeface="Calibri" pitchFamily="34" charset="0"/>
                <a:ea typeface="Calibri" pitchFamily="34" charset="-122"/>
                <a:cs typeface="Calibri" pitchFamily="34" charset="-120"/>
              </a:rPr>
              <a:t>D</a:t>
            </a:r>
            <a:endParaRPr lang="en-US" sz="850" dirty="0"/>
          </a:p>
        </p:txBody>
      </p:sp>
      <p:sp>
        <p:nvSpPr>
          <p:cNvPr id="305" name="Text 303"/>
          <p:cNvSpPr/>
          <p:nvPr/>
        </p:nvSpPr>
        <p:spPr>
          <a:xfrm>
            <a:off x="822960" y="4605528"/>
            <a:ext cx="2606040" cy="215646"/>
          </a:xfrm>
          <a:prstGeom prst="rect">
            <a:avLst/>
          </a:prstGeom>
          <a:noFill/>
          <a:ln/>
        </p:spPr>
        <p:txBody>
          <a:bodyPr wrap="square" lIns="0" tIns="0" rIns="0" bIns="0" rtlCol="0" anchor="ctr">
            <a:normAutofit/>
          </a:bodyPr>
          <a:lstStyle/>
          <a:p>
            <a:pPr algn="l" indent="0" marL="0">
              <a:buNone/>
            </a:pPr>
            <a:r>
              <a:rPr lang="en-US" altLang="en-US" sz="750" b="1" dirty="0">
                <a:solidFill>
                  <a:srgbClr val="222222"/>
                </a:solidFill>
                <a:latin typeface="Calibri" pitchFamily="34" charset="0"/>
                <a:ea typeface="Calibri" pitchFamily="34" charset="-122"/>
                <a:cs typeface="Calibri" pitchFamily="34" charset="-120"/>
              </a:rPr>
              <a:t>Pit slab / raft – reinforcement, formwork &amp; concrete</a:t>
            </a:r>
            <a:endParaRPr lang="en-US" sz="750" dirty="0"/>
          </a:p>
        </p:txBody>
      </p:sp>
      <p:sp>
        <p:nvSpPr>
          <p:cNvPr id="306" name="Text 304"/>
          <p:cNvSpPr/>
          <p:nvPr/>
        </p:nvSpPr>
        <p:spPr>
          <a:xfrm>
            <a:off x="3447288" y="4605528"/>
            <a:ext cx="777240" cy="215646"/>
          </a:xfrm>
          <a:prstGeom prst="rect">
            <a:avLst/>
          </a:prstGeom>
          <a:noFill/>
          <a:ln/>
        </p:spPr>
        <p:txBody>
          <a:bodyPr wrap="square" lIns="0" tIns="0" rIns="0" bIns="0" rtlCol="0" anchor="ctr">
            <a:normAutofit/>
          </a:bodyPr>
          <a:lstStyle/>
          <a:p>
            <a:pPr algn="ctr" indent="0" marL="0">
              <a:buNone/>
            </a:pPr>
            <a:r>
              <a:rPr lang="en-US" altLang="en-US" sz="700" dirty="0">
                <a:solidFill>
                  <a:srgbClr val="444444"/>
                </a:solidFill>
                <a:latin typeface="Calibri" pitchFamily="34" charset="0"/>
                <a:ea typeface="Calibri" pitchFamily="34" charset="-122"/>
                <a:cs typeface="Calibri" pitchFamily="34" charset="-120"/>
              </a:rPr>
              <a:t>C · FS</a:t>
            </a:r>
            <a:endParaRPr lang="en-US" sz="700" dirty="0"/>
          </a:p>
        </p:txBody>
      </p:sp>
      <p:sp>
        <p:nvSpPr>
          <p:cNvPr id="307" name="Text 305"/>
          <p:cNvSpPr/>
          <p:nvPr/>
        </p:nvSpPr>
        <p:spPr>
          <a:xfrm>
            <a:off x="4224528" y="4605528"/>
            <a:ext cx="502920" cy="215646"/>
          </a:xfrm>
          <a:prstGeom prst="rect">
            <a:avLst/>
          </a:prstGeom>
          <a:noFill/>
          <a:ln/>
        </p:spPr>
        <p:txBody>
          <a:bodyPr wrap="square" lIns="0" tIns="0" rIns="0" bIns="0" rtlCol="0" anchor="ctr">
            <a:normAutofit/>
          </a:bodyPr>
          <a:lstStyle/>
          <a:p>
            <a:pPr algn="ctr" indent="0" marL="0">
              <a:buNone/>
            </a:pPr>
            <a:r>
              <a:rPr lang="en-US" altLang="en-US" sz="900" b="1" dirty="0">
                <a:solidFill>
                  <a:srgbClr val="222222"/>
                </a:solidFill>
                <a:latin typeface="Calibri" pitchFamily="34" charset="0"/>
                <a:ea typeface="Calibri" pitchFamily="34" charset="-122"/>
                <a:cs typeface="Calibri" pitchFamily="34" charset="-120"/>
              </a:rPr>
              <a:t>10</a:t>
            </a:r>
            <a:endParaRPr lang="en-US" sz="900" dirty="0"/>
          </a:p>
        </p:txBody>
      </p:sp>
      <p:sp>
        <p:nvSpPr>
          <p:cNvPr id="308" name="Text 306"/>
          <p:cNvSpPr/>
          <p:nvPr/>
        </p:nvSpPr>
        <p:spPr>
          <a:xfrm>
            <a:off x="4727448" y="4605528"/>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25 Oct</a:t>
            </a:r>
            <a:endParaRPr lang="en-US" sz="700" dirty="0"/>
          </a:p>
        </p:txBody>
      </p:sp>
      <p:sp>
        <p:nvSpPr>
          <p:cNvPr id="309" name="Text 307"/>
          <p:cNvSpPr/>
          <p:nvPr/>
        </p:nvSpPr>
        <p:spPr>
          <a:xfrm>
            <a:off x="5385816" y="4605528"/>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4 Nov</a:t>
            </a:r>
            <a:endParaRPr lang="en-US" sz="700" dirty="0"/>
          </a:p>
        </p:txBody>
      </p:sp>
      <p:sp>
        <p:nvSpPr>
          <p:cNvPr id="310" name="Shape 308"/>
          <p:cNvSpPr/>
          <p:nvPr/>
        </p:nvSpPr>
        <p:spPr>
          <a:xfrm>
            <a:off x="7850981" y="4650814"/>
            <a:ext cx="1324985" cy="125075"/>
          </a:xfrm>
          <a:prstGeom prst="roundRect">
            <a:avLst>
              <a:gd name="adj" fmla="val 29243"/>
            </a:avLst>
          </a:prstGeom>
          <a:solidFill>
            <a:srgbClr val="00778B"/>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311" name="Text 309"/>
          <p:cNvSpPr/>
          <p:nvPr/>
        </p:nvSpPr>
        <p:spPr>
          <a:xfrm>
            <a:off x="7850981" y="4650814"/>
            <a:ext cx="1324985" cy="125075"/>
          </a:xfrm>
          <a:prstGeom prst="rect">
            <a:avLst/>
          </a:prstGeom>
          <a:noFill/>
          <a:ln/>
        </p:spPr>
        <p:txBody>
          <a:bodyPr wrap="square" lIns="0" tIns="0" rIns="0" bIns="0" rtlCol="0" anchor="ctr">
            <a:normAutofit/>
          </a:bodyPr>
          <a:lstStyle/>
          <a:p>
            <a:pPr algn="ctr" indent="0" marL="0">
              <a:buNone/>
            </a:pPr>
            <a:r>
              <a:rPr lang="en-US" altLang="en-US" sz="700" b="1" dirty="0">
                <a:solidFill>
                  <a:srgbClr val="FFFFFF"/>
                </a:solidFill>
                <a:latin typeface="Calibri" pitchFamily="34" charset="0"/>
                <a:ea typeface="Calibri" pitchFamily="34" charset="-122"/>
                <a:cs typeface="Calibri" pitchFamily="34" charset="-120"/>
              </a:rPr>
              <a:t>10 d</a:t>
            </a:r>
            <a:endParaRPr lang="en-US" sz="700" dirty="0"/>
          </a:p>
        </p:txBody>
      </p:sp>
      <p:sp>
        <p:nvSpPr>
          <p:cNvPr id="312" name="Shape 310"/>
          <p:cNvSpPr/>
          <p:nvPr/>
        </p:nvSpPr>
        <p:spPr>
          <a:xfrm>
            <a:off x="365760" y="4821174"/>
            <a:ext cx="11460175" cy="215646"/>
          </a:xfrm>
          <a:prstGeom prst="rect">
            <a:avLst/>
          </a:prstGeom>
          <a:solidFill>
            <a:srgbClr val="F6F9FA"/>
          </a:solidFill>
          <a:ln w="6350">
            <a:solidFill>
              <a:srgbClr val="DFE6EA"/>
            </a:solidFill>
            <a:prstDash val="solid"/>
          </a:ln>
        </p:spPr>
      </p:sp>
      <p:sp>
        <p:nvSpPr>
          <p:cNvPr id="313" name="Shape 311"/>
          <p:cNvSpPr/>
          <p:nvPr/>
        </p:nvSpPr>
        <p:spPr>
          <a:xfrm>
            <a:off x="438912" y="4810125"/>
            <a:ext cx="237744" cy="237744"/>
          </a:xfrm>
          <a:prstGeom prst="ellipse">
            <a:avLst>
              <a:gd name="adj" fmla="val 32692"/>
            </a:avLst>
          </a:prstGeom>
          <a:solidFill>
            <a:srgbClr val="00778B"/>
          </a:solidFill>
          <a:ln w="6350">
            <a:solidFill>
              <a:srgbClr val="00778B"/>
            </a:solidFill>
            <a:prstDash val="solid"/>
          </a:ln>
        </p:spPr>
      </p:sp>
      <p:sp>
        <p:nvSpPr>
          <p:cNvPr id="314" name="Text 312"/>
          <p:cNvSpPr/>
          <p:nvPr/>
        </p:nvSpPr>
        <p:spPr>
          <a:xfrm>
            <a:off x="365760" y="4821174"/>
            <a:ext cx="384048" cy="215646"/>
          </a:xfrm>
          <a:prstGeom prst="rect">
            <a:avLst/>
          </a:prstGeom>
          <a:noFill/>
          <a:ln/>
        </p:spPr>
        <p:txBody>
          <a:bodyPr wrap="square" lIns="0" tIns="0" rIns="0" bIns="0" rtlCol="0" anchor="ctr">
            <a:normAutofit/>
          </a:bodyPr>
          <a:lstStyle/>
          <a:p>
            <a:pPr algn="ctr" indent="0" marL="0">
              <a:buNone/>
            </a:pPr>
            <a:r>
              <a:rPr lang="en-US" altLang="en-US" sz="850" b="1" dirty="0">
                <a:solidFill>
                  <a:srgbClr val="FFFFFF"/>
                </a:solidFill>
                <a:latin typeface="Calibri" pitchFamily="34" charset="0"/>
                <a:ea typeface="Calibri" pitchFamily="34" charset="-122"/>
                <a:cs typeface="Calibri" pitchFamily="34" charset="-120"/>
              </a:rPr>
              <a:t>E</a:t>
            </a:r>
            <a:endParaRPr lang="en-US" sz="850" dirty="0"/>
          </a:p>
        </p:txBody>
      </p:sp>
      <p:sp>
        <p:nvSpPr>
          <p:cNvPr id="315" name="Text 313"/>
          <p:cNvSpPr/>
          <p:nvPr/>
        </p:nvSpPr>
        <p:spPr>
          <a:xfrm>
            <a:off x="822960" y="4821174"/>
            <a:ext cx="2606040" cy="215646"/>
          </a:xfrm>
          <a:prstGeom prst="rect">
            <a:avLst/>
          </a:prstGeom>
          <a:noFill/>
          <a:ln/>
        </p:spPr>
        <p:txBody>
          <a:bodyPr wrap="square" lIns="0" tIns="0" rIns="0" bIns="0" rtlCol="0" anchor="ctr">
            <a:normAutofit/>
          </a:bodyPr>
          <a:lstStyle/>
          <a:p>
            <a:pPr algn="l" indent="0" marL="0">
              <a:buNone/>
            </a:pPr>
            <a:r>
              <a:rPr lang="en-US" altLang="en-US" sz="750" b="1" dirty="0">
                <a:solidFill>
                  <a:srgbClr val="222222"/>
                </a:solidFill>
                <a:latin typeface="Calibri" pitchFamily="34" charset="0"/>
                <a:ea typeface="Calibri" pitchFamily="34" charset="-122"/>
                <a:cs typeface="Calibri" pitchFamily="34" charset="-120"/>
              </a:rPr>
              <a:t>Pit wall – reinforcement, formwork &amp; concrete</a:t>
            </a:r>
            <a:endParaRPr lang="en-US" sz="750" dirty="0"/>
          </a:p>
        </p:txBody>
      </p:sp>
      <p:sp>
        <p:nvSpPr>
          <p:cNvPr id="316" name="Text 314"/>
          <p:cNvSpPr/>
          <p:nvPr/>
        </p:nvSpPr>
        <p:spPr>
          <a:xfrm>
            <a:off x="3447288" y="4821174"/>
            <a:ext cx="777240" cy="215646"/>
          </a:xfrm>
          <a:prstGeom prst="rect">
            <a:avLst/>
          </a:prstGeom>
          <a:noFill/>
          <a:ln/>
        </p:spPr>
        <p:txBody>
          <a:bodyPr wrap="square" lIns="0" tIns="0" rIns="0" bIns="0" rtlCol="0" anchor="ctr">
            <a:normAutofit/>
          </a:bodyPr>
          <a:lstStyle/>
          <a:p>
            <a:pPr algn="ctr" indent="0" marL="0">
              <a:buNone/>
            </a:pPr>
            <a:r>
              <a:rPr lang="en-US" altLang="en-US" sz="700" dirty="0">
                <a:solidFill>
                  <a:srgbClr val="444444"/>
                </a:solidFill>
                <a:latin typeface="Calibri" pitchFamily="34" charset="0"/>
                <a:ea typeface="Calibri" pitchFamily="34" charset="-122"/>
                <a:cs typeface="Calibri" pitchFamily="34" charset="-120"/>
              </a:rPr>
              <a:t>D · FS</a:t>
            </a:r>
            <a:endParaRPr lang="en-US" sz="700" dirty="0"/>
          </a:p>
        </p:txBody>
      </p:sp>
      <p:sp>
        <p:nvSpPr>
          <p:cNvPr id="317" name="Text 315"/>
          <p:cNvSpPr/>
          <p:nvPr/>
        </p:nvSpPr>
        <p:spPr>
          <a:xfrm>
            <a:off x="4224528" y="4821174"/>
            <a:ext cx="502920" cy="215646"/>
          </a:xfrm>
          <a:prstGeom prst="rect">
            <a:avLst/>
          </a:prstGeom>
          <a:noFill/>
          <a:ln/>
        </p:spPr>
        <p:txBody>
          <a:bodyPr wrap="square" lIns="0" tIns="0" rIns="0" bIns="0" rtlCol="0" anchor="ctr">
            <a:normAutofit/>
          </a:bodyPr>
          <a:lstStyle/>
          <a:p>
            <a:pPr algn="ctr" indent="0" marL="0">
              <a:buNone/>
            </a:pPr>
            <a:r>
              <a:rPr lang="en-US" altLang="en-US" sz="900" b="1" dirty="0">
                <a:solidFill>
                  <a:srgbClr val="222222"/>
                </a:solidFill>
                <a:latin typeface="Calibri" pitchFamily="34" charset="0"/>
                <a:ea typeface="Calibri" pitchFamily="34" charset="-122"/>
                <a:cs typeface="Calibri" pitchFamily="34" charset="-120"/>
              </a:rPr>
              <a:t>6</a:t>
            </a:r>
            <a:endParaRPr lang="en-US" sz="900" dirty="0"/>
          </a:p>
        </p:txBody>
      </p:sp>
      <p:sp>
        <p:nvSpPr>
          <p:cNvPr id="318" name="Text 316"/>
          <p:cNvSpPr/>
          <p:nvPr/>
        </p:nvSpPr>
        <p:spPr>
          <a:xfrm>
            <a:off x="4727448" y="4821174"/>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5 Nov</a:t>
            </a:r>
            <a:endParaRPr lang="en-US" sz="700" dirty="0"/>
          </a:p>
        </p:txBody>
      </p:sp>
      <p:sp>
        <p:nvSpPr>
          <p:cNvPr id="319" name="Text 317"/>
          <p:cNvSpPr/>
          <p:nvPr/>
        </p:nvSpPr>
        <p:spPr>
          <a:xfrm>
            <a:off x="5385816" y="4821174"/>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11 Nov</a:t>
            </a:r>
            <a:endParaRPr lang="en-US" sz="700" dirty="0"/>
          </a:p>
        </p:txBody>
      </p:sp>
      <p:sp>
        <p:nvSpPr>
          <p:cNvPr id="320" name="Shape 318"/>
          <p:cNvSpPr/>
          <p:nvPr/>
        </p:nvSpPr>
        <p:spPr>
          <a:xfrm>
            <a:off x="9175966" y="4866460"/>
            <a:ext cx="843172" cy="125075"/>
          </a:xfrm>
          <a:prstGeom prst="roundRect">
            <a:avLst>
              <a:gd name="adj" fmla="val 29243"/>
            </a:avLst>
          </a:prstGeom>
          <a:solidFill>
            <a:srgbClr val="00778B"/>
          </a:solidFill>
          <a:ln w="6350">
            <a:solidFill>
              <a:srgbClr val="00778B"/>
            </a:solidFill>
            <a:prstDash val="solid"/>
          </a:ln>
          <a:effectLst>
            <a:outerShdw sx="100000" sy="100000" kx="0" ky="0" algn="bl" rotWithShape="0" blurRad="38100" dist="12700" dir="5400000">
              <a:srgbClr val="000000">
                <a:alpha val="20000"/>
              </a:srgbClr>
            </a:outerShdw>
          </a:effectLst>
        </p:spPr>
      </p:sp>
      <p:sp>
        <p:nvSpPr>
          <p:cNvPr id="321" name="Text 319"/>
          <p:cNvSpPr/>
          <p:nvPr/>
        </p:nvSpPr>
        <p:spPr>
          <a:xfrm>
            <a:off x="9175966" y="4866460"/>
            <a:ext cx="843172" cy="125075"/>
          </a:xfrm>
          <a:prstGeom prst="rect">
            <a:avLst/>
          </a:prstGeom>
          <a:noFill/>
          <a:ln/>
        </p:spPr>
        <p:txBody>
          <a:bodyPr wrap="square" lIns="0" tIns="0" rIns="0" bIns="0" rtlCol="0" anchor="ctr">
            <a:normAutofit/>
          </a:bodyPr>
          <a:lstStyle/>
          <a:p>
            <a:pPr algn="ctr" indent="0" marL="0">
              <a:buNone/>
            </a:pPr>
            <a:r>
              <a:rPr lang="en-US" altLang="en-US" sz="700" b="1" dirty="0">
                <a:solidFill>
                  <a:srgbClr val="FFFFFF"/>
                </a:solidFill>
                <a:latin typeface="Calibri" pitchFamily="34" charset="0"/>
                <a:ea typeface="Calibri" pitchFamily="34" charset="-122"/>
                <a:cs typeface="Calibri" pitchFamily="34" charset="-120"/>
              </a:rPr>
              <a:t>6 d</a:t>
            </a:r>
            <a:endParaRPr lang="en-US" sz="700" dirty="0"/>
          </a:p>
        </p:txBody>
      </p:sp>
      <p:sp>
        <p:nvSpPr>
          <p:cNvPr id="322" name="Shape 320"/>
          <p:cNvSpPr/>
          <p:nvPr/>
        </p:nvSpPr>
        <p:spPr>
          <a:xfrm>
            <a:off x="365760" y="5036820"/>
            <a:ext cx="11460175" cy="215646"/>
          </a:xfrm>
          <a:prstGeom prst="rect">
            <a:avLst/>
          </a:prstGeom>
          <a:solidFill>
            <a:srgbClr val="FFFFFF"/>
          </a:solidFill>
          <a:ln w="6350">
            <a:solidFill>
              <a:srgbClr val="DFE6EA"/>
            </a:solidFill>
            <a:prstDash val="solid"/>
          </a:ln>
        </p:spPr>
      </p:sp>
      <p:sp>
        <p:nvSpPr>
          <p:cNvPr id="323" name="Shape 321"/>
          <p:cNvSpPr/>
          <p:nvPr/>
        </p:nvSpPr>
        <p:spPr>
          <a:xfrm>
            <a:off x="438912" y="5025771"/>
            <a:ext cx="237744" cy="237744"/>
          </a:xfrm>
          <a:prstGeom prst="ellipse">
            <a:avLst>
              <a:gd name="adj" fmla="val 32692"/>
            </a:avLst>
          </a:prstGeom>
          <a:solidFill>
            <a:srgbClr val="2E9E6B"/>
          </a:solidFill>
          <a:ln w="19050">
            <a:solidFill>
              <a:srgbClr val="222222"/>
            </a:solidFill>
            <a:prstDash val="solid"/>
          </a:ln>
        </p:spPr>
      </p:sp>
      <p:sp>
        <p:nvSpPr>
          <p:cNvPr id="324" name="Text 322"/>
          <p:cNvSpPr/>
          <p:nvPr/>
        </p:nvSpPr>
        <p:spPr>
          <a:xfrm>
            <a:off x="365760" y="5036820"/>
            <a:ext cx="384048" cy="215646"/>
          </a:xfrm>
          <a:prstGeom prst="rect">
            <a:avLst/>
          </a:prstGeom>
          <a:noFill/>
          <a:ln/>
        </p:spPr>
        <p:txBody>
          <a:bodyPr wrap="square" lIns="0" tIns="0" rIns="0" bIns="0" rtlCol="0" anchor="ctr">
            <a:normAutofit/>
          </a:bodyPr>
          <a:lstStyle/>
          <a:p>
            <a:pPr algn="ctr" indent="0" marL="0">
              <a:buNone/>
            </a:pPr>
            <a:r>
              <a:rPr lang="en-US" altLang="en-US" sz="850" b="1" dirty="0">
                <a:solidFill>
                  <a:srgbClr val="FFFFFF"/>
                </a:solidFill>
                <a:latin typeface="Calibri" pitchFamily="34" charset="0"/>
                <a:ea typeface="Calibri" pitchFamily="34" charset="-122"/>
                <a:cs typeface="Calibri" pitchFamily="34" charset="-120"/>
              </a:rPr>
              <a:t>F</a:t>
            </a:r>
            <a:endParaRPr lang="en-US" sz="850" dirty="0"/>
          </a:p>
        </p:txBody>
      </p:sp>
      <p:sp>
        <p:nvSpPr>
          <p:cNvPr id="325" name="Text 323"/>
          <p:cNvSpPr/>
          <p:nvPr/>
        </p:nvSpPr>
        <p:spPr>
          <a:xfrm>
            <a:off x="822960" y="5036820"/>
            <a:ext cx="2606040" cy="215646"/>
          </a:xfrm>
          <a:prstGeom prst="rect">
            <a:avLst/>
          </a:prstGeom>
          <a:noFill/>
          <a:ln/>
        </p:spPr>
        <p:txBody>
          <a:bodyPr wrap="square" lIns="0" tIns="0" rIns="0" bIns="0" rtlCol="0" anchor="ctr">
            <a:normAutofit/>
          </a:bodyPr>
          <a:lstStyle/>
          <a:p>
            <a:pPr algn="l" indent="0" marL="0">
              <a:buNone/>
            </a:pPr>
            <a:r>
              <a:rPr lang="en-US" altLang="en-US" sz="750" b="1" dirty="0">
                <a:solidFill>
                  <a:srgbClr val="222222"/>
                </a:solidFill>
                <a:latin typeface="Calibri" pitchFamily="34" charset="0"/>
                <a:ea typeface="Calibri" pitchFamily="34" charset="-122"/>
                <a:cs typeface="Calibri" pitchFamily="34" charset="-120"/>
              </a:rPr>
              <a:t>Building foundation – excavation, compaction / testing, reinforcement &amp; concrete</a:t>
            </a:r>
            <a:endParaRPr lang="en-US" sz="750" dirty="0"/>
          </a:p>
        </p:txBody>
      </p:sp>
      <p:sp>
        <p:nvSpPr>
          <p:cNvPr id="326" name="Text 324"/>
          <p:cNvSpPr/>
          <p:nvPr/>
        </p:nvSpPr>
        <p:spPr>
          <a:xfrm>
            <a:off x="3447288" y="5036820"/>
            <a:ext cx="777240" cy="215646"/>
          </a:xfrm>
          <a:prstGeom prst="rect">
            <a:avLst/>
          </a:prstGeom>
          <a:noFill/>
          <a:ln/>
        </p:spPr>
        <p:txBody>
          <a:bodyPr wrap="square" lIns="0" tIns="0" rIns="0" bIns="0" rtlCol="0" anchor="ctr">
            <a:normAutofit/>
          </a:bodyPr>
          <a:lstStyle/>
          <a:p>
            <a:pPr algn="ctr" indent="0" marL="0">
              <a:buNone/>
            </a:pPr>
            <a:r>
              <a:rPr lang="en-US" altLang="en-US" sz="700" dirty="0">
                <a:solidFill>
                  <a:srgbClr val="444444"/>
                </a:solidFill>
                <a:latin typeface="Calibri" pitchFamily="34" charset="0"/>
                <a:ea typeface="Calibri" pitchFamily="34" charset="-122"/>
                <a:cs typeface="Calibri" pitchFamily="34" charset="-120"/>
              </a:rPr>
              <a:t>D · FS</a:t>
            </a:r>
            <a:endParaRPr lang="en-US" sz="700" dirty="0"/>
          </a:p>
        </p:txBody>
      </p:sp>
      <p:sp>
        <p:nvSpPr>
          <p:cNvPr id="327" name="Text 325"/>
          <p:cNvSpPr/>
          <p:nvPr/>
        </p:nvSpPr>
        <p:spPr>
          <a:xfrm>
            <a:off x="4224528" y="5036820"/>
            <a:ext cx="502920" cy="215646"/>
          </a:xfrm>
          <a:prstGeom prst="rect">
            <a:avLst/>
          </a:prstGeom>
          <a:noFill/>
          <a:ln/>
        </p:spPr>
        <p:txBody>
          <a:bodyPr wrap="square" lIns="0" tIns="0" rIns="0" bIns="0" rtlCol="0" anchor="ctr">
            <a:normAutofit/>
          </a:bodyPr>
          <a:lstStyle/>
          <a:p>
            <a:pPr algn="ctr" indent="0" marL="0">
              <a:buNone/>
            </a:pPr>
            <a:r>
              <a:rPr lang="en-US" altLang="en-US" sz="900" b="1" dirty="0">
                <a:solidFill>
                  <a:srgbClr val="222222"/>
                </a:solidFill>
                <a:latin typeface="Calibri" pitchFamily="34" charset="0"/>
                <a:ea typeface="Calibri" pitchFamily="34" charset="-122"/>
                <a:cs typeface="Calibri" pitchFamily="34" charset="-120"/>
              </a:rPr>
              <a:t>12</a:t>
            </a:r>
            <a:endParaRPr lang="en-US" sz="900" dirty="0"/>
          </a:p>
        </p:txBody>
      </p:sp>
      <p:sp>
        <p:nvSpPr>
          <p:cNvPr id="328" name="Text 326"/>
          <p:cNvSpPr/>
          <p:nvPr/>
        </p:nvSpPr>
        <p:spPr>
          <a:xfrm>
            <a:off x="4727448" y="5036820"/>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5 Nov</a:t>
            </a:r>
            <a:endParaRPr lang="en-US" sz="700" dirty="0"/>
          </a:p>
        </p:txBody>
      </p:sp>
      <p:sp>
        <p:nvSpPr>
          <p:cNvPr id="329" name="Text 327"/>
          <p:cNvSpPr/>
          <p:nvPr/>
        </p:nvSpPr>
        <p:spPr>
          <a:xfrm>
            <a:off x="5385816" y="5036820"/>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18 Nov</a:t>
            </a:r>
            <a:endParaRPr lang="en-US" sz="700" dirty="0"/>
          </a:p>
        </p:txBody>
      </p:sp>
      <p:sp>
        <p:nvSpPr>
          <p:cNvPr id="330" name="Shape 328"/>
          <p:cNvSpPr/>
          <p:nvPr/>
        </p:nvSpPr>
        <p:spPr>
          <a:xfrm>
            <a:off x="9175966" y="5082106"/>
            <a:ext cx="1686344" cy="125075"/>
          </a:xfrm>
          <a:prstGeom prst="roundRect">
            <a:avLst>
              <a:gd name="adj" fmla="val 29243"/>
            </a:avLst>
          </a:prstGeom>
          <a:solidFill>
            <a:srgbClr val="2E9E6B"/>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331" name="Text 329"/>
          <p:cNvSpPr/>
          <p:nvPr/>
        </p:nvSpPr>
        <p:spPr>
          <a:xfrm>
            <a:off x="9175966" y="5082106"/>
            <a:ext cx="1686344" cy="125075"/>
          </a:xfrm>
          <a:prstGeom prst="rect">
            <a:avLst/>
          </a:prstGeom>
          <a:noFill/>
          <a:ln/>
        </p:spPr>
        <p:txBody>
          <a:bodyPr wrap="square" lIns="0" tIns="0" rIns="0" bIns="0" rtlCol="0" anchor="ctr">
            <a:normAutofit/>
          </a:bodyPr>
          <a:lstStyle/>
          <a:p>
            <a:pPr algn="ctr" indent="0" marL="0">
              <a:buNone/>
            </a:pPr>
            <a:r>
              <a:rPr lang="en-US" altLang="en-US" sz="700" b="1" dirty="0">
                <a:solidFill>
                  <a:srgbClr val="FFFFFF"/>
                </a:solidFill>
                <a:latin typeface="Calibri" pitchFamily="34" charset="0"/>
                <a:ea typeface="Calibri" pitchFamily="34" charset="-122"/>
                <a:cs typeface="Calibri" pitchFamily="34" charset="-120"/>
              </a:rPr>
              <a:t>12 d</a:t>
            </a:r>
            <a:endParaRPr lang="en-US" sz="700" dirty="0"/>
          </a:p>
        </p:txBody>
      </p:sp>
      <p:sp>
        <p:nvSpPr>
          <p:cNvPr id="332" name="Shape 330"/>
          <p:cNvSpPr/>
          <p:nvPr/>
        </p:nvSpPr>
        <p:spPr>
          <a:xfrm>
            <a:off x="365760" y="5252466"/>
            <a:ext cx="11460175" cy="215646"/>
          </a:xfrm>
          <a:prstGeom prst="rect">
            <a:avLst/>
          </a:prstGeom>
          <a:solidFill>
            <a:srgbClr val="F6F9FA"/>
          </a:solidFill>
          <a:ln w="6350">
            <a:solidFill>
              <a:srgbClr val="DFE6EA"/>
            </a:solidFill>
            <a:prstDash val="solid"/>
          </a:ln>
        </p:spPr>
      </p:sp>
      <p:sp>
        <p:nvSpPr>
          <p:cNvPr id="333" name="Shape 331"/>
          <p:cNvSpPr/>
          <p:nvPr/>
        </p:nvSpPr>
        <p:spPr>
          <a:xfrm>
            <a:off x="438912" y="5241417"/>
            <a:ext cx="237744" cy="237744"/>
          </a:xfrm>
          <a:prstGeom prst="ellipse">
            <a:avLst>
              <a:gd name="adj" fmla="val 32692"/>
            </a:avLst>
          </a:prstGeom>
          <a:solidFill>
            <a:srgbClr val="D68A00"/>
          </a:solidFill>
          <a:ln w="19050">
            <a:solidFill>
              <a:srgbClr val="222222"/>
            </a:solidFill>
            <a:prstDash val="solid"/>
          </a:ln>
        </p:spPr>
      </p:sp>
      <p:sp>
        <p:nvSpPr>
          <p:cNvPr id="334" name="Text 332"/>
          <p:cNvSpPr/>
          <p:nvPr/>
        </p:nvSpPr>
        <p:spPr>
          <a:xfrm>
            <a:off x="365760" y="5252466"/>
            <a:ext cx="384048" cy="215646"/>
          </a:xfrm>
          <a:prstGeom prst="rect">
            <a:avLst/>
          </a:prstGeom>
          <a:noFill/>
          <a:ln/>
        </p:spPr>
        <p:txBody>
          <a:bodyPr wrap="square" lIns="0" tIns="0" rIns="0" bIns="0" rtlCol="0" anchor="ctr">
            <a:normAutofit/>
          </a:bodyPr>
          <a:lstStyle/>
          <a:p>
            <a:pPr algn="ctr" indent="0" marL="0">
              <a:buNone/>
            </a:pPr>
            <a:r>
              <a:rPr lang="en-US" altLang="en-US" sz="850" b="1" dirty="0">
                <a:solidFill>
                  <a:srgbClr val="FFFFFF"/>
                </a:solidFill>
                <a:latin typeface="Calibri" pitchFamily="34" charset="0"/>
                <a:ea typeface="Calibri" pitchFamily="34" charset="-122"/>
                <a:cs typeface="Calibri" pitchFamily="34" charset="-120"/>
              </a:rPr>
              <a:t>G</a:t>
            </a:r>
            <a:endParaRPr lang="en-US" sz="850" dirty="0"/>
          </a:p>
        </p:txBody>
      </p:sp>
      <p:sp>
        <p:nvSpPr>
          <p:cNvPr id="335" name="Text 333"/>
          <p:cNvSpPr/>
          <p:nvPr/>
        </p:nvSpPr>
        <p:spPr>
          <a:xfrm>
            <a:off x="822960" y="5252466"/>
            <a:ext cx="2606040" cy="215646"/>
          </a:xfrm>
          <a:prstGeom prst="rect">
            <a:avLst/>
          </a:prstGeom>
          <a:noFill/>
          <a:ln/>
        </p:spPr>
        <p:txBody>
          <a:bodyPr wrap="square" lIns="0" tIns="0" rIns="0" bIns="0" rtlCol="0" anchor="ctr">
            <a:normAutofit/>
          </a:bodyPr>
          <a:lstStyle/>
          <a:p>
            <a:pPr algn="l" indent="0" marL="0">
              <a:buNone/>
            </a:pPr>
            <a:r>
              <a:rPr lang="en-US" altLang="en-US" sz="750" b="1" dirty="0">
                <a:solidFill>
                  <a:srgbClr val="222222"/>
                </a:solidFill>
                <a:latin typeface="Calibri" pitchFamily="34" charset="0"/>
                <a:ea typeface="Calibri" pitchFamily="34" charset="-122"/>
                <a:cs typeface="Calibri" pitchFamily="34" charset="-120"/>
              </a:rPr>
              <a:t>Backfilling works for the building</a:t>
            </a:r>
            <a:endParaRPr lang="en-US" sz="750" dirty="0"/>
          </a:p>
        </p:txBody>
      </p:sp>
      <p:sp>
        <p:nvSpPr>
          <p:cNvPr id="336" name="Text 334"/>
          <p:cNvSpPr/>
          <p:nvPr/>
        </p:nvSpPr>
        <p:spPr>
          <a:xfrm>
            <a:off x="3447288" y="5252466"/>
            <a:ext cx="777240" cy="215646"/>
          </a:xfrm>
          <a:prstGeom prst="rect">
            <a:avLst/>
          </a:prstGeom>
          <a:noFill/>
          <a:ln/>
        </p:spPr>
        <p:txBody>
          <a:bodyPr wrap="square" lIns="0" tIns="0" rIns="0" bIns="0" rtlCol="0" anchor="ctr">
            <a:normAutofit/>
          </a:bodyPr>
          <a:lstStyle/>
          <a:p>
            <a:pPr algn="ctr" indent="0" marL="0">
              <a:buNone/>
            </a:pPr>
            <a:r>
              <a:rPr lang="en-US" altLang="en-US" sz="700" dirty="0">
                <a:solidFill>
                  <a:srgbClr val="444444"/>
                </a:solidFill>
                <a:latin typeface="Calibri" pitchFamily="34" charset="0"/>
                <a:ea typeface="Calibri" pitchFamily="34" charset="-122"/>
                <a:cs typeface="Calibri" pitchFamily="34" charset="-120"/>
              </a:rPr>
              <a:t>F · FS</a:t>
            </a:r>
            <a:endParaRPr lang="en-US" sz="700" dirty="0"/>
          </a:p>
        </p:txBody>
      </p:sp>
      <p:sp>
        <p:nvSpPr>
          <p:cNvPr id="337" name="Text 335"/>
          <p:cNvSpPr/>
          <p:nvPr/>
        </p:nvSpPr>
        <p:spPr>
          <a:xfrm>
            <a:off x="4224528" y="5252466"/>
            <a:ext cx="502920" cy="215646"/>
          </a:xfrm>
          <a:prstGeom prst="rect">
            <a:avLst/>
          </a:prstGeom>
          <a:noFill/>
          <a:ln/>
        </p:spPr>
        <p:txBody>
          <a:bodyPr wrap="square" lIns="0" tIns="0" rIns="0" bIns="0" rtlCol="0" anchor="ctr">
            <a:normAutofit/>
          </a:bodyPr>
          <a:lstStyle/>
          <a:p>
            <a:pPr algn="ctr" indent="0" marL="0">
              <a:buNone/>
            </a:pPr>
            <a:r>
              <a:rPr lang="en-US" altLang="en-US" sz="900" b="1" dirty="0">
                <a:solidFill>
                  <a:srgbClr val="222222"/>
                </a:solidFill>
                <a:latin typeface="Calibri" pitchFamily="34" charset="0"/>
                <a:ea typeface="Calibri" pitchFamily="34" charset="-122"/>
                <a:cs typeface="Calibri" pitchFamily="34" charset="-120"/>
              </a:rPr>
              <a:t>5</a:t>
            </a:r>
            <a:endParaRPr lang="en-US" sz="900" dirty="0"/>
          </a:p>
        </p:txBody>
      </p:sp>
      <p:sp>
        <p:nvSpPr>
          <p:cNvPr id="338" name="Text 336"/>
          <p:cNvSpPr/>
          <p:nvPr/>
        </p:nvSpPr>
        <p:spPr>
          <a:xfrm>
            <a:off x="4727448" y="5252466"/>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19 Nov</a:t>
            </a:r>
            <a:endParaRPr lang="en-US" sz="700" dirty="0"/>
          </a:p>
        </p:txBody>
      </p:sp>
      <p:sp>
        <p:nvSpPr>
          <p:cNvPr id="339" name="Text 337"/>
          <p:cNvSpPr/>
          <p:nvPr/>
        </p:nvSpPr>
        <p:spPr>
          <a:xfrm>
            <a:off x="5385816" y="5252466"/>
            <a:ext cx="658368" cy="215646"/>
          </a:xfrm>
          <a:prstGeom prst="rect">
            <a:avLst/>
          </a:prstGeom>
          <a:noFill/>
          <a:ln/>
        </p:spPr>
        <p:txBody>
          <a:bodyPr wrap="square" lIns="0" tIns="0" rIns="0" bIns="0" rtlCol="0" anchor="ctr">
            <a:normAutofit/>
          </a:bodyPr>
          <a:lstStyle/>
          <a:p>
            <a:pPr algn="ctr" indent="0" marL="0">
              <a:buNone/>
            </a:pPr>
            <a:r>
              <a:rPr lang="en-US" altLang="en-US" sz="700" b="1" dirty="0">
                <a:solidFill>
                  <a:srgbClr val="222222"/>
                </a:solidFill>
                <a:latin typeface="Calibri" pitchFamily="34" charset="0"/>
                <a:ea typeface="Calibri" pitchFamily="34" charset="-122"/>
                <a:cs typeface="Calibri" pitchFamily="34" charset="-120"/>
              </a:rPr>
              <a:t>24 Nov</a:t>
            </a:r>
            <a:endParaRPr lang="en-US" sz="700" dirty="0"/>
          </a:p>
        </p:txBody>
      </p:sp>
      <p:sp>
        <p:nvSpPr>
          <p:cNvPr id="340" name="Shape 338"/>
          <p:cNvSpPr/>
          <p:nvPr/>
        </p:nvSpPr>
        <p:spPr>
          <a:xfrm>
            <a:off x="10862310" y="5297752"/>
            <a:ext cx="722719" cy="125075"/>
          </a:xfrm>
          <a:prstGeom prst="roundRect">
            <a:avLst>
              <a:gd name="adj" fmla="val 29243"/>
            </a:avLst>
          </a:prstGeom>
          <a:solidFill>
            <a:srgbClr val="D68A00"/>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341" name="Text 339"/>
          <p:cNvSpPr/>
          <p:nvPr/>
        </p:nvSpPr>
        <p:spPr>
          <a:xfrm>
            <a:off x="10862310" y="5297752"/>
            <a:ext cx="722719" cy="125075"/>
          </a:xfrm>
          <a:prstGeom prst="rect">
            <a:avLst/>
          </a:prstGeom>
          <a:noFill/>
          <a:ln/>
        </p:spPr>
        <p:txBody>
          <a:bodyPr wrap="square" lIns="0" tIns="0" rIns="0" bIns="0" rtlCol="0" anchor="ctr">
            <a:normAutofit/>
          </a:bodyPr>
          <a:lstStyle/>
          <a:p>
            <a:pPr algn="ctr" indent="0" marL="0">
              <a:buNone/>
            </a:pPr>
            <a:r>
              <a:rPr lang="en-US" altLang="en-US" sz="700" b="1" dirty="0">
                <a:solidFill>
                  <a:srgbClr val="FFFFFF"/>
                </a:solidFill>
                <a:latin typeface="Calibri" pitchFamily="34" charset="0"/>
                <a:ea typeface="Calibri" pitchFamily="34" charset="-122"/>
                <a:cs typeface="Calibri" pitchFamily="34" charset="-120"/>
              </a:rPr>
              <a:t>5 d</a:t>
            </a:r>
            <a:endParaRPr lang="en-US" sz="700" dirty="0"/>
          </a:p>
        </p:txBody>
      </p:sp>
      <p:sp>
        <p:nvSpPr>
          <p:cNvPr id="342" name="Shape 340"/>
          <p:cNvSpPr/>
          <p:nvPr/>
        </p:nvSpPr>
        <p:spPr>
          <a:xfrm>
            <a:off x="6460407" y="3266366"/>
            <a:ext cx="0" cy="153109"/>
          </a:xfrm>
          <a:prstGeom prst="line">
            <a:avLst/>
          </a:prstGeom>
          <a:noFill/>
          <a:ln w="13970">
            <a:solidFill>
              <a:srgbClr val="2D3338"/>
            </a:solidFill>
            <a:prstDash val="solid"/>
          </a:ln>
        </p:spPr>
      </p:sp>
      <p:sp>
        <p:nvSpPr>
          <p:cNvPr id="343" name="Shape 341"/>
          <p:cNvSpPr/>
          <p:nvPr/>
        </p:nvSpPr>
        <p:spPr>
          <a:xfrm>
            <a:off x="6460407" y="3419475"/>
            <a:ext cx="56445" cy="0"/>
          </a:xfrm>
          <a:prstGeom prst="line">
            <a:avLst/>
          </a:prstGeom>
          <a:noFill/>
          <a:ln w="13970">
            <a:solidFill>
              <a:srgbClr val="2D3338"/>
            </a:solidFill>
            <a:prstDash val="solid"/>
            <a:tailEnd type="triangle"/>
          </a:ln>
        </p:spPr>
      </p:sp>
      <p:sp>
        <p:nvSpPr>
          <p:cNvPr id="344" name="Shape 342"/>
          <p:cNvSpPr/>
          <p:nvPr/>
        </p:nvSpPr>
        <p:spPr>
          <a:xfrm>
            <a:off x="6580861" y="3482012"/>
            <a:ext cx="0" cy="153109"/>
          </a:xfrm>
          <a:prstGeom prst="line">
            <a:avLst/>
          </a:prstGeom>
          <a:noFill/>
          <a:ln w="13970">
            <a:solidFill>
              <a:srgbClr val="2D3338"/>
            </a:solidFill>
            <a:prstDash val="solid"/>
          </a:ln>
        </p:spPr>
      </p:sp>
      <p:sp>
        <p:nvSpPr>
          <p:cNvPr id="345" name="Shape 343"/>
          <p:cNvSpPr/>
          <p:nvPr/>
        </p:nvSpPr>
        <p:spPr>
          <a:xfrm>
            <a:off x="6580861" y="3635121"/>
            <a:ext cx="56445" cy="0"/>
          </a:xfrm>
          <a:prstGeom prst="line">
            <a:avLst/>
          </a:prstGeom>
          <a:noFill/>
          <a:ln w="13970">
            <a:solidFill>
              <a:srgbClr val="2D3338"/>
            </a:solidFill>
            <a:prstDash val="solid"/>
            <a:tailEnd type="triangle"/>
          </a:ln>
        </p:spPr>
      </p:sp>
      <p:sp>
        <p:nvSpPr>
          <p:cNvPr id="346" name="Shape 344"/>
          <p:cNvSpPr/>
          <p:nvPr/>
        </p:nvSpPr>
        <p:spPr>
          <a:xfrm>
            <a:off x="6701314" y="3697658"/>
            <a:ext cx="0" cy="153109"/>
          </a:xfrm>
          <a:prstGeom prst="line">
            <a:avLst/>
          </a:prstGeom>
          <a:noFill/>
          <a:ln w="13970">
            <a:solidFill>
              <a:srgbClr val="2D3338"/>
            </a:solidFill>
            <a:prstDash val="solid"/>
          </a:ln>
        </p:spPr>
      </p:sp>
      <p:sp>
        <p:nvSpPr>
          <p:cNvPr id="347" name="Shape 345"/>
          <p:cNvSpPr/>
          <p:nvPr/>
        </p:nvSpPr>
        <p:spPr>
          <a:xfrm>
            <a:off x="6701314" y="3850767"/>
            <a:ext cx="176898" cy="0"/>
          </a:xfrm>
          <a:prstGeom prst="line">
            <a:avLst/>
          </a:prstGeom>
          <a:noFill/>
          <a:ln w="13970">
            <a:solidFill>
              <a:srgbClr val="2D3338"/>
            </a:solidFill>
            <a:prstDash val="solid"/>
            <a:tailEnd type="triangle"/>
          </a:ln>
        </p:spPr>
      </p:sp>
      <p:sp>
        <p:nvSpPr>
          <p:cNvPr id="348" name="Shape 346"/>
          <p:cNvSpPr/>
          <p:nvPr/>
        </p:nvSpPr>
        <p:spPr>
          <a:xfrm>
            <a:off x="6942220" y="3913304"/>
            <a:ext cx="0" cy="153109"/>
          </a:xfrm>
          <a:prstGeom prst="line">
            <a:avLst/>
          </a:prstGeom>
          <a:noFill/>
          <a:ln w="13970">
            <a:solidFill>
              <a:srgbClr val="2D3338"/>
            </a:solidFill>
            <a:prstDash val="solid"/>
          </a:ln>
        </p:spPr>
      </p:sp>
      <p:sp>
        <p:nvSpPr>
          <p:cNvPr id="349" name="Shape 347"/>
          <p:cNvSpPr/>
          <p:nvPr/>
        </p:nvSpPr>
        <p:spPr>
          <a:xfrm>
            <a:off x="6942220" y="4066413"/>
            <a:ext cx="56445" cy="0"/>
          </a:xfrm>
          <a:prstGeom prst="line">
            <a:avLst/>
          </a:prstGeom>
          <a:noFill/>
          <a:ln w="13970">
            <a:solidFill>
              <a:srgbClr val="2D3338"/>
            </a:solidFill>
            <a:prstDash val="solid"/>
            <a:tailEnd type="triangle"/>
          </a:ln>
        </p:spPr>
      </p:sp>
      <p:sp>
        <p:nvSpPr>
          <p:cNvPr id="350" name="Shape 348"/>
          <p:cNvSpPr/>
          <p:nvPr/>
        </p:nvSpPr>
        <p:spPr>
          <a:xfrm>
            <a:off x="6460407" y="3050720"/>
            <a:ext cx="0" cy="1231339"/>
          </a:xfrm>
          <a:prstGeom prst="line">
            <a:avLst/>
          </a:prstGeom>
          <a:noFill/>
          <a:ln w="13970">
            <a:solidFill>
              <a:srgbClr val="2D3338"/>
            </a:solidFill>
            <a:prstDash val="solid"/>
          </a:ln>
        </p:spPr>
      </p:sp>
      <p:sp>
        <p:nvSpPr>
          <p:cNvPr id="351" name="Shape 349"/>
          <p:cNvSpPr/>
          <p:nvPr/>
        </p:nvSpPr>
        <p:spPr>
          <a:xfrm>
            <a:off x="6460407" y="4282059"/>
            <a:ext cx="779164" cy="0"/>
          </a:xfrm>
          <a:prstGeom prst="line">
            <a:avLst/>
          </a:prstGeom>
          <a:noFill/>
          <a:ln w="13970">
            <a:solidFill>
              <a:srgbClr val="2D3338"/>
            </a:solidFill>
            <a:prstDash val="solid"/>
            <a:tailEnd type="triangle"/>
          </a:ln>
        </p:spPr>
      </p:sp>
      <p:sp>
        <p:nvSpPr>
          <p:cNvPr id="352" name="Shape 350"/>
          <p:cNvSpPr/>
          <p:nvPr/>
        </p:nvSpPr>
        <p:spPr>
          <a:xfrm>
            <a:off x="7202996" y="2988183"/>
            <a:ext cx="45720" cy="0"/>
          </a:xfrm>
          <a:prstGeom prst="line">
            <a:avLst/>
          </a:prstGeom>
          <a:noFill/>
          <a:ln w="13970">
            <a:solidFill>
              <a:srgbClr val="2D3338"/>
            </a:solidFill>
            <a:prstDash val="solid"/>
          </a:ln>
        </p:spPr>
      </p:sp>
      <p:sp>
        <p:nvSpPr>
          <p:cNvPr id="353" name="Shape 351"/>
          <p:cNvSpPr/>
          <p:nvPr/>
        </p:nvSpPr>
        <p:spPr>
          <a:xfrm>
            <a:off x="7202996" y="2988183"/>
            <a:ext cx="0" cy="1509522"/>
          </a:xfrm>
          <a:prstGeom prst="line">
            <a:avLst/>
          </a:prstGeom>
          <a:noFill/>
          <a:ln w="13970">
            <a:solidFill>
              <a:srgbClr val="2D3338"/>
            </a:solidFill>
            <a:prstDash val="solid"/>
          </a:ln>
        </p:spPr>
      </p:sp>
      <p:sp>
        <p:nvSpPr>
          <p:cNvPr id="354" name="Shape 352"/>
          <p:cNvSpPr/>
          <p:nvPr/>
        </p:nvSpPr>
        <p:spPr>
          <a:xfrm>
            <a:off x="7202996" y="4497705"/>
            <a:ext cx="36576" cy="0"/>
          </a:xfrm>
          <a:prstGeom prst="line">
            <a:avLst/>
          </a:prstGeom>
          <a:noFill/>
          <a:ln w="13970">
            <a:solidFill>
              <a:srgbClr val="2D3338"/>
            </a:solidFill>
            <a:prstDash val="solid"/>
            <a:tailEnd type="triangle"/>
          </a:ln>
        </p:spPr>
      </p:sp>
      <p:sp>
        <p:nvSpPr>
          <p:cNvPr id="355" name="Shape 353"/>
          <p:cNvSpPr/>
          <p:nvPr/>
        </p:nvSpPr>
        <p:spPr>
          <a:xfrm>
            <a:off x="7805261" y="4497705"/>
            <a:ext cx="45720" cy="0"/>
          </a:xfrm>
          <a:prstGeom prst="line">
            <a:avLst/>
          </a:prstGeom>
          <a:noFill/>
          <a:ln w="13970">
            <a:solidFill>
              <a:srgbClr val="2D3338"/>
            </a:solidFill>
            <a:prstDash val="solid"/>
          </a:ln>
        </p:spPr>
      </p:sp>
      <p:sp>
        <p:nvSpPr>
          <p:cNvPr id="356" name="Shape 354"/>
          <p:cNvSpPr/>
          <p:nvPr/>
        </p:nvSpPr>
        <p:spPr>
          <a:xfrm>
            <a:off x="7805261" y="4497705"/>
            <a:ext cx="0" cy="215646"/>
          </a:xfrm>
          <a:prstGeom prst="line">
            <a:avLst/>
          </a:prstGeom>
          <a:noFill/>
          <a:ln w="13970">
            <a:solidFill>
              <a:srgbClr val="2D3338"/>
            </a:solidFill>
            <a:prstDash val="solid"/>
          </a:ln>
        </p:spPr>
      </p:sp>
      <p:sp>
        <p:nvSpPr>
          <p:cNvPr id="357" name="Shape 355"/>
          <p:cNvSpPr/>
          <p:nvPr/>
        </p:nvSpPr>
        <p:spPr>
          <a:xfrm>
            <a:off x="7805261" y="4713351"/>
            <a:ext cx="36576" cy="0"/>
          </a:xfrm>
          <a:prstGeom prst="line">
            <a:avLst/>
          </a:prstGeom>
          <a:noFill/>
          <a:ln w="13970">
            <a:solidFill>
              <a:srgbClr val="2D3338"/>
            </a:solidFill>
            <a:prstDash val="solid"/>
            <a:tailEnd type="triangle"/>
          </a:ln>
        </p:spPr>
      </p:sp>
      <p:sp>
        <p:nvSpPr>
          <p:cNvPr id="358" name="Shape 356"/>
          <p:cNvSpPr/>
          <p:nvPr/>
        </p:nvSpPr>
        <p:spPr>
          <a:xfrm>
            <a:off x="9130246" y="4713351"/>
            <a:ext cx="45720" cy="0"/>
          </a:xfrm>
          <a:prstGeom prst="line">
            <a:avLst/>
          </a:prstGeom>
          <a:noFill/>
          <a:ln w="13970">
            <a:solidFill>
              <a:srgbClr val="2D3338"/>
            </a:solidFill>
            <a:prstDash val="solid"/>
          </a:ln>
        </p:spPr>
      </p:sp>
      <p:sp>
        <p:nvSpPr>
          <p:cNvPr id="359" name="Shape 357"/>
          <p:cNvSpPr/>
          <p:nvPr/>
        </p:nvSpPr>
        <p:spPr>
          <a:xfrm>
            <a:off x="9130246" y="4713351"/>
            <a:ext cx="0" cy="215646"/>
          </a:xfrm>
          <a:prstGeom prst="line">
            <a:avLst/>
          </a:prstGeom>
          <a:noFill/>
          <a:ln w="13970">
            <a:solidFill>
              <a:srgbClr val="2D3338"/>
            </a:solidFill>
            <a:prstDash val="solid"/>
          </a:ln>
        </p:spPr>
      </p:sp>
      <p:sp>
        <p:nvSpPr>
          <p:cNvPr id="360" name="Shape 358"/>
          <p:cNvSpPr/>
          <p:nvPr/>
        </p:nvSpPr>
        <p:spPr>
          <a:xfrm>
            <a:off x="9130246" y="4928997"/>
            <a:ext cx="36576" cy="0"/>
          </a:xfrm>
          <a:prstGeom prst="line">
            <a:avLst/>
          </a:prstGeom>
          <a:noFill/>
          <a:ln w="13970">
            <a:solidFill>
              <a:srgbClr val="2D3338"/>
            </a:solidFill>
            <a:prstDash val="solid"/>
            <a:tailEnd type="triangle"/>
          </a:ln>
        </p:spPr>
      </p:sp>
      <p:sp>
        <p:nvSpPr>
          <p:cNvPr id="361" name="Shape 359"/>
          <p:cNvSpPr/>
          <p:nvPr/>
        </p:nvSpPr>
        <p:spPr>
          <a:xfrm>
            <a:off x="9130246" y="4713351"/>
            <a:ext cx="45720" cy="0"/>
          </a:xfrm>
          <a:prstGeom prst="line">
            <a:avLst/>
          </a:prstGeom>
          <a:noFill/>
          <a:ln w="13970">
            <a:solidFill>
              <a:srgbClr val="2D3338"/>
            </a:solidFill>
            <a:prstDash val="solid"/>
          </a:ln>
        </p:spPr>
      </p:sp>
      <p:sp>
        <p:nvSpPr>
          <p:cNvPr id="362" name="Shape 360"/>
          <p:cNvSpPr/>
          <p:nvPr/>
        </p:nvSpPr>
        <p:spPr>
          <a:xfrm>
            <a:off x="9130246" y="4713351"/>
            <a:ext cx="0" cy="431292"/>
          </a:xfrm>
          <a:prstGeom prst="line">
            <a:avLst/>
          </a:prstGeom>
          <a:noFill/>
          <a:ln w="13970">
            <a:solidFill>
              <a:srgbClr val="2D3338"/>
            </a:solidFill>
            <a:prstDash val="solid"/>
          </a:ln>
        </p:spPr>
      </p:sp>
      <p:sp>
        <p:nvSpPr>
          <p:cNvPr id="363" name="Shape 361"/>
          <p:cNvSpPr/>
          <p:nvPr/>
        </p:nvSpPr>
        <p:spPr>
          <a:xfrm>
            <a:off x="9130246" y="5144643"/>
            <a:ext cx="36576" cy="0"/>
          </a:xfrm>
          <a:prstGeom prst="line">
            <a:avLst/>
          </a:prstGeom>
          <a:noFill/>
          <a:ln w="13970">
            <a:solidFill>
              <a:srgbClr val="2D3338"/>
            </a:solidFill>
            <a:prstDash val="solid"/>
            <a:tailEnd type="triangle"/>
          </a:ln>
        </p:spPr>
      </p:sp>
      <p:sp>
        <p:nvSpPr>
          <p:cNvPr id="364" name="Shape 362"/>
          <p:cNvSpPr/>
          <p:nvPr/>
        </p:nvSpPr>
        <p:spPr>
          <a:xfrm>
            <a:off x="10816590" y="5144643"/>
            <a:ext cx="45720" cy="0"/>
          </a:xfrm>
          <a:prstGeom prst="line">
            <a:avLst/>
          </a:prstGeom>
          <a:noFill/>
          <a:ln w="13970">
            <a:solidFill>
              <a:srgbClr val="2D3338"/>
            </a:solidFill>
            <a:prstDash val="solid"/>
          </a:ln>
        </p:spPr>
      </p:sp>
      <p:sp>
        <p:nvSpPr>
          <p:cNvPr id="365" name="Shape 363"/>
          <p:cNvSpPr/>
          <p:nvPr/>
        </p:nvSpPr>
        <p:spPr>
          <a:xfrm>
            <a:off x="10816590" y="5144643"/>
            <a:ext cx="0" cy="215646"/>
          </a:xfrm>
          <a:prstGeom prst="line">
            <a:avLst/>
          </a:prstGeom>
          <a:noFill/>
          <a:ln w="13970">
            <a:solidFill>
              <a:srgbClr val="2D3338"/>
            </a:solidFill>
            <a:prstDash val="solid"/>
          </a:ln>
        </p:spPr>
      </p:sp>
      <p:sp>
        <p:nvSpPr>
          <p:cNvPr id="366" name="Shape 364"/>
          <p:cNvSpPr/>
          <p:nvPr/>
        </p:nvSpPr>
        <p:spPr>
          <a:xfrm>
            <a:off x="10816590" y="5360289"/>
            <a:ext cx="36576" cy="0"/>
          </a:xfrm>
          <a:prstGeom prst="line">
            <a:avLst/>
          </a:prstGeom>
          <a:noFill/>
          <a:ln w="13970">
            <a:solidFill>
              <a:srgbClr val="2D3338"/>
            </a:solidFill>
            <a:prstDash val="solid"/>
            <a:tailEnd type="triangle"/>
          </a:ln>
        </p:spPr>
      </p:sp>
      <p:sp>
        <p:nvSpPr>
          <p:cNvPr id="367" name="Shape 365"/>
          <p:cNvSpPr/>
          <p:nvPr/>
        </p:nvSpPr>
        <p:spPr>
          <a:xfrm>
            <a:off x="7429395" y="1947672"/>
            <a:ext cx="0" cy="3520440"/>
          </a:xfrm>
          <a:prstGeom prst="line">
            <a:avLst/>
          </a:prstGeom>
          <a:noFill/>
          <a:ln w="22225">
            <a:solidFill>
              <a:srgbClr val="C8503F"/>
            </a:solidFill>
            <a:prstDash val="dash"/>
          </a:ln>
        </p:spPr>
      </p:sp>
      <p:sp>
        <p:nvSpPr>
          <p:cNvPr id="368" name="Shape 366"/>
          <p:cNvSpPr/>
          <p:nvPr/>
        </p:nvSpPr>
        <p:spPr>
          <a:xfrm>
            <a:off x="7383675" y="2240280"/>
            <a:ext cx="1143000" cy="155448"/>
          </a:xfrm>
          <a:prstGeom prst="roundRect">
            <a:avLst>
              <a:gd name="adj" fmla="val 47059"/>
            </a:avLst>
          </a:prstGeom>
          <a:solidFill>
            <a:srgbClr val="C8503F"/>
          </a:solidFill>
          <a:ln w="12700">
            <a:solidFill>
              <a:srgbClr val="C8503F"/>
            </a:solidFill>
            <a:prstDash val="solid"/>
          </a:ln>
        </p:spPr>
      </p:sp>
      <p:sp>
        <p:nvSpPr>
          <p:cNvPr id="369" name="Text 367"/>
          <p:cNvSpPr/>
          <p:nvPr/>
        </p:nvSpPr>
        <p:spPr>
          <a:xfrm>
            <a:off x="7383675" y="2240280"/>
            <a:ext cx="1143000" cy="155448"/>
          </a:xfrm>
          <a:prstGeom prst="rect">
            <a:avLst/>
          </a:prstGeom>
          <a:noFill/>
          <a:ln/>
        </p:spPr>
        <p:txBody>
          <a:bodyPr wrap="square" lIns="0" tIns="0" rIns="0" bIns="0" rtlCol="0" anchor="ctr">
            <a:normAutofit/>
          </a:bodyPr>
          <a:lstStyle/>
          <a:p>
            <a:pPr algn="ctr" indent="0" marL="0">
              <a:buNone/>
            </a:pPr>
            <a:r>
              <a:rPr lang="en-US" altLang="en-US" sz="650" b="1" dirty="0">
                <a:solidFill>
                  <a:srgbClr val="FFFFFF"/>
                </a:solidFill>
                <a:latin typeface="Calibri" pitchFamily="34" charset="0"/>
                <a:ea typeface="Calibri" pitchFamily="34" charset="-122"/>
                <a:cs typeface="Calibri" pitchFamily="34" charset="-120"/>
              </a:rPr>
              <a:t>Status date · 21 Oct</a:t>
            </a:r>
            <a:endParaRPr lang="en-US" sz="650" dirty="0"/>
          </a:p>
        </p:txBody>
      </p:sp>
      <p:sp>
        <p:nvSpPr>
          <p:cNvPr id="370" name="Shape 368"/>
          <p:cNvSpPr/>
          <p:nvPr/>
        </p:nvSpPr>
        <p:spPr>
          <a:xfrm>
            <a:off x="365760" y="1325880"/>
            <a:ext cx="11460175" cy="4142232"/>
          </a:xfrm>
          <a:prstGeom prst="rect">
            <a:avLst/>
          </a:prstGeom>
          <a:solidFill>
            <a:srgbClr val="FFFFFF">
              <a:alpha val="0"/>
            </a:srgbClr>
          </a:solidFill>
          <a:ln w="9525">
            <a:solidFill>
              <a:srgbClr val="B9C6CC"/>
            </a:solidFill>
            <a:prstDash val="solid"/>
          </a:ln>
        </p:spPr>
      </p:sp>
      <p:sp>
        <p:nvSpPr>
          <p:cNvPr id="371" name="Shape 369"/>
          <p:cNvSpPr/>
          <p:nvPr/>
        </p:nvSpPr>
        <p:spPr>
          <a:xfrm>
            <a:off x="365760" y="5577840"/>
            <a:ext cx="2204253" cy="822960"/>
          </a:xfrm>
          <a:prstGeom prst="roundRect">
            <a:avLst>
              <a:gd name="adj" fmla="val 7778"/>
            </a:avLst>
          </a:prstGeom>
          <a:solidFill>
            <a:srgbClr val="FFFFFF"/>
          </a:solidFill>
          <a:ln w="9525">
            <a:solidFill>
              <a:srgbClr val="DFE6EA"/>
            </a:solidFill>
            <a:prstDash val="solid"/>
          </a:ln>
          <a:effectLst>
            <a:outerShdw sx="100000" sy="100000" kx="0" ky="0" algn="bl" rotWithShape="0" blurRad="63500" dist="25400" dir="5400000">
              <a:srgbClr val="000000">
                <a:alpha val="12000"/>
              </a:srgbClr>
            </a:outerShdw>
          </a:effectLst>
        </p:spPr>
      </p:sp>
      <p:sp>
        <p:nvSpPr>
          <p:cNvPr id="372" name="Shape 370"/>
          <p:cNvSpPr/>
          <p:nvPr/>
        </p:nvSpPr>
        <p:spPr>
          <a:xfrm>
            <a:off x="420624" y="5577840"/>
            <a:ext cx="2094525" cy="54864"/>
          </a:xfrm>
          <a:prstGeom prst="rect">
            <a:avLst/>
          </a:prstGeom>
          <a:solidFill>
            <a:srgbClr val="3D3935"/>
          </a:solidFill>
          <a:ln w="12700">
            <a:solidFill>
              <a:srgbClr val="3D3935"/>
            </a:solidFill>
            <a:prstDash val="solid"/>
          </a:ln>
        </p:spPr>
      </p:sp>
      <p:sp>
        <p:nvSpPr>
          <p:cNvPr id="373" name="Text 371"/>
          <p:cNvSpPr/>
          <p:nvPr/>
        </p:nvSpPr>
        <p:spPr>
          <a:xfrm>
            <a:off x="475488" y="5669280"/>
            <a:ext cx="1984797" cy="201168"/>
          </a:xfrm>
          <a:prstGeom prst="rect">
            <a:avLst/>
          </a:prstGeom>
          <a:noFill/>
          <a:ln/>
        </p:spPr>
        <p:txBody>
          <a:bodyPr wrap="square" lIns="0" tIns="0" rIns="0" bIns="0" rtlCol="0" anchor="ctr">
            <a:normAutofit/>
          </a:bodyPr>
          <a:lstStyle/>
          <a:p>
            <a:pPr algn="l" indent="0" marL="0">
              <a:buNone/>
            </a:pPr>
            <a:r>
              <a:rPr lang="en-US" altLang="en-US" sz="850" b="1" dirty="0">
                <a:solidFill>
                  <a:srgbClr val="66707A"/>
                </a:solidFill>
                <a:latin typeface="Calibri" pitchFamily="34" charset="0"/>
                <a:ea typeface="Calibri" pitchFamily="34" charset="-122"/>
                <a:cs typeface="Calibri" pitchFamily="34" charset="-120"/>
              </a:rPr>
              <a:t>Commencement</a:t>
            </a:r>
            <a:endParaRPr lang="en-US" sz="850" dirty="0"/>
          </a:p>
        </p:txBody>
      </p:sp>
      <p:sp>
        <p:nvSpPr>
          <p:cNvPr id="374" name="Text 372"/>
          <p:cNvSpPr/>
          <p:nvPr/>
        </p:nvSpPr>
        <p:spPr>
          <a:xfrm>
            <a:off x="475488" y="5870448"/>
            <a:ext cx="1984797" cy="292608"/>
          </a:xfrm>
          <a:prstGeom prst="rect">
            <a:avLst/>
          </a:prstGeom>
          <a:noFill/>
          <a:ln/>
        </p:spPr>
        <p:txBody>
          <a:bodyPr wrap="square" lIns="0" tIns="0" rIns="0" bIns="0" rtlCol="0" anchor="ctr">
            <a:normAutofit/>
          </a:bodyPr>
          <a:lstStyle/>
          <a:p>
            <a:pPr algn="l" indent="0" marL="0">
              <a:buNone/>
            </a:pPr>
            <a:r>
              <a:rPr lang="en-US" altLang="en-US" sz="1300" b="1" dirty="0">
                <a:solidFill>
                  <a:srgbClr val="3D3935"/>
                </a:solidFill>
                <a:latin typeface="Calibri" pitchFamily="34" charset="0"/>
                <a:ea typeface="Calibri" pitchFamily="34" charset="-122"/>
                <a:cs typeface="Calibri" pitchFamily="34" charset="-120"/>
              </a:rPr>
              <a:t>Tue 13 Oct 2026</a:t>
            </a:r>
            <a:endParaRPr lang="en-US" sz="1300" dirty="0"/>
          </a:p>
        </p:txBody>
      </p:sp>
      <p:sp>
        <p:nvSpPr>
          <p:cNvPr id="375" name="Text 373"/>
          <p:cNvSpPr/>
          <p:nvPr/>
        </p:nvSpPr>
        <p:spPr>
          <a:xfrm>
            <a:off x="475488" y="6163056"/>
            <a:ext cx="1984797" cy="182880"/>
          </a:xfrm>
          <a:prstGeom prst="rect">
            <a:avLst/>
          </a:prstGeom>
          <a:noFill/>
          <a:ln/>
        </p:spPr>
        <p:txBody>
          <a:bodyPr wrap="square" lIns="0" tIns="0" rIns="0" bIns="0" rtlCol="0" anchor="ctr">
            <a:normAutofit/>
          </a:bodyPr>
          <a:lstStyle/>
          <a:p>
            <a:pPr algn="l" indent="0" marL="0">
              <a:buNone/>
            </a:pPr>
            <a:r>
              <a:rPr lang="en-US" altLang="en-US" sz="750" b="1" dirty="0">
                <a:solidFill>
                  <a:srgbClr val="66707A"/>
                </a:solidFill>
                <a:latin typeface="Calibri" pitchFamily="34" charset="0"/>
                <a:ea typeface="Calibri" pitchFamily="34" charset="-122"/>
                <a:cs typeface="Calibri" pitchFamily="34" charset="-120"/>
              </a:rPr>
              <a:t>Working day 1 / 37</a:t>
            </a:r>
            <a:endParaRPr lang="en-US" sz="750" dirty="0"/>
          </a:p>
        </p:txBody>
      </p:sp>
      <p:sp>
        <p:nvSpPr>
          <p:cNvPr id="376" name="Shape 374"/>
          <p:cNvSpPr/>
          <p:nvPr/>
        </p:nvSpPr>
        <p:spPr>
          <a:xfrm>
            <a:off x="2679741" y="5577840"/>
            <a:ext cx="2204253" cy="822960"/>
          </a:xfrm>
          <a:prstGeom prst="roundRect">
            <a:avLst>
              <a:gd name="adj" fmla="val 7778"/>
            </a:avLst>
          </a:prstGeom>
          <a:solidFill>
            <a:srgbClr val="FFFFFF"/>
          </a:solidFill>
          <a:ln w="9525">
            <a:solidFill>
              <a:srgbClr val="DFE6EA"/>
            </a:solidFill>
            <a:prstDash val="solid"/>
          </a:ln>
          <a:effectLst>
            <a:outerShdw sx="100000" sy="100000" kx="0" ky="0" algn="bl" rotWithShape="0" blurRad="63500" dist="25400" dir="5400000">
              <a:srgbClr val="000000">
                <a:alpha val="12000"/>
              </a:srgbClr>
            </a:outerShdw>
          </a:effectLst>
        </p:spPr>
      </p:sp>
      <p:sp>
        <p:nvSpPr>
          <p:cNvPr id="377" name="Shape 375"/>
          <p:cNvSpPr/>
          <p:nvPr/>
        </p:nvSpPr>
        <p:spPr>
          <a:xfrm>
            <a:off x="2734605" y="5577840"/>
            <a:ext cx="2094525" cy="54864"/>
          </a:xfrm>
          <a:prstGeom prst="rect">
            <a:avLst/>
          </a:prstGeom>
          <a:solidFill>
            <a:srgbClr val="C8503F"/>
          </a:solidFill>
          <a:ln w="12700">
            <a:solidFill>
              <a:srgbClr val="C8503F"/>
            </a:solidFill>
            <a:prstDash val="solid"/>
          </a:ln>
        </p:spPr>
      </p:sp>
      <p:sp>
        <p:nvSpPr>
          <p:cNvPr id="378" name="Text 376"/>
          <p:cNvSpPr/>
          <p:nvPr/>
        </p:nvSpPr>
        <p:spPr>
          <a:xfrm>
            <a:off x="2789469" y="5669280"/>
            <a:ext cx="1984797" cy="201168"/>
          </a:xfrm>
          <a:prstGeom prst="rect">
            <a:avLst/>
          </a:prstGeom>
          <a:noFill/>
          <a:ln/>
        </p:spPr>
        <p:txBody>
          <a:bodyPr wrap="square" lIns="0" tIns="0" rIns="0" bIns="0" rtlCol="0" anchor="ctr">
            <a:normAutofit/>
          </a:bodyPr>
          <a:lstStyle/>
          <a:p>
            <a:pPr algn="l" indent="0" marL="0">
              <a:buNone/>
            </a:pPr>
            <a:r>
              <a:rPr lang="en-US" altLang="en-US" sz="850" b="1" dirty="0">
                <a:solidFill>
                  <a:srgbClr val="66707A"/>
                </a:solidFill>
                <a:latin typeface="Calibri" pitchFamily="34" charset="0"/>
                <a:ea typeface="Calibri" pitchFamily="34" charset="-122"/>
                <a:cs typeface="Calibri" pitchFamily="34" charset="-120"/>
              </a:rPr>
              <a:t>Shoring installation complete</a:t>
            </a:r>
            <a:endParaRPr lang="en-US" sz="850" dirty="0"/>
          </a:p>
        </p:txBody>
      </p:sp>
      <p:sp>
        <p:nvSpPr>
          <p:cNvPr id="379" name="Text 377"/>
          <p:cNvSpPr/>
          <p:nvPr/>
        </p:nvSpPr>
        <p:spPr>
          <a:xfrm>
            <a:off x="2789469" y="5870448"/>
            <a:ext cx="1984797" cy="292608"/>
          </a:xfrm>
          <a:prstGeom prst="rect">
            <a:avLst/>
          </a:prstGeom>
          <a:noFill/>
          <a:ln/>
        </p:spPr>
        <p:txBody>
          <a:bodyPr wrap="square" lIns="0" tIns="0" rIns="0" bIns="0" rtlCol="0" anchor="ctr">
            <a:normAutofit/>
          </a:bodyPr>
          <a:lstStyle/>
          <a:p>
            <a:pPr algn="l" indent="0" marL="0">
              <a:buNone/>
            </a:pPr>
            <a:r>
              <a:rPr lang="en-US" altLang="en-US" sz="1300" b="1" dirty="0">
                <a:solidFill>
                  <a:srgbClr val="3D3935"/>
                </a:solidFill>
                <a:latin typeface="Calibri" pitchFamily="34" charset="0"/>
                <a:ea typeface="Calibri" pitchFamily="34" charset="-122"/>
                <a:cs typeface="Calibri" pitchFamily="34" charset="-120"/>
              </a:rPr>
              <a:t>Mon 19 Oct 2026</a:t>
            </a:r>
            <a:endParaRPr lang="en-US" sz="1300" dirty="0"/>
          </a:p>
        </p:txBody>
      </p:sp>
      <p:sp>
        <p:nvSpPr>
          <p:cNvPr id="380" name="Text 378"/>
          <p:cNvSpPr/>
          <p:nvPr/>
        </p:nvSpPr>
        <p:spPr>
          <a:xfrm>
            <a:off x="2789469" y="6163056"/>
            <a:ext cx="1984797" cy="182880"/>
          </a:xfrm>
          <a:prstGeom prst="rect">
            <a:avLst/>
          </a:prstGeom>
          <a:noFill/>
          <a:ln/>
        </p:spPr>
        <p:txBody>
          <a:bodyPr wrap="square" lIns="0" tIns="0" rIns="0" bIns="0" rtlCol="0" anchor="ctr">
            <a:normAutofit/>
          </a:bodyPr>
          <a:lstStyle/>
          <a:p>
            <a:pPr algn="l" indent="0" marL="0">
              <a:buNone/>
            </a:pPr>
            <a:r>
              <a:rPr lang="en-US" altLang="en-US" sz="750" b="1" dirty="0">
                <a:solidFill>
                  <a:srgbClr val="66707A"/>
                </a:solidFill>
                <a:latin typeface="Calibri" pitchFamily="34" charset="0"/>
                <a:ea typeface="Calibri" pitchFamily="34" charset="-122"/>
                <a:cs typeface="Calibri" pitchFamily="34" charset="-120"/>
              </a:rPr>
              <a:t>Working day 6 / 37</a:t>
            </a:r>
            <a:endParaRPr lang="en-US" sz="750" dirty="0"/>
          </a:p>
        </p:txBody>
      </p:sp>
      <p:sp>
        <p:nvSpPr>
          <p:cNvPr id="381" name="Shape 379"/>
          <p:cNvSpPr/>
          <p:nvPr/>
        </p:nvSpPr>
        <p:spPr>
          <a:xfrm>
            <a:off x="4993721" y="5577840"/>
            <a:ext cx="2204253" cy="822960"/>
          </a:xfrm>
          <a:prstGeom prst="roundRect">
            <a:avLst>
              <a:gd name="adj" fmla="val 7778"/>
            </a:avLst>
          </a:prstGeom>
          <a:solidFill>
            <a:srgbClr val="FFFFFF"/>
          </a:solidFill>
          <a:ln w="9525">
            <a:solidFill>
              <a:srgbClr val="DFE6EA"/>
            </a:solidFill>
            <a:prstDash val="solid"/>
          </a:ln>
          <a:effectLst>
            <a:outerShdw sx="100000" sy="100000" kx="0" ky="0" algn="bl" rotWithShape="0" blurRad="63500" dist="25400" dir="5400000">
              <a:srgbClr val="000000">
                <a:alpha val="12000"/>
              </a:srgbClr>
            </a:outerShdw>
          </a:effectLst>
        </p:spPr>
      </p:sp>
      <p:sp>
        <p:nvSpPr>
          <p:cNvPr id="382" name="Shape 380"/>
          <p:cNvSpPr/>
          <p:nvPr/>
        </p:nvSpPr>
        <p:spPr>
          <a:xfrm>
            <a:off x="5048585" y="5577840"/>
            <a:ext cx="2094525" cy="54864"/>
          </a:xfrm>
          <a:prstGeom prst="rect">
            <a:avLst/>
          </a:prstGeom>
          <a:solidFill>
            <a:srgbClr val="00778B"/>
          </a:solidFill>
          <a:ln w="12700">
            <a:solidFill>
              <a:srgbClr val="00778B"/>
            </a:solidFill>
            <a:prstDash val="solid"/>
          </a:ln>
        </p:spPr>
      </p:sp>
      <p:sp>
        <p:nvSpPr>
          <p:cNvPr id="383" name="Text 381"/>
          <p:cNvSpPr/>
          <p:nvPr/>
        </p:nvSpPr>
        <p:spPr>
          <a:xfrm>
            <a:off x="5103449" y="5669280"/>
            <a:ext cx="1984797" cy="201168"/>
          </a:xfrm>
          <a:prstGeom prst="rect">
            <a:avLst/>
          </a:prstGeom>
          <a:noFill/>
          <a:ln/>
        </p:spPr>
        <p:txBody>
          <a:bodyPr wrap="square" lIns="0" tIns="0" rIns="0" bIns="0" rtlCol="0" anchor="ctr">
            <a:normAutofit/>
          </a:bodyPr>
          <a:lstStyle/>
          <a:p>
            <a:pPr algn="l" indent="0" marL="0">
              <a:buNone/>
            </a:pPr>
            <a:r>
              <a:rPr lang="en-US" altLang="en-US" sz="850" b="1" dirty="0">
                <a:solidFill>
                  <a:srgbClr val="66707A"/>
                </a:solidFill>
                <a:latin typeface="Calibri" pitchFamily="34" charset="0"/>
                <a:ea typeface="Calibri" pitchFamily="34" charset="-122"/>
                <a:cs typeface="Calibri" pitchFamily="34" charset="-120"/>
              </a:rPr>
              <a:t>Pit works complete (pit wall)</a:t>
            </a:r>
            <a:endParaRPr lang="en-US" sz="850" dirty="0"/>
          </a:p>
        </p:txBody>
      </p:sp>
      <p:sp>
        <p:nvSpPr>
          <p:cNvPr id="384" name="Text 382"/>
          <p:cNvSpPr/>
          <p:nvPr/>
        </p:nvSpPr>
        <p:spPr>
          <a:xfrm>
            <a:off x="5103449" y="5870448"/>
            <a:ext cx="1984797" cy="292608"/>
          </a:xfrm>
          <a:prstGeom prst="rect">
            <a:avLst/>
          </a:prstGeom>
          <a:noFill/>
          <a:ln/>
        </p:spPr>
        <p:txBody>
          <a:bodyPr wrap="square" lIns="0" tIns="0" rIns="0" bIns="0" rtlCol="0" anchor="ctr">
            <a:normAutofit/>
          </a:bodyPr>
          <a:lstStyle/>
          <a:p>
            <a:pPr algn="l" indent="0" marL="0">
              <a:buNone/>
            </a:pPr>
            <a:r>
              <a:rPr lang="en-US" altLang="en-US" sz="1300" b="1" dirty="0">
                <a:solidFill>
                  <a:srgbClr val="3D3935"/>
                </a:solidFill>
                <a:latin typeface="Calibri" pitchFamily="34" charset="0"/>
                <a:ea typeface="Calibri" pitchFamily="34" charset="-122"/>
                <a:cs typeface="Calibri" pitchFamily="34" charset="-120"/>
              </a:rPr>
              <a:t>Wed 11 Nov 2026</a:t>
            </a:r>
            <a:endParaRPr lang="en-US" sz="1300" dirty="0"/>
          </a:p>
        </p:txBody>
      </p:sp>
      <p:sp>
        <p:nvSpPr>
          <p:cNvPr id="385" name="Text 383"/>
          <p:cNvSpPr/>
          <p:nvPr/>
        </p:nvSpPr>
        <p:spPr>
          <a:xfrm>
            <a:off x="5103449" y="6163056"/>
            <a:ext cx="1984797" cy="182880"/>
          </a:xfrm>
          <a:prstGeom prst="rect">
            <a:avLst/>
          </a:prstGeom>
          <a:noFill/>
          <a:ln/>
        </p:spPr>
        <p:txBody>
          <a:bodyPr wrap="square" lIns="0" tIns="0" rIns="0" bIns="0" rtlCol="0" anchor="ctr">
            <a:normAutofit/>
          </a:bodyPr>
          <a:lstStyle/>
          <a:p>
            <a:pPr algn="l" indent="0" marL="0">
              <a:buNone/>
            </a:pPr>
            <a:r>
              <a:rPr lang="en-US" altLang="en-US" sz="750" b="1" dirty="0">
                <a:solidFill>
                  <a:srgbClr val="66707A"/>
                </a:solidFill>
                <a:latin typeface="Calibri" pitchFamily="34" charset="0"/>
                <a:ea typeface="Calibri" pitchFamily="34" charset="-122"/>
                <a:cs typeface="Calibri" pitchFamily="34" charset="-120"/>
              </a:rPr>
              <a:t>Working day 26 / 37</a:t>
            </a:r>
            <a:endParaRPr lang="en-US" sz="750" dirty="0"/>
          </a:p>
        </p:txBody>
      </p:sp>
      <p:sp>
        <p:nvSpPr>
          <p:cNvPr id="386" name="Shape 384"/>
          <p:cNvSpPr/>
          <p:nvPr/>
        </p:nvSpPr>
        <p:spPr>
          <a:xfrm>
            <a:off x="7307702" y="5577840"/>
            <a:ext cx="2204253" cy="822960"/>
          </a:xfrm>
          <a:prstGeom prst="roundRect">
            <a:avLst>
              <a:gd name="adj" fmla="val 7778"/>
            </a:avLst>
          </a:prstGeom>
          <a:solidFill>
            <a:srgbClr val="FFFFFF"/>
          </a:solidFill>
          <a:ln w="9525">
            <a:solidFill>
              <a:srgbClr val="DFE6EA"/>
            </a:solidFill>
            <a:prstDash val="solid"/>
          </a:ln>
          <a:effectLst>
            <a:outerShdw sx="100000" sy="100000" kx="0" ky="0" algn="bl" rotWithShape="0" blurRad="63500" dist="25400" dir="5400000">
              <a:srgbClr val="000000">
                <a:alpha val="12000"/>
              </a:srgbClr>
            </a:outerShdw>
          </a:effectLst>
        </p:spPr>
      </p:sp>
      <p:sp>
        <p:nvSpPr>
          <p:cNvPr id="387" name="Shape 385"/>
          <p:cNvSpPr/>
          <p:nvPr/>
        </p:nvSpPr>
        <p:spPr>
          <a:xfrm>
            <a:off x="7362566" y="5577840"/>
            <a:ext cx="2094525" cy="54864"/>
          </a:xfrm>
          <a:prstGeom prst="rect">
            <a:avLst/>
          </a:prstGeom>
          <a:solidFill>
            <a:srgbClr val="2E9E6B"/>
          </a:solidFill>
          <a:ln w="12700">
            <a:solidFill>
              <a:srgbClr val="2E9E6B"/>
            </a:solidFill>
            <a:prstDash val="solid"/>
          </a:ln>
        </p:spPr>
      </p:sp>
      <p:sp>
        <p:nvSpPr>
          <p:cNvPr id="388" name="Text 386"/>
          <p:cNvSpPr/>
          <p:nvPr/>
        </p:nvSpPr>
        <p:spPr>
          <a:xfrm>
            <a:off x="7417430" y="5669280"/>
            <a:ext cx="1984797" cy="201168"/>
          </a:xfrm>
          <a:prstGeom prst="rect">
            <a:avLst/>
          </a:prstGeom>
          <a:noFill/>
          <a:ln/>
        </p:spPr>
        <p:txBody>
          <a:bodyPr wrap="square" lIns="0" tIns="0" rIns="0" bIns="0" rtlCol="0" anchor="ctr">
            <a:normAutofit/>
          </a:bodyPr>
          <a:lstStyle/>
          <a:p>
            <a:pPr algn="l" indent="0" marL="0">
              <a:buNone/>
            </a:pPr>
            <a:r>
              <a:rPr lang="en-US" altLang="en-US" sz="850" b="1" dirty="0">
                <a:solidFill>
                  <a:srgbClr val="66707A"/>
                </a:solidFill>
                <a:latin typeface="Calibri" pitchFamily="34" charset="0"/>
                <a:ea typeface="Calibri" pitchFamily="34" charset="-122"/>
                <a:cs typeface="Calibri" pitchFamily="34" charset="-120"/>
              </a:rPr>
              <a:t>Building foundation complete</a:t>
            </a:r>
            <a:endParaRPr lang="en-US" sz="850" dirty="0"/>
          </a:p>
        </p:txBody>
      </p:sp>
      <p:sp>
        <p:nvSpPr>
          <p:cNvPr id="389" name="Text 387"/>
          <p:cNvSpPr/>
          <p:nvPr/>
        </p:nvSpPr>
        <p:spPr>
          <a:xfrm>
            <a:off x="7417430" y="5870448"/>
            <a:ext cx="1984797" cy="292608"/>
          </a:xfrm>
          <a:prstGeom prst="rect">
            <a:avLst/>
          </a:prstGeom>
          <a:noFill/>
          <a:ln/>
        </p:spPr>
        <p:txBody>
          <a:bodyPr wrap="square" lIns="0" tIns="0" rIns="0" bIns="0" rtlCol="0" anchor="ctr">
            <a:normAutofit/>
          </a:bodyPr>
          <a:lstStyle/>
          <a:p>
            <a:pPr algn="l" indent="0" marL="0">
              <a:buNone/>
            </a:pPr>
            <a:r>
              <a:rPr lang="en-US" altLang="en-US" sz="1300" b="1" dirty="0">
                <a:solidFill>
                  <a:srgbClr val="3D3935"/>
                </a:solidFill>
                <a:latin typeface="Calibri" pitchFamily="34" charset="0"/>
                <a:ea typeface="Calibri" pitchFamily="34" charset="-122"/>
                <a:cs typeface="Calibri" pitchFamily="34" charset="-120"/>
              </a:rPr>
              <a:t>Wed 18 Nov 2026</a:t>
            </a:r>
            <a:endParaRPr lang="en-US" sz="1300" dirty="0"/>
          </a:p>
        </p:txBody>
      </p:sp>
      <p:sp>
        <p:nvSpPr>
          <p:cNvPr id="390" name="Text 388"/>
          <p:cNvSpPr/>
          <p:nvPr/>
        </p:nvSpPr>
        <p:spPr>
          <a:xfrm>
            <a:off x="7417430" y="6163056"/>
            <a:ext cx="1984797" cy="182880"/>
          </a:xfrm>
          <a:prstGeom prst="rect">
            <a:avLst/>
          </a:prstGeom>
          <a:noFill/>
          <a:ln/>
        </p:spPr>
        <p:txBody>
          <a:bodyPr wrap="square" lIns="0" tIns="0" rIns="0" bIns="0" rtlCol="0" anchor="ctr">
            <a:normAutofit/>
          </a:bodyPr>
          <a:lstStyle/>
          <a:p>
            <a:pPr algn="l" indent="0" marL="0">
              <a:buNone/>
            </a:pPr>
            <a:r>
              <a:rPr lang="en-US" altLang="en-US" sz="750" b="1" dirty="0">
                <a:solidFill>
                  <a:srgbClr val="66707A"/>
                </a:solidFill>
                <a:latin typeface="Calibri" pitchFamily="34" charset="0"/>
                <a:ea typeface="Calibri" pitchFamily="34" charset="-122"/>
                <a:cs typeface="Calibri" pitchFamily="34" charset="-120"/>
              </a:rPr>
              <a:t>Working day 32 / 37</a:t>
            </a:r>
            <a:endParaRPr lang="en-US" sz="750" dirty="0"/>
          </a:p>
        </p:txBody>
      </p:sp>
      <p:sp>
        <p:nvSpPr>
          <p:cNvPr id="391" name="Shape 389"/>
          <p:cNvSpPr/>
          <p:nvPr/>
        </p:nvSpPr>
        <p:spPr>
          <a:xfrm>
            <a:off x="9621683" y="5577840"/>
            <a:ext cx="2204253" cy="822960"/>
          </a:xfrm>
          <a:prstGeom prst="roundRect">
            <a:avLst>
              <a:gd name="adj" fmla="val 7778"/>
            </a:avLst>
          </a:prstGeom>
          <a:solidFill>
            <a:srgbClr val="3D3935"/>
          </a:solidFill>
          <a:ln w="9525">
            <a:solidFill>
              <a:srgbClr val="DFE6EA"/>
            </a:solidFill>
            <a:prstDash val="solid"/>
          </a:ln>
          <a:effectLst>
            <a:outerShdw sx="100000" sy="100000" kx="0" ky="0" algn="bl" rotWithShape="0" blurRad="63500" dist="25400" dir="5400000">
              <a:srgbClr val="000000">
                <a:alpha val="12000"/>
              </a:srgbClr>
            </a:outerShdw>
          </a:effectLst>
        </p:spPr>
      </p:sp>
      <p:sp>
        <p:nvSpPr>
          <p:cNvPr id="392" name="Shape 390"/>
          <p:cNvSpPr/>
          <p:nvPr/>
        </p:nvSpPr>
        <p:spPr>
          <a:xfrm>
            <a:off x="9676547" y="5577840"/>
            <a:ext cx="2094525" cy="54864"/>
          </a:xfrm>
          <a:prstGeom prst="rect">
            <a:avLst/>
          </a:prstGeom>
          <a:solidFill>
            <a:srgbClr val="D68A00"/>
          </a:solidFill>
          <a:ln w="12700">
            <a:solidFill>
              <a:srgbClr val="D68A00"/>
            </a:solidFill>
            <a:prstDash val="solid"/>
          </a:ln>
        </p:spPr>
      </p:sp>
      <p:sp>
        <p:nvSpPr>
          <p:cNvPr id="393" name="Text 391"/>
          <p:cNvSpPr/>
          <p:nvPr/>
        </p:nvSpPr>
        <p:spPr>
          <a:xfrm>
            <a:off x="9731411" y="5669280"/>
            <a:ext cx="1984797" cy="201168"/>
          </a:xfrm>
          <a:prstGeom prst="rect">
            <a:avLst/>
          </a:prstGeom>
          <a:noFill/>
          <a:ln/>
        </p:spPr>
        <p:txBody>
          <a:bodyPr wrap="square" lIns="0" tIns="0" rIns="0" bIns="0" rtlCol="0" anchor="ctr">
            <a:normAutofit/>
          </a:bodyPr>
          <a:lstStyle/>
          <a:p>
            <a:pPr algn="l" indent="0" marL="0">
              <a:buNone/>
            </a:pPr>
            <a:r>
              <a:rPr lang="en-US" altLang="en-US" sz="850" b="1" dirty="0">
                <a:solidFill>
                  <a:srgbClr val="CFD8DC"/>
                </a:solidFill>
                <a:latin typeface="Calibri" pitchFamily="34" charset="0"/>
                <a:ea typeface="Calibri" pitchFamily="34" charset="-122"/>
                <a:cs typeface="Calibri" pitchFamily="34" charset="-120"/>
              </a:rPr>
              <a:t>Overall completion</a:t>
            </a:r>
            <a:endParaRPr lang="en-US" sz="850" dirty="0"/>
          </a:p>
        </p:txBody>
      </p:sp>
      <p:sp>
        <p:nvSpPr>
          <p:cNvPr id="394" name="Text 392"/>
          <p:cNvSpPr/>
          <p:nvPr/>
        </p:nvSpPr>
        <p:spPr>
          <a:xfrm>
            <a:off x="9731411" y="5870448"/>
            <a:ext cx="1984797" cy="292608"/>
          </a:xfrm>
          <a:prstGeom prst="rect">
            <a:avLst/>
          </a:prstGeom>
          <a:noFill/>
          <a:ln/>
        </p:spPr>
        <p:txBody>
          <a:bodyPr wrap="square" lIns="0" tIns="0" rIns="0" bIns="0" rtlCol="0" anchor="ctr">
            <a:normAutofit/>
          </a:bodyPr>
          <a:lstStyle/>
          <a:p>
            <a:pPr algn="l" indent="0" marL="0">
              <a:buNone/>
            </a:pPr>
            <a:r>
              <a:rPr lang="en-US" altLang="en-US" sz="1300" b="1" dirty="0">
                <a:solidFill>
                  <a:srgbClr val="FFFFFF"/>
                </a:solidFill>
                <a:latin typeface="Calibri" pitchFamily="34" charset="0"/>
                <a:ea typeface="Calibri" pitchFamily="34" charset="-122"/>
                <a:cs typeface="Calibri" pitchFamily="34" charset="-120"/>
              </a:rPr>
              <a:t>Tue 24 Nov 2026</a:t>
            </a:r>
            <a:endParaRPr lang="en-US" sz="1300" dirty="0"/>
          </a:p>
        </p:txBody>
      </p:sp>
      <p:sp>
        <p:nvSpPr>
          <p:cNvPr id="395" name="Text 393"/>
          <p:cNvSpPr/>
          <p:nvPr/>
        </p:nvSpPr>
        <p:spPr>
          <a:xfrm>
            <a:off x="9731411" y="6163056"/>
            <a:ext cx="1984797" cy="182880"/>
          </a:xfrm>
          <a:prstGeom prst="rect">
            <a:avLst/>
          </a:prstGeom>
          <a:noFill/>
          <a:ln/>
        </p:spPr>
        <p:txBody>
          <a:bodyPr wrap="square" lIns="0" tIns="0" rIns="0" bIns="0" rtlCol="0" anchor="ctr">
            <a:normAutofit/>
          </a:bodyPr>
          <a:lstStyle/>
          <a:p>
            <a:pPr algn="l" indent="0" marL="0">
              <a:buNone/>
            </a:pPr>
            <a:r>
              <a:rPr lang="en-US" altLang="en-US" sz="750" b="1" dirty="0">
                <a:solidFill>
                  <a:srgbClr val="CFD8DC"/>
                </a:solidFill>
                <a:latin typeface="Calibri" pitchFamily="34" charset="0"/>
                <a:ea typeface="Calibri" pitchFamily="34" charset="-122"/>
                <a:cs typeface="Calibri" pitchFamily="34" charset="-120"/>
              </a:rPr>
              <a:t>Working day 37 / 37</a:t>
            </a:r>
            <a:endParaRPr lang="en-US" sz="750" dirty="0"/>
          </a:p>
        </p:txBody>
      </p:sp>
      <p:sp>
        <p:nvSpPr>
          <p:cNvPr id="25" name="Slide Number Placeholder 0"/>
          <p:cNvSpPr>
            <a:spLocks noGrp="1"/>
          </p:cNvSpPr>
          <p:nvPr>
            <p:ph type="sldNum" sz="quarter" idx="4294967295"/>
          </p:nvPr>
        </p:nvSpPr>
        <p:spPr>
          <a:xfrm>
            <a:off x="11323015" y="6519672"/>
            <a:ext cx="548640" cy="310896"/>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365760" y="109728"/>
            <a:ext cx="10134295" cy="457200"/>
          </a:xfrm>
          <a:prstGeom prst="rect">
            <a:avLst/>
          </a:prstGeom>
          <a:noFill/>
          <a:ln/>
        </p:spPr>
        <p:txBody>
          <a:bodyPr wrap="square" lIns="0" tIns="0" rIns="0" bIns="0" rtlCol="0" anchor="ctr">
            <a:normAutofit/>
          </a:bodyPr>
          <a:lstStyle/>
          <a:p>
            <a:pPr algn="l" indent="0" marL="0">
              <a:buNone/>
            </a:pPr>
            <a:r>
              <a:rPr lang="en-US" altLang="en-US" sz="2400" b="1" dirty="0">
                <a:solidFill>
                  <a:srgbClr val="3D3935"/>
                </a:solidFill>
                <a:latin typeface="Calibri" pitchFamily="34" charset="0"/>
                <a:ea typeface="Calibri" pitchFamily="34" charset="-122"/>
                <a:cs typeface="Calibri" pitchFamily="34" charset="-120"/>
              </a:rPr>
              <a:t>Shoring Activities &amp; Planning Basis</a:t>
            </a:r>
            <a:endParaRPr lang="en-US" sz="2400" dirty="0"/>
          </a:p>
        </p:txBody>
      </p:sp>
      <p:sp>
        <p:nvSpPr>
          <p:cNvPr id="3" name="Text 1"/>
          <p:cNvSpPr/>
          <p:nvPr/>
        </p:nvSpPr>
        <p:spPr>
          <a:xfrm>
            <a:off x="365760" y="548640"/>
            <a:ext cx="10134295" cy="256032"/>
          </a:xfrm>
          <a:prstGeom prst="rect">
            <a:avLst/>
          </a:prstGeom>
          <a:noFill/>
          <a:ln/>
        </p:spPr>
        <p:txBody>
          <a:bodyPr wrap="square" lIns="0" tIns="0" rIns="0" bIns="0" rtlCol="0" anchor="ctr">
            <a:normAutofit/>
          </a:bodyPr>
          <a:lstStyle/>
          <a:p>
            <a:pPr algn="l" indent="0" marL="0">
              <a:buNone/>
            </a:pPr>
            <a:r>
              <a:rPr lang="en-US" altLang="en-US" sz="1200" dirty="0">
                <a:solidFill>
                  <a:srgbClr val="66707A"/>
                </a:solidFill>
                <a:latin typeface="Calibri" pitchFamily="34" charset="0"/>
                <a:ea typeface="Calibri" pitchFamily="34" charset="-122"/>
                <a:cs typeface="Calibri" pitchFamily="34" charset="-120"/>
              </a:rPr>
              <a:t>Sequence of shoring works, key dates and conditions of the proposed programme</a:t>
            </a:r>
            <a:endParaRPr lang="en-US" sz="1200" dirty="0"/>
          </a:p>
        </p:txBody>
      </p:sp>
      <p:sp>
        <p:nvSpPr>
          <p:cNvPr id="4" name="Shape 2"/>
          <p:cNvSpPr/>
          <p:nvPr/>
        </p:nvSpPr>
        <p:spPr>
          <a:xfrm>
            <a:off x="365760" y="1133856"/>
            <a:ext cx="54864" cy="256032"/>
          </a:xfrm>
          <a:prstGeom prst="rect">
            <a:avLst/>
          </a:prstGeom>
          <a:solidFill>
            <a:srgbClr val="00778B"/>
          </a:solidFill>
          <a:ln w="12700">
            <a:solidFill>
              <a:srgbClr val="00778B"/>
            </a:solidFill>
            <a:prstDash val="solid"/>
          </a:ln>
        </p:spPr>
      </p:sp>
      <p:sp>
        <p:nvSpPr>
          <p:cNvPr id="5" name="Text 3"/>
          <p:cNvSpPr/>
          <p:nvPr/>
        </p:nvSpPr>
        <p:spPr>
          <a:xfrm>
            <a:off x="512064" y="1097280"/>
            <a:ext cx="7315200" cy="329184"/>
          </a:xfrm>
          <a:prstGeom prst="rect">
            <a:avLst/>
          </a:prstGeom>
          <a:noFill/>
          <a:ln/>
        </p:spPr>
        <p:txBody>
          <a:bodyPr wrap="square" lIns="0" tIns="0" rIns="0" bIns="0" rtlCol="0" anchor="ctr">
            <a:normAutofit/>
          </a:bodyPr>
          <a:lstStyle/>
          <a:p>
            <a:pPr algn="l" indent="0" marL="0">
              <a:buNone/>
            </a:pPr>
            <a:r>
              <a:rPr lang="en-US" altLang="en-US" sz="1500" b="1" dirty="0">
                <a:solidFill>
                  <a:srgbClr val="3D3935"/>
                </a:solidFill>
                <a:latin typeface="Calibri" pitchFamily="34" charset="0"/>
                <a:ea typeface="Calibri" pitchFamily="34" charset="-122"/>
                <a:cs typeface="Calibri" pitchFamily="34" charset="-120"/>
              </a:rPr>
              <a:t>Shoring works sequence (Activity A)</a:t>
            </a:r>
            <a:endParaRPr lang="en-US" sz="1500" dirty="0"/>
          </a:p>
        </p:txBody>
      </p:sp>
      <p:sp>
        <p:nvSpPr>
          <p:cNvPr id="6" name="Text 4"/>
          <p:cNvSpPr/>
          <p:nvPr/>
        </p:nvSpPr>
        <p:spPr>
          <a:xfrm>
            <a:off x="512064" y="1417320"/>
            <a:ext cx="8229600" cy="256032"/>
          </a:xfrm>
          <a:prstGeom prst="rect">
            <a:avLst/>
          </a:prstGeom>
          <a:noFill/>
          <a:ln/>
        </p:spPr>
        <p:txBody>
          <a:bodyPr wrap="square" lIns="0" tIns="0" rIns="0" bIns="0" rtlCol="0" anchor="ctr">
            <a:normAutofit/>
          </a:bodyPr>
          <a:lstStyle/>
          <a:p>
            <a:pPr algn="l" indent="0" marL="0">
              <a:buNone/>
            </a:pPr>
            <a:r>
              <a:rPr lang="en-US" altLang="en-US" sz="1100" b="1" dirty="0">
                <a:solidFill>
                  <a:srgbClr val="C8503F"/>
                </a:solidFill>
                <a:latin typeface="Calibri" pitchFamily="34" charset="0"/>
                <a:ea typeface="Calibri" pitchFamily="34" charset="-122"/>
                <a:cs typeface="Calibri" pitchFamily="34" charset="-120"/>
              </a:rPr>
              <a:t>13 October 2026 → 19 October 2026 · 6 working days</a:t>
            </a:r>
            <a:endParaRPr lang="en-US" sz="1100" dirty="0"/>
          </a:p>
        </p:txBody>
      </p:sp>
      <p:sp>
        <p:nvSpPr>
          <p:cNvPr id="7" name="Shape 5"/>
          <p:cNvSpPr/>
          <p:nvPr/>
        </p:nvSpPr>
        <p:spPr>
          <a:xfrm>
            <a:off x="365760" y="1783080"/>
            <a:ext cx="2365187" cy="1051560"/>
          </a:xfrm>
          <a:prstGeom prst="chevron">
            <a:avLst/>
          </a:prstGeom>
          <a:solidFill>
            <a:srgbClr val="F4DAD6"/>
          </a:solidFill>
          <a:ln w="12700">
            <a:solidFill>
              <a:srgbClr val="F4DAD6"/>
            </a:solidFill>
            <a:prstDash val="solid"/>
          </a:ln>
        </p:spPr>
      </p:sp>
      <p:sp>
        <p:nvSpPr>
          <p:cNvPr id="8" name="Shape 6"/>
          <p:cNvSpPr/>
          <p:nvPr/>
        </p:nvSpPr>
        <p:spPr>
          <a:xfrm>
            <a:off x="731520" y="1874520"/>
            <a:ext cx="274320" cy="274320"/>
          </a:xfrm>
          <a:prstGeom prst="ellipse">
            <a:avLst/>
          </a:prstGeom>
          <a:solidFill>
            <a:srgbClr val="C8503F"/>
          </a:solidFill>
          <a:ln w="12700">
            <a:solidFill>
              <a:srgbClr val="C8503F"/>
            </a:solidFill>
            <a:prstDash val="solid"/>
          </a:ln>
        </p:spPr>
      </p:sp>
      <p:sp>
        <p:nvSpPr>
          <p:cNvPr id="9" name="Text 7"/>
          <p:cNvSpPr/>
          <p:nvPr/>
        </p:nvSpPr>
        <p:spPr>
          <a:xfrm>
            <a:off x="731520" y="1874520"/>
            <a:ext cx="274320" cy="274320"/>
          </a:xfrm>
          <a:prstGeom prst="rect">
            <a:avLst/>
          </a:prstGeom>
          <a:noFill/>
          <a:ln/>
        </p:spPr>
        <p:txBody>
          <a:bodyPr wrap="square" lIns="0" tIns="0" rIns="0" bIns="0" rtlCol="0" anchor="ctr">
            <a:normAutofit/>
          </a:bodyPr>
          <a:lstStyle/>
          <a:p>
            <a:pPr algn="ctr" indent="0" marL="0">
              <a:buNone/>
            </a:pPr>
            <a:r>
              <a:rPr lang="en-US" alt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 name="Text 8"/>
          <p:cNvSpPr/>
          <p:nvPr/>
        </p:nvSpPr>
        <p:spPr>
          <a:xfrm>
            <a:off x="749808" y="2157984"/>
            <a:ext cx="1606235" cy="411480"/>
          </a:xfrm>
          <a:prstGeom prst="rect">
            <a:avLst/>
          </a:prstGeom>
          <a:noFill/>
          <a:ln/>
        </p:spPr>
        <p:txBody>
          <a:bodyPr wrap="square" lIns="0" tIns="0" rIns="0" bIns="0" rtlCol="0" anchor="t">
            <a:normAutofit/>
          </a:bodyPr>
          <a:lstStyle/>
          <a:p>
            <a:pPr algn="l" indent="0" marL="0">
              <a:buNone/>
            </a:pPr>
            <a:r>
              <a:rPr lang="en-US" altLang="en-US" sz="1100" b="1" dirty="0">
                <a:solidFill>
                  <a:srgbClr val="3D3935"/>
                </a:solidFill>
                <a:latin typeface="Calibri" pitchFamily="34" charset="0"/>
                <a:ea typeface="Calibri" pitchFamily="34" charset="-122"/>
                <a:cs typeface="Calibri" pitchFamily="34" charset="-120"/>
              </a:rPr>
              <a:t>Excavation / digging for H-Beam</a:t>
            </a:r>
            <a:endParaRPr lang="en-US" sz="1100" dirty="0"/>
          </a:p>
        </p:txBody>
      </p:sp>
      <p:sp>
        <p:nvSpPr>
          <p:cNvPr id="11" name="Text 9"/>
          <p:cNvSpPr/>
          <p:nvPr/>
        </p:nvSpPr>
        <p:spPr>
          <a:xfrm>
            <a:off x="749808" y="2542032"/>
            <a:ext cx="1606235" cy="228600"/>
          </a:xfrm>
          <a:prstGeom prst="rect">
            <a:avLst/>
          </a:prstGeom>
          <a:noFill/>
          <a:ln/>
        </p:spPr>
        <p:txBody>
          <a:bodyPr wrap="square" lIns="0" tIns="0" rIns="0" bIns="0" rtlCol="0" anchor="t">
            <a:normAutofit/>
          </a:bodyPr>
          <a:lstStyle/>
          <a:p>
            <a:pPr algn="l" indent="0" marL="0">
              <a:buNone/>
            </a:pPr>
            <a:r>
              <a:rPr lang="en-US" altLang="en-US" sz="750" b="1" dirty="0">
                <a:solidFill>
                  <a:srgbClr val="7A3A30"/>
                </a:solidFill>
                <a:latin typeface="Calibri" pitchFamily="34" charset="0"/>
                <a:ea typeface="Calibri" pitchFamily="34" charset="-122"/>
                <a:cs typeface="Calibri" pitchFamily="34" charset="-120"/>
              </a:rPr>
              <a:t>13 Oct → 14 Oct · 2 d</a:t>
            </a:r>
            <a:endParaRPr lang="en-US" sz="750" dirty="0"/>
          </a:p>
        </p:txBody>
      </p:sp>
      <p:sp>
        <p:nvSpPr>
          <p:cNvPr id="12" name="Shape 10"/>
          <p:cNvSpPr/>
          <p:nvPr/>
        </p:nvSpPr>
        <p:spPr>
          <a:xfrm>
            <a:off x="2657795" y="1783080"/>
            <a:ext cx="2365187" cy="1051560"/>
          </a:xfrm>
          <a:prstGeom prst="chevron">
            <a:avLst/>
          </a:prstGeom>
          <a:solidFill>
            <a:srgbClr val="F4DAD6"/>
          </a:solidFill>
          <a:ln w="12700">
            <a:solidFill>
              <a:srgbClr val="F4DAD6"/>
            </a:solidFill>
            <a:prstDash val="solid"/>
          </a:ln>
        </p:spPr>
      </p:sp>
      <p:sp>
        <p:nvSpPr>
          <p:cNvPr id="13" name="Shape 11"/>
          <p:cNvSpPr/>
          <p:nvPr/>
        </p:nvSpPr>
        <p:spPr>
          <a:xfrm>
            <a:off x="3023555" y="1874520"/>
            <a:ext cx="274320" cy="274320"/>
          </a:xfrm>
          <a:prstGeom prst="ellipse">
            <a:avLst/>
          </a:prstGeom>
          <a:solidFill>
            <a:srgbClr val="C8503F"/>
          </a:solidFill>
          <a:ln w="12700">
            <a:solidFill>
              <a:srgbClr val="C8503F"/>
            </a:solidFill>
            <a:prstDash val="solid"/>
          </a:ln>
        </p:spPr>
      </p:sp>
      <p:sp>
        <p:nvSpPr>
          <p:cNvPr id="14" name="Text 12"/>
          <p:cNvSpPr/>
          <p:nvPr/>
        </p:nvSpPr>
        <p:spPr>
          <a:xfrm>
            <a:off x="3023555" y="1874520"/>
            <a:ext cx="274320" cy="274320"/>
          </a:xfrm>
          <a:prstGeom prst="rect">
            <a:avLst/>
          </a:prstGeom>
          <a:noFill/>
          <a:ln/>
        </p:spPr>
        <p:txBody>
          <a:bodyPr wrap="square" lIns="0" tIns="0" rIns="0" bIns="0" rtlCol="0" anchor="ctr">
            <a:normAutofit/>
          </a:bodyPr>
          <a:lstStyle/>
          <a:p>
            <a:pPr algn="ctr" indent="0" marL="0">
              <a:buNone/>
            </a:pPr>
            <a:r>
              <a:rPr lang="en-US" alt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5" name="Text 13"/>
          <p:cNvSpPr/>
          <p:nvPr/>
        </p:nvSpPr>
        <p:spPr>
          <a:xfrm>
            <a:off x="3041843" y="2157984"/>
            <a:ext cx="1606235" cy="411480"/>
          </a:xfrm>
          <a:prstGeom prst="rect">
            <a:avLst/>
          </a:prstGeom>
          <a:noFill/>
          <a:ln/>
        </p:spPr>
        <p:txBody>
          <a:bodyPr wrap="square" lIns="0" tIns="0" rIns="0" bIns="0" rtlCol="0" anchor="t">
            <a:normAutofit/>
          </a:bodyPr>
          <a:lstStyle/>
          <a:p>
            <a:pPr algn="l" indent="0" marL="0">
              <a:buNone/>
            </a:pPr>
            <a:r>
              <a:rPr lang="en-US" altLang="en-US" sz="1100" b="1" dirty="0">
                <a:solidFill>
                  <a:srgbClr val="3D3935"/>
                </a:solidFill>
                <a:latin typeface="Calibri" pitchFamily="34" charset="0"/>
                <a:ea typeface="Calibri" pitchFamily="34" charset="-122"/>
                <a:cs typeface="Calibri" pitchFamily="34" charset="-120"/>
              </a:rPr>
              <a:t>Installation of H-Beam</a:t>
            </a:r>
            <a:endParaRPr lang="en-US" sz="1100" dirty="0"/>
          </a:p>
        </p:txBody>
      </p:sp>
      <p:sp>
        <p:nvSpPr>
          <p:cNvPr id="16" name="Text 14"/>
          <p:cNvSpPr/>
          <p:nvPr/>
        </p:nvSpPr>
        <p:spPr>
          <a:xfrm>
            <a:off x="3041843" y="2542032"/>
            <a:ext cx="1606235" cy="228600"/>
          </a:xfrm>
          <a:prstGeom prst="rect">
            <a:avLst/>
          </a:prstGeom>
          <a:noFill/>
          <a:ln/>
        </p:spPr>
        <p:txBody>
          <a:bodyPr wrap="square" lIns="0" tIns="0" rIns="0" bIns="0" rtlCol="0" anchor="t">
            <a:normAutofit/>
          </a:bodyPr>
          <a:lstStyle/>
          <a:p>
            <a:pPr algn="l" indent="0" marL="0">
              <a:buNone/>
            </a:pPr>
            <a:r>
              <a:rPr lang="en-US" altLang="en-US" sz="750" b="1" dirty="0">
                <a:solidFill>
                  <a:srgbClr val="7A3A30"/>
                </a:solidFill>
                <a:latin typeface="Calibri" pitchFamily="34" charset="0"/>
                <a:ea typeface="Calibri" pitchFamily="34" charset="-122"/>
                <a:cs typeface="Calibri" pitchFamily="34" charset="-120"/>
              </a:rPr>
              <a:t>14 Oct → 17 Oct · 3 d · A1 SS +1</a:t>
            </a:r>
            <a:endParaRPr lang="en-US" sz="750" dirty="0"/>
          </a:p>
        </p:txBody>
      </p:sp>
      <p:sp>
        <p:nvSpPr>
          <p:cNvPr id="17" name="Shape 15"/>
          <p:cNvSpPr/>
          <p:nvPr/>
        </p:nvSpPr>
        <p:spPr>
          <a:xfrm>
            <a:off x="4949830" y="1783080"/>
            <a:ext cx="2365187" cy="1051560"/>
          </a:xfrm>
          <a:prstGeom prst="chevron">
            <a:avLst/>
          </a:prstGeom>
          <a:solidFill>
            <a:srgbClr val="F4DAD6"/>
          </a:solidFill>
          <a:ln w="12700">
            <a:solidFill>
              <a:srgbClr val="F4DAD6"/>
            </a:solidFill>
            <a:prstDash val="solid"/>
          </a:ln>
        </p:spPr>
      </p:sp>
      <p:sp>
        <p:nvSpPr>
          <p:cNvPr id="18" name="Shape 16"/>
          <p:cNvSpPr/>
          <p:nvPr/>
        </p:nvSpPr>
        <p:spPr>
          <a:xfrm>
            <a:off x="5315590" y="1874520"/>
            <a:ext cx="274320" cy="274320"/>
          </a:xfrm>
          <a:prstGeom prst="ellipse">
            <a:avLst/>
          </a:prstGeom>
          <a:solidFill>
            <a:srgbClr val="C8503F"/>
          </a:solidFill>
          <a:ln w="12700">
            <a:solidFill>
              <a:srgbClr val="C8503F"/>
            </a:solidFill>
            <a:prstDash val="solid"/>
          </a:ln>
        </p:spPr>
      </p:sp>
      <p:sp>
        <p:nvSpPr>
          <p:cNvPr id="19" name="Text 17"/>
          <p:cNvSpPr/>
          <p:nvPr/>
        </p:nvSpPr>
        <p:spPr>
          <a:xfrm>
            <a:off x="5315590" y="1874520"/>
            <a:ext cx="274320" cy="274320"/>
          </a:xfrm>
          <a:prstGeom prst="rect">
            <a:avLst/>
          </a:prstGeom>
          <a:noFill/>
          <a:ln/>
        </p:spPr>
        <p:txBody>
          <a:bodyPr wrap="square" lIns="0" tIns="0" rIns="0" bIns="0" rtlCol="0" anchor="ctr">
            <a:normAutofit/>
          </a:bodyPr>
          <a:lstStyle/>
          <a:p>
            <a:pPr algn="ctr" indent="0" marL="0">
              <a:buNone/>
            </a:pPr>
            <a:r>
              <a:rPr lang="en-US" alt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5333878" y="2157984"/>
            <a:ext cx="1606235" cy="411480"/>
          </a:xfrm>
          <a:prstGeom prst="rect">
            <a:avLst/>
          </a:prstGeom>
          <a:noFill/>
          <a:ln/>
        </p:spPr>
        <p:txBody>
          <a:bodyPr wrap="square" lIns="0" tIns="0" rIns="0" bIns="0" rtlCol="0" anchor="t">
            <a:normAutofit/>
          </a:bodyPr>
          <a:lstStyle/>
          <a:p>
            <a:pPr algn="l" indent="0" marL="0">
              <a:buNone/>
            </a:pPr>
            <a:r>
              <a:rPr lang="en-US" altLang="en-US" sz="1100" b="1" dirty="0">
                <a:solidFill>
                  <a:srgbClr val="3D3935"/>
                </a:solidFill>
                <a:latin typeface="Calibri" pitchFamily="34" charset="0"/>
                <a:ea typeface="Calibri" pitchFamily="34" charset="-122"/>
                <a:cs typeface="Calibri" pitchFamily="34" charset="-120"/>
              </a:rPr>
              <a:t>Concrete work for H-Beam</a:t>
            </a:r>
            <a:endParaRPr lang="en-US" sz="1100" dirty="0"/>
          </a:p>
        </p:txBody>
      </p:sp>
      <p:sp>
        <p:nvSpPr>
          <p:cNvPr id="21" name="Text 19"/>
          <p:cNvSpPr/>
          <p:nvPr/>
        </p:nvSpPr>
        <p:spPr>
          <a:xfrm>
            <a:off x="5333878" y="2542032"/>
            <a:ext cx="1606235" cy="228600"/>
          </a:xfrm>
          <a:prstGeom prst="rect">
            <a:avLst/>
          </a:prstGeom>
          <a:noFill/>
          <a:ln/>
        </p:spPr>
        <p:txBody>
          <a:bodyPr wrap="square" lIns="0" tIns="0" rIns="0" bIns="0" rtlCol="0" anchor="t">
            <a:normAutofit/>
          </a:bodyPr>
          <a:lstStyle/>
          <a:p>
            <a:pPr algn="l" indent="0" marL="0">
              <a:buNone/>
            </a:pPr>
            <a:r>
              <a:rPr lang="en-US" altLang="en-US" sz="750" b="1" dirty="0">
                <a:solidFill>
                  <a:srgbClr val="7A3A30"/>
                </a:solidFill>
                <a:latin typeface="Calibri" pitchFamily="34" charset="0"/>
                <a:ea typeface="Calibri" pitchFamily="34" charset="-122"/>
                <a:cs typeface="Calibri" pitchFamily="34" charset="-120"/>
              </a:rPr>
              <a:t>15 Oct → 18 Oct · 3 d · A2 SS +1</a:t>
            </a:r>
            <a:endParaRPr lang="en-US" sz="750" dirty="0"/>
          </a:p>
        </p:txBody>
      </p:sp>
      <p:sp>
        <p:nvSpPr>
          <p:cNvPr id="22" name="Shape 20"/>
          <p:cNvSpPr/>
          <p:nvPr/>
        </p:nvSpPr>
        <p:spPr>
          <a:xfrm>
            <a:off x="7241865" y="1783080"/>
            <a:ext cx="2365187" cy="1051560"/>
          </a:xfrm>
          <a:prstGeom prst="chevron">
            <a:avLst/>
          </a:prstGeom>
          <a:solidFill>
            <a:srgbClr val="F4DAD6"/>
          </a:solidFill>
          <a:ln w="12700">
            <a:solidFill>
              <a:srgbClr val="F4DAD6"/>
            </a:solidFill>
            <a:prstDash val="solid"/>
          </a:ln>
        </p:spPr>
      </p:sp>
      <p:sp>
        <p:nvSpPr>
          <p:cNvPr id="23" name="Shape 21"/>
          <p:cNvSpPr/>
          <p:nvPr/>
        </p:nvSpPr>
        <p:spPr>
          <a:xfrm>
            <a:off x="7607625" y="1874520"/>
            <a:ext cx="274320" cy="274320"/>
          </a:xfrm>
          <a:prstGeom prst="ellipse">
            <a:avLst/>
          </a:prstGeom>
          <a:solidFill>
            <a:srgbClr val="C8503F"/>
          </a:solidFill>
          <a:ln w="12700">
            <a:solidFill>
              <a:srgbClr val="C8503F"/>
            </a:solidFill>
            <a:prstDash val="solid"/>
          </a:ln>
        </p:spPr>
      </p:sp>
      <p:sp>
        <p:nvSpPr>
          <p:cNvPr id="24" name="Text 22"/>
          <p:cNvSpPr/>
          <p:nvPr/>
        </p:nvSpPr>
        <p:spPr>
          <a:xfrm>
            <a:off x="7607625" y="1874520"/>
            <a:ext cx="274320" cy="274320"/>
          </a:xfrm>
          <a:prstGeom prst="rect">
            <a:avLst/>
          </a:prstGeom>
          <a:noFill/>
          <a:ln/>
        </p:spPr>
        <p:txBody>
          <a:bodyPr wrap="square" lIns="0" tIns="0" rIns="0" bIns="0" rtlCol="0" anchor="ctr">
            <a:normAutofit/>
          </a:bodyPr>
          <a:lstStyle/>
          <a:p>
            <a:pPr algn="ctr" indent="0" marL="0">
              <a:buNone/>
            </a:pPr>
            <a:r>
              <a:rPr lang="en-US" alt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5" name="Text 23"/>
          <p:cNvSpPr/>
          <p:nvPr/>
        </p:nvSpPr>
        <p:spPr>
          <a:xfrm>
            <a:off x="7625913" y="2157984"/>
            <a:ext cx="1606235" cy="411480"/>
          </a:xfrm>
          <a:prstGeom prst="rect">
            <a:avLst/>
          </a:prstGeom>
          <a:noFill/>
          <a:ln/>
        </p:spPr>
        <p:txBody>
          <a:bodyPr wrap="square" lIns="0" tIns="0" rIns="0" bIns="0" rtlCol="0" anchor="t">
            <a:normAutofit/>
          </a:bodyPr>
          <a:lstStyle/>
          <a:p>
            <a:pPr algn="l" indent="0" marL="0">
              <a:buNone/>
            </a:pPr>
            <a:r>
              <a:rPr lang="en-US" altLang="en-US" sz="1100" b="1" dirty="0">
                <a:solidFill>
                  <a:srgbClr val="3D3935"/>
                </a:solidFill>
                <a:latin typeface="Calibri" pitchFamily="34" charset="0"/>
                <a:ea typeface="Calibri" pitchFamily="34" charset="-122"/>
                <a:cs typeface="Calibri" pitchFamily="34" charset="-120"/>
              </a:rPr>
              <a:t>Bracing for shoring</a:t>
            </a:r>
            <a:endParaRPr lang="en-US" sz="1100" dirty="0"/>
          </a:p>
        </p:txBody>
      </p:sp>
      <p:sp>
        <p:nvSpPr>
          <p:cNvPr id="26" name="Text 24"/>
          <p:cNvSpPr/>
          <p:nvPr/>
        </p:nvSpPr>
        <p:spPr>
          <a:xfrm>
            <a:off x="7625913" y="2542032"/>
            <a:ext cx="1606235" cy="228600"/>
          </a:xfrm>
          <a:prstGeom prst="rect">
            <a:avLst/>
          </a:prstGeom>
          <a:noFill/>
          <a:ln/>
        </p:spPr>
        <p:txBody>
          <a:bodyPr wrap="square" lIns="0" tIns="0" rIns="0" bIns="0" rtlCol="0" anchor="t">
            <a:normAutofit/>
          </a:bodyPr>
          <a:lstStyle/>
          <a:p>
            <a:pPr algn="l" indent="0" marL="0">
              <a:buNone/>
            </a:pPr>
            <a:r>
              <a:rPr lang="en-US" altLang="en-US" sz="750" b="1" dirty="0">
                <a:solidFill>
                  <a:srgbClr val="7A3A30"/>
                </a:solidFill>
                <a:latin typeface="Calibri" pitchFamily="34" charset="0"/>
                <a:ea typeface="Calibri" pitchFamily="34" charset="-122"/>
                <a:cs typeface="Calibri" pitchFamily="34" charset="-120"/>
              </a:rPr>
              <a:t>17 Oct → 19 Oct · 3 d · A3 SS +1</a:t>
            </a:r>
            <a:endParaRPr lang="en-US" sz="750" dirty="0"/>
          </a:p>
        </p:txBody>
      </p:sp>
      <p:sp>
        <p:nvSpPr>
          <p:cNvPr id="27" name="Shape 25"/>
          <p:cNvSpPr/>
          <p:nvPr/>
        </p:nvSpPr>
        <p:spPr>
          <a:xfrm>
            <a:off x="9533900" y="1783080"/>
            <a:ext cx="2365187" cy="1051560"/>
          </a:xfrm>
          <a:prstGeom prst="chevron">
            <a:avLst/>
          </a:prstGeom>
          <a:solidFill>
            <a:srgbClr val="F4DAD6"/>
          </a:solidFill>
          <a:ln w="12700">
            <a:solidFill>
              <a:srgbClr val="F4DAD6"/>
            </a:solidFill>
            <a:prstDash val="solid"/>
          </a:ln>
        </p:spPr>
      </p:sp>
      <p:sp>
        <p:nvSpPr>
          <p:cNvPr id="28" name="Shape 26"/>
          <p:cNvSpPr/>
          <p:nvPr/>
        </p:nvSpPr>
        <p:spPr>
          <a:xfrm>
            <a:off x="9899660" y="1874520"/>
            <a:ext cx="274320" cy="274320"/>
          </a:xfrm>
          <a:prstGeom prst="ellipse">
            <a:avLst/>
          </a:prstGeom>
          <a:solidFill>
            <a:srgbClr val="C8503F"/>
          </a:solidFill>
          <a:ln w="12700">
            <a:solidFill>
              <a:srgbClr val="C8503F"/>
            </a:solidFill>
            <a:prstDash val="solid"/>
          </a:ln>
        </p:spPr>
      </p:sp>
      <p:sp>
        <p:nvSpPr>
          <p:cNvPr id="29" name="Text 27"/>
          <p:cNvSpPr/>
          <p:nvPr/>
        </p:nvSpPr>
        <p:spPr>
          <a:xfrm>
            <a:off x="9899660" y="1874520"/>
            <a:ext cx="274320" cy="274320"/>
          </a:xfrm>
          <a:prstGeom prst="rect">
            <a:avLst/>
          </a:prstGeom>
          <a:noFill/>
          <a:ln/>
        </p:spPr>
        <p:txBody>
          <a:bodyPr wrap="square" lIns="0" tIns="0" rIns="0" bIns="0" rtlCol="0" anchor="ctr">
            <a:normAutofit/>
          </a:bodyPr>
          <a:lstStyle/>
          <a:p>
            <a:pPr algn="ctr" indent="0" marL="0">
              <a:buNone/>
            </a:pPr>
            <a:r>
              <a:rPr lang="en-US" alt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0" name="Text 28"/>
          <p:cNvSpPr/>
          <p:nvPr/>
        </p:nvSpPr>
        <p:spPr>
          <a:xfrm>
            <a:off x="9917948" y="2157984"/>
            <a:ext cx="1606235" cy="411480"/>
          </a:xfrm>
          <a:prstGeom prst="rect">
            <a:avLst/>
          </a:prstGeom>
          <a:noFill/>
          <a:ln/>
        </p:spPr>
        <p:txBody>
          <a:bodyPr wrap="square" lIns="0" tIns="0" rIns="0" bIns="0" rtlCol="0" anchor="t">
            <a:normAutofit/>
          </a:bodyPr>
          <a:lstStyle/>
          <a:p>
            <a:pPr algn="l" indent="0" marL="0">
              <a:buNone/>
            </a:pPr>
            <a:r>
              <a:rPr lang="en-US" altLang="en-US" sz="1100" b="1" dirty="0">
                <a:solidFill>
                  <a:srgbClr val="3D3935"/>
                </a:solidFill>
                <a:latin typeface="Calibri" pitchFamily="34" charset="0"/>
                <a:ea typeface="Calibri" pitchFamily="34" charset="-122"/>
                <a:cs typeface="Calibri" pitchFamily="34" charset="-120"/>
              </a:rPr>
              <a:t>Corrugated sheets installation / insertion</a:t>
            </a:r>
            <a:endParaRPr lang="en-US" sz="1100" dirty="0"/>
          </a:p>
        </p:txBody>
      </p:sp>
      <p:sp>
        <p:nvSpPr>
          <p:cNvPr id="31" name="Text 29"/>
          <p:cNvSpPr/>
          <p:nvPr/>
        </p:nvSpPr>
        <p:spPr>
          <a:xfrm>
            <a:off x="9917948" y="2542032"/>
            <a:ext cx="1606235" cy="228600"/>
          </a:xfrm>
          <a:prstGeom prst="rect">
            <a:avLst/>
          </a:prstGeom>
          <a:noFill/>
          <a:ln/>
        </p:spPr>
        <p:txBody>
          <a:bodyPr wrap="square" lIns="0" tIns="0" rIns="0" bIns="0" rtlCol="0" anchor="t">
            <a:normAutofit/>
          </a:bodyPr>
          <a:lstStyle/>
          <a:p>
            <a:pPr algn="l" indent="0" marL="0">
              <a:buNone/>
            </a:pPr>
            <a:r>
              <a:rPr lang="en-US" altLang="en-US" sz="750" b="1" dirty="0">
                <a:solidFill>
                  <a:srgbClr val="7A3A30"/>
                </a:solidFill>
                <a:latin typeface="Calibri" pitchFamily="34" charset="0"/>
                <a:ea typeface="Calibri" pitchFamily="34" charset="-122"/>
                <a:cs typeface="Calibri" pitchFamily="34" charset="-120"/>
              </a:rPr>
              <a:t>18 Oct → 19 Oct · 2 d · A4 SS +1</a:t>
            </a:r>
            <a:endParaRPr lang="en-US" sz="750" dirty="0"/>
          </a:p>
        </p:txBody>
      </p:sp>
      <p:sp>
        <p:nvSpPr>
          <p:cNvPr id="32" name="Text 30"/>
          <p:cNvSpPr/>
          <p:nvPr/>
        </p:nvSpPr>
        <p:spPr>
          <a:xfrm>
            <a:off x="365760" y="2852928"/>
            <a:ext cx="11460175" cy="182880"/>
          </a:xfrm>
          <a:prstGeom prst="rect">
            <a:avLst/>
          </a:prstGeom>
          <a:noFill/>
          <a:ln/>
        </p:spPr>
        <p:txBody>
          <a:bodyPr wrap="square" lIns="0" tIns="0" rIns="0" bIns="0" rtlCol="0" anchor="ctr">
            <a:normAutofit/>
          </a:bodyPr>
          <a:lstStyle/>
          <a:p>
            <a:pPr algn="l" indent="0" marL="0">
              <a:buNone/>
            </a:pPr>
            <a:r>
              <a:rPr lang="en-US" altLang="en-US" sz="750" dirty="0">
                <a:solidFill>
                  <a:srgbClr val="66707A"/>
                </a:solidFill>
                <a:latin typeface="Calibri" pitchFamily="34" charset="0"/>
                <a:ea typeface="Calibri" pitchFamily="34" charset="-122"/>
                <a:cs typeface="Calibri" pitchFamily="34" charset="-120"/>
              </a:rPr>
              <a:t>Durations and links of the five sub-activities are proposed to fit within the 6 working days of Activity A (editable).</a:t>
            </a:r>
            <a:endParaRPr lang="en-US" sz="750" dirty="0"/>
          </a:p>
        </p:txBody>
      </p:sp>
      <p:sp>
        <p:nvSpPr>
          <p:cNvPr id="33" name="Shape 31"/>
          <p:cNvSpPr/>
          <p:nvPr/>
        </p:nvSpPr>
        <p:spPr>
          <a:xfrm>
            <a:off x="365760" y="3099816"/>
            <a:ext cx="54864" cy="256032"/>
          </a:xfrm>
          <a:prstGeom prst="rect">
            <a:avLst/>
          </a:prstGeom>
          <a:solidFill>
            <a:srgbClr val="00778B"/>
          </a:solidFill>
          <a:ln w="12700">
            <a:solidFill>
              <a:srgbClr val="00778B"/>
            </a:solidFill>
            <a:prstDash val="solid"/>
          </a:ln>
        </p:spPr>
      </p:sp>
      <p:sp>
        <p:nvSpPr>
          <p:cNvPr id="34" name="Text 32"/>
          <p:cNvSpPr/>
          <p:nvPr/>
        </p:nvSpPr>
        <p:spPr>
          <a:xfrm>
            <a:off x="512064" y="3063240"/>
            <a:ext cx="3657600" cy="329184"/>
          </a:xfrm>
          <a:prstGeom prst="rect">
            <a:avLst/>
          </a:prstGeom>
          <a:noFill/>
          <a:ln/>
        </p:spPr>
        <p:txBody>
          <a:bodyPr wrap="square" lIns="0" tIns="0" rIns="0" bIns="0" rtlCol="0" anchor="ctr">
            <a:normAutofit/>
          </a:bodyPr>
          <a:lstStyle/>
          <a:p>
            <a:pPr algn="l" indent="0" marL="0">
              <a:buNone/>
            </a:pPr>
            <a:r>
              <a:rPr lang="en-US" altLang="en-US" sz="1500" b="1" dirty="0">
                <a:solidFill>
                  <a:srgbClr val="3D3935"/>
                </a:solidFill>
                <a:latin typeface="Calibri" pitchFamily="34" charset="0"/>
                <a:ea typeface="Calibri" pitchFamily="34" charset="-122"/>
                <a:cs typeface="Calibri" pitchFamily="34" charset="-120"/>
              </a:rPr>
              <a:t>Key dates (automatic)</a:t>
            </a:r>
            <a:endParaRPr lang="en-US" sz="1500" dirty="0"/>
          </a:p>
        </p:txBody>
      </p:sp>
      <p:sp>
        <p:nvSpPr>
          <p:cNvPr id="35" name="Shape 33"/>
          <p:cNvSpPr/>
          <p:nvPr/>
        </p:nvSpPr>
        <p:spPr>
          <a:xfrm>
            <a:off x="365760" y="3493008"/>
            <a:ext cx="4206240" cy="310896"/>
          </a:xfrm>
          <a:prstGeom prst="rect">
            <a:avLst/>
          </a:prstGeom>
          <a:solidFill>
            <a:srgbClr val="FFFFFF"/>
          </a:solidFill>
          <a:ln w="6350">
            <a:solidFill>
              <a:srgbClr val="DFE6EA"/>
            </a:solidFill>
            <a:prstDash val="solid"/>
          </a:ln>
        </p:spPr>
      </p:sp>
      <p:sp>
        <p:nvSpPr>
          <p:cNvPr id="36" name="Text 34"/>
          <p:cNvSpPr/>
          <p:nvPr/>
        </p:nvSpPr>
        <p:spPr>
          <a:xfrm>
            <a:off x="457200" y="3493008"/>
            <a:ext cx="2286000" cy="310896"/>
          </a:xfrm>
          <a:prstGeom prst="rect">
            <a:avLst/>
          </a:prstGeom>
          <a:noFill/>
          <a:ln/>
        </p:spPr>
        <p:txBody>
          <a:bodyPr wrap="square" lIns="0" tIns="0" rIns="0" bIns="0" rtlCol="0" anchor="ctr">
            <a:normAutofit/>
          </a:bodyPr>
          <a:lstStyle/>
          <a:p>
            <a:pPr algn="l" indent="0" marL="0">
              <a:buNone/>
            </a:pPr>
            <a:r>
              <a:rPr lang="en-US" altLang="en-US" sz="950" dirty="0">
                <a:solidFill>
                  <a:srgbClr val="4A555D"/>
                </a:solidFill>
                <a:latin typeface="Calibri" pitchFamily="34" charset="0"/>
                <a:ea typeface="Calibri" pitchFamily="34" charset="-122"/>
                <a:cs typeface="Calibri" pitchFamily="34" charset="-120"/>
              </a:rPr>
              <a:t>Commencement</a:t>
            </a:r>
            <a:endParaRPr lang="en-US" sz="950" dirty="0"/>
          </a:p>
        </p:txBody>
      </p:sp>
      <p:sp>
        <p:nvSpPr>
          <p:cNvPr id="37" name="Text 35"/>
          <p:cNvSpPr/>
          <p:nvPr/>
        </p:nvSpPr>
        <p:spPr>
          <a:xfrm>
            <a:off x="2651760" y="3493008"/>
            <a:ext cx="1828800" cy="310896"/>
          </a:xfrm>
          <a:prstGeom prst="rect">
            <a:avLst/>
          </a:prstGeom>
          <a:noFill/>
          <a:ln/>
        </p:spPr>
        <p:txBody>
          <a:bodyPr wrap="square" lIns="0" tIns="0" rIns="0" bIns="0" rtlCol="0" anchor="ctr">
            <a:normAutofit/>
          </a:bodyPr>
          <a:lstStyle/>
          <a:p>
            <a:pPr algn="r" indent="0" marL="0">
              <a:buNone/>
            </a:pPr>
            <a:r>
              <a:rPr lang="en-US" altLang="en-US" sz="950" b="1" dirty="0">
                <a:solidFill>
                  <a:srgbClr val="3D3935"/>
                </a:solidFill>
                <a:latin typeface="Calibri" pitchFamily="34" charset="0"/>
                <a:ea typeface="Calibri" pitchFamily="34" charset="-122"/>
                <a:cs typeface="Calibri" pitchFamily="34" charset="-120"/>
              </a:rPr>
              <a:t>Tue 13 Oct 2026</a:t>
            </a:r>
            <a:endParaRPr lang="en-US" sz="950" dirty="0"/>
          </a:p>
        </p:txBody>
      </p:sp>
      <p:sp>
        <p:nvSpPr>
          <p:cNvPr id="38" name="Shape 36"/>
          <p:cNvSpPr/>
          <p:nvPr/>
        </p:nvSpPr>
        <p:spPr>
          <a:xfrm>
            <a:off x="365760" y="3803904"/>
            <a:ext cx="4206240" cy="310896"/>
          </a:xfrm>
          <a:prstGeom prst="rect">
            <a:avLst/>
          </a:prstGeom>
          <a:solidFill>
            <a:srgbClr val="F6F9FA"/>
          </a:solidFill>
          <a:ln w="6350">
            <a:solidFill>
              <a:srgbClr val="DFE6EA"/>
            </a:solidFill>
            <a:prstDash val="solid"/>
          </a:ln>
        </p:spPr>
      </p:sp>
      <p:sp>
        <p:nvSpPr>
          <p:cNvPr id="39" name="Text 37"/>
          <p:cNvSpPr/>
          <p:nvPr/>
        </p:nvSpPr>
        <p:spPr>
          <a:xfrm>
            <a:off x="457200" y="3803904"/>
            <a:ext cx="2286000" cy="310896"/>
          </a:xfrm>
          <a:prstGeom prst="rect">
            <a:avLst/>
          </a:prstGeom>
          <a:noFill/>
          <a:ln/>
        </p:spPr>
        <p:txBody>
          <a:bodyPr wrap="square" lIns="0" tIns="0" rIns="0" bIns="0" rtlCol="0" anchor="ctr">
            <a:normAutofit/>
          </a:bodyPr>
          <a:lstStyle/>
          <a:p>
            <a:pPr algn="l" indent="0" marL="0">
              <a:buNone/>
            </a:pPr>
            <a:r>
              <a:rPr lang="en-US" altLang="en-US" sz="950" dirty="0">
                <a:solidFill>
                  <a:srgbClr val="4A555D"/>
                </a:solidFill>
                <a:latin typeface="Calibri" pitchFamily="34" charset="0"/>
                <a:ea typeface="Calibri" pitchFamily="34" charset="-122"/>
                <a:cs typeface="Calibri" pitchFamily="34" charset="-120"/>
              </a:rPr>
              <a:t>Shoring installation complete</a:t>
            </a:r>
            <a:endParaRPr lang="en-US" sz="950" dirty="0"/>
          </a:p>
        </p:txBody>
      </p:sp>
      <p:sp>
        <p:nvSpPr>
          <p:cNvPr id="40" name="Text 38"/>
          <p:cNvSpPr/>
          <p:nvPr/>
        </p:nvSpPr>
        <p:spPr>
          <a:xfrm>
            <a:off x="2651760" y="3803904"/>
            <a:ext cx="1828800" cy="310896"/>
          </a:xfrm>
          <a:prstGeom prst="rect">
            <a:avLst/>
          </a:prstGeom>
          <a:noFill/>
          <a:ln/>
        </p:spPr>
        <p:txBody>
          <a:bodyPr wrap="square" lIns="0" tIns="0" rIns="0" bIns="0" rtlCol="0" anchor="ctr">
            <a:normAutofit/>
          </a:bodyPr>
          <a:lstStyle/>
          <a:p>
            <a:pPr algn="r" indent="0" marL="0">
              <a:buNone/>
            </a:pPr>
            <a:r>
              <a:rPr lang="en-US" altLang="en-US" sz="950" b="1" dirty="0">
                <a:solidFill>
                  <a:srgbClr val="3D3935"/>
                </a:solidFill>
                <a:latin typeface="Calibri" pitchFamily="34" charset="0"/>
                <a:ea typeface="Calibri" pitchFamily="34" charset="-122"/>
                <a:cs typeface="Calibri" pitchFamily="34" charset="-120"/>
              </a:rPr>
              <a:t>Mon 19 Oct 2026</a:t>
            </a:r>
            <a:endParaRPr lang="en-US" sz="950" dirty="0"/>
          </a:p>
        </p:txBody>
      </p:sp>
      <p:sp>
        <p:nvSpPr>
          <p:cNvPr id="41" name="Shape 39"/>
          <p:cNvSpPr/>
          <p:nvPr/>
        </p:nvSpPr>
        <p:spPr>
          <a:xfrm>
            <a:off x="365760" y="4114800"/>
            <a:ext cx="4206240" cy="310896"/>
          </a:xfrm>
          <a:prstGeom prst="rect">
            <a:avLst/>
          </a:prstGeom>
          <a:solidFill>
            <a:srgbClr val="FFFFFF"/>
          </a:solidFill>
          <a:ln w="6350">
            <a:solidFill>
              <a:srgbClr val="DFE6EA"/>
            </a:solidFill>
            <a:prstDash val="solid"/>
          </a:ln>
        </p:spPr>
      </p:sp>
      <p:sp>
        <p:nvSpPr>
          <p:cNvPr id="42" name="Text 40"/>
          <p:cNvSpPr/>
          <p:nvPr/>
        </p:nvSpPr>
        <p:spPr>
          <a:xfrm>
            <a:off x="457200" y="4114800"/>
            <a:ext cx="2286000" cy="310896"/>
          </a:xfrm>
          <a:prstGeom prst="rect">
            <a:avLst/>
          </a:prstGeom>
          <a:noFill/>
          <a:ln/>
        </p:spPr>
        <p:txBody>
          <a:bodyPr wrap="square" lIns="0" tIns="0" rIns="0" bIns="0" rtlCol="0" anchor="ctr">
            <a:normAutofit/>
          </a:bodyPr>
          <a:lstStyle/>
          <a:p>
            <a:pPr algn="l" indent="0" marL="0">
              <a:buNone/>
            </a:pPr>
            <a:r>
              <a:rPr lang="en-US" altLang="en-US" sz="950" dirty="0">
                <a:solidFill>
                  <a:srgbClr val="4A555D"/>
                </a:solidFill>
                <a:latin typeface="Calibri" pitchFamily="34" charset="0"/>
                <a:ea typeface="Calibri" pitchFamily="34" charset="-122"/>
                <a:cs typeface="Calibri" pitchFamily="34" charset="-120"/>
              </a:rPr>
              <a:t>Pit works complete (pit wall)</a:t>
            </a:r>
            <a:endParaRPr lang="en-US" sz="950" dirty="0"/>
          </a:p>
        </p:txBody>
      </p:sp>
      <p:sp>
        <p:nvSpPr>
          <p:cNvPr id="43" name="Text 41"/>
          <p:cNvSpPr/>
          <p:nvPr/>
        </p:nvSpPr>
        <p:spPr>
          <a:xfrm>
            <a:off x="2651760" y="4114800"/>
            <a:ext cx="1828800" cy="310896"/>
          </a:xfrm>
          <a:prstGeom prst="rect">
            <a:avLst/>
          </a:prstGeom>
          <a:noFill/>
          <a:ln/>
        </p:spPr>
        <p:txBody>
          <a:bodyPr wrap="square" lIns="0" tIns="0" rIns="0" bIns="0" rtlCol="0" anchor="ctr">
            <a:normAutofit/>
          </a:bodyPr>
          <a:lstStyle/>
          <a:p>
            <a:pPr algn="r" indent="0" marL="0">
              <a:buNone/>
            </a:pPr>
            <a:r>
              <a:rPr lang="en-US" altLang="en-US" sz="950" b="1" dirty="0">
                <a:solidFill>
                  <a:srgbClr val="3D3935"/>
                </a:solidFill>
                <a:latin typeface="Calibri" pitchFamily="34" charset="0"/>
                <a:ea typeface="Calibri" pitchFamily="34" charset="-122"/>
                <a:cs typeface="Calibri" pitchFamily="34" charset="-120"/>
              </a:rPr>
              <a:t>Wed 11 Nov 2026</a:t>
            </a:r>
            <a:endParaRPr lang="en-US" sz="950" dirty="0"/>
          </a:p>
        </p:txBody>
      </p:sp>
      <p:sp>
        <p:nvSpPr>
          <p:cNvPr id="44" name="Shape 42"/>
          <p:cNvSpPr/>
          <p:nvPr/>
        </p:nvSpPr>
        <p:spPr>
          <a:xfrm>
            <a:off x="365760" y="4425696"/>
            <a:ext cx="4206240" cy="310896"/>
          </a:xfrm>
          <a:prstGeom prst="rect">
            <a:avLst/>
          </a:prstGeom>
          <a:solidFill>
            <a:srgbClr val="F6F9FA"/>
          </a:solidFill>
          <a:ln w="6350">
            <a:solidFill>
              <a:srgbClr val="DFE6EA"/>
            </a:solidFill>
            <a:prstDash val="solid"/>
          </a:ln>
        </p:spPr>
      </p:sp>
      <p:sp>
        <p:nvSpPr>
          <p:cNvPr id="45" name="Text 43"/>
          <p:cNvSpPr/>
          <p:nvPr/>
        </p:nvSpPr>
        <p:spPr>
          <a:xfrm>
            <a:off x="457200" y="4425696"/>
            <a:ext cx="2286000" cy="310896"/>
          </a:xfrm>
          <a:prstGeom prst="rect">
            <a:avLst/>
          </a:prstGeom>
          <a:noFill/>
          <a:ln/>
        </p:spPr>
        <p:txBody>
          <a:bodyPr wrap="square" lIns="0" tIns="0" rIns="0" bIns="0" rtlCol="0" anchor="ctr">
            <a:normAutofit/>
          </a:bodyPr>
          <a:lstStyle/>
          <a:p>
            <a:pPr algn="l" indent="0" marL="0">
              <a:buNone/>
            </a:pPr>
            <a:r>
              <a:rPr lang="en-US" altLang="en-US" sz="950" dirty="0">
                <a:solidFill>
                  <a:srgbClr val="4A555D"/>
                </a:solidFill>
                <a:latin typeface="Calibri" pitchFamily="34" charset="0"/>
                <a:ea typeface="Calibri" pitchFamily="34" charset="-122"/>
                <a:cs typeface="Calibri" pitchFamily="34" charset="-120"/>
              </a:rPr>
              <a:t>Building foundation complete</a:t>
            </a:r>
            <a:endParaRPr lang="en-US" sz="950" dirty="0"/>
          </a:p>
        </p:txBody>
      </p:sp>
      <p:sp>
        <p:nvSpPr>
          <p:cNvPr id="46" name="Text 44"/>
          <p:cNvSpPr/>
          <p:nvPr/>
        </p:nvSpPr>
        <p:spPr>
          <a:xfrm>
            <a:off x="2651760" y="4425696"/>
            <a:ext cx="1828800" cy="310896"/>
          </a:xfrm>
          <a:prstGeom prst="rect">
            <a:avLst/>
          </a:prstGeom>
          <a:noFill/>
          <a:ln/>
        </p:spPr>
        <p:txBody>
          <a:bodyPr wrap="square" lIns="0" tIns="0" rIns="0" bIns="0" rtlCol="0" anchor="ctr">
            <a:normAutofit/>
          </a:bodyPr>
          <a:lstStyle/>
          <a:p>
            <a:pPr algn="r" indent="0" marL="0">
              <a:buNone/>
            </a:pPr>
            <a:r>
              <a:rPr lang="en-US" altLang="en-US" sz="950" b="1" dirty="0">
                <a:solidFill>
                  <a:srgbClr val="3D3935"/>
                </a:solidFill>
                <a:latin typeface="Calibri" pitchFamily="34" charset="0"/>
                <a:ea typeface="Calibri" pitchFamily="34" charset="-122"/>
                <a:cs typeface="Calibri" pitchFamily="34" charset="-120"/>
              </a:rPr>
              <a:t>Wed 18 Nov 2026</a:t>
            </a:r>
            <a:endParaRPr lang="en-US" sz="950" dirty="0"/>
          </a:p>
        </p:txBody>
      </p:sp>
      <p:sp>
        <p:nvSpPr>
          <p:cNvPr id="47" name="Shape 45"/>
          <p:cNvSpPr/>
          <p:nvPr/>
        </p:nvSpPr>
        <p:spPr>
          <a:xfrm>
            <a:off x="365760" y="4736592"/>
            <a:ext cx="4206240" cy="310896"/>
          </a:xfrm>
          <a:prstGeom prst="rect">
            <a:avLst/>
          </a:prstGeom>
          <a:solidFill>
            <a:srgbClr val="FFFFFF"/>
          </a:solidFill>
          <a:ln w="6350">
            <a:solidFill>
              <a:srgbClr val="DFE6EA"/>
            </a:solidFill>
            <a:prstDash val="solid"/>
          </a:ln>
        </p:spPr>
      </p:sp>
      <p:sp>
        <p:nvSpPr>
          <p:cNvPr id="48" name="Text 46"/>
          <p:cNvSpPr/>
          <p:nvPr/>
        </p:nvSpPr>
        <p:spPr>
          <a:xfrm>
            <a:off x="457200" y="4736592"/>
            <a:ext cx="2286000" cy="310896"/>
          </a:xfrm>
          <a:prstGeom prst="rect">
            <a:avLst/>
          </a:prstGeom>
          <a:noFill/>
          <a:ln/>
        </p:spPr>
        <p:txBody>
          <a:bodyPr wrap="square" lIns="0" tIns="0" rIns="0" bIns="0" rtlCol="0" anchor="ctr">
            <a:normAutofit/>
          </a:bodyPr>
          <a:lstStyle/>
          <a:p>
            <a:pPr algn="l" indent="0" marL="0">
              <a:buNone/>
            </a:pPr>
            <a:r>
              <a:rPr lang="en-US" altLang="en-US" sz="950" dirty="0">
                <a:solidFill>
                  <a:srgbClr val="4A555D"/>
                </a:solidFill>
                <a:latin typeface="Calibri" pitchFamily="34" charset="0"/>
                <a:ea typeface="Calibri" pitchFamily="34" charset="-122"/>
                <a:cs typeface="Calibri" pitchFamily="34" charset="-120"/>
              </a:rPr>
              <a:t>Overall completion</a:t>
            </a:r>
            <a:endParaRPr lang="en-US" sz="950" dirty="0"/>
          </a:p>
        </p:txBody>
      </p:sp>
      <p:sp>
        <p:nvSpPr>
          <p:cNvPr id="49" name="Text 47"/>
          <p:cNvSpPr/>
          <p:nvPr/>
        </p:nvSpPr>
        <p:spPr>
          <a:xfrm>
            <a:off x="2651760" y="4736592"/>
            <a:ext cx="1828800" cy="310896"/>
          </a:xfrm>
          <a:prstGeom prst="rect">
            <a:avLst/>
          </a:prstGeom>
          <a:noFill/>
          <a:ln/>
        </p:spPr>
        <p:txBody>
          <a:bodyPr wrap="square" lIns="0" tIns="0" rIns="0" bIns="0" rtlCol="0" anchor="ctr">
            <a:normAutofit/>
          </a:bodyPr>
          <a:lstStyle/>
          <a:p>
            <a:pPr algn="r" indent="0" marL="0">
              <a:buNone/>
            </a:pPr>
            <a:r>
              <a:rPr lang="en-US" altLang="en-US" sz="950" b="1" dirty="0">
                <a:solidFill>
                  <a:srgbClr val="3D3935"/>
                </a:solidFill>
                <a:latin typeface="Calibri" pitchFamily="34" charset="0"/>
                <a:ea typeface="Calibri" pitchFamily="34" charset="-122"/>
                <a:cs typeface="Calibri" pitchFamily="34" charset="-120"/>
              </a:rPr>
              <a:t>Tue 24 Nov 2026</a:t>
            </a:r>
            <a:endParaRPr lang="en-US" sz="950" dirty="0"/>
          </a:p>
        </p:txBody>
      </p:sp>
      <p:sp>
        <p:nvSpPr>
          <p:cNvPr id="50" name="Shape 48"/>
          <p:cNvSpPr/>
          <p:nvPr/>
        </p:nvSpPr>
        <p:spPr>
          <a:xfrm>
            <a:off x="365760" y="5166360"/>
            <a:ext cx="4206240" cy="960120"/>
          </a:xfrm>
          <a:prstGeom prst="roundRect">
            <a:avLst>
              <a:gd name="adj" fmla="val 7619"/>
            </a:avLst>
          </a:prstGeom>
          <a:solidFill>
            <a:srgbClr val="FFF6E5"/>
          </a:solidFill>
          <a:ln w="12700">
            <a:solidFill>
              <a:srgbClr val="F0C36D"/>
            </a:solidFill>
            <a:prstDash val="solid"/>
          </a:ln>
        </p:spPr>
      </p:sp>
      <p:sp>
        <p:nvSpPr>
          <p:cNvPr id="51" name="Text 49"/>
          <p:cNvSpPr/>
          <p:nvPr/>
        </p:nvSpPr>
        <p:spPr>
          <a:xfrm>
            <a:off x="502920" y="5212080"/>
            <a:ext cx="3931920" cy="228600"/>
          </a:xfrm>
          <a:prstGeom prst="rect">
            <a:avLst/>
          </a:prstGeom>
          <a:noFill/>
          <a:ln/>
        </p:spPr>
        <p:txBody>
          <a:bodyPr wrap="square" lIns="0" tIns="0" rIns="0" bIns="0" rtlCol="0" anchor="ctr">
            <a:normAutofit/>
          </a:bodyPr>
          <a:lstStyle/>
          <a:p>
            <a:pPr algn="l" indent="0" marL="0">
              <a:buNone/>
            </a:pPr>
            <a:r>
              <a:rPr lang="en-US" altLang="en-US" sz="950" b="1" dirty="0">
                <a:solidFill>
                  <a:srgbClr val="9A6A00"/>
                </a:solidFill>
                <a:latin typeface="Calibri" pitchFamily="34" charset="0"/>
                <a:ea typeface="Calibri" pitchFamily="34" charset="-122"/>
                <a:cs typeface="Calibri" pitchFamily="34" charset="-120"/>
              </a:rPr>
              <a:t>What-if scenario</a:t>
            </a:r>
            <a:endParaRPr lang="en-US" sz="950" dirty="0"/>
          </a:p>
        </p:txBody>
      </p:sp>
      <p:sp>
        <p:nvSpPr>
          <p:cNvPr id="52" name="Text 50"/>
          <p:cNvSpPr/>
          <p:nvPr/>
        </p:nvSpPr>
        <p:spPr>
          <a:xfrm>
            <a:off x="502920" y="5440680"/>
            <a:ext cx="3931920" cy="658368"/>
          </a:xfrm>
          <a:prstGeom prst="rect">
            <a:avLst/>
          </a:prstGeom>
          <a:noFill/>
          <a:ln/>
        </p:spPr>
        <p:txBody>
          <a:bodyPr wrap="square" lIns="0" tIns="0" rIns="0" bIns="0" rtlCol="0" anchor="t">
            <a:normAutofit/>
          </a:bodyPr>
          <a:lstStyle/>
          <a:p>
            <a:pPr algn="l" indent="0" marL="0">
              <a:buNone/>
            </a:pPr>
            <a:r>
              <a:rPr lang="en-US" altLang="en-US" sz="950" dirty="0">
                <a:solidFill>
                  <a:srgbClr val="3D3935"/>
                </a:solidFill>
                <a:latin typeface="Calibri" pitchFamily="34" charset="0"/>
                <a:ea typeface="Calibri" pitchFamily="34" charset="-122"/>
                <a:cs typeface="Calibri" pitchFamily="34" charset="-120"/>
              </a:rPr>
              <a:t>If works start on 21 October 2026 (permit-ready date) → overall completion would be 2 December 2026 (+8 calendar days later than proposed).</a:t>
            </a:r>
            <a:endParaRPr lang="en-US" sz="950" dirty="0"/>
          </a:p>
        </p:txBody>
      </p:sp>
      <p:sp>
        <p:nvSpPr>
          <p:cNvPr id="53" name="Shape 51"/>
          <p:cNvSpPr/>
          <p:nvPr/>
        </p:nvSpPr>
        <p:spPr>
          <a:xfrm>
            <a:off x="4937760" y="3099816"/>
            <a:ext cx="54864" cy="256032"/>
          </a:xfrm>
          <a:prstGeom prst="rect">
            <a:avLst/>
          </a:prstGeom>
          <a:solidFill>
            <a:srgbClr val="00778B"/>
          </a:solidFill>
          <a:ln w="12700">
            <a:solidFill>
              <a:srgbClr val="00778B"/>
            </a:solidFill>
            <a:prstDash val="solid"/>
          </a:ln>
        </p:spPr>
      </p:sp>
      <p:sp>
        <p:nvSpPr>
          <p:cNvPr id="54" name="Text 52"/>
          <p:cNvSpPr/>
          <p:nvPr/>
        </p:nvSpPr>
        <p:spPr>
          <a:xfrm>
            <a:off x="5084064" y="3063240"/>
            <a:ext cx="5486400" cy="329184"/>
          </a:xfrm>
          <a:prstGeom prst="rect">
            <a:avLst/>
          </a:prstGeom>
          <a:noFill/>
          <a:ln/>
        </p:spPr>
        <p:txBody>
          <a:bodyPr wrap="square" lIns="0" tIns="0" rIns="0" bIns="0" rtlCol="0" anchor="ctr">
            <a:normAutofit/>
          </a:bodyPr>
          <a:lstStyle/>
          <a:p>
            <a:pPr algn="l" indent="0" marL="0">
              <a:buNone/>
            </a:pPr>
            <a:r>
              <a:rPr lang="en-US" altLang="en-US" sz="1500" b="1" dirty="0">
                <a:solidFill>
                  <a:srgbClr val="3D3935"/>
                </a:solidFill>
                <a:latin typeface="Calibri" pitchFamily="34" charset="0"/>
                <a:ea typeface="Calibri" pitchFamily="34" charset="-122"/>
                <a:cs typeface="Calibri" pitchFamily="34" charset="-120"/>
              </a:rPr>
              <a:t>Notes &amp; conditions</a:t>
            </a:r>
            <a:endParaRPr lang="en-US" sz="1500" dirty="0"/>
          </a:p>
        </p:txBody>
      </p:sp>
      <p:sp>
        <p:nvSpPr>
          <p:cNvPr id="55" name="Text 53"/>
          <p:cNvSpPr/>
          <p:nvPr/>
        </p:nvSpPr>
        <p:spPr>
          <a:xfrm>
            <a:off x="5029200" y="3474720"/>
            <a:ext cx="6766560" cy="2697480"/>
          </a:xfrm>
          <a:prstGeom prst="rect">
            <a:avLst/>
          </a:prstGeom>
          <a:noFill/>
          <a:ln/>
        </p:spPr>
        <p:txBody>
          <a:bodyPr wrap="square" lIns="0" tIns="0" rIns="0" bIns="0" rtlCol="0" anchor="t">
            <a:normAutofit/>
          </a:bodyPr>
          <a:lstStyle/>
          <a:p>
            <a:pPr algn="l" marL="342900" indent="-342900">
              <a:spcAft>
                <a:spcPts val="600"/>
              </a:spcAft>
              <a:buSzPct val="100000"/>
              <a:buFont typeface="+mj-lt"/>
              <a:buAutoNum type="arabicPeriod" startAt="1"/>
            </a:pPr>
            <a:r>
              <a:rPr lang="en-US" altLang="en-US" sz="1050" dirty="0">
                <a:solidFill>
                  <a:srgbClr val="333333"/>
                </a:solidFill>
                <a:latin typeface="Calibri" pitchFamily="34" charset="0"/>
                <a:ea typeface="Calibri" pitchFamily="34" charset="-122"/>
                <a:cs typeface="Calibri" pitchFamily="34" charset="-120"/>
              </a:rPr>
              <a:t>Commencement of each activity is subject to issuance of the work permit and timely approval of Work Inspection Requests (WIRs) and Material Inspection Requests (MIRs). Any delay in permit issuance or WIR / MIR approval will shift the affected activity and all succeeding activities accordingly.</a:t>
            </a:r>
            <a:endParaRPr lang="en-US" sz="1050" dirty="0"/>
          </a:p>
          <a:p>
            <a:pPr algn="l" marL="342900" indent="-342900">
              <a:spcAft>
                <a:spcPts val="600"/>
              </a:spcAft>
              <a:buSzPct val="100000"/>
              <a:buFont typeface="+mj-lt"/>
              <a:buAutoNum type="arabicPeriod" startAt="1"/>
            </a:pPr>
            <a:r>
              <a:rPr lang="en-US" altLang="en-US" sz="1050" dirty="0">
                <a:solidFill>
                  <a:srgbClr val="333333"/>
                </a:solidFill>
                <a:latin typeface="Calibri" pitchFamily="34" charset="0"/>
                <a:ea typeface="Calibri" pitchFamily="34" charset="-122"/>
                <a:cs typeface="Calibri" pitchFamily="34" charset="-120"/>
              </a:rPr>
              <a:t>Working week is Saturday to Thursday. Fridays are non-working.</a:t>
            </a:r>
            <a:endParaRPr lang="en-US" sz="1050" dirty="0"/>
          </a:p>
          <a:p>
            <a:pPr algn="l" marL="342900" indent="-342900">
              <a:spcAft>
                <a:spcPts val="600"/>
              </a:spcAft>
              <a:buSzPct val="100000"/>
              <a:buFont typeface="+mj-lt"/>
              <a:buAutoNum type="arabicPeriod" startAt="1"/>
            </a:pPr>
            <a:r>
              <a:rPr lang="en-US" altLang="en-US" sz="1050" dirty="0">
                <a:solidFill>
                  <a:srgbClr val="333333"/>
                </a:solidFill>
                <a:latin typeface="Calibri" pitchFamily="34" charset="0"/>
                <a:ea typeface="Calibri" pitchFamily="34" charset="-122"/>
                <a:cs typeface="Calibri" pitchFamily="34" charset="-120"/>
              </a:rPr>
              <a:t>Lean concrete runs parallel to shoring (SS link) and is placed only in bays where shoring is installed.</a:t>
            </a:r>
            <a:endParaRPr lang="en-US" sz="1050" dirty="0"/>
          </a:p>
          <a:p>
            <a:pPr algn="l" marL="342900" indent="-342900">
              <a:spcAft>
                <a:spcPts val="600"/>
              </a:spcAft>
              <a:buSzPct val="100000"/>
              <a:buFont typeface="+mj-lt"/>
              <a:buAutoNum type="arabicPeriod" startAt="1"/>
            </a:pPr>
            <a:r>
              <a:rPr lang="en-US" altLang="en-US" sz="1050" dirty="0">
                <a:solidFill>
                  <a:srgbClr val="333333"/>
                </a:solidFill>
                <a:latin typeface="Calibri" pitchFamily="34" charset="0"/>
                <a:ea typeface="Calibri" pitchFamily="34" charset="-122"/>
                <a:cs typeface="Calibri" pitchFamily="34" charset="-120"/>
              </a:rPr>
              <a:t>Building foundation is linked to completion of the pit slab / raft (FS link) and runs parallel to the pit wall. Change its predecessor to E if it must follow the pit wall.</a:t>
            </a:r>
            <a:endParaRPr lang="en-US" sz="1050" dirty="0"/>
          </a:p>
        </p:txBody>
      </p:sp>
      <p:sp>
        <p:nvSpPr>
          <p:cNvPr id="56" name="Text 54"/>
          <p:cNvSpPr/>
          <p:nvPr/>
        </p:nvSpPr>
        <p:spPr>
          <a:xfrm>
            <a:off x="365760" y="6199632"/>
            <a:ext cx="11460175" cy="228600"/>
          </a:xfrm>
          <a:prstGeom prst="rect">
            <a:avLst/>
          </a:prstGeom>
          <a:noFill/>
          <a:ln/>
        </p:spPr>
        <p:txBody>
          <a:bodyPr wrap="square" lIns="0" tIns="0" rIns="0" bIns="0" rtlCol="0" anchor="ctr">
            <a:normAutofit/>
          </a:bodyPr>
          <a:lstStyle/>
          <a:p>
            <a:pPr algn="l" indent="0" marL="0">
              <a:buNone/>
            </a:pPr>
            <a:r>
              <a:rPr lang="en-US" altLang="en-US" sz="750" dirty="0">
                <a:solidFill>
                  <a:srgbClr val="66707A"/>
                </a:solidFill>
                <a:latin typeface="Calibri" pitchFamily="34" charset="0"/>
                <a:ea typeface="Calibri" pitchFamily="34" charset="-122"/>
                <a:cs typeface="Calibri" pitchFamily="34" charset="-120"/>
              </a:rPr>
              <a:t>Source: Gulf Development Company for Contracting – Programme Rev 01 (12 Oct 2026), forwarded by SAR Construction Manager</a:t>
            </a:r>
            <a:endParaRPr lang="en-US" sz="750" dirty="0"/>
          </a:p>
        </p:txBody>
      </p:sp>
      <p:sp>
        <p:nvSpPr>
          <p:cNvPr id="25" name="Slide Number Placeholder 0"/>
          <p:cNvSpPr>
            <a:spLocks noGrp="1"/>
          </p:cNvSpPr>
          <p:nvPr>
            <p:ph type="sldNum" sz="quarter" idx="4294967295"/>
          </p:nvPr>
        </p:nvSpPr>
        <p:spPr>
          <a:xfrm>
            <a:off x="11323015" y="6519672"/>
            <a:ext cx="548640" cy="310896"/>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ctr"/>
            <a:fld id="{F7021451-1387-4CA6-816F-3879F97B5CBC}" type="slidenum">
              <a:rPr b="0" lang="en-US"/>
              <a:t>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SAR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UFWL Project – Gantt Chart</dc:title>
  <dc:subject>PptxGenJS Presentation</dc:subject>
  <dc:creator>UFWL Project</dc:creator>
  <cp:lastModifiedBy>UFWL Project</cp:lastModifiedBy>
  <cp:revision>1</cp:revision>
  <dcterms:created xsi:type="dcterms:W3CDTF">2026-10-21T13:10:54Z</dcterms:created>
  <dcterms:modified xsi:type="dcterms:W3CDTF">2026-10-21T13:10:54Z</dcterms:modified>
</cp:coreProperties>
</file>