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R">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FFFFFF"/>
          </a:solidFill>
          <a:ln/>
        </p:spPr>
      </p:sp>
      <p:sp>
        <p:nvSpPr>
          <p:cNvPr id="3" name="Shape 1"/>
          <p:cNvSpPr/>
          <p:nvPr/>
        </p:nvSpPr>
        <p:spPr>
          <a:xfrm>
            <a:off x="0" y="868680"/>
            <a:ext cx="12191695" cy="45720"/>
          </a:xfrm>
          <a:prstGeom prst="rect">
            <a:avLst/>
          </a:prstGeom>
          <a:solidFill>
            <a:srgbClr val="00778B"/>
          </a:solidFill>
          <a:ln/>
        </p:spPr>
      </p:sp>
      <p:sp>
        <p:nvSpPr>
          <p:cNvPr id="4" name="Shape 2"/>
          <p:cNvSpPr/>
          <p:nvPr/>
        </p:nvSpPr>
        <p:spPr>
          <a:xfrm>
            <a:off x="0" y="868680"/>
            <a:ext cx="2011680" cy="45720"/>
          </a:xfrm>
          <a:prstGeom prst="rect">
            <a:avLst/>
          </a:prstGeom>
          <a:solidFill>
            <a:srgbClr val="3D3935"/>
          </a:solidFill>
          <a:ln/>
        </p:spPr>
      </p:sp>
      <p:pic>
        <p:nvPicPr>
          <p:cNvPr id="5" name="Image 0" descr="preencoded.png">    </p:cNvPr>
          <p:cNvPicPr>
            <a:picLocks noChangeAspect="1"/>
          </p:cNvPicPr>
          <p:nvPr/>
        </p:nvPicPr>
        <p:blipFill>
          <a:blip r:embed="rId1"/>
          <a:stretch>
            <a:fillRect/>
          </a:stretch>
        </p:blipFill>
        <p:spPr>
          <a:xfrm>
            <a:off x="10774375" y="142875"/>
            <a:ext cx="1051560" cy="582930"/>
          </a:xfrm>
          <a:prstGeom prst="rect">
            <a:avLst/>
          </a:prstGeom>
        </p:spPr>
      </p:pic>
      <p:sp>
        <p:nvSpPr>
          <p:cNvPr id="6" name="Shape 3"/>
          <p:cNvSpPr/>
          <p:nvPr/>
        </p:nvSpPr>
        <p:spPr>
          <a:xfrm>
            <a:off x="0" y="6492240"/>
            <a:ext cx="12191695" cy="365760"/>
          </a:xfrm>
          <a:prstGeom prst="rect">
            <a:avLst/>
          </a:prstGeom>
          <a:solidFill>
            <a:srgbClr val="3D3935"/>
          </a:solidFill>
          <a:ln/>
        </p:spPr>
      </p:sp>
      <p:sp>
        <p:nvSpPr>
          <p:cNvPr id="7" name="Text 4"/>
          <p:cNvSpPr/>
          <p:nvPr/>
        </p:nvSpPr>
        <p:spPr>
          <a:xfrm>
            <a:off x="365760" y="6492240"/>
            <a:ext cx="9144000" cy="36576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UFWL Project – Site Suspension &amp; Remaining Works</a:t>
            </a:r>
            <a:endParaRPr lang="en-US" sz="1000" dirty="0"/>
          </a:p>
        </p:txBody>
      </p:sp>
      <p:sp>
        <p:nvSpPr>
          <p:cNvPr id="25" name="Slide Number Placeholder 0"/>
          <p:cNvSpPr>
            <a:spLocks noGrp="1"/>
          </p:cNvSpPr>
          <p:nvPr>
            <p:ph type="sldNum" sz="quarter" idx="4294967295"/>
          </p:nvPr>
        </p:nvSpPr>
        <p:spPr>
          <a:xfrm>
            <a:off x="11323015"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3015"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109728"/>
            <a:ext cx="10134295" cy="457200"/>
          </a:xfrm>
          <a:prstGeom prst="rect">
            <a:avLst/>
          </a:prstGeom>
          <a:noFill/>
          <a:ln/>
        </p:spPr>
        <p:txBody>
          <a:bodyPr wrap="square" lIns="0" tIns="0" rIns="0" bIns="0" rtlCol="0" anchor="ctr">
            <a:normAutofit/>
          </a:bodyPr>
          <a:lstStyle/>
          <a:p>
            <a:pPr algn="l" indent="0" marL="0">
              <a:buNone/>
            </a:pPr>
            <a:r>
              <a:rPr lang="en-US" altLang="en-US" sz="2400" b="1" dirty="0">
                <a:solidFill>
                  <a:srgbClr val="3D3935"/>
                </a:solidFill>
                <a:latin typeface="Calibri" pitchFamily="34" charset="0"/>
                <a:ea typeface="Calibri" pitchFamily="34" charset="-122"/>
                <a:cs typeface="Calibri" pitchFamily="34" charset="-120"/>
              </a:rPr>
              <a:t>UFWL Project – Timeline</a:t>
            </a:r>
            <a:endParaRPr lang="en-US" sz="2400" dirty="0"/>
          </a:p>
        </p:txBody>
      </p:sp>
      <p:sp>
        <p:nvSpPr>
          <p:cNvPr id="3" name="Text 1"/>
          <p:cNvSpPr/>
          <p:nvPr/>
        </p:nvSpPr>
        <p:spPr>
          <a:xfrm>
            <a:off x="365760" y="548640"/>
            <a:ext cx="10134295" cy="256032"/>
          </a:xfrm>
          <a:prstGeom prst="rect">
            <a:avLst/>
          </a:prstGeom>
          <a:noFill/>
          <a:ln/>
        </p:spPr>
        <p:txBody>
          <a:bodyPr wrap="square" lIns="0" tIns="0" rIns="0" bIns="0" rtlCol="0" anchor="ctr">
            <a:normAutofit/>
          </a:bodyPr>
          <a:lstStyle/>
          <a:p>
            <a:pPr algn="l" indent="0" marL="0">
              <a:buNone/>
            </a:pPr>
            <a:r>
              <a:rPr lang="en-US" altLang="en-US" sz="1200" dirty="0">
                <a:solidFill>
                  <a:srgbClr val="66707A"/>
                </a:solidFill>
                <a:latin typeface="Calibri" pitchFamily="34" charset="0"/>
                <a:ea typeface="Calibri" pitchFamily="34" charset="-122"/>
                <a:cs typeface="Calibri" pitchFamily="34" charset="-120"/>
              </a:rPr>
              <a:t>Project Activity Timeline · Site Suspension and Shoring Works</a:t>
            </a:r>
            <a:endParaRPr lang="en-US" sz="1200" dirty="0"/>
          </a:p>
        </p:txBody>
      </p:sp>
      <p:sp>
        <p:nvSpPr>
          <p:cNvPr id="4" name="Shape 2"/>
          <p:cNvSpPr/>
          <p:nvPr/>
        </p:nvSpPr>
        <p:spPr>
          <a:xfrm>
            <a:off x="365760" y="1069848"/>
            <a:ext cx="256032" cy="109728"/>
          </a:xfrm>
          <a:prstGeom prst="roundRect">
            <a:avLst>
              <a:gd name="adj" fmla="val 25000"/>
            </a:avLst>
          </a:prstGeom>
          <a:solidFill>
            <a:srgbClr val="7A8791"/>
          </a:solidFill>
          <a:ln w="12700">
            <a:solidFill>
              <a:srgbClr val="7A8791"/>
            </a:solidFill>
            <a:prstDash val="solid"/>
          </a:ln>
        </p:spPr>
      </p:sp>
      <p:sp>
        <p:nvSpPr>
          <p:cNvPr id="5" name="Text 3"/>
          <p:cNvSpPr/>
          <p:nvPr/>
        </p:nvSpPr>
        <p:spPr>
          <a:xfrm>
            <a:off x="676656" y="1005840"/>
            <a:ext cx="1706270" cy="237744"/>
          </a:xfrm>
          <a:prstGeom prst="rect">
            <a:avLst/>
          </a:prstGeom>
          <a:noFill/>
          <a:ln/>
        </p:spPr>
        <p:txBody>
          <a:bodyPr wrap="square" lIns="0" tIns="0" rIns="0" bIns="0" rtlCol="0" anchor="ctr">
            <a:normAutofit/>
          </a:bodyPr>
          <a:lstStyle/>
          <a:p>
            <a:pPr algn="l" indent="0" marL="0">
              <a:buNone/>
            </a:pPr>
            <a:r>
              <a:rPr lang="en-US" altLang="en-US" sz="900" b="1" dirty="0">
                <a:solidFill>
                  <a:srgbClr val="333333"/>
                </a:solidFill>
                <a:latin typeface="Calibri" pitchFamily="34" charset="0"/>
                <a:ea typeface="Calibri" pitchFamily="34" charset="-122"/>
                <a:cs typeface="Calibri" pitchFamily="34" charset="-120"/>
              </a:rPr>
              <a:t>Background – Permit Request</a:t>
            </a:r>
            <a:endParaRPr lang="en-US" sz="900" dirty="0"/>
          </a:p>
        </p:txBody>
      </p:sp>
      <p:sp>
        <p:nvSpPr>
          <p:cNvPr id="6" name="Shape 4"/>
          <p:cNvSpPr/>
          <p:nvPr/>
        </p:nvSpPr>
        <p:spPr>
          <a:xfrm>
            <a:off x="2437790" y="1069848"/>
            <a:ext cx="256032" cy="109728"/>
          </a:xfrm>
          <a:prstGeom prst="roundRect">
            <a:avLst>
              <a:gd name="adj" fmla="val 25000"/>
            </a:avLst>
          </a:prstGeom>
          <a:solidFill>
            <a:srgbClr val="C8503F"/>
          </a:solidFill>
          <a:ln w="12700">
            <a:solidFill>
              <a:srgbClr val="C8503F"/>
            </a:solidFill>
            <a:prstDash val="solid"/>
          </a:ln>
        </p:spPr>
      </p:sp>
      <p:sp>
        <p:nvSpPr>
          <p:cNvPr id="7" name="Text 5"/>
          <p:cNvSpPr/>
          <p:nvPr/>
        </p:nvSpPr>
        <p:spPr>
          <a:xfrm>
            <a:off x="2748686" y="1005840"/>
            <a:ext cx="2289658" cy="237744"/>
          </a:xfrm>
          <a:prstGeom prst="rect">
            <a:avLst/>
          </a:prstGeom>
          <a:noFill/>
          <a:ln/>
        </p:spPr>
        <p:txBody>
          <a:bodyPr wrap="square" lIns="0" tIns="0" rIns="0" bIns="0" rtlCol="0" anchor="ctr">
            <a:normAutofit/>
          </a:bodyPr>
          <a:lstStyle/>
          <a:p>
            <a:pPr algn="l" indent="0" marL="0">
              <a:buNone/>
            </a:pPr>
            <a:r>
              <a:rPr lang="en-US" altLang="en-US" sz="900" b="1" dirty="0">
                <a:solidFill>
                  <a:srgbClr val="333333"/>
                </a:solidFill>
                <a:latin typeface="Calibri" pitchFamily="34" charset="0"/>
                <a:ea typeface="Calibri" pitchFamily="34" charset="-122"/>
                <a:cs typeface="Calibri" pitchFamily="34" charset="-120"/>
              </a:rPr>
              <a:t>Phase 1 – Suspension &amp; Site Assessment</a:t>
            </a:r>
            <a:endParaRPr lang="en-US" sz="900" dirty="0"/>
          </a:p>
        </p:txBody>
      </p:sp>
      <p:sp>
        <p:nvSpPr>
          <p:cNvPr id="8" name="Shape 6"/>
          <p:cNvSpPr/>
          <p:nvPr/>
        </p:nvSpPr>
        <p:spPr>
          <a:xfrm>
            <a:off x="5093208" y="1069848"/>
            <a:ext cx="256032" cy="109728"/>
          </a:xfrm>
          <a:prstGeom prst="roundRect">
            <a:avLst>
              <a:gd name="adj" fmla="val 25000"/>
            </a:avLst>
          </a:prstGeom>
          <a:solidFill>
            <a:srgbClr val="00778B"/>
          </a:solidFill>
          <a:ln w="12700">
            <a:solidFill>
              <a:srgbClr val="00778B"/>
            </a:solidFill>
            <a:prstDash val="solid"/>
          </a:ln>
        </p:spPr>
      </p:sp>
      <p:sp>
        <p:nvSpPr>
          <p:cNvPr id="9" name="Text 7"/>
          <p:cNvSpPr/>
          <p:nvPr/>
        </p:nvSpPr>
        <p:spPr>
          <a:xfrm>
            <a:off x="5404104" y="1005840"/>
            <a:ext cx="2766974" cy="237744"/>
          </a:xfrm>
          <a:prstGeom prst="rect">
            <a:avLst/>
          </a:prstGeom>
          <a:noFill/>
          <a:ln/>
        </p:spPr>
        <p:txBody>
          <a:bodyPr wrap="square" lIns="0" tIns="0" rIns="0" bIns="0" rtlCol="0" anchor="ctr">
            <a:normAutofit/>
          </a:bodyPr>
          <a:lstStyle/>
          <a:p>
            <a:pPr algn="l" indent="0" marL="0">
              <a:buNone/>
            </a:pPr>
            <a:r>
              <a:rPr lang="en-US" altLang="en-US" sz="900" b="1" dirty="0">
                <a:solidFill>
                  <a:srgbClr val="333333"/>
                </a:solidFill>
                <a:latin typeface="Calibri" pitchFamily="34" charset="0"/>
                <a:ea typeface="Calibri" pitchFamily="34" charset="-122"/>
                <a:cs typeface="Calibri" pitchFamily="34" charset="-120"/>
              </a:rPr>
              <a:t>Phase 2 – Method Statement Preparation &amp; Review</a:t>
            </a:r>
            <a:endParaRPr lang="en-US" sz="900" dirty="0"/>
          </a:p>
        </p:txBody>
      </p:sp>
      <p:sp>
        <p:nvSpPr>
          <p:cNvPr id="10" name="Shape 8"/>
          <p:cNvSpPr/>
          <p:nvPr/>
        </p:nvSpPr>
        <p:spPr>
          <a:xfrm>
            <a:off x="8225942" y="1069848"/>
            <a:ext cx="256032" cy="109728"/>
          </a:xfrm>
          <a:prstGeom prst="roundRect">
            <a:avLst>
              <a:gd name="adj" fmla="val 25000"/>
            </a:avLst>
          </a:prstGeom>
          <a:solidFill>
            <a:srgbClr val="2E9E6B"/>
          </a:solidFill>
          <a:ln w="12700">
            <a:solidFill>
              <a:srgbClr val="2E9E6B"/>
            </a:solidFill>
            <a:prstDash val="solid"/>
          </a:ln>
        </p:spPr>
      </p:sp>
      <p:sp>
        <p:nvSpPr>
          <p:cNvPr id="11" name="Text 9"/>
          <p:cNvSpPr/>
          <p:nvPr/>
        </p:nvSpPr>
        <p:spPr>
          <a:xfrm>
            <a:off x="8536838" y="1005840"/>
            <a:ext cx="1865376" cy="237744"/>
          </a:xfrm>
          <a:prstGeom prst="rect">
            <a:avLst/>
          </a:prstGeom>
          <a:noFill/>
          <a:ln/>
        </p:spPr>
        <p:txBody>
          <a:bodyPr wrap="square" lIns="0" tIns="0" rIns="0" bIns="0" rtlCol="0" anchor="ctr">
            <a:normAutofit/>
          </a:bodyPr>
          <a:lstStyle/>
          <a:p>
            <a:pPr algn="l" indent="0" marL="0">
              <a:buNone/>
            </a:pPr>
            <a:r>
              <a:rPr lang="en-US" altLang="en-US" sz="900" b="1" dirty="0">
                <a:solidFill>
                  <a:srgbClr val="333333"/>
                </a:solidFill>
                <a:latin typeface="Calibri" pitchFamily="34" charset="0"/>
                <a:ea typeface="Calibri" pitchFamily="34" charset="-122"/>
                <a:cs typeface="Calibri" pitchFamily="34" charset="-120"/>
              </a:rPr>
              <a:t>Phase 3 – Work Permit Issuance</a:t>
            </a:r>
            <a:endParaRPr lang="en-US" sz="900" dirty="0"/>
          </a:p>
        </p:txBody>
      </p:sp>
      <p:sp>
        <p:nvSpPr>
          <p:cNvPr id="12" name="Shape 10"/>
          <p:cNvSpPr/>
          <p:nvPr/>
        </p:nvSpPr>
        <p:spPr>
          <a:xfrm>
            <a:off x="548640" y="3803904"/>
            <a:ext cx="325419" cy="73152"/>
          </a:xfrm>
          <a:prstGeom prst="roundRect">
            <a:avLst>
              <a:gd name="adj" fmla="val 50000"/>
            </a:avLst>
          </a:prstGeom>
          <a:solidFill>
            <a:srgbClr val="7A8791"/>
          </a:solidFill>
          <a:ln w="12700">
            <a:solidFill>
              <a:srgbClr val="7A8791"/>
            </a:solidFill>
            <a:prstDash val="solid"/>
          </a:ln>
        </p:spPr>
      </p:sp>
      <p:sp>
        <p:nvSpPr>
          <p:cNvPr id="13" name="Shape 11"/>
          <p:cNvSpPr/>
          <p:nvPr/>
        </p:nvSpPr>
        <p:spPr>
          <a:xfrm>
            <a:off x="874059" y="3803904"/>
            <a:ext cx="650838" cy="73152"/>
          </a:xfrm>
          <a:prstGeom prst="roundRect">
            <a:avLst>
              <a:gd name="adj" fmla="val 50000"/>
            </a:avLst>
          </a:prstGeom>
          <a:solidFill>
            <a:srgbClr val="7A8791"/>
          </a:solidFill>
          <a:ln w="12700">
            <a:solidFill>
              <a:srgbClr val="7A8791"/>
            </a:solidFill>
            <a:prstDash val="solid"/>
          </a:ln>
        </p:spPr>
      </p:sp>
      <p:sp>
        <p:nvSpPr>
          <p:cNvPr id="14" name="Shape 12"/>
          <p:cNvSpPr/>
          <p:nvPr/>
        </p:nvSpPr>
        <p:spPr>
          <a:xfrm>
            <a:off x="1524896" y="3803904"/>
            <a:ext cx="650838" cy="73152"/>
          </a:xfrm>
          <a:prstGeom prst="roundRect">
            <a:avLst>
              <a:gd name="adj" fmla="val 50000"/>
            </a:avLst>
          </a:prstGeom>
          <a:solidFill>
            <a:srgbClr val="C8503F"/>
          </a:solidFill>
          <a:ln w="12700">
            <a:solidFill>
              <a:srgbClr val="C8503F"/>
            </a:solidFill>
            <a:prstDash val="solid"/>
          </a:ln>
        </p:spPr>
      </p:sp>
      <p:sp>
        <p:nvSpPr>
          <p:cNvPr id="15" name="Shape 13"/>
          <p:cNvSpPr/>
          <p:nvPr/>
        </p:nvSpPr>
        <p:spPr>
          <a:xfrm>
            <a:off x="2175734" y="3803904"/>
            <a:ext cx="650838" cy="73152"/>
          </a:xfrm>
          <a:prstGeom prst="roundRect">
            <a:avLst>
              <a:gd name="adj" fmla="val 50000"/>
            </a:avLst>
          </a:prstGeom>
          <a:solidFill>
            <a:srgbClr val="C8503F"/>
          </a:solidFill>
          <a:ln w="12700">
            <a:solidFill>
              <a:srgbClr val="C8503F"/>
            </a:solidFill>
            <a:prstDash val="solid"/>
          </a:ln>
        </p:spPr>
      </p:sp>
      <p:sp>
        <p:nvSpPr>
          <p:cNvPr id="16" name="Shape 14"/>
          <p:cNvSpPr/>
          <p:nvPr/>
        </p:nvSpPr>
        <p:spPr>
          <a:xfrm>
            <a:off x="2826572" y="3803904"/>
            <a:ext cx="650838" cy="73152"/>
          </a:xfrm>
          <a:prstGeom prst="roundRect">
            <a:avLst>
              <a:gd name="adj" fmla="val 50000"/>
            </a:avLst>
          </a:prstGeom>
          <a:solidFill>
            <a:srgbClr val="C8503F"/>
          </a:solidFill>
          <a:ln w="12700">
            <a:solidFill>
              <a:srgbClr val="C8503F"/>
            </a:solidFill>
            <a:prstDash val="solid"/>
          </a:ln>
        </p:spPr>
      </p:sp>
      <p:sp>
        <p:nvSpPr>
          <p:cNvPr id="17" name="Shape 15"/>
          <p:cNvSpPr/>
          <p:nvPr/>
        </p:nvSpPr>
        <p:spPr>
          <a:xfrm>
            <a:off x="3477409" y="3803904"/>
            <a:ext cx="650838" cy="73152"/>
          </a:xfrm>
          <a:prstGeom prst="roundRect">
            <a:avLst>
              <a:gd name="adj" fmla="val 50000"/>
            </a:avLst>
          </a:prstGeom>
          <a:solidFill>
            <a:srgbClr val="C8503F"/>
          </a:solidFill>
          <a:ln w="12700">
            <a:solidFill>
              <a:srgbClr val="C8503F"/>
            </a:solidFill>
            <a:prstDash val="solid"/>
          </a:ln>
        </p:spPr>
      </p:sp>
      <p:sp>
        <p:nvSpPr>
          <p:cNvPr id="18" name="Shape 16"/>
          <p:cNvSpPr/>
          <p:nvPr/>
        </p:nvSpPr>
        <p:spPr>
          <a:xfrm>
            <a:off x="4128247" y="3803904"/>
            <a:ext cx="650838" cy="73152"/>
          </a:xfrm>
          <a:prstGeom prst="roundRect">
            <a:avLst>
              <a:gd name="adj" fmla="val 50000"/>
            </a:avLst>
          </a:prstGeom>
          <a:solidFill>
            <a:srgbClr val="00778B"/>
          </a:solidFill>
          <a:ln w="12700">
            <a:solidFill>
              <a:srgbClr val="00778B"/>
            </a:solidFill>
            <a:prstDash val="solid"/>
          </a:ln>
        </p:spPr>
      </p:sp>
      <p:sp>
        <p:nvSpPr>
          <p:cNvPr id="19" name="Shape 17"/>
          <p:cNvSpPr/>
          <p:nvPr/>
        </p:nvSpPr>
        <p:spPr>
          <a:xfrm>
            <a:off x="4779085" y="3803904"/>
            <a:ext cx="650838" cy="73152"/>
          </a:xfrm>
          <a:prstGeom prst="roundRect">
            <a:avLst>
              <a:gd name="adj" fmla="val 50000"/>
            </a:avLst>
          </a:prstGeom>
          <a:solidFill>
            <a:srgbClr val="00778B"/>
          </a:solidFill>
          <a:ln w="12700">
            <a:solidFill>
              <a:srgbClr val="00778B"/>
            </a:solidFill>
            <a:prstDash val="solid"/>
          </a:ln>
        </p:spPr>
      </p:sp>
      <p:sp>
        <p:nvSpPr>
          <p:cNvPr id="20" name="Shape 18"/>
          <p:cNvSpPr/>
          <p:nvPr/>
        </p:nvSpPr>
        <p:spPr>
          <a:xfrm>
            <a:off x="5429922" y="3803904"/>
            <a:ext cx="650838" cy="73152"/>
          </a:xfrm>
          <a:prstGeom prst="roundRect">
            <a:avLst>
              <a:gd name="adj" fmla="val 50000"/>
            </a:avLst>
          </a:prstGeom>
          <a:solidFill>
            <a:srgbClr val="00778B"/>
          </a:solidFill>
          <a:ln w="12700">
            <a:solidFill>
              <a:srgbClr val="00778B"/>
            </a:solidFill>
            <a:prstDash val="solid"/>
          </a:ln>
        </p:spPr>
      </p:sp>
      <p:sp>
        <p:nvSpPr>
          <p:cNvPr id="21" name="Shape 19"/>
          <p:cNvSpPr/>
          <p:nvPr/>
        </p:nvSpPr>
        <p:spPr>
          <a:xfrm>
            <a:off x="6080760" y="3803904"/>
            <a:ext cx="650838" cy="73152"/>
          </a:xfrm>
          <a:prstGeom prst="roundRect">
            <a:avLst>
              <a:gd name="adj" fmla="val 50000"/>
            </a:avLst>
          </a:prstGeom>
          <a:solidFill>
            <a:srgbClr val="00778B"/>
          </a:solidFill>
          <a:ln w="12700">
            <a:solidFill>
              <a:srgbClr val="00778B"/>
            </a:solidFill>
            <a:prstDash val="solid"/>
          </a:ln>
        </p:spPr>
      </p:sp>
      <p:sp>
        <p:nvSpPr>
          <p:cNvPr id="22" name="Shape 20"/>
          <p:cNvSpPr/>
          <p:nvPr/>
        </p:nvSpPr>
        <p:spPr>
          <a:xfrm>
            <a:off x="6731598" y="3803904"/>
            <a:ext cx="650838" cy="73152"/>
          </a:xfrm>
          <a:prstGeom prst="roundRect">
            <a:avLst>
              <a:gd name="adj" fmla="val 50000"/>
            </a:avLst>
          </a:prstGeom>
          <a:solidFill>
            <a:srgbClr val="00778B"/>
          </a:solidFill>
          <a:ln w="12700">
            <a:solidFill>
              <a:srgbClr val="00778B"/>
            </a:solidFill>
            <a:prstDash val="solid"/>
          </a:ln>
        </p:spPr>
      </p:sp>
      <p:sp>
        <p:nvSpPr>
          <p:cNvPr id="23" name="Shape 21"/>
          <p:cNvSpPr/>
          <p:nvPr/>
        </p:nvSpPr>
        <p:spPr>
          <a:xfrm>
            <a:off x="7382435" y="3803904"/>
            <a:ext cx="650838" cy="73152"/>
          </a:xfrm>
          <a:prstGeom prst="roundRect">
            <a:avLst>
              <a:gd name="adj" fmla="val 50000"/>
            </a:avLst>
          </a:prstGeom>
          <a:solidFill>
            <a:srgbClr val="2E9E6B"/>
          </a:solidFill>
          <a:ln w="12700">
            <a:solidFill>
              <a:srgbClr val="2E9E6B"/>
            </a:solidFill>
            <a:prstDash val="solid"/>
          </a:ln>
        </p:spPr>
      </p:sp>
      <p:sp>
        <p:nvSpPr>
          <p:cNvPr id="24" name="Shape 22"/>
          <p:cNvSpPr/>
          <p:nvPr/>
        </p:nvSpPr>
        <p:spPr>
          <a:xfrm>
            <a:off x="8033273" y="3803904"/>
            <a:ext cx="650838" cy="73152"/>
          </a:xfrm>
          <a:prstGeom prst="roundRect">
            <a:avLst>
              <a:gd name="adj" fmla="val 50000"/>
            </a:avLst>
          </a:prstGeom>
          <a:solidFill>
            <a:srgbClr val="2E9E6B"/>
          </a:solidFill>
          <a:ln w="12700">
            <a:solidFill>
              <a:srgbClr val="2E9E6B"/>
            </a:solidFill>
            <a:prstDash val="solid"/>
          </a:ln>
        </p:spPr>
      </p:sp>
      <p:sp>
        <p:nvSpPr>
          <p:cNvPr id="25" name="Shape 23"/>
          <p:cNvSpPr/>
          <p:nvPr/>
        </p:nvSpPr>
        <p:spPr>
          <a:xfrm>
            <a:off x="8684111" y="3803904"/>
            <a:ext cx="650838" cy="73152"/>
          </a:xfrm>
          <a:prstGeom prst="roundRect">
            <a:avLst>
              <a:gd name="adj" fmla="val 50000"/>
            </a:avLst>
          </a:prstGeom>
          <a:solidFill>
            <a:srgbClr val="2E9E6B"/>
          </a:solidFill>
          <a:ln w="12700">
            <a:solidFill>
              <a:srgbClr val="2E9E6B"/>
            </a:solidFill>
            <a:prstDash val="solid"/>
          </a:ln>
        </p:spPr>
      </p:sp>
      <p:sp>
        <p:nvSpPr>
          <p:cNvPr id="26" name="Shape 24"/>
          <p:cNvSpPr/>
          <p:nvPr/>
        </p:nvSpPr>
        <p:spPr>
          <a:xfrm>
            <a:off x="9334948" y="3803904"/>
            <a:ext cx="650838" cy="73152"/>
          </a:xfrm>
          <a:prstGeom prst="roundRect">
            <a:avLst>
              <a:gd name="adj" fmla="val 50000"/>
            </a:avLst>
          </a:prstGeom>
          <a:solidFill>
            <a:srgbClr val="2E9E6B"/>
          </a:solidFill>
          <a:ln w="12700">
            <a:solidFill>
              <a:srgbClr val="2E9E6B"/>
            </a:solidFill>
            <a:prstDash val="solid"/>
          </a:ln>
        </p:spPr>
      </p:sp>
      <p:sp>
        <p:nvSpPr>
          <p:cNvPr id="27" name="Shape 25"/>
          <p:cNvSpPr/>
          <p:nvPr/>
        </p:nvSpPr>
        <p:spPr>
          <a:xfrm>
            <a:off x="9985786" y="3803904"/>
            <a:ext cx="650838" cy="73152"/>
          </a:xfrm>
          <a:prstGeom prst="roundRect">
            <a:avLst>
              <a:gd name="adj" fmla="val 50000"/>
            </a:avLst>
          </a:prstGeom>
          <a:solidFill>
            <a:srgbClr val="2E9E6B"/>
          </a:solidFill>
          <a:ln w="12700">
            <a:solidFill>
              <a:srgbClr val="2E9E6B"/>
            </a:solidFill>
            <a:prstDash val="solid"/>
          </a:ln>
        </p:spPr>
      </p:sp>
      <p:sp>
        <p:nvSpPr>
          <p:cNvPr id="28" name="Shape 26"/>
          <p:cNvSpPr/>
          <p:nvPr/>
        </p:nvSpPr>
        <p:spPr>
          <a:xfrm>
            <a:off x="10636624" y="3803904"/>
            <a:ext cx="650838" cy="73152"/>
          </a:xfrm>
          <a:prstGeom prst="roundRect">
            <a:avLst>
              <a:gd name="adj" fmla="val 50000"/>
            </a:avLst>
          </a:prstGeom>
          <a:solidFill>
            <a:srgbClr val="2E9E6B"/>
          </a:solidFill>
          <a:ln w="12700">
            <a:solidFill>
              <a:srgbClr val="2E9E6B"/>
            </a:solidFill>
            <a:prstDash val="solid"/>
          </a:ln>
        </p:spPr>
      </p:sp>
      <p:sp>
        <p:nvSpPr>
          <p:cNvPr id="29" name="Shape 27"/>
          <p:cNvSpPr/>
          <p:nvPr/>
        </p:nvSpPr>
        <p:spPr>
          <a:xfrm>
            <a:off x="11287461" y="3803904"/>
            <a:ext cx="325419" cy="73152"/>
          </a:xfrm>
          <a:prstGeom prst="roundRect">
            <a:avLst>
              <a:gd name="adj" fmla="val 50000"/>
            </a:avLst>
          </a:prstGeom>
          <a:solidFill>
            <a:srgbClr val="C9D3D8"/>
          </a:solidFill>
          <a:ln w="12700">
            <a:solidFill>
              <a:srgbClr val="C9D3D8"/>
            </a:solidFill>
            <a:prstDash val="solid"/>
          </a:ln>
        </p:spPr>
      </p:sp>
      <p:sp>
        <p:nvSpPr>
          <p:cNvPr id="30" name="Shape 28"/>
          <p:cNvSpPr/>
          <p:nvPr/>
        </p:nvSpPr>
        <p:spPr>
          <a:xfrm>
            <a:off x="874059" y="3447288"/>
            <a:ext cx="0" cy="182880"/>
          </a:xfrm>
          <a:prstGeom prst="line">
            <a:avLst/>
          </a:prstGeom>
          <a:noFill/>
          <a:ln w="19050">
            <a:solidFill>
              <a:srgbClr val="7A8791">
                <a:alpha val="65000"/>
              </a:srgbClr>
            </a:solidFill>
            <a:prstDash val="solid"/>
          </a:ln>
        </p:spPr>
      </p:sp>
      <p:sp>
        <p:nvSpPr>
          <p:cNvPr id="31" name="Shape 29"/>
          <p:cNvSpPr/>
          <p:nvPr/>
        </p:nvSpPr>
        <p:spPr>
          <a:xfrm>
            <a:off x="663747" y="3630168"/>
            <a:ext cx="420624" cy="420624"/>
          </a:xfrm>
          <a:prstGeom prst="ellipse">
            <a:avLst/>
          </a:prstGeom>
          <a:solidFill>
            <a:srgbClr val="7A8791"/>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32" name="Text 30"/>
          <p:cNvSpPr/>
          <p:nvPr/>
        </p:nvSpPr>
        <p:spPr>
          <a:xfrm>
            <a:off x="663747"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3" name="Shape 31"/>
          <p:cNvSpPr/>
          <p:nvPr/>
        </p:nvSpPr>
        <p:spPr>
          <a:xfrm>
            <a:off x="274320"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34" name="Shape 32"/>
          <p:cNvSpPr/>
          <p:nvPr/>
        </p:nvSpPr>
        <p:spPr>
          <a:xfrm>
            <a:off x="347472" y="2734056"/>
            <a:ext cx="1871293" cy="54864"/>
          </a:xfrm>
          <a:prstGeom prst="rect">
            <a:avLst/>
          </a:prstGeom>
          <a:solidFill>
            <a:srgbClr val="7A8791"/>
          </a:solidFill>
          <a:ln w="12700">
            <a:solidFill>
              <a:srgbClr val="7A8791"/>
            </a:solidFill>
            <a:prstDash val="solid"/>
          </a:ln>
        </p:spPr>
      </p:sp>
      <p:sp>
        <p:nvSpPr>
          <p:cNvPr id="35" name="Text 33"/>
          <p:cNvSpPr/>
          <p:nvPr/>
        </p:nvSpPr>
        <p:spPr>
          <a:xfrm>
            <a:off x="365760" y="280720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Mon 31 Aug 2026</a:t>
            </a:r>
            <a:endParaRPr lang="en-US" sz="950" dirty="0"/>
          </a:p>
        </p:txBody>
      </p:sp>
      <p:sp>
        <p:nvSpPr>
          <p:cNvPr id="36" name="Text 34"/>
          <p:cNvSpPr/>
          <p:nvPr/>
        </p:nvSpPr>
        <p:spPr>
          <a:xfrm>
            <a:off x="365760" y="305409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7A8791"/>
                </a:solidFill>
                <a:latin typeface="Calibri" pitchFamily="34" charset="0"/>
                <a:ea typeface="Calibri" pitchFamily="34" charset="-122"/>
                <a:cs typeface="Calibri" pitchFamily="34" charset="-120"/>
              </a:rPr>
              <a:t>Background – Permit Request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Work Permit Requested</a:t>
            </a:r>
            <a:endParaRPr lang="en-US" sz="650" dirty="0"/>
          </a:p>
        </p:txBody>
      </p:sp>
      <p:sp>
        <p:nvSpPr>
          <p:cNvPr id="37" name="Shape 35"/>
          <p:cNvSpPr/>
          <p:nvPr/>
        </p:nvSpPr>
        <p:spPr>
          <a:xfrm>
            <a:off x="1524896" y="4050792"/>
            <a:ext cx="0" cy="182880"/>
          </a:xfrm>
          <a:prstGeom prst="line">
            <a:avLst/>
          </a:prstGeom>
          <a:noFill/>
          <a:ln w="19050">
            <a:solidFill>
              <a:srgbClr val="7A8791">
                <a:alpha val="65000"/>
              </a:srgbClr>
            </a:solidFill>
            <a:prstDash val="solid"/>
          </a:ln>
        </p:spPr>
      </p:sp>
      <p:sp>
        <p:nvSpPr>
          <p:cNvPr id="38" name="Shape 36"/>
          <p:cNvSpPr/>
          <p:nvPr/>
        </p:nvSpPr>
        <p:spPr>
          <a:xfrm>
            <a:off x="1314584" y="3630168"/>
            <a:ext cx="420624" cy="420624"/>
          </a:xfrm>
          <a:prstGeom prst="ellipse">
            <a:avLst/>
          </a:prstGeom>
          <a:solidFill>
            <a:srgbClr val="7A8791"/>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39" name="Text 37"/>
          <p:cNvSpPr/>
          <p:nvPr/>
        </p:nvSpPr>
        <p:spPr>
          <a:xfrm>
            <a:off x="1314584"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Shape 38"/>
          <p:cNvSpPr/>
          <p:nvPr/>
        </p:nvSpPr>
        <p:spPr>
          <a:xfrm>
            <a:off x="516098"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41" name="Shape 39"/>
          <p:cNvSpPr/>
          <p:nvPr/>
        </p:nvSpPr>
        <p:spPr>
          <a:xfrm>
            <a:off x="589250" y="4233672"/>
            <a:ext cx="1871293" cy="54864"/>
          </a:xfrm>
          <a:prstGeom prst="rect">
            <a:avLst/>
          </a:prstGeom>
          <a:solidFill>
            <a:srgbClr val="7A8791"/>
          </a:solidFill>
          <a:ln w="12700">
            <a:solidFill>
              <a:srgbClr val="7A8791"/>
            </a:solidFill>
            <a:prstDash val="solid"/>
          </a:ln>
        </p:spPr>
      </p:sp>
      <p:sp>
        <p:nvSpPr>
          <p:cNvPr id="42" name="Text 40"/>
          <p:cNvSpPr/>
          <p:nvPr/>
        </p:nvSpPr>
        <p:spPr>
          <a:xfrm>
            <a:off x="607538" y="430682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Mon 28 Sep 2026</a:t>
            </a:r>
            <a:endParaRPr lang="en-US" sz="950" dirty="0"/>
          </a:p>
        </p:txBody>
      </p:sp>
      <p:sp>
        <p:nvSpPr>
          <p:cNvPr id="43" name="Text 41"/>
          <p:cNvSpPr/>
          <p:nvPr/>
        </p:nvSpPr>
        <p:spPr>
          <a:xfrm>
            <a:off x="607538" y="455371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7A8791"/>
                </a:solidFill>
                <a:latin typeface="Calibri" pitchFamily="34" charset="0"/>
                <a:ea typeface="Calibri" pitchFamily="34" charset="-122"/>
                <a:cs typeface="Calibri" pitchFamily="34" charset="-120"/>
              </a:rPr>
              <a:t>Background – Permit Request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Permit Request Rejected</a:t>
            </a:r>
            <a:endParaRPr lang="en-US" sz="650" dirty="0"/>
          </a:p>
        </p:txBody>
      </p:sp>
      <p:sp>
        <p:nvSpPr>
          <p:cNvPr id="44" name="Shape 42"/>
          <p:cNvSpPr/>
          <p:nvPr/>
        </p:nvSpPr>
        <p:spPr>
          <a:xfrm>
            <a:off x="2175734" y="2624328"/>
            <a:ext cx="0" cy="1005840"/>
          </a:xfrm>
          <a:prstGeom prst="line">
            <a:avLst/>
          </a:prstGeom>
          <a:noFill/>
          <a:ln w="19050">
            <a:solidFill>
              <a:srgbClr val="C8503F">
                <a:alpha val="65000"/>
              </a:srgbClr>
            </a:solidFill>
            <a:prstDash val="solid"/>
          </a:ln>
        </p:spPr>
      </p:sp>
      <p:sp>
        <p:nvSpPr>
          <p:cNvPr id="45" name="Shape 43"/>
          <p:cNvSpPr/>
          <p:nvPr/>
        </p:nvSpPr>
        <p:spPr>
          <a:xfrm>
            <a:off x="1965422"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46" name="Text 44"/>
          <p:cNvSpPr/>
          <p:nvPr/>
        </p:nvSpPr>
        <p:spPr>
          <a:xfrm>
            <a:off x="1965422"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7" name="Shape 45"/>
          <p:cNvSpPr/>
          <p:nvPr/>
        </p:nvSpPr>
        <p:spPr>
          <a:xfrm>
            <a:off x="1166936"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48" name="Shape 46"/>
          <p:cNvSpPr/>
          <p:nvPr/>
        </p:nvSpPr>
        <p:spPr>
          <a:xfrm>
            <a:off x="1240088" y="1911096"/>
            <a:ext cx="1871293" cy="54864"/>
          </a:xfrm>
          <a:prstGeom prst="rect">
            <a:avLst/>
          </a:prstGeom>
          <a:solidFill>
            <a:srgbClr val="C8503F"/>
          </a:solidFill>
          <a:ln w="12700">
            <a:solidFill>
              <a:srgbClr val="C8503F"/>
            </a:solidFill>
            <a:prstDash val="solid"/>
          </a:ln>
        </p:spPr>
      </p:sp>
      <p:sp>
        <p:nvSpPr>
          <p:cNvPr id="49" name="Text 47"/>
          <p:cNvSpPr/>
          <p:nvPr/>
        </p:nvSpPr>
        <p:spPr>
          <a:xfrm>
            <a:off x="1258376" y="198424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Thu 1 Oct 2026</a:t>
            </a:r>
            <a:endParaRPr lang="en-US" sz="950" dirty="0"/>
          </a:p>
        </p:txBody>
      </p:sp>
      <p:sp>
        <p:nvSpPr>
          <p:cNvPr id="50" name="Text 48"/>
          <p:cNvSpPr/>
          <p:nvPr/>
        </p:nvSpPr>
        <p:spPr>
          <a:xfrm>
            <a:off x="1258376" y="223113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C8503F"/>
                </a:solidFill>
                <a:latin typeface="Calibri" pitchFamily="34" charset="0"/>
                <a:ea typeface="Calibri" pitchFamily="34" charset="-122"/>
                <a:cs typeface="Calibri" pitchFamily="34" charset="-120"/>
              </a:rPr>
              <a:t>Phase 1 – Suspension &amp; Site Assessment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Project Activities Suspended</a:t>
            </a:r>
            <a:endParaRPr lang="en-US" sz="650" dirty="0"/>
          </a:p>
        </p:txBody>
      </p:sp>
      <p:sp>
        <p:nvSpPr>
          <p:cNvPr id="51" name="Shape 49"/>
          <p:cNvSpPr/>
          <p:nvPr/>
        </p:nvSpPr>
        <p:spPr>
          <a:xfrm>
            <a:off x="2826572" y="4050792"/>
            <a:ext cx="0" cy="1005840"/>
          </a:xfrm>
          <a:prstGeom prst="line">
            <a:avLst/>
          </a:prstGeom>
          <a:noFill/>
          <a:ln w="19050">
            <a:solidFill>
              <a:srgbClr val="C8503F">
                <a:alpha val="65000"/>
              </a:srgbClr>
            </a:solidFill>
            <a:prstDash val="solid"/>
          </a:ln>
        </p:spPr>
      </p:sp>
      <p:sp>
        <p:nvSpPr>
          <p:cNvPr id="52" name="Shape 50"/>
          <p:cNvSpPr/>
          <p:nvPr/>
        </p:nvSpPr>
        <p:spPr>
          <a:xfrm>
            <a:off x="2616260"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53" name="Text 51"/>
          <p:cNvSpPr/>
          <p:nvPr/>
        </p:nvSpPr>
        <p:spPr>
          <a:xfrm>
            <a:off x="2616260"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Shape 52"/>
          <p:cNvSpPr/>
          <p:nvPr/>
        </p:nvSpPr>
        <p:spPr>
          <a:xfrm>
            <a:off x="1817773"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55" name="Shape 53"/>
          <p:cNvSpPr/>
          <p:nvPr/>
        </p:nvSpPr>
        <p:spPr>
          <a:xfrm>
            <a:off x="1890925" y="5056632"/>
            <a:ext cx="1871293" cy="54864"/>
          </a:xfrm>
          <a:prstGeom prst="rect">
            <a:avLst/>
          </a:prstGeom>
          <a:solidFill>
            <a:srgbClr val="C8503F"/>
          </a:solidFill>
          <a:ln w="12700">
            <a:solidFill>
              <a:srgbClr val="C8503F"/>
            </a:solidFill>
            <a:prstDash val="solid"/>
          </a:ln>
        </p:spPr>
      </p:sp>
      <p:sp>
        <p:nvSpPr>
          <p:cNvPr id="56" name="Text 54"/>
          <p:cNvSpPr/>
          <p:nvPr/>
        </p:nvSpPr>
        <p:spPr>
          <a:xfrm>
            <a:off x="1909213" y="512978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Sat 3 Oct 2026</a:t>
            </a:r>
            <a:endParaRPr lang="en-US" sz="950" dirty="0"/>
          </a:p>
        </p:txBody>
      </p:sp>
      <p:sp>
        <p:nvSpPr>
          <p:cNvPr id="57" name="Text 55"/>
          <p:cNvSpPr/>
          <p:nvPr/>
        </p:nvSpPr>
        <p:spPr>
          <a:xfrm>
            <a:off x="1909213" y="537667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C8503F"/>
                </a:solidFill>
                <a:latin typeface="Calibri" pitchFamily="34" charset="0"/>
                <a:ea typeface="Calibri" pitchFamily="34" charset="-122"/>
                <a:cs typeface="Calibri" pitchFamily="34" charset="-120"/>
              </a:rPr>
              <a:t>Phase 1 – Suspension &amp; Site Assessment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Joint Site Visit</a:t>
            </a:r>
            <a:endParaRPr lang="en-US" sz="650" dirty="0"/>
          </a:p>
        </p:txBody>
      </p:sp>
      <p:sp>
        <p:nvSpPr>
          <p:cNvPr id="58" name="Shape 56"/>
          <p:cNvSpPr/>
          <p:nvPr/>
        </p:nvSpPr>
        <p:spPr>
          <a:xfrm>
            <a:off x="3477409" y="3447288"/>
            <a:ext cx="0" cy="182880"/>
          </a:xfrm>
          <a:prstGeom prst="line">
            <a:avLst/>
          </a:prstGeom>
          <a:noFill/>
          <a:ln w="19050">
            <a:solidFill>
              <a:srgbClr val="C8503F">
                <a:alpha val="65000"/>
              </a:srgbClr>
            </a:solidFill>
            <a:prstDash val="solid"/>
          </a:ln>
        </p:spPr>
      </p:sp>
      <p:sp>
        <p:nvSpPr>
          <p:cNvPr id="59" name="Shape 57"/>
          <p:cNvSpPr/>
          <p:nvPr/>
        </p:nvSpPr>
        <p:spPr>
          <a:xfrm>
            <a:off x="3267097"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60" name="Text 58"/>
          <p:cNvSpPr/>
          <p:nvPr/>
        </p:nvSpPr>
        <p:spPr>
          <a:xfrm>
            <a:off x="3267097"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Shape 59"/>
          <p:cNvSpPr/>
          <p:nvPr/>
        </p:nvSpPr>
        <p:spPr>
          <a:xfrm>
            <a:off x="2468611"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62" name="Shape 60"/>
          <p:cNvSpPr/>
          <p:nvPr/>
        </p:nvSpPr>
        <p:spPr>
          <a:xfrm>
            <a:off x="2541763" y="2734056"/>
            <a:ext cx="1871293" cy="54864"/>
          </a:xfrm>
          <a:prstGeom prst="rect">
            <a:avLst/>
          </a:prstGeom>
          <a:solidFill>
            <a:srgbClr val="C8503F"/>
          </a:solidFill>
          <a:ln w="12700">
            <a:solidFill>
              <a:srgbClr val="C8503F"/>
            </a:solidFill>
            <a:prstDash val="solid"/>
          </a:ln>
        </p:spPr>
      </p:sp>
      <p:sp>
        <p:nvSpPr>
          <p:cNvPr id="63" name="Text 61"/>
          <p:cNvSpPr/>
          <p:nvPr/>
        </p:nvSpPr>
        <p:spPr>
          <a:xfrm>
            <a:off x="2560051" y="280720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Sun 4 Oct 2026</a:t>
            </a:r>
            <a:endParaRPr lang="en-US" sz="950" dirty="0"/>
          </a:p>
        </p:txBody>
      </p:sp>
      <p:sp>
        <p:nvSpPr>
          <p:cNvPr id="64" name="Text 62"/>
          <p:cNvSpPr/>
          <p:nvPr/>
        </p:nvSpPr>
        <p:spPr>
          <a:xfrm>
            <a:off x="2560051" y="305409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C8503F"/>
                </a:solidFill>
                <a:latin typeface="Calibri" pitchFamily="34" charset="0"/>
                <a:ea typeface="Calibri" pitchFamily="34" charset="-122"/>
                <a:cs typeface="Calibri" pitchFamily="34" charset="-120"/>
              </a:rPr>
              <a:t>Phase 1 – Suspension &amp; Site Assessment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Risk Assessment &amp; Mitigation Plan Submitted</a:t>
            </a:r>
            <a:endParaRPr lang="en-US" sz="650" dirty="0"/>
          </a:p>
        </p:txBody>
      </p:sp>
      <p:sp>
        <p:nvSpPr>
          <p:cNvPr id="65" name="Shape 63"/>
          <p:cNvSpPr/>
          <p:nvPr/>
        </p:nvSpPr>
        <p:spPr>
          <a:xfrm>
            <a:off x="4128247" y="4050792"/>
            <a:ext cx="0" cy="182880"/>
          </a:xfrm>
          <a:prstGeom prst="line">
            <a:avLst/>
          </a:prstGeom>
          <a:noFill/>
          <a:ln w="19050">
            <a:solidFill>
              <a:srgbClr val="C8503F">
                <a:alpha val="65000"/>
              </a:srgbClr>
            </a:solidFill>
            <a:prstDash val="solid"/>
          </a:ln>
        </p:spPr>
      </p:sp>
      <p:sp>
        <p:nvSpPr>
          <p:cNvPr id="66" name="Shape 64"/>
          <p:cNvSpPr/>
          <p:nvPr/>
        </p:nvSpPr>
        <p:spPr>
          <a:xfrm>
            <a:off x="3917935" y="3630168"/>
            <a:ext cx="420624" cy="420624"/>
          </a:xfrm>
          <a:prstGeom prst="ellipse">
            <a:avLst/>
          </a:prstGeom>
          <a:solidFill>
            <a:srgbClr val="C8503F"/>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67" name="Text 65"/>
          <p:cNvSpPr/>
          <p:nvPr/>
        </p:nvSpPr>
        <p:spPr>
          <a:xfrm>
            <a:off x="3917935"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8" name="Shape 66"/>
          <p:cNvSpPr/>
          <p:nvPr/>
        </p:nvSpPr>
        <p:spPr>
          <a:xfrm>
            <a:off x="3119449"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69" name="Shape 67"/>
          <p:cNvSpPr/>
          <p:nvPr/>
        </p:nvSpPr>
        <p:spPr>
          <a:xfrm>
            <a:off x="3192601" y="4233672"/>
            <a:ext cx="1871293" cy="54864"/>
          </a:xfrm>
          <a:prstGeom prst="rect">
            <a:avLst/>
          </a:prstGeom>
          <a:solidFill>
            <a:srgbClr val="C8503F"/>
          </a:solidFill>
          <a:ln w="12700">
            <a:solidFill>
              <a:srgbClr val="C8503F"/>
            </a:solidFill>
            <a:prstDash val="solid"/>
          </a:ln>
        </p:spPr>
      </p:sp>
      <p:sp>
        <p:nvSpPr>
          <p:cNvPr id="70" name="Text 68"/>
          <p:cNvSpPr/>
          <p:nvPr/>
        </p:nvSpPr>
        <p:spPr>
          <a:xfrm>
            <a:off x="3210889" y="430682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Mon 5 Oct 2026</a:t>
            </a:r>
            <a:endParaRPr lang="en-US" sz="950" dirty="0"/>
          </a:p>
        </p:txBody>
      </p:sp>
      <p:sp>
        <p:nvSpPr>
          <p:cNvPr id="71" name="Text 69"/>
          <p:cNvSpPr/>
          <p:nvPr/>
        </p:nvSpPr>
        <p:spPr>
          <a:xfrm>
            <a:off x="3210889" y="455371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C8503F"/>
                </a:solidFill>
                <a:latin typeface="Calibri" pitchFamily="34" charset="0"/>
                <a:ea typeface="Calibri" pitchFamily="34" charset="-122"/>
                <a:cs typeface="Calibri" pitchFamily="34" charset="-120"/>
              </a:rPr>
              <a:t>Phase 1 – Suspension &amp; Site Assessment</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Detailed Action Plan Requested</a:t>
            </a:r>
            <a:endParaRPr lang="en-US" sz="650" dirty="0"/>
          </a:p>
        </p:txBody>
      </p:sp>
      <p:sp>
        <p:nvSpPr>
          <p:cNvPr id="72" name="Shape 70"/>
          <p:cNvSpPr/>
          <p:nvPr/>
        </p:nvSpPr>
        <p:spPr>
          <a:xfrm>
            <a:off x="4779085" y="2624328"/>
            <a:ext cx="0" cy="1005840"/>
          </a:xfrm>
          <a:prstGeom prst="line">
            <a:avLst/>
          </a:prstGeom>
          <a:noFill/>
          <a:ln w="19050">
            <a:solidFill>
              <a:srgbClr val="00778B">
                <a:alpha val="65000"/>
              </a:srgbClr>
            </a:solidFill>
            <a:prstDash val="solid"/>
          </a:ln>
        </p:spPr>
      </p:sp>
      <p:sp>
        <p:nvSpPr>
          <p:cNvPr id="73" name="Shape 71"/>
          <p:cNvSpPr/>
          <p:nvPr/>
        </p:nvSpPr>
        <p:spPr>
          <a:xfrm>
            <a:off x="4568773"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74" name="Text 72"/>
          <p:cNvSpPr/>
          <p:nvPr/>
        </p:nvSpPr>
        <p:spPr>
          <a:xfrm>
            <a:off x="4568773"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75" name="Shape 73"/>
          <p:cNvSpPr/>
          <p:nvPr/>
        </p:nvSpPr>
        <p:spPr>
          <a:xfrm>
            <a:off x="3770286"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76" name="Shape 74"/>
          <p:cNvSpPr/>
          <p:nvPr/>
        </p:nvSpPr>
        <p:spPr>
          <a:xfrm>
            <a:off x="3843438" y="1911096"/>
            <a:ext cx="1871293" cy="54864"/>
          </a:xfrm>
          <a:prstGeom prst="rect">
            <a:avLst/>
          </a:prstGeom>
          <a:solidFill>
            <a:srgbClr val="00778B"/>
          </a:solidFill>
          <a:ln w="12700">
            <a:solidFill>
              <a:srgbClr val="00778B"/>
            </a:solidFill>
            <a:prstDash val="solid"/>
          </a:ln>
        </p:spPr>
      </p:sp>
      <p:sp>
        <p:nvSpPr>
          <p:cNvPr id="77" name="Text 75"/>
          <p:cNvSpPr/>
          <p:nvPr/>
        </p:nvSpPr>
        <p:spPr>
          <a:xfrm>
            <a:off x="3861726" y="198424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Wed 7 Oct 2026</a:t>
            </a:r>
            <a:endParaRPr lang="en-US" sz="950" dirty="0"/>
          </a:p>
        </p:txBody>
      </p:sp>
      <p:sp>
        <p:nvSpPr>
          <p:cNvPr id="78" name="Text 76"/>
          <p:cNvSpPr/>
          <p:nvPr/>
        </p:nvSpPr>
        <p:spPr>
          <a:xfrm>
            <a:off x="3861726" y="223113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00778B"/>
                </a:solidFill>
                <a:latin typeface="Calibri" pitchFamily="34" charset="0"/>
                <a:ea typeface="Calibri" pitchFamily="34" charset="-122"/>
                <a:cs typeface="Calibri" pitchFamily="34" charset="-120"/>
              </a:rPr>
              <a:t>Phase 2 – Method Statement Preparation &amp; Review</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Method Statement (MoS) Submitted</a:t>
            </a:r>
            <a:endParaRPr lang="en-US" sz="650" dirty="0"/>
          </a:p>
        </p:txBody>
      </p:sp>
      <p:sp>
        <p:nvSpPr>
          <p:cNvPr id="79" name="Shape 77"/>
          <p:cNvSpPr/>
          <p:nvPr/>
        </p:nvSpPr>
        <p:spPr>
          <a:xfrm>
            <a:off x="5429922" y="4050792"/>
            <a:ext cx="0" cy="1005840"/>
          </a:xfrm>
          <a:prstGeom prst="line">
            <a:avLst/>
          </a:prstGeom>
          <a:noFill/>
          <a:ln w="19050">
            <a:solidFill>
              <a:srgbClr val="00778B">
                <a:alpha val="65000"/>
              </a:srgbClr>
            </a:solidFill>
            <a:prstDash val="solid"/>
          </a:ln>
        </p:spPr>
      </p:sp>
      <p:sp>
        <p:nvSpPr>
          <p:cNvPr id="80" name="Shape 78"/>
          <p:cNvSpPr/>
          <p:nvPr/>
        </p:nvSpPr>
        <p:spPr>
          <a:xfrm>
            <a:off x="5219610"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81" name="Text 79"/>
          <p:cNvSpPr/>
          <p:nvPr/>
        </p:nvSpPr>
        <p:spPr>
          <a:xfrm>
            <a:off x="5219610"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82" name="Shape 80"/>
          <p:cNvSpPr/>
          <p:nvPr/>
        </p:nvSpPr>
        <p:spPr>
          <a:xfrm>
            <a:off x="4421124"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83" name="Shape 81"/>
          <p:cNvSpPr/>
          <p:nvPr/>
        </p:nvSpPr>
        <p:spPr>
          <a:xfrm>
            <a:off x="4494276" y="5056632"/>
            <a:ext cx="1871293" cy="54864"/>
          </a:xfrm>
          <a:prstGeom prst="rect">
            <a:avLst/>
          </a:prstGeom>
          <a:solidFill>
            <a:srgbClr val="00778B"/>
          </a:solidFill>
          <a:ln w="12700">
            <a:solidFill>
              <a:srgbClr val="00778B"/>
            </a:solidFill>
            <a:prstDash val="solid"/>
          </a:ln>
        </p:spPr>
      </p:sp>
      <p:sp>
        <p:nvSpPr>
          <p:cNvPr id="84" name="Text 82"/>
          <p:cNvSpPr/>
          <p:nvPr/>
        </p:nvSpPr>
        <p:spPr>
          <a:xfrm>
            <a:off x="4512564" y="512978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Wed 7 Oct 2026</a:t>
            </a:r>
            <a:endParaRPr lang="en-US" sz="950" dirty="0"/>
          </a:p>
        </p:txBody>
      </p:sp>
      <p:sp>
        <p:nvSpPr>
          <p:cNvPr id="85" name="Text 83"/>
          <p:cNvSpPr/>
          <p:nvPr/>
        </p:nvSpPr>
        <p:spPr>
          <a:xfrm>
            <a:off x="4512564" y="537667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00778B"/>
                </a:solidFill>
                <a:latin typeface="Calibri" pitchFamily="34" charset="0"/>
                <a:ea typeface="Calibri" pitchFamily="34" charset="-122"/>
                <a:cs typeface="Calibri" pitchFamily="34" charset="-120"/>
              </a:rPr>
              <a:t>Phase 2 – Method Statement Preparation &amp; Review</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Stakeholders Meeting</a:t>
            </a:r>
            <a:endParaRPr lang="en-US" sz="650" dirty="0"/>
          </a:p>
        </p:txBody>
      </p:sp>
      <p:sp>
        <p:nvSpPr>
          <p:cNvPr id="86" name="Shape 84"/>
          <p:cNvSpPr/>
          <p:nvPr/>
        </p:nvSpPr>
        <p:spPr>
          <a:xfrm>
            <a:off x="6080760" y="3447288"/>
            <a:ext cx="0" cy="182880"/>
          </a:xfrm>
          <a:prstGeom prst="line">
            <a:avLst/>
          </a:prstGeom>
          <a:noFill/>
          <a:ln w="19050">
            <a:solidFill>
              <a:srgbClr val="00778B">
                <a:alpha val="65000"/>
              </a:srgbClr>
            </a:solidFill>
            <a:prstDash val="solid"/>
          </a:ln>
        </p:spPr>
      </p:sp>
      <p:sp>
        <p:nvSpPr>
          <p:cNvPr id="87" name="Shape 85"/>
          <p:cNvSpPr/>
          <p:nvPr/>
        </p:nvSpPr>
        <p:spPr>
          <a:xfrm>
            <a:off x="5870448"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88" name="Text 86"/>
          <p:cNvSpPr/>
          <p:nvPr/>
        </p:nvSpPr>
        <p:spPr>
          <a:xfrm>
            <a:off x="5870448"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89" name="Shape 87"/>
          <p:cNvSpPr/>
          <p:nvPr/>
        </p:nvSpPr>
        <p:spPr>
          <a:xfrm>
            <a:off x="5071962"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90" name="Shape 88"/>
          <p:cNvSpPr/>
          <p:nvPr/>
        </p:nvSpPr>
        <p:spPr>
          <a:xfrm>
            <a:off x="5145114" y="2734056"/>
            <a:ext cx="1871293" cy="54864"/>
          </a:xfrm>
          <a:prstGeom prst="rect">
            <a:avLst/>
          </a:prstGeom>
          <a:solidFill>
            <a:srgbClr val="00778B"/>
          </a:solidFill>
          <a:ln w="12700">
            <a:solidFill>
              <a:srgbClr val="00778B"/>
            </a:solidFill>
            <a:prstDash val="solid"/>
          </a:ln>
        </p:spPr>
      </p:sp>
      <p:sp>
        <p:nvSpPr>
          <p:cNvPr id="91" name="Text 89"/>
          <p:cNvSpPr/>
          <p:nvPr/>
        </p:nvSpPr>
        <p:spPr>
          <a:xfrm>
            <a:off x="5163402" y="280720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Thu 8 Oct 2026</a:t>
            </a:r>
            <a:endParaRPr lang="en-US" sz="950" dirty="0"/>
          </a:p>
        </p:txBody>
      </p:sp>
      <p:sp>
        <p:nvSpPr>
          <p:cNvPr id="92" name="Text 90"/>
          <p:cNvSpPr/>
          <p:nvPr/>
        </p:nvSpPr>
        <p:spPr>
          <a:xfrm>
            <a:off x="5163402" y="305409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00778B"/>
                </a:solidFill>
                <a:latin typeface="Calibri" pitchFamily="34" charset="0"/>
                <a:ea typeface="Calibri" pitchFamily="34" charset="-122"/>
                <a:cs typeface="Calibri" pitchFamily="34" charset="-120"/>
              </a:rPr>
              <a:t>Phase 2 – Method Statement Preparation &amp; Review</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Stakeholders’ Clarifications Answered</a:t>
            </a:r>
            <a:endParaRPr lang="en-US" sz="650" dirty="0"/>
          </a:p>
        </p:txBody>
      </p:sp>
      <p:sp>
        <p:nvSpPr>
          <p:cNvPr id="93" name="Shape 91"/>
          <p:cNvSpPr/>
          <p:nvPr/>
        </p:nvSpPr>
        <p:spPr>
          <a:xfrm>
            <a:off x="6731598" y="4050792"/>
            <a:ext cx="0" cy="182880"/>
          </a:xfrm>
          <a:prstGeom prst="line">
            <a:avLst/>
          </a:prstGeom>
          <a:noFill/>
          <a:ln w="19050">
            <a:solidFill>
              <a:srgbClr val="00778B">
                <a:alpha val="65000"/>
              </a:srgbClr>
            </a:solidFill>
            <a:prstDash val="solid"/>
          </a:ln>
        </p:spPr>
      </p:sp>
      <p:sp>
        <p:nvSpPr>
          <p:cNvPr id="94" name="Shape 92"/>
          <p:cNvSpPr/>
          <p:nvPr/>
        </p:nvSpPr>
        <p:spPr>
          <a:xfrm>
            <a:off x="6521286"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95" name="Text 93"/>
          <p:cNvSpPr/>
          <p:nvPr/>
        </p:nvSpPr>
        <p:spPr>
          <a:xfrm>
            <a:off x="6521286"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96" name="Shape 94"/>
          <p:cNvSpPr/>
          <p:nvPr/>
        </p:nvSpPr>
        <p:spPr>
          <a:xfrm>
            <a:off x="5722799"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97" name="Shape 95"/>
          <p:cNvSpPr/>
          <p:nvPr/>
        </p:nvSpPr>
        <p:spPr>
          <a:xfrm>
            <a:off x="5795951" y="4233672"/>
            <a:ext cx="1871293" cy="54864"/>
          </a:xfrm>
          <a:prstGeom prst="rect">
            <a:avLst/>
          </a:prstGeom>
          <a:solidFill>
            <a:srgbClr val="00778B"/>
          </a:solidFill>
          <a:ln w="12700">
            <a:solidFill>
              <a:srgbClr val="00778B"/>
            </a:solidFill>
            <a:prstDash val="solid"/>
          </a:ln>
        </p:spPr>
      </p:sp>
      <p:sp>
        <p:nvSpPr>
          <p:cNvPr id="98" name="Text 96"/>
          <p:cNvSpPr/>
          <p:nvPr/>
        </p:nvSpPr>
        <p:spPr>
          <a:xfrm>
            <a:off x="5814239" y="430682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Sun 11 Oct 2026</a:t>
            </a:r>
            <a:endParaRPr lang="en-US" sz="950" dirty="0"/>
          </a:p>
        </p:txBody>
      </p:sp>
      <p:sp>
        <p:nvSpPr>
          <p:cNvPr id="99" name="Text 97"/>
          <p:cNvSpPr/>
          <p:nvPr/>
        </p:nvSpPr>
        <p:spPr>
          <a:xfrm>
            <a:off x="5814239" y="455371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00778B"/>
                </a:solidFill>
                <a:latin typeface="Calibri" pitchFamily="34" charset="0"/>
                <a:ea typeface="Calibri" pitchFamily="34" charset="-122"/>
                <a:cs typeface="Calibri" pitchFamily="34" charset="-120"/>
              </a:rPr>
              <a:t>Phase 2 – Method Statement Preparation &amp; Review</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Engineering Clarification Received</a:t>
            </a:r>
            <a:endParaRPr lang="en-US" sz="650" dirty="0"/>
          </a:p>
        </p:txBody>
      </p:sp>
      <p:sp>
        <p:nvSpPr>
          <p:cNvPr id="100" name="Shape 98"/>
          <p:cNvSpPr/>
          <p:nvPr/>
        </p:nvSpPr>
        <p:spPr>
          <a:xfrm>
            <a:off x="7382435" y="2624328"/>
            <a:ext cx="0" cy="1005840"/>
          </a:xfrm>
          <a:prstGeom prst="line">
            <a:avLst/>
          </a:prstGeom>
          <a:noFill/>
          <a:ln w="19050">
            <a:solidFill>
              <a:srgbClr val="00778B">
                <a:alpha val="65000"/>
              </a:srgbClr>
            </a:solidFill>
            <a:prstDash val="solid"/>
          </a:ln>
        </p:spPr>
      </p:sp>
      <p:sp>
        <p:nvSpPr>
          <p:cNvPr id="101" name="Shape 99"/>
          <p:cNvSpPr/>
          <p:nvPr/>
        </p:nvSpPr>
        <p:spPr>
          <a:xfrm>
            <a:off x="7172123" y="3630168"/>
            <a:ext cx="420624" cy="420624"/>
          </a:xfrm>
          <a:prstGeom prst="ellipse">
            <a:avLst/>
          </a:prstGeom>
          <a:solidFill>
            <a:srgbClr val="00778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02" name="Text 100"/>
          <p:cNvSpPr/>
          <p:nvPr/>
        </p:nvSpPr>
        <p:spPr>
          <a:xfrm>
            <a:off x="7172123"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103" name="Shape 101"/>
          <p:cNvSpPr/>
          <p:nvPr/>
        </p:nvSpPr>
        <p:spPr>
          <a:xfrm>
            <a:off x="6373637"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04" name="Shape 102"/>
          <p:cNvSpPr/>
          <p:nvPr/>
        </p:nvSpPr>
        <p:spPr>
          <a:xfrm>
            <a:off x="6446789" y="1911096"/>
            <a:ext cx="1871293" cy="54864"/>
          </a:xfrm>
          <a:prstGeom prst="rect">
            <a:avLst/>
          </a:prstGeom>
          <a:solidFill>
            <a:srgbClr val="00778B"/>
          </a:solidFill>
          <a:ln w="12700">
            <a:solidFill>
              <a:srgbClr val="00778B"/>
            </a:solidFill>
            <a:prstDash val="solid"/>
          </a:ln>
        </p:spPr>
      </p:sp>
      <p:sp>
        <p:nvSpPr>
          <p:cNvPr id="105" name="Text 103"/>
          <p:cNvSpPr/>
          <p:nvPr/>
        </p:nvSpPr>
        <p:spPr>
          <a:xfrm>
            <a:off x="6465077" y="198424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Mon 12 Oct 2026</a:t>
            </a:r>
            <a:endParaRPr lang="en-US" sz="950" dirty="0"/>
          </a:p>
        </p:txBody>
      </p:sp>
      <p:sp>
        <p:nvSpPr>
          <p:cNvPr id="106" name="Text 104"/>
          <p:cNvSpPr/>
          <p:nvPr/>
        </p:nvSpPr>
        <p:spPr>
          <a:xfrm>
            <a:off x="6465077" y="223113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00778B"/>
                </a:solidFill>
                <a:latin typeface="Calibri" pitchFamily="34" charset="0"/>
                <a:ea typeface="Calibri" pitchFamily="34" charset="-122"/>
                <a:cs typeface="Calibri" pitchFamily="34" charset="-120"/>
              </a:rPr>
              <a:t>Phase 2 – Method Statement Preparation &amp; Review</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MoS Revision 2 Submitted</a:t>
            </a:r>
            <a:endParaRPr lang="en-US" sz="650" dirty="0"/>
          </a:p>
        </p:txBody>
      </p:sp>
      <p:sp>
        <p:nvSpPr>
          <p:cNvPr id="107" name="Shape 105"/>
          <p:cNvSpPr/>
          <p:nvPr/>
        </p:nvSpPr>
        <p:spPr>
          <a:xfrm>
            <a:off x="8033273" y="4050792"/>
            <a:ext cx="0" cy="1005840"/>
          </a:xfrm>
          <a:prstGeom prst="line">
            <a:avLst/>
          </a:prstGeom>
          <a:noFill/>
          <a:ln w="19050">
            <a:solidFill>
              <a:srgbClr val="2E9E6B">
                <a:alpha val="65000"/>
              </a:srgbClr>
            </a:solidFill>
            <a:prstDash val="solid"/>
          </a:ln>
        </p:spPr>
      </p:sp>
      <p:sp>
        <p:nvSpPr>
          <p:cNvPr id="108" name="Shape 106"/>
          <p:cNvSpPr/>
          <p:nvPr/>
        </p:nvSpPr>
        <p:spPr>
          <a:xfrm>
            <a:off x="7822961"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09" name="Text 107"/>
          <p:cNvSpPr/>
          <p:nvPr/>
        </p:nvSpPr>
        <p:spPr>
          <a:xfrm>
            <a:off x="7822961"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10" name="Shape 108"/>
          <p:cNvSpPr/>
          <p:nvPr/>
        </p:nvSpPr>
        <p:spPr>
          <a:xfrm>
            <a:off x="7024475"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11" name="Shape 109"/>
          <p:cNvSpPr/>
          <p:nvPr/>
        </p:nvSpPr>
        <p:spPr>
          <a:xfrm>
            <a:off x="7097627" y="5056632"/>
            <a:ext cx="1871293" cy="54864"/>
          </a:xfrm>
          <a:prstGeom prst="rect">
            <a:avLst/>
          </a:prstGeom>
          <a:solidFill>
            <a:srgbClr val="2E9E6B"/>
          </a:solidFill>
          <a:ln w="12700">
            <a:solidFill>
              <a:srgbClr val="2E9E6B"/>
            </a:solidFill>
            <a:prstDash val="solid"/>
          </a:ln>
        </p:spPr>
      </p:sp>
      <p:sp>
        <p:nvSpPr>
          <p:cNvPr id="112" name="Text 110"/>
          <p:cNvSpPr/>
          <p:nvPr/>
        </p:nvSpPr>
        <p:spPr>
          <a:xfrm>
            <a:off x="7115915" y="512978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Tue 13 Oct 2026</a:t>
            </a:r>
            <a:endParaRPr lang="en-US" sz="950" dirty="0"/>
          </a:p>
        </p:txBody>
      </p:sp>
      <p:sp>
        <p:nvSpPr>
          <p:cNvPr id="113" name="Text 111"/>
          <p:cNvSpPr/>
          <p:nvPr/>
        </p:nvSpPr>
        <p:spPr>
          <a:xfrm>
            <a:off x="7115915" y="537667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Safety Department Contacted</a:t>
            </a:r>
            <a:endParaRPr lang="en-US" sz="650" dirty="0"/>
          </a:p>
        </p:txBody>
      </p:sp>
      <p:sp>
        <p:nvSpPr>
          <p:cNvPr id="114" name="Shape 112"/>
          <p:cNvSpPr/>
          <p:nvPr/>
        </p:nvSpPr>
        <p:spPr>
          <a:xfrm>
            <a:off x="8684111" y="3447288"/>
            <a:ext cx="0" cy="182880"/>
          </a:xfrm>
          <a:prstGeom prst="line">
            <a:avLst/>
          </a:prstGeom>
          <a:noFill/>
          <a:ln w="19050">
            <a:solidFill>
              <a:srgbClr val="2E9E6B">
                <a:alpha val="65000"/>
              </a:srgbClr>
            </a:solidFill>
            <a:prstDash val="solid"/>
          </a:ln>
        </p:spPr>
      </p:sp>
      <p:sp>
        <p:nvSpPr>
          <p:cNvPr id="115" name="Shape 113"/>
          <p:cNvSpPr/>
          <p:nvPr/>
        </p:nvSpPr>
        <p:spPr>
          <a:xfrm>
            <a:off x="8473799"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16" name="Text 114"/>
          <p:cNvSpPr/>
          <p:nvPr/>
        </p:nvSpPr>
        <p:spPr>
          <a:xfrm>
            <a:off x="8473799"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117" name="Shape 115"/>
          <p:cNvSpPr/>
          <p:nvPr/>
        </p:nvSpPr>
        <p:spPr>
          <a:xfrm>
            <a:off x="7675312"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18" name="Shape 116"/>
          <p:cNvSpPr/>
          <p:nvPr/>
        </p:nvSpPr>
        <p:spPr>
          <a:xfrm>
            <a:off x="7748464" y="2734056"/>
            <a:ext cx="1871293" cy="54864"/>
          </a:xfrm>
          <a:prstGeom prst="rect">
            <a:avLst/>
          </a:prstGeom>
          <a:solidFill>
            <a:srgbClr val="2E9E6B"/>
          </a:solidFill>
          <a:ln w="12700">
            <a:solidFill>
              <a:srgbClr val="2E9E6B"/>
            </a:solidFill>
            <a:prstDash val="solid"/>
          </a:ln>
        </p:spPr>
      </p:sp>
      <p:sp>
        <p:nvSpPr>
          <p:cNvPr id="119" name="Text 117"/>
          <p:cNvSpPr/>
          <p:nvPr/>
        </p:nvSpPr>
        <p:spPr>
          <a:xfrm>
            <a:off x="7766752" y="280720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Wed 14 Oct 2026</a:t>
            </a:r>
            <a:endParaRPr lang="en-US" sz="950" dirty="0"/>
          </a:p>
        </p:txBody>
      </p:sp>
      <p:sp>
        <p:nvSpPr>
          <p:cNvPr id="120" name="Text 118"/>
          <p:cNvSpPr/>
          <p:nvPr/>
        </p:nvSpPr>
        <p:spPr>
          <a:xfrm>
            <a:off x="7766752" y="305409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Permit Circulated for Approvals</a:t>
            </a:r>
            <a:endParaRPr lang="en-US" sz="650" dirty="0"/>
          </a:p>
        </p:txBody>
      </p:sp>
      <p:sp>
        <p:nvSpPr>
          <p:cNvPr id="121" name="Shape 119"/>
          <p:cNvSpPr/>
          <p:nvPr/>
        </p:nvSpPr>
        <p:spPr>
          <a:xfrm>
            <a:off x="9334948" y="4050792"/>
            <a:ext cx="0" cy="182880"/>
          </a:xfrm>
          <a:prstGeom prst="line">
            <a:avLst/>
          </a:prstGeom>
          <a:noFill/>
          <a:ln w="19050">
            <a:solidFill>
              <a:srgbClr val="2E9E6B">
                <a:alpha val="65000"/>
              </a:srgbClr>
            </a:solidFill>
            <a:prstDash val="solid"/>
          </a:ln>
        </p:spPr>
      </p:sp>
      <p:sp>
        <p:nvSpPr>
          <p:cNvPr id="122" name="Shape 120"/>
          <p:cNvSpPr/>
          <p:nvPr/>
        </p:nvSpPr>
        <p:spPr>
          <a:xfrm>
            <a:off x="9124636"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23" name="Text 121"/>
          <p:cNvSpPr/>
          <p:nvPr/>
        </p:nvSpPr>
        <p:spPr>
          <a:xfrm>
            <a:off x="9124636"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124" name="Shape 122"/>
          <p:cNvSpPr/>
          <p:nvPr/>
        </p:nvSpPr>
        <p:spPr>
          <a:xfrm>
            <a:off x="8326150" y="423367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25" name="Shape 123"/>
          <p:cNvSpPr/>
          <p:nvPr/>
        </p:nvSpPr>
        <p:spPr>
          <a:xfrm>
            <a:off x="8399302" y="4233672"/>
            <a:ext cx="1871293" cy="54864"/>
          </a:xfrm>
          <a:prstGeom prst="rect">
            <a:avLst/>
          </a:prstGeom>
          <a:solidFill>
            <a:srgbClr val="2E9E6B"/>
          </a:solidFill>
          <a:ln w="12700">
            <a:solidFill>
              <a:srgbClr val="2E9E6B"/>
            </a:solidFill>
            <a:prstDash val="solid"/>
          </a:ln>
        </p:spPr>
      </p:sp>
      <p:sp>
        <p:nvSpPr>
          <p:cNvPr id="126" name="Text 124"/>
          <p:cNvSpPr/>
          <p:nvPr/>
        </p:nvSpPr>
        <p:spPr>
          <a:xfrm>
            <a:off x="8417590" y="430682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Thu 15 Oct 2026</a:t>
            </a:r>
            <a:endParaRPr lang="en-US" sz="950" dirty="0"/>
          </a:p>
        </p:txBody>
      </p:sp>
      <p:sp>
        <p:nvSpPr>
          <p:cNvPr id="127" name="Text 125"/>
          <p:cNvSpPr/>
          <p:nvPr/>
        </p:nvSpPr>
        <p:spPr>
          <a:xfrm>
            <a:off x="8417590" y="455371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Further Department Comments</a:t>
            </a:r>
            <a:endParaRPr lang="en-US" sz="650" dirty="0"/>
          </a:p>
        </p:txBody>
      </p:sp>
      <p:sp>
        <p:nvSpPr>
          <p:cNvPr id="128" name="Shape 126"/>
          <p:cNvSpPr/>
          <p:nvPr/>
        </p:nvSpPr>
        <p:spPr>
          <a:xfrm>
            <a:off x="9985786" y="2624328"/>
            <a:ext cx="0" cy="1005840"/>
          </a:xfrm>
          <a:prstGeom prst="line">
            <a:avLst/>
          </a:prstGeom>
          <a:noFill/>
          <a:ln w="19050">
            <a:solidFill>
              <a:srgbClr val="2E9E6B">
                <a:alpha val="65000"/>
              </a:srgbClr>
            </a:solidFill>
            <a:prstDash val="solid"/>
          </a:ln>
        </p:spPr>
      </p:sp>
      <p:sp>
        <p:nvSpPr>
          <p:cNvPr id="129" name="Shape 127"/>
          <p:cNvSpPr/>
          <p:nvPr/>
        </p:nvSpPr>
        <p:spPr>
          <a:xfrm>
            <a:off x="9775474"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30" name="Text 128"/>
          <p:cNvSpPr/>
          <p:nvPr/>
        </p:nvSpPr>
        <p:spPr>
          <a:xfrm>
            <a:off x="9775474"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131" name="Shape 129"/>
          <p:cNvSpPr/>
          <p:nvPr/>
        </p:nvSpPr>
        <p:spPr>
          <a:xfrm>
            <a:off x="8976988" y="191109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32" name="Shape 130"/>
          <p:cNvSpPr/>
          <p:nvPr/>
        </p:nvSpPr>
        <p:spPr>
          <a:xfrm>
            <a:off x="9050140" y="1911096"/>
            <a:ext cx="1871293" cy="54864"/>
          </a:xfrm>
          <a:prstGeom prst="rect">
            <a:avLst/>
          </a:prstGeom>
          <a:solidFill>
            <a:srgbClr val="2E9E6B"/>
          </a:solidFill>
          <a:ln w="12700">
            <a:solidFill>
              <a:srgbClr val="2E9E6B"/>
            </a:solidFill>
            <a:prstDash val="solid"/>
          </a:ln>
        </p:spPr>
      </p:sp>
      <p:sp>
        <p:nvSpPr>
          <p:cNvPr id="133" name="Text 131"/>
          <p:cNvSpPr/>
          <p:nvPr/>
        </p:nvSpPr>
        <p:spPr>
          <a:xfrm>
            <a:off x="9068428" y="198424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Mon 19 Oct 2026</a:t>
            </a:r>
            <a:endParaRPr lang="en-US" sz="950" dirty="0"/>
          </a:p>
        </p:txBody>
      </p:sp>
      <p:sp>
        <p:nvSpPr>
          <p:cNvPr id="134" name="Text 132"/>
          <p:cNvSpPr/>
          <p:nvPr/>
        </p:nvSpPr>
        <p:spPr>
          <a:xfrm>
            <a:off x="9068428" y="223113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MoS Revision 3 Submitted</a:t>
            </a:r>
            <a:endParaRPr lang="en-US" sz="650" dirty="0"/>
          </a:p>
        </p:txBody>
      </p:sp>
      <p:sp>
        <p:nvSpPr>
          <p:cNvPr id="135" name="Shape 133"/>
          <p:cNvSpPr/>
          <p:nvPr/>
        </p:nvSpPr>
        <p:spPr>
          <a:xfrm>
            <a:off x="10636624" y="4050792"/>
            <a:ext cx="0" cy="1005840"/>
          </a:xfrm>
          <a:prstGeom prst="line">
            <a:avLst/>
          </a:prstGeom>
          <a:noFill/>
          <a:ln w="19050">
            <a:solidFill>
              <a:srgbClr val="2E9E6B">
                <a:alpha val="65000"/>
              </a:srgbClr>
            </a:solidFill>
            <a:prstDash val="solid"/>
          </a:ln>
        </p:spPr>
      </p:sp>
      <p:sp>
        <p:nvSpPr>
          <p:cNvPr id="136" name="Shape 134"/>
          <p:cNvSpPr/>
          <p:nvPr/>
        </p:nvSpPr>
        <p:spPr>
          <a:xfrm>
            <a:off x="10426312"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37" name="Text 135"/>
          <p:cNvSpPr/>
          <p:nvPr/>
        </p:nvSpPr>
        <p:spPr>
          <a:xfrm>
            <a:off x="10426312"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16</a:t>
            </a:r>
            <a:endParaRPr lang="en-US" sz="1100" dirty="0"/>
          </a:p>
        </p:txBody>
      </p:sp>
      <p:sp>
        <p:nvSpPr>
          <p:cNvPr id="138" name="Shape 136"/>
          <p:cNvSpPr/>
          <p:nvPr/>
        </p:nvSpPr>
        <p:spPr>
          <a:xfrm>
            <a:off x="9627825" y="5056632"/>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39" name="Shape 137"/>
          <p:cNvSpPr/>
          <p:nvPr/>
        </p:nvSpPr>
        <p:spPr>
          <a:xfrm>
            <a:off x="9700977" y="5056632"/>
            <a:ext cx="1871293" cy="54864"/>
          </a:xfrm>
          <a:prstGeom prst="rect">
            <a:avLst/>
          </a:prstGeom>
          <a:solidFill>
            <a:srgbClr val="2E9E6B"/>
          </a:solidFill>
          <a:ln w="12700">
            <a:solidFill>
              <a:srgbClr val="2E9E6B"/>
            </a:solidFill>
            <a:prstDash val="solid"/>
          </a:ln>
        </p:spPr>
      </p:sp>
      <p:sp>
        <p:nvSpPr>
          <p:cNvPr id="140" name="Text 138"/>
          <p:cNvSpPr/>
          <p:nvPr/>
        </p:nvSpPr>
        <p:spPr>
          <a:xfrm>
            <a:off x="9719265" y="5129784"/>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Tue 20 Oct 2026</a:t>
            </a:r>
            <a:endParaRPr lang="en-US" sz="950" dirty="0"/>
          </a:p>
        </p:txBody>
      </p:sp>
      <p:sp>
        <p:nvSpPr>
          <p:cNvPr id="141" name="Text 139"/>
          <p:cNvSpPr/>
          <p:nvPr/>
        </p:nvSpPr>
        <p:spPr>
          <a:xfrm>
            <a:off x="9719265" y="5376672"/>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Last Clarification Cleared</a:t>
            </a:r>
            <a:endParaRPr lang="en-US" sz="650" dirty="0"/>
          </a:p>
        </p:txBody>
      </p:sp>
      <p:sp>
        <p:nvSpPr>
          <p:cNvPr id="142" name="Shape 140"/>
          <p:cNvSpPr/>
          <p:nvPr/>
        </p:nvSpPr>
        <p:spPr>
          <a:xfrm>
            <a:off x="11287461" y="3447288"/>
            <a:ext cx="0" cy="182880"/>
          </a:xfrm>
          <a:prstGeom prst="line">
            <a:avLst/>
          </a:prstGeom>
          <a:noFill/>
          <a:ln w="19050">
            <a:solidFill>
              <a:srgbClr val="2E9E6B">
                <a:alpha val="65000"/>
              </a:srgbClr>
            </a:solidFill>
            <a:prstDash val="solid"/>
          </a:ln>
        </p:spPr>
      </p:sp>
      <p:sp>
        <p:nvSpPr>
          <p:cNvPr id="143" name="Shape 141"/>
          <p:cNvSpPr/>
          <p:nvPr/>
        </p:nvSpPr>
        <p:spPr>
          <a:xfrm>
            <a:off x="11077149" y="3630168"/>
            <a:ext cx="420624" cy="420624"/>
          </a:xfrm>
          <a:prstGeom prst="ellipse">
            <a:avLst/>
          </a:prstGeom>
          <a:solidFill>
            <a:srgbClr val="2E9E6B"/>
          </a:solidFill>
          <a:ln w="31750">
            <a:solidFill>
              <a:srgbClr val="FFFFFF"/>
            </a:solidFill>
            <a:prstDash val="solid"/>
          </a:ln>
          <a:effectLst>
            <a:outerShdw sx="100000" sy="100000" kx="0" ky="0" algn="bl" rotWithShape="0" blurRad="50800" dist="19050" dir="5400000">
              <a:srgbClr val="000000">
                <a:alpha val="25000"/>
              </a:srgbClr>
            </a:outerShdw>
          </a:effectLst>
        </p:spPr>
      </p:sp>
      <p:sp>
        <p:nvSpPr>
          <p:cNvPr id="144" name="Text 142"/>
          <p:cNvSpPr/>
          <p:nvPr/>
        </p:nvSpPr>
        <p:spPr>
          <a:xfrm>
            <a:off x="11077149" y="3630168"/>
            <a:ext cx="420624" cy="420624"/>
          </a:xfrm>
          <a:prstGeom prst="rect">
            <a:avLst/>
          </a:prstGeom>
          <a:noFill/>
          <a:ln/>
        </p:spPr>
        <p:txBody>
          <a:bodyPr wrap="square" lIns="0" tIns="0" rIns="0" bIns="0" rtlCol="0" anchor="ctr">
            <a:normAutofit/>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17</a:t>
            </a:r>
            <a:endParaRPr lang="en-US" sz="1100" dirty="0"/>
          </a:p>
        </p:txBody>
      </p:sp>
      <p:sp>
        <p:nvSpPr>
          <p:cNvPr id="145" name="Shape 143"/>
          <p:cNvSpPr/>
          <p:nvPr/>
        </p:nvSpPr>
        <p:spPr>
          <a:xfrm>
            <a:off x="9899778" y="2734056"/>
            <a:ext cx="2017597" cy="713232"/>
          </a:xfrm>
          <a:prstGeom prst="roundRect">
            <a:avLst>
              <a:gd name="adj" fmla="val 10256"/>
            </a:avLst>
          </a:prstGeom>
          <a:solidFill>
            <a:srgbClr val="FFFFFF"/>
          </a:solidFill>
          <a:ln w="9525">
            <a:solidFill>
              <a:srgbClr val="DFE6EA"/>
            </a:solidFill>
            <a:prstDash val="solid"/>
          </a:ln>
          <a:effectLst>
            <a:outerShdw sx="100000" sy="100000" kx="0" ky="0" algn="bl" rotWithShape="0" blurRad="76200" dist="25400" dir="5400000">
              <a:srgbClr val="000000">
                <a:alpha val="14000"/>
              </a:srgbClr>
            </a:outerShdw>
          </a:effectLst>
        </p:spPr>
      </p:sp>
      <p:sp>
        <p:nvSpPr>
          <p:cNvPr id="146" name="Shape 144"/>
          <p:cNvSpPr/>
          <p:nvPr/>
        </p:nvSpPr>
        <p:spPr>
          <a:xfrm>
            <a:off x="9972930" y="2734056"/>
            <a:ext cx="1871293" cy="54864"/>
          </a:xfrm>
          <a:prstGeom prst="rect">
            <a:avLst/>
          </a:prstGeom>
          <a:solidFill>
            <a:srgbClr val="2E9E6B"/>
          </a:solidFill>
          <a:ln w="12700">
            <a:solidFill>
              <a:srgbClr val="2E9E6B"/>
            </a:solidFill>
            <a:prstDash val="solid"/>
          </a:ln>
        </p:spPr>
      </p:sp>
      <p:sp>
        <p:nvSpPr>
          <p:cNvPr id="147" name="Text 145"/>
          <p:cNvSpPr/>
          <p:nvPr/>
        </p:nvSpPr>
        <p:spPr>
          <a:xfrm>
            <a:off x="9991218" y="2807208"/>
            <a:ext cx="1834717" cy="210312"/>
          </a:xfrm>
          <a:prstGeom prst="rect">
            <a:avLst/>
          </a:prstGeom>
          <a:noFill/>
          <a:ln/>
        </p:spPr>
        <p:txBody>
          <a:bodyPr wrap="square" lIns="0" tIns="0" rIns="0" bIns="0" rtlCol="0" anchor="ctr">
            <a:normAutofit/>
          </a:bodyPr>
          <a:lstStyle/>
          <a:p>
            <a:pPr algn="l" indent="0" marL="0">
              <a:buNone/>
            </a:pPr>
            <a:r>
              <a:rPr lang="en-US" altLang="en-US" sz="950" b="1" dirty="0">
                <a:solidFill>
                  <a:srgbClr val="3D3935"/>
                </a:solidFill>
                <a:latin typeface="Calibri" pitchFamily="34" charset="0"/>
                <a:ea typeface="Calibri" pitchFamily="34" charset="-122"/>
                <a:cs typeface="Calibri" pitchFamily="34" charset="-120"/>
              </a:rPr>
              <a:t>Wed 21 Oct 2026</a:t>
            </a:r>
            <a:endParaRPr lang="en-US" sz="950" dirty="0"/>
          </a:p>
        </p:txBody>
      </p:sp>
      <p:sp>
        <p:nvSpPr>
          <p:cNvPr id="148" name="Text 146"/>
          <p:cNvSpPr/>
          <p:nvPr/>
        </p:nvSpPr>
        <p:spPr>
          <a:xfrm>
            <a:off x="9991218" y="3054096"/>
            <a:ext cx="1834717" cy="338328"/>
          </a:xfrm>
          <a:prstGeom prst="rect">
            <a:avLst/>
          </a:prstGeom>
          <a:noFill/>
          <a:ln/>
        </p:spPr>
        <p:txBody>
          <a:bodyPr wrap="square" lIns="0" tIns="0" rIns="0" bIns="0" rtlCol="0" anchor="t">
            <a:normAutofit/>
          </a:bodyPr>
          <a:lstStyle/>
          <a:p>
            <a:pPr algn="l" indent="0" marL="0">
              <a:spcAft>
                <a:spcPts val="100"/>
              </a:spcAft>
              <a:buNone/>
            </a:pPr>
            <a:r>
              <a:rPr lang="en-US" altLang="en-US" sz="650" b="1" dirty="0">
                <a:solidFill>
                  <a:srgbClr val="2E9E6B"/>
                </a:solidFill>
                <a:latin typeface="Calibri" pitchFamily="34" charset="0"/>
                <a:ea typeface="Calibri" pitchFamily="34" charset="-122"/>
                <a:cs typeface="Calibri" pitchFamily="34" charset="-120"/>
              </a:rPr>
              <a:t>Phase 3 – Work Permit Issuance</a:t>
            </a:r>
            <a:endParaRPr lang="en-US" sz="650" dirty="0"/>
          </a:p>
          <a:p>
            <a:pPr algn="l" indent="0" marL="0">
              <a:spcAft>
                <a:spcPts val="100"/>
              </a:spcAft>
              <a:buNone/>
            </a:pPr>
            <a:r>
              <a:rPr lang="en-US" altLang="en-US" sz="900" b="1" dirty="0">
                <a:solidFill>
                  <a:srgbClr val="3D3935"/>
                </a:solidFill>
                <a:latin typeface="Calibri" pitchFamily="34" charset="0"/>
                <a:ea typeface="Calibri" pitchFamily="34" charset="-122"/>
                <a:cs typeface="Calibri" pitchFamily="34" charset="-120"/>
              </a:rPr>
              <a:t>Work Permit Ready for Signature</a:t>
            </a:r>
            <a:endParaRPr lang="en-US" sz="650" dirty="0"/>
          </a:p>
        </p:txBody>
      </p:sp>
      <p:sp>
        <p:nvSpPr>
          <p:cNvPr id="25" name="Slide Number Placeholder 0"/>
          <p:cNvSpPr>
            <a:spLocks noGrp="1"/>
          </p:cNvSpPr>
          <p:nvPr>
            <p:ph type="sldNum" sz="quarter" idx="4294967295"/>
          </p:nvPr>
        </p:nvSpPr>
        <p:spPr>
          <a:xfrm>
            <a:off x="11323015"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09728"/>
            <a:ext cx="10134295" cy="457200"/>
          </a:xfrm>
          <a:prstGeom prst="rect">
            <a:avLst/>
          </a:prstGeom>
          <a:noFill/>
          <a:ln/>
        </p:spPr>
        <p:txBody>
          <a:bodyPr wrap="square" lIns="0" tIns="0" rIns="0" bIns="0" rtlCol="0" anchor="ctr">
            <a:normAutofit/>
          </a:bodyPr>
          <a:lstStyle/>
          <a:p>
            <a:pPr algn="l" indent="0" marL="0">
              <a:buNone/>
            </a:pPr>
            <a:r>
              <a:rPr lang="en-US" altLang="en-US" sz="2400" b="1" dirty="0">
                <a:solidFill>
                  <a:srgbClr val="3D3935"/>
                </a:solidFill>
                <a:latin typeface="Calibri" pitchFamily="34" charset="0"/>
                <a:ea typeface="Calibri" pitchFamily="34" charset="-122"/>
                <a:cs typeface="Calibri" pitchFamily="34" charset="-120"/>
              </a:rPr>
              <a:t>Remaining Works – Shoring &amp; Pit Works Programme</a:t>
            </a:r>
            <a:endParaRPr lang="en-US" sz="2400" dirty="0"/>
          </a:p>
        </p:txBody>
      </p:sp>
      <p:sp>
        <p:nvSpPr>
          <p:cNvPr id="3" name="Text 1"/>
          <p:cNvSpPr/>
          <p:nvPr/>
        </p:nvSpPr>
        <p:spPr>
          <a:xfrm>
            <a:off x="365760" y="548640"/>
            <a:ext cx="10134295" cy="256032"/>
          </a:xfrm>
          <a:prstGeom prst="rect">
            <a:avLst/>
          </a:prstGeom>
          <a:noFill/>
          <a:ln/>
        </p:spPr>
        <p:txBody>
          <a:bodyPr wrap="square" lIns="0" tIns="0" rIns="0" bIns="0" rtlCol="0" anchor="ctr">
            <a:normAutofit/>
          </a:bodyPr>
          <a:lstStyle/>
          <a:p>
            <a:pPr algn="l" indent="0" marL="0">
              <a:buNone/>
            </a:pPr>
            <a:r>
              <a:rPr lang="en-US" altLang="en-US" sz="1200" dirty="0">
                <a:solidFill>
                  <a:srgbClr val="66707A"/>
                </a:solidFill>
                <a:latin typeface="Calibri" pitchFamily="34" charset="0"/>
                <a:ea typeface="Calibri" pitchFamily="34" charset="-122"/>
                <a:cs typeface="Calibri" pitchFamily="34" charset="-120"/>
              </a:rPr>
              <a:t>RYDN-WLB pit works · Proposed by Gulf Development Company for Contracting · Rev 01 · 12 Oct 2026</a:t>
            </a:r>
            <a:endParaRPr lang="en-US" sz="1200" dirty="0"/>
          </a:p>
        </p:txBody>
      </p:sp>
      <p:sp>
        <p:nvSpPr>
          <p:cNvPr id="4" name="Shape 2"/>
          <p:cNvSpPr/>
          <p:nvPr/>
        </p:nvSpPr>
        <p:spPr>
          <a:xfrm>
            <a:off x="365760" y="1069848"/>
            <a:ext cx="274320" cy="109728"/>
          </a:xfrm>
          <a:prstGeom prst="roundRect">
            <a:avLst>
              <a:gd name="adj" fmla="val 25000"/>
            </a:avLst>
          </a:prstGeom>
          <a:solidFill>
            <a:srgbClr val="00778B"/>
          </a:solidFill>
          <a:ln w="19050">
            <a:solidFill>
              <a:srgbClr val="222222"/>
            </a:solidFill>
            <a:prstDash val="solid"/>
          </a:ln>
        </p:spPr>
      </p:sp>
      <p:sp>
        <p:nvSpPr>
          <p:cNvPr id="5" name="Text 3"/>
          <p:cNvSpPr/>
          <p:nvPr/>
        </p:nvSpPr>
        <p:spPr>
          <a:xfrm>
            <a:off x="694944" y="1005840"/>
            <a:ext cx="1055218"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Critical path</a:t>
            </a:r>
            <a:endParaRPr lang="en-US" sz="900" dirty="0"/>
          </a:p>
        </p:txBody>
      </p:sp>
      <p:sp>
        <p:nvSpPr>
          <p:cNvPr id="6" name="Shape 4"/>
          <p:cNvSpPr/>
          <p:nvPr/>
        </p:nvSpPr>
        <p:spPr>
          <a:xfrm>
            <a:off x="1695298" y="1069848"/>
            <a:ext cx="274320" cy="109728"/>
          </a:xfrm>
          <a:prstGeom prst="roundRect">
            <a:avLst>
              <a:gd name="adj" fmla="val 25000"/>
            </a:avLst>
          </a:prstGeom>
          <a:solidFill>
            <a:srgbClr val="00778B"/>
          </a:solidFill>
          <a:ln w="12700">
            <a:solidFill>
              <a:srgbClr val="00778B"/>
            </a:solidFill>
            <a:prstDash val="solid"/>
          </a:ln>
        </p:spPr>
      </p:sp>
      <p:sp>
        <p:nvSpPr>
          <p:cNvPr id="7" name="Text 5"/>
          <p:cNvSpPr/>
          <p:nvPr/>
        </p:nvSpPr>
        <p:spPr>
          <a:xfrm>
            <a:off x="2024482" y="1005840"/>
            <a:ext cx="1956816"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Activity (colour = work group)</a:t>
            </a:r>
            <a:endParaRPr lang="en-US" sz="900" dirty="0"/>
          </a:p>
        </p:txBody>
      </p:sp>
      <p:sp>
        <p:nvSpPr>
          <p:cNvPr id="8" name="Shape 6"/>
          <p:cNvSpPr/>
          <p:nvPr/>
        </p:nvSpPr>
        <p:spPr>
          <a:xfrm>
            <a:off x="3926434" y="1060704"/>
            <a:ext cx="128016" cy="128016"/>
          </a:xfrm>
          <a:prstGeom prst="diamond">
            <a:avLst/>
          </a:prstGeom>
          <a:solidFill>
            <a:srgbClr val="3D3935"/>
          </a:solidFill>
          <a:ln w="12700">
            <a:solidFill>
              <a:srgbClr val="3D3935"/>
            </a:solidFill>
            <a:prstDash val="solid"/>
          </a:ln>
        </p:spPr>
      </p:sp>
      <p:sp>
        <p:nvSpPr>
          <p:cNvPr id="9" name="Text 7"/>
          <p:cNvSpPr/>
          <p:nvPr/>
        </p:nvSpPr>
        <p:spPr>
          <a:xfrm>
            <a:off x="4255618" y="1005840"/>
            <a:ext cx="843077"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Milestone</a:t>
            </a:r>
            <a:endParaRPr lang="en-US" sz="900" dirty="0"/>
          </a:p>
        </p:txBody>
      </p:sp>
      <p:sp>
        <p:nvSpPr>
          <p:cNvPr id="10" name="Shape 8"/>
          <p:cNvSpPr/>
          <p:nvPr/>
        </p:nvSpPr>
        <p:spPr>
          <a:xfrm>
            <a:off x="5043830" y="1060704"/>
            <a:ext cx="182880" cy="128016"/>
          </a:xfrm>
          <a:prstGeom prst="rect">
            <a:avLst/>
          </a:prstGeom>
          <a:solidFill>
            <a:srgbClr val="CFD8DC"/>
          </a:solidFill>
          <a:ln w="12700">
            <a:solidFill>
              <a:srgbClr val="CFD8DC"/>
            </a:solidFill>
            <a:prstDash val="solid"/>
          </a:ln>
        </p:spPr>
      </p:sp>
      <p:sp>
        <p:nvSpPr>
          <p:cNvPr id="11" name="Text 9"/>
          <p:cNvSpPr/>
          <p:nvPr/>
        </p:nvSpPr>
        <p:spPr>
          <a:xfrm>
            <a:off x="5373014" y="1005840"/>
            <a:ext cx="1161288"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Non-working day</a:t>
            </a:r>
            <a:endParaRPr lang="en-US" sz="900" dirty="0"/>
          </a:p>
        </p:txBody>
      </p:sp>
      <p:sp>
        <p:nvSpPr>
          <p:cNvPr id="12" name="Shape 10"/>
          <p:cNvSpPr/>
          <p:nvPr/>
        </p:nvSpPr>
        <p:spPr>
          <a:xfrm>
            <a:off x="6525158" y="1042416"/>
            <a:ext cx="0" cy="164592"/>
          </a:xfrm>
          <a:prstGeom prst="line">
            <a:avLst/>
          </a:prstGeom>
          <a:noFill/>
          <a:ln w="22225">
            <a:solidFill>
              <a:srgbClr val="C8503F"/>
            </a:solidFill>
            <a:prstDash val="dash"/>
          </a:ln>
        </p:spPr>
      </p:sp>
      <p:sp>
        <p:nvSpPr>
          <p:cNvPr id="13" name="Text 11"/>
          <p:cNvSpPr/>
          <p:nvPr/>
        </p:nvSpPr>
        <p:spPr>
          <a:xfrm>
            <a:off x="6808622" y="1005840"/>
            <a:ext cx="949147"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Status date</a:t>
            </a:r>
            <a:endParaRPr lang="en-US" sz="900" dirty="0"/>
          </a:p>
        </p:txBody>
      </p:sp>
      <p:sp>
        <p:nvSpPr>
          <p:cNvPr id="14" name="Text 12"/>
          <p:cNvSpPr/>
          <p:nvPr/>
        </p:nvSpPr>
        <p:spPr>
          <a:xfrm>
            <a:off x="7702906" y="1005840"/>
            <a:ext cx="1532534" cy="237744"/>
          </a:xfrm>
          <a:prstGeom prst="rect">
            <a:avLst/>
          </a:prstGeom>
          <a:noFill/>
          <a:ln/>
        </p:spPr>
        <p:txBody>
          <a:bodyPr wrap="square" lIns="0" tIns="0" rIns="0" bIns="0" rtlCol="0" anchor="ctr">
            <a:normAutofit/>
          </a:bodyPr>
          <a:lstStyle/>
          <a:p>
            <a:pPr algn="l" indent="0" marL="0">
              <a:buNone/>
            </a:pPr>
            <a:r>
              <a:rPr lang="en-US" altLang="en-US" sz="900" dirty="0">
                <a:solidFill>
                  <a:srgbClr val="333333"/>
                </a:solidFill>
                <a:latin typeface="Calibri" pitchFamily="34" charset="0"/>
                <a:ea typeface="Calibri" pitchFamily="34" charset="-122"/>
                <a:cs typeface="Calibri" pitchFamily="34" charset="-120"/>
              </a:rPr>
              <a:t>→ Dependency (FS / SS)</a:t>
            </a:r>
            <a:endParaRPr lang="en-US" sz="900" dirty="0"/>
          </a:p>
        </p:txBody>
      </p:sp>
      <p:sp>
        <p:nvSpPr>
          <p:cNvPr id="15" name="Shape 13"/>
          <p:cNvSpPr/>
          <p:nvPr/>
        </p:nvSpPr>
        <p:spPr>
          <a:xfrm>
            <a:off x="365760" y="1325880"/>
            <a:ext cx="5678424" cy="640080"/>
          </a:xfrm>
          <a:prstGeom prst="rect">
            <a:avLst/>
          </a:prstGeom>
          <a:solidFill>
            <a:srgbClr val="3D3935"/>
          </a:solidFill>
          <a:ln w="12700">
            <a:solidFill>
              <a:srgbClr val="3D3935"/>
            </a:solidFill>
            <a:prstDash val="solid"/>
          </a:ln>
        </p:spPr>
      </p:sp>
      <p:sp>
        <p:nvSpPr>
          <p:cNvPr id="16" name="Text 14"/>
          <p:cNvSpPr/>
          <p:nvPr/>
        </p:nvSpPr>
        <p:spPr>
          <a:xfrm>
            <a:off x="365760" y="1325880"/>
            <a:ext cx="384048" cy="640080"/>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Sr</a:t>
            </a:r>
            <a:endParaRPr lang="en-US" sz="900" dirty="0"/>
          </a:p>
        </p:txBody>
      </p:sp>
      <p:sp>
        <p:nvSpPr>
          <p:cNvPr id="17" name="Text 15"/>
          <p:cNvSpPr/>
          <p:nvPr/>
        </p:nvSpPr>
        <p:spPr>
          <a:xfrm>
            <a:off x="822960" y="1325880"/>
            <a:ext cx="2606040" cy="640080"/>
          </a:xfrm>
          <a:prstGeom prst="rect">
            <a:avLst/>
          </a:prstGeom>
          <a:noFill/>
          <a:ln/>
        </p:spPr>
        <p:txBody>
          <a:bodyPr wrap="square" lIns="0" tIns="0" rIns="0" bIns="0" rtlCol="0" anchor="ctr">
            <a:normAutofit/>
          </a:bodyPr>
          <a:lstStyle/>
          <a:p>
            <a:pPr algn="l" indent="0" marL="0">
              <a:buNone/>
            </a:pPr>
            <a:r>
              <a:rPr lang="en-US" altLang="en-US" sz="900" b="1" dirty="0">
                <a:solidFill>
                  <a:srgbClr val="FFFFFF"/>
                </a:solidFill>
                <a:latin typeface="Calibri" pitchFamily="34" charset="0"/>
                <a:ea typeface="Calibri" pitchFamily="34" charset="-122"/>
                <a:cs typeface="Calibri" pitchFamily="34" charset="-120"/>
              </a:rPr>
              <a:t>Activity</a:t>
            </a:r>
            <a:endParaRPr lang="en-US" sz="900" dirty="0"/>
          </a:p>
        </p:txBody>
      </p:sp>
      <p:sp>
        <p:nvSpPr>
          <p:cNvPr id="18" name="Text 16"/>
          <p:cNvSpPr/>
          <p:nvPr/>
        </p:nvSpPr>
        <p:spPr>
          <a:xfrm>
            <a:off x="3447288" y="1325880"/>
            <a:ext cx="777240" cy="640080"/>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Predecessor</a:t>
            </a:r>
            <a:endParaRPr lang="en-US" sz="900" dirty="0"/>
          </a:p>
        </p:txBody>
      </p:sp>
      <p:sp>
        <p:nvSpPr>
          <p:cNvPr id="19" name="Text 17"/>
          <p:cNvSpPr/>
          <p:nvPr/>
        </p:nvSpPr>
        <p:spPr>
          <a:xfrm>
            <a:off x="4224528" y="1325880"/>
            <a:ext cx="502920" cy="640080"/>
          </a:xfrm>
          <a:prstGeom prst="rect">
            <a:avLst/>
          </a:prstGeom>
          <a:noFill/>
          <a:ln/>
        </p:spPr>
        <p:txBody>
          <a:bodyPr wrap="square" lIns="0" tIns="0" rIns="0" bIns="0" rtlCol="0" anchor="ctr">
            <a:normAutofit/>
          </a:bodyPr>
          <a:lstStyle/>
          <a:p>
            <a:pPr algn="ctr" indent="0" marL="0">
              <a:buNone/>
            </a:pPr>
            <a:r>
              <a:rPr lang="en-US" altLang="en-US" sz="750" b="1" dirty="0">
                <a:solidFill>
                  <a:srgbClr val="FFFFFF"/>
                </a:solidFill>
                <a:latin typeface="Calibri" pitchFamily="34" charset="0"/>
                <a:ea typeface="Calibri" pitchFamily="34" charset="-122"/>
                <a:cs typeface="Calibri" pitchFamily="34" charset="-120"/>
              </a:rPr>
              <a:t>Dur. (wd)</a:t>
            </a:r>
            <a:endParaRPr lang="en-US" sz="750" dirty="0"/>
          </a:p>
        </p:txBody>
      </p:sp>
      <p:sp>
        <p:nvSpPr>
          <p:cNvPr id="20" name="Text 18"/>
          <p:cNvSpPr/>
          <p:nvPr/>
        </p:nvSpPr>
        <p:spPr>
          <a:xfrm>
            <a:off x="4727448" y="1325880"/>
            <a:ext cx="658368" cy="640080"/>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Start</a:t>
            </a:r>
            <a:endParaRPr lang="en-US" sz="900" dirty="0"/>
          </a:p>
        </p:txBody>
      </p:sp>
      <p:sp>
        <p:nvSpPr>
          <p:cNvPr id="21" name="Text 19"/>
          <p:cNvSpPr/>
          <p:nvPr/>
        </p:nvSpPr>
        <p:spPr>
          <a:xfrm>
            <a:off x="5385816" y="1325880"/>
            <a:ext cx="658368" cy="640080"/>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Finish</a:t>
            </a:r>
            <a:endParaRPr lang="en-US" sz="900" dirty="0"/>
          </a:p>
        </p:txBody>
      </p:sp>
      <p:sp>
        <p:nvSpPr>
          <p:cNvPr id="22" name="Shape 20"/>
          <p:cNvSpPr/>
          <p:nvPr/>
        </p:nvSpPr>
        <p:spPr>
          <a:xfrm>
            <a:off x="6044184" y="1325880"/>
            <a:ext cx="2649969" cy="182880"/>
          </a:xfrm>
          <a:prstGeom prst="rect">
            <a:avLst/>
          </a:prstGeom>
          <a:solidFill>
            <a:srgbClr val="DCE8EC"/>
          </a:solidFill>
          <a:ln w="12700">
            <a:solidFill>
              <a:srgbClr val="FFFFFF"/>
            </a:solidFill>
            <a:prstDash val="solid"/>
          </a:ln>
        </p:spPr>
      </p:sp>
      <p:sp>
        <p:nvSpPr>
          <p:cNvPr id="23" name="Text 21"/>
          <p:cNvSpPr/>
          <p:nvPr/>
        </p:nvSpPr>
        <p:spPr>
          <a:xfrm>
            <a:off x="6044184" y="1325880"/>
            <a:ext cx="2649969" cy="182880"/>
          </a:xfrm>
          <a:prstGeom prst="rect">
            <a:avLst/>
          </a:prstGeom>
          <a:noFill/>
          <a:ln/>
        </p:spPr>
        <p:txBody>
          <a:bodyPr wrap="square" lIns="0" tIns="0" rIns="0" bIns="0" rtlCol="0" anchor="ctr">
            <a:normAutofit/>
          </a:bodyPr>
          <a:lstStyle/>
          <a:p>
            <a:pPr algn="ctr" indent="0" marL="0">
              <a:buNone/>
            </a:pPr>
            <a:r>
              <a:rPr lang="en-US" altLang="en-US" sz="850" b="1" dirty="0">
                <a:solidFill>
                  <a:srgbClr val="3D3935"/>
                </a:solidFill>
                <a:latin typeface="Calibri" pitchFamily="34" charset="0"/>
                <a:ea typeface="Calibri" pitchFamily="34" charset="-122"/>
                <a:cs typeface="Calibri" pitchFamily="34" charset="-120"/>
              </a:rPr>
              <a:t>October 2026</a:t>
            </a:r>
            <a:endParaRPr lang="en-US" sz="850" dirty="0"/>
          </a:p>
        </p:txBody>
      </p:sp>
      <p:sp>
        <p:nvSpPr>
          <p:cNvPr id="24" name="Shape 22"/>
          <p:cNvSpPr/>
          <p:nvPr/>
        </p:nvSpPr>
        <p:spPr>
          <a:xfrm>
            <a:off x="8694153" y="1325880"/>
            <a:ext cx="3131782" cy="182880"/>
          </a:xfrm>
          <a:prstGeom prst="rect">
            <a:avLst/>
          </a:prstGeom>
          <a:solidFill>
            <a:srgbClr val="DCE8EC"/>
          </a:solidFill>
          <a:ln w="12700">
            <a:solidFill>
              <a:srgbClr val="FFFFFF"/>
            </a:solidFill>
            <a:prstDash val="solid"/>
          </a:ln>
        </p:spPr>
      </p:sp>
      <p:sp>
        <p:nvSpPr>
          <p:cNvPr id="25" name="Text 23"/>
          <p:cNvSpPr/>
          <p:nvPr/>
        </p:nvSpPr>
        <p:spPr>
          <a:xfrm>
            <a:off x="8694153" y="1325880"/>
            <a:ext cx="3131782" cy="182880"/>
          </a:xfrm>
          <a:prstGeom prst="rect">
            <a:avLst/>
          </a:prstGeom>
          <a:noFill/>
          <a:ln/>
        </p:spPr>
        <p:txBody>
          <a:bodyPr wrap="square" lIns="0" tIns="0" rIns="0" bIns="0" rtlCol="0" anchor="ctr">
            <a:normAutofit/>
          </a:bodyPr>
          <a:lstStyle/>
          <a:p>
            <a:pPr algn="ctr" indent="0" marL="0">
              <a:buNone/>
            </a:pPr>
            <a:r>
              <a:rPr lang="en-US" altLang="en-US" sz="850" b="1" dirty="0">
                <a:solidFill>
                  <a:srgbClr val="3D3935"/>
                </a:solidFill>
                <a:latin typeface="Calibri" pitchFamily="34" charset="0"/>
                <a:ea typeface="Calibri" pitchFamily="34" charset="-122"/>
                <a:cs typeface="Calibri" pitchFamily="34" charset="-120"/>
              </a:rPr>
              <a:t>November 2026</a:t>
            </a:r>
            <a:endParaRPr lang="en-US" sz="850" dirty="0"/>
          </a:p>
        </p:txBody>
      </p:sp>
      <p:sp>
        <p:nvSpPr>
          <p:cNvPr id="26" name="Shape 24"/>
          <p:cNvSpPr/>
          <p:nvPr/>
        </p:nvSpPr>
        <p:spPr>
          <a:xfrm>
            <a:off x="6044184" y="1508760"/>
            <a:ext cx="843172" cy="155448"/>
          </a:xfrm>
          <a:prstGeom prst="rect">
            <a:avLst/>
          </a:prstGeom>
          <a:solidFill>
            <a:srgbClr val="D5E6EA"/>
          </a:solidFill>
          <a:ln w="12700">
            <a:solidFill>
              <a:srgbClr val="FFFFFF"/>
            </a:solidFill>
            <a:prstDash val="solid"/>
          </a:ln>
        </p:spPr>
      </p:sp>
      <p:sp>
        <p:nvSpPr>
          <p:cNvPr id="27" name="Text 25"/>
          <p:cNvSpPr/>
          <p:nvPr/>
        </p:nvSpPr>
        <p:spPr>
          <a:xfrm>
            <a:off x="6044184"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1</a:t>
            </a:r>
            <a:endParaRPr lang="en-US" sz="650" dirty="0"/>
          </a:p>
        </p:txBody>
      </p:sp>
      <p:sp>
        <p:nvSpPr>
          <p:cNvPr id="28" name="Shape 26"/>
          <p:cNvSpPr/>
          <p:nvPr/>
        </p:nvSpPr>
        <p:spPr>
          <a:xfrm>
            <a:off x="6887356" y="1508760"/>
            <a:ext cx="843172" cy="155448"/>
          </a:xfrm>
          <a:prstGeom prst="rect">
            <a:avLst/>
          </a:prstGeom>
          <a:solidFill>
            <a:srgbClr val="E4F0F3"/>
          </a:solidFill>
          <a:ln w="12700">
            <a:solidFill>
              <a:srgbClr val="FFFFFF"/>
            </a:solidFill>
            <a:prstDash val="solid"/>
          </a:ln>
        </p:spPr>
      </p:sp>
      <p:sp>
        <p:nvSpPr>
          <p:cNvPr id="29" name="Text 27"/>
          <p:cNvSpPr/>
          <p:nvPr/>
        </p:nvSpPr>
        <p:spPr>
          <a:xfrm>
            <a:off x="6887356"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2</a:t>
            </a:r>
            <a:endParaRPr lang="en-US" sz="650" dirty="0"/>
          </a:p>
        </p:txBody>
      </p:sp>
      <p:sp>
        <p:nvSpPr>
          <p:cNvPr id="30" name="Shape 28"/>
          <p:cNvSpPr/>
          <p:nvPr/>
        </p:nvSpPr>
        <p:spPr>
          <a:xfrm>
            <a:off x="7730528" y="1508760"/>
            <a:ext cx="843172" cy="155448"/>
          </a:xfrm>
          <a:prstGeom prst="rect">
            <a:avLst/>
          </a:prstGeom>
          <a:solidFill>
            <a:srgbClr val="D5E6EA"/>
          </a:solidFill>
          <a:ln w="12700">
            <a:solidFill>
              <a:srgbClr val="FFFFFF"/>
            </a:solidFill>
            <a:prstDash val="solid"/>
          </a:ln>
        </p:spPr>
      </p:sp>
      <p:sp>
        <p:nvSpPr>
          <p:cNvPr id="31" name="Text 29"/>
          <p:cNvSpPr/>
          <p:nvPr/>
        </p:nvSpPr>
        <p:spPr>
          <a:xfrm>
            <a:off x="7730528"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3</a:t>
            </a:r>
            <a:endParaRPr lang="en-US" sz="650" dirty="0"/>
          </a:p>
        </p:txBody>
      </p:sp>
      <p:sp>
        <p:nvSpPr>
          <p:cNvPr id="32" name="Shape 30"/>
          <p:cNvSpPr/>
          <p:nvPr/>
        </p:nvSpPr>
        <p:spPr>
          <a:xfrm>
            <a:off x="8573700" y="1508760"/>
            <a:ext cx="843172" cy="155448"/>
          </a:xfrm>
          <a:prstGeom prst="rect">
            <a:avLst/>
          </a:prstGeom>
          <a:solidFill>
            <a:srgbClr val="E4F0F3"/>
          </a:solidFill>
          <a:ln w="12700">
            <a:solidFill>
              <a:srgbClr val="FFFFFF"/>
            </a:solidFill>
            <a:prstDash val="solid"/>
          </a:ln>
        </p:spPr>
      </p:sp>
      <p:sp>
        <p:nvSpPr>
          <p:cNvPr id="33" name="Text 31"/>
          <p:cNvSpPr/>
          <p:nvPr/>
        </p:nvSpPr>
        <p:spPr>
          <a:xfrm>
            <a:off x="8573700"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4</a:t>
            </a:r>
            <a:endParaRPr lang="en-US" sz="650" dirty="0"/>
          </a:p>
        </p:txBody>
      </p:sp>
      <p:sp>
        <p:nvSpPr>
          <p:cNvPr id="34" name="Shape 32"/>
          <p:cNvSpPr/>
          <p:nvPr/>
        </p:nvSpPr>
        <p:spPr>
          <a:xfrm>
            <a:off x="9416872" y="1508760"/>
            <a:ext cx="843172" cy="155448"/>
          </a:xfrm>
          <a:prstGeom prst="rect">
            <a:avLst/>
          </a:prstGeom>
          <a:solidFill>
            <a:srgbClr val="D5E6EA"/>
          </a:solidFill>
          <a:ln w="12700">
            <a:solidFill>
              <a:srgbClr val="FFFFFF"/>
            </a:solidFill>
            <a:prstDash val="solid"/>
          </a:ln>
        </p:spPr>
      </p:sp>
      <p:sp>
        <p:nvSpPr>
          <p:cNvPr id="35" name="Text 33"/>
          <p:cNvSpPr/>
          <p:nvPr/>
        </p:nvSpPr>
        <p:spPr>
          <a:xfrm>
            <a:off x="9416872"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5</a:t>
            </a:r>
            <a:endParaRPr lang="en-US" sz="650" dirty="0"/>
          </a:p>
        </p:txBody>
      </p:sp>
      <p:sp>
        <p:nvSpPr>
          <p:cNvPr id="36" name="Shape 34"/>
          <p:cNvSpPr/>
          <p:nvPr/>
        </p:nvSpPr>
        <p:spPr>
          <a:xfrm>
            <a:off x="10260044" y="1508760"/>
            <a:ext cx="843172" cy="155448"/>
          </a:xfrm>
          <a:prstGeom prst="rect">
            <a:avLst/>
          </a:prstGeom>
          <a:solidFill>
            <a:srgbClr val="E4F0F3"/>
          </a:solidFill>
          <a:ln w="12700">
            <a:solidFill>
              <a:srgbClr val="FFFFFF"/>
            </a:solidFill>
            <a:prstDash val="solid"/>
          </a:ln>
        </p:spPr>
      </p:sp>
      <p:sp>
        <p:nvSpPr>
          <p:cNvPr id="37" name="Text 35"/>
          <p:cNvSpPr/>
          <p:nvPr/>
        </p:nvSpPr>
        <p:spPr>
          <a:xfrm>
            <a:off x="10260044" y="1508760"/>
            <a:ext cx="843172"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6</a:t>
            </a:r>
            <a:endParaRPr lang="en-US" sz="650" dirty="0"/>
          </a:p>
        </p:txBody>
      </p:sp>
      <p:sp>
        <p:nvSpPr>
          <p:cNvPr id="38" name="Shape 36"/>
          <p:cNvSpPr/>
          <p:nvPr/>
        </p:nvSpPr>
        <p:spPr>
          <a:xfrm>
            <a:off x="11103216" y="1508760"/>
            <a:ext cx="722719" cy="155448"/>
          </a:xfrm>
          <a:prstGeom prst="rect">
            <a:avLst/>
          </a:prstGeom>
          <a:solidFill>
            <a:srgbClr val="D5E6EA"/>
          </a:solidFill>
          <a:ln w="12700">
            <a:solidFill>
              <a:srgbClr val="FFFFFF"/>
            </a:solidFill>
            <a:prstDash val="solid"/>
          </a:ln>
        </p:spPr>
      </p:sp>
      <p:sp>
        <p:nvSpPr>
          <p:cNvPr id="39" name="Text 37"/>
          <p:cNvSpPr/>
          <p:nvPr/>
        </p:nvSpPr>
        <p:spPr>
          <a:xfrm>
            <a:off x="11103216" y="1508760"/>
            <a:ext cx="722719"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34505A"/>
                </a:solidFill>
                <a:latin typeface="Calibri" pitchFamily="34" charset="0"/>
                <a:ea typeface="Calibri" pitchFamily="34" charset="-122"/>
                <a:cs typeface="Calibri" pitchFamily="34" charset="-120"/>
              </a:rPr>
              <a:t>Week 7</a:t>
            </a:r>
            <a:endParaRPr lang="en-US" sz="650" dirty="0"/>
          </a:p>
        </p:txBody>
      </p:sp>
      <p:sp>
        <p:nvSpPr>
          <p:cNvPr id="40" name="Shape 38"/>
          <p:cNvSpPr/>
          <p:nvPr/>
        </p:nvSpPr>
        <p:spPr>
          <a:xfrm>
            <a:off x="6044184" y="1664208"/>
            <a:ext cx="120453" cy="301752"/>
          </a:xfrm>
          <a:prstGeom prst="rect">
            <a:avLst/>
          </a:prstGeom>
          <a:solidFill>
            <a:srgbClr val="F4F7F8"/>
          </a:solidFill>
          <a:ln w="6350">
            <a:solidFill>
              <a:srgbClr val="FFFFFF"/>
            </a:solidFill>
            <a:prstDash val="solid"/>
          </a:ln>
        </p:spPr>
      </p:sp>
      <p:sp>
        <p:nvSpPr>
          <p:cNvPr id="41" name="Text 39"/>
          <p:cNvSpPr/>
          <p:nvPr/>
        </p:nvSpPr>
        <p:spPr>
          <a:xfrm>
            <a:off x="6044184"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42" name="Text 40"/>
          <p:cNvSpPr/>
          <p:nvPr/>
        </p:nvSpPr>
        <p:spPr>
          <a:xfrm>
            <a:off x="6044184"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10</a:t>
            </a:r>
            <a:endParaRPr lang="en-US" sz="550" dirty="0"/>
          </a:p>
        </p:txBody>
      </p:sp>
      <p:sp>
        <p:nvSpPr>
          <p:cNvPr id="43" name="Shape 41"/>
          <p:cNvSpPr/>
          <p:nvPr/>
        </p:nvSpPr>
        <p:spPr>
          <a:xfrm>
            <a:off x="6044184" y="1965960"/>
            <a:ext cx="0" cy="3429000"/>
          </a:xfrm>
          <a:prstGeom prst="line">
            <a:avLst/>
          </a:prstGeom>
          <a:noFill/>
          <a:ln w="6350">
            <a:solidFill>
              <a:srgbClr val="9DB2BB"/>
            </a:solidFill>
            <a:prstDash val="solid"/>
          </a:ln>
        </p:spPr>
      </p:sp>
      <p:sp>
        <p:nvSpPr>
          <p:cNvPr id="44" name="Shape 42"/>
          <p:cNvSpPr/>
          <p:nvPr/>
        </p:nvSpPr>
        <p:spPr>
          <a:xfrm>
            <a:off x="6164637" y="1664208"/>
            <a:ext cx="120453" cy="301752"/>
          </a:xfrm>
          <a:prstGeom prst="rect">
            <a:avLst/>
          </a:prstGeom>
          <a:solidFill>
            <a:srgbClr val="F4F7F8"/>
          </a:solidFill>
          <a:ln w="6350">
            <a:solidFill>
              <a:srgbClr val="FFFFFF"/>
            </a:solidFill>
            <a:prstDash val="solid"/>
          </a:ln>
        </p:spPr>
      </p:sp>
      <p:sp>
        <p:nvSpPr>
          <p:cNvPr id="45" name="Text 43"/>
          <p:cNvSpPr/>
          <p:nvPr/>
        </p:nvSpPr>
        <p:spPr>
          <a:xfrm>
            <a:off x="6164637"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46" name="Text 44"/>
          <p:cNvSpPr/>
          <p:nvPr/>
        </p:nvSpPr>
        <p:spPr>
          <a:xfrm>
            <a:off x="6164637"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11</a:t>
            </a:r>
            <a:endParaRPr lang="en-US" sz="550" dirty="0"/>
          </a:p>
        </p:txBody>
      </p:sp>
      <p:sp>
        <p:nvSpPr>
          <p:cNvPr id="47" name="Shape 45"/>
          <p:cNvSpPr/>
          <p:nvPr/>
        </p:nvSpPr>
        <p:spPr>
          <a:xfrm>
            <a:off x="6285090" y="1664208"/>
            <a:ext cx="120453" cy="301752"/>
          </a:xfrm>
          <a:prstGeom prst="rect">
            <a:avLst/>
          </a:prstGeom>
          <a:solidFill>
            <a:srgbClr val="F4F7F8"/>
          </a:solidFill>
          <a:ln w="6350">
            <a:solidFill>
              <a:srgbClr val="FFFFFF"/>
            </a:solidFill>
            <a:prstDash val="solid"/>
          </a:ln>
        </p:spPr>
      </p:sp>
      <p:sp>
        <p:nvSpPr>
          <p:cNvPr id="48" name="Text 46"/>
          <p:cNvSpPr/>
          <p:nvPr/>
        </p:nvSpPr>
        <p:spPr>
          <a:xfrm>
            <a:off x="6285090"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49" name="Text 47"/>
          <p:cNvSpPr/>
          <p:nvPr/>
        </p:nvSpPr>
        <p:spPr>
          <a:xfrm>
            <a:off x="6285090"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12</a:t>
            </a:r>
            <a:endParaRPr lang="en-US" sz="550" dirty="0"/>
          </a:p>
        </p:txBody>
      </p:sp>
      <p:sp>
        <p:nvSpPr>
          <p:cNvPr id="50" name="Shape 48"/>
          <p:cNvSpPr/>
          <p:nvPr/>
        </p:nvSpPr>
        <p:spPr>
          <a:xfrm>
            <a:off x="6405543" y="1664208"/>
            <a:ext cx="120453" cy="301752"/>
          </a:xfrm>
          <a:prstGeom prst="rect">
            <a:avLst/>
          </a:prstGeom>
          <a:solidFill>
            <a:srgbClr val="F4F7F8"/>
          </a:solidFill>
          <a:ln w="6350">
            <a:solidFill>
              <a:srgbClr val="FFFFFF"/>
            </a:solidFill>
            <a:prstDash val="solid"/>
          </a:ln>
        </p:spPr>
      </p:sp>
      <p:sp>
        <p:nvSpPr>
          <p:cNvPr id="51" name="Text 49"/>
          <p:cNvSpPr/>
          <p:nvPr/>
        </p:nvSpPr>
        <p:spPr>
          <a:xfrm>
            <a:off x="640554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52" name="Text 50"/>
          <p:cNvSpPr/>
          <p:nvPr/>
        </p:nvSpPr>
        <p:spPr>
          <a:xfrm>
            <a:off x="640554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13</a:t>
            </a:r>
            <a:endParaRPr lang="en-US" sz="550" dirty="0"/>
          </a:p>
        </p:txBody>
      </p:sp>
      <p:sp>
        <p:nvSpPr>
          <p:cNvPr id="53" name="Shape 51"/>
          <p:cNvSpPr/>
          <p:nvPr/>
        </p:nvSpPr>
        <p:spPr>
          <a:xfrm>
            <a:off x="6525997" y="1664208"/>
            <a:ext cx="120453" cy="301752"/>
          </a:xfrm>
          <a:prstGeom prst="rect">
            <a:avLst/>
          </a:prstGeom>
          <a:solidFill>
            <a:srgbClr val="F4F7F8"/>
          </a:solidFill>
          <a:ln w="6350">
            <a:solidFill>
              <a:srgbClr val="FFFFFF"/>
            </a:solidFill>
            <a:prstDash val="solid"/>
          </a:ln>
        </p:spPr>
      </p:sp>
      <p:sp>
        <p:nvSpPr>
          <p:cNvPr id="54" name="Text 52"/>
          <p:cNvSpPr/>
          <p:nvPr/>
        </p:nvSpPr>
        <p:spPr>
          <a:xfrm>
            <a:off x="6525997"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55" name="Text 53"/>
          <p:cNvSpPr/>
          <p:nvPr/>
        </p:nvSpPr>
        <p:spPr>
          <a:xfrm>
            <a:off x="6525997"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14</a:t>
            </a:r>
            <a:endParaRPr lang="en-US" sz="550" dirty="0"/>
          </a:p>
        </p:txBody>
      </p:sp>
      <p:sp>
        <p:nvSpPr>
          <p:cNvPr id="56" name="Shape 54"/>
          <p:cNvSpPr/>
          <p:nvPr/>
        </p:nvSpPr>
        <p:spPr>
          <a:xfrm>
            <a:off x="6646450" y="1664208"/>
            <a:ext cx="120453" cy="301752"/>
          </a:xfrm>
          <a:prstGeom prst="rect">
            <a:avLst/>
          </a:prstGeom>
          <a:solidFill>
            <a:srgbClr val="F4F7F8"/>
          </a:solidFill>
          <a:ln w="6350">
            <a:solidFill>
              <a:srgbClr val="FFFFFF"/>
            </a:solidFill>
            <a:prstDash val="solid"/>
          </a:ln>
        </p:spPr>
      </p:sp>
      <p:sp>
        <p:nvSpPr>
          <p:cNvPr id="57" name="Text 55"/>
          <p:cNvSpPr/>
          <p:nvPr/>
        </p:nvSpPr>
        <p:spPr>
          <a:xfrm>
            <a:off x="6646450"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58" name="Text 56"/>
          <p:cNvSpPr/>
          <p:nvPr/>
        </p:nvSpPr>
        <p:spPr>
          <a:xfrm>
            <a:off x="6646450"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15</a:t>
            </a:r>
            <a:endParaRPr lang="en-US" sz="550" dirty="0"/>
          </a:p>
        </p:txBody>
      </p:sp>
      <p:sp>
        <p:nvSpPr>
          <p:cNvPr id="59" name="Shape 57"/>
          <p:cNvSpPr/>
          <p:nvPr/>
        </p:nvSpPr>
        <p:spPr>
          <a:xfrm>
            <a:off x="6766903" y="1664208"/>
            <a:ext cx="120453" cy="301752"/>
          </a:xfrm>
          <a:prstGeom prst="rect">
            <a:avLst/>
          </a:prstGeom>
          <a:solidFill>
            <a:srgbClr val="DBE3E6"/>
          </a:solidFill>
          <a:ln w="6350">
            <a:solidFill>
              <a:srgbClr val="FFFFFF"/>
            </a:solidFill>
            <a:prstDash val="solid"/>
          </a:ln>
        </p:spPr>
      </p:sp>
      <p:sp>
        <p:nvSpPr>
          <p:cNvPr id="60" name="Text 58"/>
          <p:cNvSpPr/>
          <p:nvPr/>
        </p:nvSpPr>
        <p:spPr>
          <a:xfrm>
            <a:off x="676690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61" name="Text 59"/>
          <p:cNvSpPr/>
          <p:nvPr/>
        </p:nvSpPr>
        <p:spPr>
          <a:xfrm>
            <a:off x="676690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16</a:t>
            </a:r>
            <a:endParaRPr lang="en-US" sz="550" dirty="0"/>
          </a:p>
        </p:txBody>
      </p:sp>
      <p:sp>
        <p:nvSpPr>
          <p:cNvPr id="62" name="Shape 60"/>
          <p:cNvSpPr/>
          <p:nvPr/>
        </p:nvSpPr>
        <p:spPr>
          <a:xfrm>
            <a:off x="6766903" y="1965960"/>
            <a:ext cx="120453" cy="3429000"/>
          </a:xfrm>
          <a:prstGeom prst="rect">
            <a:avLst/>
          </a:prstGeom>
          <a:solidFill>
            <a:srgbClr val="000000">
              <a:alpha val="6000"/>
            </a:srgbClr>
          </a:solidFill>
          <a:ln w="12700">
            <a:solidFill>
              <a:srgbClr val="000000">
                <a:alpha val="0"/>
              </a:srgbClr>
            </a:solidFill>
            <a:prstDash val="solid"/>
          </a:ln>
        </p:spPr>
      </p:sp>
      <p:sp>
        <p:nvSpPr>
          <p:cNvPr id="63" name="Shape 61"/>
          <p:cNvSpPr/>
          <p:nvPr/>
        </p:nvSpPr>
        <p:spPr>
          <a:xfrm>
            <a:off x="6887356" y="1664208"/>
            <a:ext cx="120453" cy="301752"/>
          </a:xfrm>
          <a:prstGeom prst="rect">
            <a:avLst/>
          </a:prstGeom>
          <a:solidFill>
            <a:srgbClr val="F4F7F8"/>
          </a:solidFill>
          <a:ln w="6350">
            <a:solidFill>
              <a:srgbClr val="FFFFFF"/>
            </a:solidFill>
            <a:prstDash val="solid"/>
          </a:ln>
        </p:spPr>
      </p:sp>
      <p:sp>
        <p:nvSpPr>
          <p:cNvPr id="64" name="Text 62"/>
          <p:cNvSpPr/>
          <p:nvPr/>
        </p:nvSpPr>
        <p:spPr>
          <a:xfrm>
            <a:off x="688735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65" name="Text 63"/>
          <p:cNvSpPr/>
          <p:nvPr/>
        </p:nvSpPr>
        <p:spPr>
          <a:xfrm>
            <a:off x="688735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17</a:t>
            </a:r>
            <a:endParaRPr lang="en-US" sz="550" dirty="0"/>
          </a:p>
        </p:txBody>
      </p:sp>
      <p:sp>
        <p:nvSpPr>
          <p:cNvPr id="66" name="Shape 64"/>
          <p:cNvSpPr/>
          <p:nvPr/>
        </p:nvSpPr>
        <p:spPr>
          <a:xfrm>
            <a:off x="6887356" y="1965960"/>
            <a:ext cx="0" cy="3429000"/>
          </a:xfrm>
          <a:prstGeom prst="line">
            <a:avLst/>
          </a:prstGeom>
          <a:noFill/>
          <a:ln w="6350">
            <a:solidFill>
              <a:srgbClr val="9DB2BB"/>
            </a:solidFill>
            <a:prstDash val="solid"/>
          </a:ln>
        </p:spPr>
      </p:sp>
      <p:sp>
        <p:nvSpPr>
          <p:cNvPr id="67" name="Shape 65"/>
          <p:cNvSpPr/>
          <p:nvPr/>
        </p:nvSpPr>
        <p:spPr>
          <a:xfrm>
            <a:off x="7007809" y="1664208"/>
            <a:ext cx="120453" cy="301752"/>
          </a:xfrm>
          <a:prstGeom prst="rect">
            <a:avLst/>
          </a:prstGeom>
          <a:solidFill>
            <a:srgbClr val="F4F7F8"/>
          </a:solidFill>
          <a:ln w="6350">
            <a:solidFill>
              <a:srgbClr val="FFFFFF"/>
            </a:solidFill>
            <a:prstDash val="solid"/>
          </a:ln>
        </p:spPr>
      </p:sp>
      <p:sp>
        <p:nvSpPr>
          <p:cNvPr id="68" name="Text 66"/>
          <p:cNvSpPr/>
          <p:nvPr/>
        </p:nvSpPr>
        <p:spPr>
          <a:xfrm>
            <a:off x="700780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69" name="Text 67"/>
          <p:cNvSpPr/>
          <p:nvPr/>
        </p:nvSpPr>
        <p:spPr>
          <a:xfrm>
            <a:off x="700780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18</a:t>
            </a:r>
            <a:endParaRPr lang="en-US" sz="550" dirty="0"/>
          </a:p>
        </p:txBody>
      </p:sp>
      <p:sp>
        <p:nvSpPr>
          <p:cNvPr id="70" name="Shape 68"/>
          <p:cNvSpPr/>
          <p:nvPr/>
        </p:nvSpPr>
        <p:spPr>
          <a:xfrm>
            <a:off x="7128262" y="1664208"/>
            <a:ext cx="120453" cy="301752"/>
          </a:xfrm>
          <a:prstGeom prst="rect">
            <a:avLst/>
          </a:prstGeom>
          <a:solidFill>
            <a:srgbClr val="F4F7F8"/>
          </a:solidFill>
          <a:ln w="6350">
            <a:solidFill>
              <a:srgbClr val="FFFFFF"/>
            </a:solidFill>
            <a:prstDash val="solid"/>
          </a:ln>
        </p:spPr>
      </p:sp>
      <p:sp>
        <p:nvSpPr>
          <p:cNvPr id="71" name="Text 69"/>
          <p:cNvSpPr/>
          <p:nvPr/>
        </p:nvSpPr>
        <p:spPr>
          <a:xfrm>
            <a:off x="7128262"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72" name="Text 70"/>
          <p:cNvSpPr/>
          <p:nvPr/>
        </p:nvSpPr>
        <p:spPr>
          <a:xfrm>
            <a:off x="7128262"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19</a:t>
            </a:r>
            <a:endParaRPr lang="en-US" sz="550" dirty="0"/>
          </a:p>
        </p:txBody>
      </p:sp>
      <p:sp>
        <p:nvSpPr>
          <p:cNvPr id="73" name="Shape 71"/>
          <p:cNvSpPr/>
          <p:nvPr/>
        </p:nvSpPr>
        <p:spPr>
          <a:xfrm>
            <a:off x="7248716" y="1664208"/>
            <a:ext cx="120453" cy="301752"/>
          </a:xfrm>
          <a:prstGeom prst="rect">
            <a:avLst/>
          </a:prstGeom>
          <a:solidFill>
            <a:srgbClr val="F4F7F8"/>
          </a:solidFill>
          <a:ln w="6350">
            <a:solidFill>
              <a:srgbClr val="FFFFFF"/>
            </a:solidFill>
            <a:prstDash val="solid"/>
          </a:ln>
        </p:spPr>
      </p:sp>
      <p:sp>
        <p:nvSpPr>
          <p:cNvPr id="74" name="Text 72"/>
          <p:cNvSpPr/>
          <p:nvPr/>
        </p:nvSpPr>
        <p:spPr>
          <a:xfrm>
            <a:off x="724871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75" name="Text 73"/>
          <p:cNvSpPr/>
          <p:nvPr/>
        </p:nvSpPr>
        <p:spPr>
          <a:xfrm>
            <a:off x="724871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20</a:t>
            </a:r>
            <a:endParaRPr lang="en-US" sz="550" dirty="0"/>
          </a:p>
        </p:txBody>
      </p:sp>
      <p:sp>
        <p:nvSpPr>
          <p:cNvPr id="76" name="Shape 74"/>
          <p:cNvSpPr/>
          <p:nvPr/>
        </p:nvSpPr>
        <p:spPr>
          <a:xfrm>
            <a:off x="7369169" y="1664208"/>
            <a:ext cx="120453" cy="301752"/>
          </a:xfrm>
          <a:prstGeom prst="rect">
            <a:avLst/>
          </a:prstGeom>
          <a:solidFill>
            <a:srgbClr val="F4F7F8"/>
          </a:solidFill>
          <a:ln w="6350">
            <a:solidFill>
              <a:srgbClr val="FFFFFF"/>
            </a:solidFill>
            <a:prstDash val="solid"/>
          </a:ln>
        </p:spPr>
      </p:sp>
      <p:sp>
        <p:nvSpPr>
          <p:cNvPr id="77" name="Text 75"/>
          <p:cNvSpPr/>
          <p:nvPr/>
        </p:nvSpPr>
        <p:spPr>
          <a:xfrm>
            <a:off x="736916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78" name="Text 76"/>
          <p:cNvSpPr/>
          <p:nvPr/>
        </p:nvSpPr>
        <p:spPr>
          <a:xfrm>
            <a:off x="736916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21</a:t>
            </a:r>
            <a:endParaRPr lang="en-US" sz="550" dirty="0"/>
          </a:p>
        </p:txBody>
      </p:sp>
      <p:sp>
        <p:nvSpPr>
          <p:cNvPr id="79" name="Shape 77"/>
          <p:cNvSpPr/>
          <p:nvPr/>
        </p:nvSpPr>
        <p:spPr>
          <a:xfrm>
            <a:off x="7489622" y="1664208"/>
            <a:ext cx="120453" cy="301752"/>
          </a:xfrm>
          <a:prstGeom prst="rect">
            <a:avLst/>
          </a:prstGeom>
          <a:solidFill>
            <a:srgbClr val="F4F7F8"/>
          </a:solidFill>
          <a:ln w="6350">
            <a:solidFill>
              <a:srgbClr val="FFFFFF"/>
            </a:solidFill>
            <a:prstDash val="solid"/>
          </a:ln>
        </p:spPr>
      </p:sp>
      <p:sp>
        <p:nvSpPr>
          <p:cNvPr id="80" name="Text 78"/>
          <p:cNvSpPr/>
          <p:nvPr/>
        </p:nvSpPr>
        <p:spPr>
          <a:xfrm>
            <a:off x="7489622"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81" name="Text 79"/>
          <p:cNvSpPr/>
          <p:nvPr/>
        </p:nvSpPr>
        <p:spPr>
          <a:xfrm>
            <a:off x="7489622"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22</a:t>
            </a:r>
            <a:endParaRPr lang="en-US" sz="550" dirty="0"/>
          </a:p>
        </p:txBody>
      </p:sp>
      <p:sp>
        <p:nvSpPr>
          <p:cNvPr id="82" name="Shape 80"/>
          <p:cNvSpPr/>
          <p:nvPr/>
        </p:nvSpPr>
        <p:spPr>
          <a:xfrm>
            <a:off x="7610075" y="1664208"/>
            <a:ext cx="120453" cy="301752"/>
          </a:xfrm>
          <a:prstGeom prst="rect">
            <a:avLst/>
          </a:prstGeom>
          <a:solidFill>
            <a:srgbClr val="DBE3E6"/>
          </a:solidFill>
          <a:ln w="6350">
            <a:solidFill>
              <a:srgbClr val="FFFFFF"/>
            </a:solidFill>
            <a:prstDash val="solid"/>
          </a:ln>
        </p:spPr>
      </p:sp>
      <p:sp>
        <p:nvSpPr>
          <p:cNvPr id="83" name="Text 81"/>
          <p:cNvSpPr/>
          <p:nvPr/>
        </p:nvSpPr>
        <p:spPr>
          <a:xfrm>
            <a:off x="7610075"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84" name="Text 82"/>
          <p:cNvSpPr/>
          <p:nvPr/>
        </p:nvSpPr>
        <p:spPr>
          <a:xfrm>
            <a:off x="7610075"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23</a:t>
            </a:r>
            <a:endParaRPr lang="en-US" sz="550" dirty="0"/>
          </a:p>
        </p:txBody>
      </p:sp>
      <p:sp>
        <p:nvSpPr>
          <p:cNvPr id="85" name="Shape 83"/>
          <p:cNvSpPr/>
          <p:nvPr/>
        </p:nvSpPr>
        <p:spPr>
          <a:xfrm>
            <a:off x="7610075" y="1965960"/>
            <a:ext cx="120453" cy="3429000"/>
          </a:xfrm>
          <a:prstGeom prst="rect">
            <a:avLst/>
          </a:prstGeom>
          <a:solidFill>
            <a:srgbClr val="000000">
              <a:alpha val="6000"/>
            </a:srgbClr>
          </a:solidFill>
          <a:ln w="12700">
            <a:solidFill>
              <a:srgbClr val="000000">
                <a:alpha val="0"/>
              </a:srgbClr>
            </a:solidFill>
            <a:prstDash val="solid"/>
          </a:ln>
        </p:spPr>
      </p:sp>
      <p:sp>
        <p:nvSpPr>
          <p:cNvPr id="86" name="Shape 84"/>
          <p:cNvSpPr/>
          <p:nvPr/>
        </p:nvSpPr>
        <p:spPr>
          <a:xfrm>
            <a:off x="7730528" y="1664208"/>
            <a:ext cx="120453" cy="301752"/>
          </a:xfrm>
          <a:prstGeom prst="rect">
            <a:avLst/>
          </a:prstGeom>
          <a:solidFill>
            <a:srgbClr val="F4F7F8"/>
          </a:solidFill>
          <a:ln w="6350">
            <a:solidFill>
              <a:srgbClr val="FFFFFF"/>
            </a:solidFill>
            <a:prstDash val="solid"/>
          </a:ln>
        </p:spPr>
      </p:sp>
      <p:sp>
        <p:nvSpPr>
          <p:cNvPr id="87" name="Text 85"/>
          <p:cNvSpPr/>
          <p:nvPr/>
        </p:nvSpPr>
        <p:spPr>
          <a:xfrm>
            <a:off x="7730528"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88" name="Text 86"/>
          <p:cNvSpPr/>
          <p:nvPr/>
        </p:nvSpPr>
        <p:spPr>
          <a:xfrm>
            <a:off x="7730528"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24</a:t>
            </a:r>
            <a:endParaRPr lang="en-US" sz="550" dirty="0"/>
          </a:p>
        </p:txBody>
      </p:sp>
      <p:sp>
        <p:nvSpPr>
          <p:cNvPr id="89" name="Shape 87"/>
          <p:cNvSpPr/>
          <p:nvPr/>
        </p:nvSpPr>
        <p:spPr>
          <a:xfrm>
            <a:off x="7730528" y="1965960"/>
            <a:ext cx="0" cy="3429000"/>
          </a:xfrm>
          <a:prstGeom prst="line">
            <a:avLst/>
          </a:prstGeom>
          <a:noFill/>
          <a:ln w="6350">
            <a:solidFill>
              <a:srgbClr val="9DB2BB"/>
            </a:solidFill>
            <a:prstDash val="solid"/>
          </a:ln>
        </p:spPr>
      </p:sp>
      <p:sp>
        <p:nvSpPr>
          <p:cNvPr id="90" name="Shape 88"/>
          <p:cNvSpPr/>
          <p:nvPr/>
        </p:nvSpPr>
        <p:spPr>
          <a:xfrm>
            <a:off x="7850981" y="1664208"/>
            <a:ext cx="120453" cy="301752"/>
          </a:xfrm>
          <a:prstGeom prst="rect">
            <a:avLst/>
          </a:prstGeom>
          <a:solidFill>
            <a:srgbClr val="F4F7F8"/>
          </a:solidFill>
          <a:ln w="6350">
            <a:solidFill>
              <a:srgbClr val="FFFFFF"/>
            </a:solidFill>
            <a:prstDash val="solid"/>
          </a:ln>
        </p:spPr>
      </p:sp>
      <p:sp>
        <p:nvSpPr>
          <p:cNvPr id="91" name="Text 89"/>
          <p:cNvSpPr/>
          <p:nvPr/>
        </p:nvSpPr>
        <p:spPr>
          <a:xfrm>
            <a:off x="7850981"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92" name="Text 90"/>
          <p:cNvSpPr/>
          <p:nvPr/>
        </p:nvSpPr>
        <p:spPr>
          <a:xfrm>
            <a:off x="7850981"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25</a:t>
            </a:r>
            <a:endParaRPr lang="en-US" sz="550" dirty="0"/>
          </a:p>
        </p:txBody>
      </p:sp>
      <p:sp>
        <p:nvSpPr>
          <p:cNvPr id="93" name="Shape 91"/>
          <p:cNvSpPr/>
          <p:nvPr/>
        </p:nvSpPr>
        <p:spPr>
          <a:xfrm>
            <a:off x="7971434" y="1664208"/>
            <a:ext cx="120453" cy="301752"/>
          </a:xfrm>
          <a:prstGeom prst="rect">
            <a:avLst/>
          </a:prstGeom>
          <a:solidFill>
            <a:srgbClr val="F4F7F8"/>
          </a:solidFill>
          <a:ln w="6350">
            <a:solidFill>
              <a:srgbClr val="FFFFFF"/>
            </a:solidFill>
            <a:prstDash val="solid"/>
          </a:ln>
        </p:spPr>
      </p:sp>
      <p:sp>
        <p:nvSpPr>
          <p:cNvPr id="94" name="Text 92"/>
          <p:cNvSpPr/>
          <p:nvPr/>
        </p:nvSpPr>
        <p:spPr>
          <a:xfrm>
            <a:off x="7971434"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95" name="Text 93"/>
          <p:cNvSpPr/>
          <p:nvPr/>
        </p:nvSpPr>
        <p:spPr>
          <a:xfrm>
            <a:off x="7971434"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26</a:t>
            </a:r>
            <a:endParaRPr lang="en-US" sz="550" dirty="0"/>
          </a:p>
        </p:txBody>
      </p:sp>
      <p:sp>
        <p:nvSpPr>
          <p:cNvPr id="96" name="Shape 94"/>
          <p:cNvSpPr/>
          <p:nvPr/>
        </p:nvSpPr>
        <p:spPr>
          <a:xfrm>
            <a:off x="8091888" y="1664208"/>
            <a:ext cx="120453" cy="301752"/>
          </a:xfrm>
          <a:prstGeom prst="rect">
            <a:avLst/>
          </a:prstGeom>
          <a:solidFill>
            <a:srgbClr val="F4F7F8"/>
          </a:solidFill>
          <a:ln w="6350">
            <a:solidFill>
              <a:srgbClr val="FFFFFF"/>
            </a:solidFill>
            <a:prstDash val="solid"/>
          </a:ln>
        </p:spPr>
      </p:sp>
      <p:sp>
        <p:nvSpPr>
          <p:cNvPr id="97" name="Text 95"/>
          <p:cNvSpPr/>
          <p:nvPr/>
        </p:nvSpPr>
        <p:spPr>
          <a:xfrm>
            <a:off x="8091888"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98" name="Text 96"/>
          <p:cNvSpPr/>
          <p:nvPr/>
        </p:nvSpPr>
        <p:spPr>
          <a:xfrm>
            <a:off x="8091888"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27</a:t>
            </a:r>
            <a:endParaRPr lang="en-US" sz="550" dirty="0"/>
          </a:p>
        </p:txBody>
      </p:sp>
      <p:sp>
        <p:nvSpPr>
          <p:cNvPr id="99" name="Shape 97"/>
          <p:cNvSpPr/>
          <p:nvPr/>
        </p:nvSpPr>
        <p:spPr>
          <a:xfrm>
            <a:off x="8212341" y="1664208"/>
            <a:ext cx="120453" cy="301752"/>
          </a:xfrm>
          <a:prstGeom prst="rect">
            <a:avLst/>
          </a:prstGeom>
          <a:solidFill>
            <a:srgbClr val="F4F7F8"/>
          </a:solidFill>
          <a:ln w="6350">
            <a:solidFill>
              <a:srgbClr val="FFFFFF"/>
            </a:solidFill>
            <a:prstDash val="solid"/>
          </a:ln>
        </p:spPr>
      </p:sp>
      <p:sp>
        <p:nvSpPr>
          <p:cNvPr id="100" name="Text 98"/>
          <p:cNvSpPr/>
          <p:nvPr/>
        </p:nvSpPr>
        <p:spPr>
          <a:xfrm>
            <a:off x="8212341"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101" name="Text 99"/>
          <p:cNvSpPr/>
          <p:nvPr/>
        </p:nvSpPr>
        <p:spPr>
          <a:xfrm>
            <a:off x="8212341"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28</a:t>
            </a:r>
            <a:endParaRPr lang="en-US" sz="550" dirty="0"/>
          </a:p>
        </p:txBody>
      </p:sp>
      <p:sp>
        <p:nvSpPr>
          <p:cNvPr id="102" name="Shape 100"/>
          <p:cNvSpPr/>
          <p:nvPr/>
        </p:nvSpPr>
        <p:spPr>
          <a:xfrm>
            <a:off x="8332794" y="1664208"/>
            <a:ext cx="120453" cy="301752"/>
          </a:xfrm>
          <a:prstGeom prst="rect">
            <a:avLst/>
          </a:prstGeom>
          <a:solidFill>
            <a:srgbClr val="F4F7F8"/>
          </a:solidFill>
          <a:ln w="6350">
            <a:solidFill>
              <a:srgbClr val="FFFFFF"/>
            </a:solidFill>
            <a:prstDash val="solid"/>
          </a:ln>
        </p:spPr>
      </p:sp>
      <p:sp>
        <p:nvSpPr>
          <p:cNvPr id="103" name="Text 101"/>
          <p:cNvSpPr/>
          <p:nvPr/>
        </p:nvSpPr>
        <p:spPr>
          <a:xfrm>
            <a:off x="8332794"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04" name="Text 102"/>
          <p:cNvSpPr/>
          <p:nvPr/>
        </p:nvSpPr>
        <p:spPr>
          <a:xfrm>
            <a:off x="8332794"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29</a:t>
            </a:r>
            <a:endParaRPr lang="en-US" sz="550" dirty="0"/>
          </a:p>
        </p:txBody>
      </p:sp>
      <p:sp>
        <p:nvSpPr>
          <p:cNvPr id="105" name="Shape 103"/>
          <p:cNvSpPr/>
          <p:nvPr/>
        </p:nvSpPr>
        <p:spPr>
          <a:xfrm>
            <a:off x="8453247" y="1664208"/>
            <a:ext cx="120453" cy="301752"/>
          </a:xfrm>
          <a:prstGeom prst="rect">
            <a:avLst/>
          </a:prstGeom>
          <a:solidFill>
            <a:srgbClr val="DBE3E6"/>
          </a:solidFill>
          <a:ln w="6350">
            <a:solidFill>
              <a:srgbClr val="FFFFFF"/>
            </a:solidFill>
            <a:prstDash val="solid"/>
          </a:ln>
        </p:spPr>
      </p:sp>
      <p:sp>
        <p:nvSpPr>
          <p:cNvPr id="106" name="Text 104"/>
          <p:cNvSpPr/>
          <p:nvPr/>
        </p:nvSpPr>
        <p:spPr>
          <a:xfrm>
            <a:off x="8453247"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107" name="Text 105"/>
          <p:cNvSpPr/>
          <p:nvPr/>
        </p:nvSpPr>
        <p:spPr>
          <a:xfrm>
            <a:off x="8453247"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30</a:t>
            </a:r>
            <a:endParaRPr lang="en-US" sz="550" dirty="0"/>
          </a:p>
        </p:txBody>
      </p:sp>
      <p:sp>
        <p:nvSpPr>
          <p:cNvPr id="108" name="Shape 106"/>
          <p:cNvSpPr/>
          <p:nvPr/>
        </p:nvSpPr>
        <p:spPr>
          <a:xfrm>
            <a:off x="8453247" y="1965960"/>
            <a:ext cx="120453" cy="3429000"/>
          </a:xfrm>
          <a:prstGeom prst="rect">
            <a:avLst/>
          </a:prstGeom>
          <a:solidFill>
            <a:srgbClr val="000000">
              <a:alpha val="6000"/>
            </a:srgbClr>
          </a:solidFill>
          <a:ln w="12700">
            <a:solidFill>
              <a:srgbClr val="000000">
                <a:alpha val="0"/>
              </a:srgbClr>
            </a:solidFill>
            <a:prstDash val="solid"/>
          </a:ln>
        </p:spPr>
      </p:sp>
      <p:sp>
        <p:nvSpPr>
          <p:cNvPr id="109" name="Shape 107"/>
          <p:cNvSpPr/>
          <p:nvPr/>
        </p:nvSpPr>
        <p:spPr>
          <a:xfrm>
            <a:off x="8573700" y="1664208"/>
            <a:ext cx="120453" cy="301752"/>
          </a:xfrm>
          <a:prstGeom prst="rect">
            <a:avLst/>
          </a:prstGeom>
          <a:solidFill>
            <a:srgbClr val="F4F7F8"/>
          </a:solidFill>
          <a:ln w="6350">
            <a:solidFill>
              <a:srgbClr val="FFFFFF"/>
            </a:solidFill>
            <a:prstDash val="solid"/>
          </a:ln>
        </p:spPr>
      </p:sp>
      <p:sp>
        <p:nvSpPr>
          <p:cNvPr id="110" name="Text 108"/>
          <p:cNvSpPr/>
          <p:nvPr/>
        </p:nvSpPr>
        <p:spPr>
          <a:xfrm>
            <a:off x="8573700"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11" name="Text 109"/>
          <p:cNvSpPr/>
          <p:nvPr/>
        </p:nvSpPr>
        <p:spPr>
          <a:xfrm>
            <a:off x="8573700"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31</a:t>
            </a:r>
            <a:endParaRPr lang="en-US" sz="550" dirty="0"/>
          </a:p>
        </p:txBody>
      </p:sp>
      <p:sp>
        <p:nvSpPr>
          <p:cNvPr id="112" name="Shape 110"/>
          <p:cNvSpPr/>
          <p:nvPr/>
        </p:nvSpPr>
        <p:spPr>
          <a:xfrm>
            <a:off x="8573700" y="1965960"/>
            <a:ext cx="0" cy="3429000"/>
          </a:xfrm>
          <a:prstGeom prst="line">
            <a:avLst/>
          </a:prstGeom>
          <a:noFill/>
          <a:ln w="6350">
            <a:solidFill>
              <a:srgbClr val="9DB2BB"/>
            </a:solidFill>
            <a:prstDash val="solid"/>
          </a:ln>
        </p:spPr>
      </p:sp>
      <p:sp>
        <p:nvSpPr>
          <p:cNvPr id="113" name="Shape 111"/>
          <p:cNvSpPr/>
          <p:nvPr/>
        </p:nvSpPr>
        <p:spPr>
          <a:xfrm>
            <a:off x="8694153" y="1664208"/>
            <a:ext cx="120453" cy="301752"/>
          </a:xfrm>
          <a:prstGeom prst="rect">
            <a:avLst/>
          </a:prstGeom>
          <a:solidFill>
            <a:srgbClr val="F4F7F8"/>
          </a:solidFill>
          <a:ln w="6350">
            <a:solidFill>
              <a:srgbClr val="FFFFFF"/>
            </a:solidFill>
            <a:prstDash val="solid"/>
          </a:ln>
        </p:spPr>
      </p:sp>
      <p:sp>
        <p:nvSpPr>
          <p:cNvPr id="114" name="Text 112"/>
          <p:cNvSpPr/>
          <p:nvPr/>
        </p:nvSpPr>
        <p:spPr>
          <a:xfrm>
            <a:off x="869415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15" name="Text 113"/>
          <p:cNvSpPr/>
          <p:nvPr/>
        </p:nvSpPr>
        <p:spPr>
          <a:xfrm>
            <a:off x="869415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a:t>
            </a:r>
            <a:endParaRPr lang="en-US" sz="550" dirty="0"/>
          </a:p>
        </p:txBody>
      </p:sp>
      <p:sp>
        <p:nvSpPr>
          <p:cNvPr id="116" name="Shape 114"/>
          <p:cNvSpPr/>
          <p:nvPr/>
        </p:nvSpPr>
        <p:spPr>
          <a:xfrm>
            <a:off x="8814606" y="1664208"/>
            <a:ext cx="120453" cy="301752"/>
          </a:xfrm>
          <a:prstGeom prst="rect">
            <a:avLst/>
          </a:prstGeom>
          <a:solidFill>
            <a:srgbClr val="F4F7F8"/>
          </a:solidFill>
          <a:ln w="6350">
            <a:solidFill>
              <a:srgbClr val="FFFFFF"/>
            </a:solidFill>
            <a:prstDash val="solid"/>
          </a:ln>
        </p:spPr>
      </p:sp>
      <p:sp>
        <p:nvSpPr>
          <p:cNvPr id="117" name="Text 115"/>
          <p:cNvSpPr/>
          <p:nvPr/>
        </p:nvSpPr>
        <p:spPr>
          <a:xfrm>
            <a:off x="881460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118" name="Text 116"/>
          <p:cNvSpPr/>
          <p:nvPr/>
        </p:nvSpPr>
        <p:spPr>
          <a:xfrm>
            <a:off x="881460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a:t>
            </a:r>
            <a:endParaRPr lang="en-US" sz="550" dirty="0"/>
          </a:p>
        </p:txBody>
      </p:sp>
      <p:sp>
        <p:nvSpPr>
          <p:cNvPr id="119" name="Shape 117"/>
          <p:cNvSpPr/>
          <p:nvPr/>
        </p:nvSpPr>
        <p:spPr>
          <a:xfrm>
            <a:off x="8935060" y="1664208"/>
            <a:ext cx="120453" cy="301752"/>
          </a:xfrm>
          <a:prstGeom prst="rect">
            <a:avLst/>
          </a:prstGeom>
          <a:solidFill>
            <a:srgbClr val="F4F7F8"/>
          </a:solidFill>
          <a:ln w="6350">
            <a:solidFill>
              <a:srgbClr val="FFFFFF"/>
            </a:solidFill>
            <a:prstDash val="solid"/>
          </a:ln>
        </p:spPr>
      </p:sp>
      <p:sp>
        <p:nvSpPr>
          <p:cNvPr id="120" name="Text 118"/>
          <p:cNvSpPr/>
          <p:nvPr/>
        </p:nvSpPr>
        <p:spPr>
          <a:xfrm>
            <a:off x="8935060"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21" name="Text 119"/>
          <p:cNvSpPr/>
          <p:nvPr/>
        </p:nvSpPr>
        <p:spPr>
          <a:xfrm>
            <a:off x="8935060"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3</a:t>
            </a:r>
            <a:endParaRPr lang="en-US" sz="550" dirty="0"/>
          </a:p>
        </p:txBody>
      </p:sp>
      <p:sp>
        <p:nvSpPr>
          <p:cNvPr id="122" name="Shape 120"/>
          <p:cNvSpPr/>
          <p:nvPr/>
        </p:nvSpPr>
        <p:spPr>
          <a:xfrm>
            <a:off x="9055513" y="1664208"/>
            <a:ext cx="120453" cy="301752"/>
          </a:xfrm>
          <a:prstGeom prst="rect">
            <a:avLst/>
          </a:prstGeom>
          <a:solidFill>
            <a:srgbClr val="F4F7F8"/>
          </a:solidFill>
          <a:ln w="6350">
            <a:solidFill>
              <a:srgbClr val="FFFFFF"/>
            </a:solidFill>
            <a:prstDash val="solid"/>
          </a:ln>
        </p:spPr>
      </p:sp>
      <p:sp>
        <p:nvSpPr>
          <p:cNvPr id="123" name="Text 121"/>
          <p:cNvSpPr/>
          <p:nvPr/>
        </p:nvSpPr>
        <p:spPr>
          <a:xfrm>
            <a:off x="905551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124" name="Text 122"/>
          <p:cNvSpPr/>
          <p:nvPr/>
        </p:nvSpPr>
        <p:spPr>
          <a:xfrm>
            <a:off x="905551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4</a:t>
            </a:r>
            <a:endParaRPr lang="en-US" sz="550" dirty="0"/>
          </a:p>
        </p:txBody>
      </p:sp>
      <p:sp>
        <p:nvSpPr>
          <p:cNvPr id="125" name="Shape 123"/>
          <p:cNvSpPr/>
          <p:nvPr/>
        </p:nvSpPr>
        <p:spPr>
          <a:xfrm>
            <a:off x="9175966" y="1664208"/>
            <a:ext cx="120453" cy="301752"/>
          </a:xfrm>
          <a:prstGeom prst="rect">
            <a:avLst/>
          </a:prstGeom>
          <a:solidFill>
            <a:srgbClr val="F4F7F8"/>
          </a:solidFill>
          <a:ln w="6350">
            <a:solidFill>
              <a:srgbClr val="FFFFFF"/>
            </a:solidFill>
            <a:prstDash val="solid"/>
          </a:ln>
        </p:spPr>
      </p:sp>
      <p:sp>
        <p:nvSpPr>
          <p:cNvPr id="126" name="Text 124"/>
          <p:cNvSpPr/>
          <p:nvPr/>
        </p:nvSpPr>
        <p:spPr>
          <a:xfrm>
            <a:off x="917596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27" name="Text 125"/>
          <p:cNvSpPr/>
          <p:nvPr/>
        </p:nvSpPr>
        <p:spPr>
          <a:xfrm>
            <a:off x="917596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5</a:t>
            </a:r>
            <a:endParaRPr lang="en-US" sz="550" dirty="0"/>
          </a:p>
        </p:txBody>
      </p:sp>
      <p:sp>
        <p:nvSpPr>
          <p:cNvPr id="128" name="Shape 126"/>
          <p:cNvSpPr/>
          <p:nvPr/>
        </p:nvSpPr>
        <p:spPr>
          <a:xfrm>
            <a:off x="9296419" y="1664208"/>
            <a:ext cx="120453" cy="301752"/>
          </a:xfrm>
          <a:prstGeom prst="rect">
            <a:avLst/>
          </a:prstGeom>
          <a:solidFill>
            <a:srgbClr val="DBE3E6"/>
          </a:solidFill>
          <a:ln w="6350">
            <a:solidFill>
              <a:srgbClr val="FFFFFF"/>
            </a:solidFill>
            <a:prstDash val="solid"/>
          </a:ln>
        </p:spPr>
      </p:sp>
      <p:sp>
        <p:nvSpPr>
          <p:cNvPr id="129" name="Text 127"/>
          <p:cNvSpPr/>
          <p:nvPr/>
        </p:nvSpPr>
        <p:spPr>
          <a:xfrm>
            <a:off x="929641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130" name="Text 128"/>
          <p:cNvSpPr/>
          <p:nvPr/>
        </p:nvSpPr>
        <p:spPr>
          <a:xfrm>
            <a:off x="929641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6</a:t>
            </a:r>
            <a:endParaRPr lang="en-US" sz="550" dirty="0"/>
          </a:p>
        </p:txBody>
      </p:sp>
      <p:sp>
        <p:nvSpPr>
          <p:cNvPr id="131" name="Shape 129"/>
          <p:cNvSpPr/>
          <p:nvPr/>
        </p:nvSpPr>
        <p:spPr>
          <a:xfrm>
            <a:off x="9296419" y="1965960"/>
            <a:ext cx="120453" cy="3429000"/>
          </a:xfrm>
          <a:prstGeom prst="rect">
            <a:avLst/>
          </a:prstGeom>
          <a:solidFill>
            <a:srgbClr val="000000">
              <a:alpha val="6000"/>
            </a:srgbClr>
          </a:solidFill>
          <a:ln w="12700">
            <a:solidFill>
              <a:srgbClr val="000000">
                <a:alpha val="0"/>
              </a:srgbClr>
            </a:solidFill>
            <a:prstDash val="solid"/>
          </a:ln>
        </p:spPr>
      </p:sp>
      <p:sp>
        <p:nvSpPr>
          <p:cNvPr id="132" name="Shape 130"/>
          <p:cNvSpPr/>
          <p:nvPr/>
        </p:nvSpPr>
        <p:spPr>
          <a:xfrm>
            <a:off x="9416872" y="1664208"/>
            <a:ext cx="120453" cy="301752"/>
          </a:xfrm>
          <a:prstGeom prst="rect">
            <a:avLst/>
          </a:prstGeom>
          <a:solidFill>
            <a:srgbClr val="F4F7F8"/>
          </a:solidFill>
          <a:ln w="6350">
            <a:solidFill>
              <a:srgbClr val="FFFFFF"/>
            </a:solidFill>
            <a:prstDash val="solid"/>
          </a:ln>
        </p:spPr>
      </p:sp>
      <p:sp>
        <p:nvSpPr>
          <p:cNvPr id="133" name="Text 131"/>
          <p:cNvSpPr/>
          <p:nvPr/>
        </p:nvSpPr>
        <p:spPr>
          <a:xfrm>
            <a:off x="9416872"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34" name="Text 132"/>
          <p:cNvSpPr/>
          <p:nvPr/>
        </p:nvSpPr>
        <p:spPr>
          <a:xfrm>
            <a:off x="9416872"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7</a:t>
            </a:r>
            <a:endParaRPr lang="en-US" sz="550" dirty="0"/>
          </a:p>
        </p:txBody>
      </p:sp>
      <p:sp>
        <p:nvSpPr>
          <p:cNvPr id="135" name="Shape 133"/>
          <p:cNvSpPr/>
          <p:nvPr/>
        </p:nvSpPr>
        <p:spPr>
          <a:xfrm>
            <a:off x="9416872" y="1965960"/>
            <a:ext cx="0" cy="3429000"/>
          </a:xfrm>
          <a:prstGeom prst="line">
            <a:avLst/>
          </a:prstGeom>
          <a:noFill/>
          <a:ln w="6350">
            <a:solidFill>
              <a:srgbClr val="9DB2BB"/>
            </a:solidFill>
            <a:prstDash val="solid"/>
          </a:ln>
        </p:spPr>
      </p:sp>
      <p:sp>
        <p:nvSpPr>
          <p:cNvPr id="136" name="Shape 134"/>
          <p:cNvSpPr/>
          <p:nvPr/>
        </p:nvSpPr>
        <p:spPr>
          <a:xfrm>
            <a:off x="9537325" y="1664208"/>
            <a:ext cx="120453" cy="301752"/>
          </a:xfrm>
          <a:prstGeom prst="rect">
            <a:avLst/>
          </a:prstGeom>
          <a:solidFill>
            <a:srgbClr val="F4F7F8"/>
          </a:solidFill>
          <a:ln w="6350">
            <a:solidFill>
              <a:srgbClr val="FFFFFF"/>
            </a:solidFill>
            <a:prstDash val="solid"/>
          </a:ln>
        </p:spPr>
      </p:sp>
      <p:sp>
        <p:nvSpPr>
          <p:cNvPr id="137" name="Text 135"/>
          <p:cNvSpPr/>
          <p:nvPr/>
        </p:nvSpPr>
        <p:spPr>
          <a:xfrm>
            <a:off x="9537325"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38" name="Text 136"/>
          <p:cNvSpPr/>
          <p:nvPr/>
        </p:nvSpPr>
        <p:spPr>
          <a:xfrm>
            <a:off x="9537325"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8</a:t>
            </a:r>
            <a:endParaRPr lang="en-US" sz="550" dirty="0"/>
          </a:p>
        </p:txBody>
      </p:sp>
      <p:sp>
        <p:nvSpPr>
          <p:cNvPr id="139" name="Shape 137"/>
          <p:cNvSpPr/>
          <p:nvPr/>
        </p:nvSpPr>
        <p:spPr>
          <a:xfrm>
            <a:off x="9657779" y="1664208"/>
            <a:ext cx="120453" cy="301752"/>
          </a:xfrm>
          <a:prstGeom prst="rect">
            <a:avLst/>
          </a:prstGeom>
          <a:solidFill>
            <a:srgbClr val="F4F7F8"/>
          </a:solidFill>
          <a:ln w="6350">
            <a:solidFill>
              <a:srgbClr val="FFFFFF"/>
            </a:solidFill>
            <a:prstDash val="solid"/>
          </a:ln>
        </p:spPr>
      </p:sp>
      <p:sp>
        <p:nvSpPr>
          <p:cNvPr id="140" name="Text 138"/>
          <p:cNvSpPr/>
          <p:nvPr/>
        </p:nvSpPr>
        <p:spPr>
          <a:xfrm>
            <a:off x="965777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141" name="Text 139"/>
          <p:cNvSpPr/>
          <p:nvPr/>
        </p:nvSpPr>
        <p:spPr>
          <a:xfrm>
            <a:off x="965777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9</a:t>
            </a:r>
            <a:endParaRPr lang="en-US" sz="550" dirty="0"/>
          </a:p>
        </p:txBody>
      </p:sp>
      <p:sp>
        <p:nvSpPr>
          <p:cNvPr id="142" name="Shape 140"/>
          <p:cNvSpPr/>
          <p:nvPr/>
        </p:nvSpPr>
        <p:spPr>
          <a:xfrm>
            <a:off x="9778232" y="1664208"/>
            <a:ext cx="120453" cy="301752"/>
          </a:xfrm>
          <a:prstGeom prst="rect">
            <a:avLst/>
          </a:prstGeom>
          <a:solidFill>
            <a:srgbClr val="F4F7F8"/>
          </a:solidFill>
          <a:ln w="6350">
            <a:solidFill>
              <a:srgbClr val="FFFFFF"/>
            </a:solidFill>
            <a:prstDash val="solid"/>
          </a:ln>
        </p:spPr>
      </p:sp>
      <p:sp>
        <p:nvSpPr>
          <p:cNvPr id="143" name="Text 141"/>
          <p:cNvSpPr/>
          <p:nvPr/>
        </p:nvSpPr>
        <p:spPr>
          <a:xfrm>
            <a:off x="9778232"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44" name="Text 142"/>
          <p:cNvSpPr/>
          <p:nvPr/>
        </p:nvSpPr>
        <p:spPr>
          <a:xfrm>
            <a:off x="9778232"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10</a:t>
            </a:r>
            <a:endParaRPr lang="en-US" sz="550" dirty="0"/>
          </a:p>
        </p:txBody>
      </p:sp>
      <p:sp>
        <p:nvSpPr>
          <p:cNvPr id="145" name="Shape 143"/>
          <p:cNvSpPr/>
          <p:nvPr/>
        </p:nvSpPr>
        <p:spPr>
          <a:xfrm>
            <a:off x="9898685" y="1664208"/>
            <a:ext cx="120453" cy="301752"/>
          </a:xfrm>
          <a:prstGeom prst="rect">
            <a:avLst/>
          </a:prstGeom>
          <a:solidFill>
            <a:srgbClr val="F4F7F8"/>
          </a:solidFill>
          <a:ln w="6350">
            <a:solidFill>
              <a:srgbClr val="FFFFFF"/>
            </a:solidFill>
            <a:prstDash val="solid"/>
          </a:ln>
        </p:spPr>
      </p:sp>
      <p:sp>
        <p:nvSpPr>
          <p:cNvPr id="146" name="Text 144"/>
          <p:cNvSpPr/>
          <p:nvPr/>
        </p:nvSpPr>
        <p:spPr>
          <a:xfrm>
            <a:off x="9898685"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147" name="Text 145"/>
          <p:cNvSpPr/>
          <p:nvPr/>
        </p:nvSpPr>
        <p:spPr>
          <a:xfrm>
            <a:off x="9898685"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11</a:t>
            </a:r>
            <a:endParaRPr lang="en-US" sz="550" dirty="0"/>
          </a:p>
        </p:txBody>
      </p:sp>
      <p:sp>
        <p:nvSpPr>
          <p:cNvPr id="148" name="Shape 146"/>
          <p:cNvSpPr/>
          <p:nvPr/>
        </p:nvSpPr>
        <p:spPr>
          <a:xfrm>
            <a:off x="10019138" y="1664208"/>
            <a:ext cx="120453" cy="301752"/>
          </a:xfrm>
          <a:prstGeom prst="rect">
            <a:avLst/>
          </a:prstGeom>
          <a:solidFill>
            <a:srgbClr val="F4F7F8"/>
          </a:solidFill>
          <a:ln w="6350">
            <a:solidFill>
              <a:srgbClr val="FFFFFF"/>
            </a:solidFill>
            <a:prstDash val="solid"/>
          </a:ln>
        </p:spPr>
      </p:sp>
      <p:sp>
        <p:nvSpPr>
          <p:cNvPr id="149" name="Text 147"/>
          <p:cNvSpPr/>
          <p:nvPr/>
        </p:nvSpPr>
        <p:spPr>
          <a:xfrm>
            <a:off x="10019138"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50" name="Text 148"/>
          <p:cNvSpPr/>
          <p:nvPr/>
        </p:nvSpPr>
        <p:spPr>
          <a:xfrm>
            <a:off x="10019138"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12</a:t>
            </a:r>
            <a:endParaRPr lang="en-US" sz="550" dirty="0"/>
          </a:p>
        </p:txBody>
      </p:sp>
      <p:sp>
        <p:nvSpPr>
          <p:cNvPr id="151" name="Shape 149"/>
          <p:cNvSpPr/>
          <p:nvPr/>
        </p:nvSpPr>
        <p:spPr>
          <a:xfrm>
            <a:off x="10139591" y="1664208"/>
            <a:ext cx="120453" cy="301752"/>
          </a:xfrm>
          <a:prstGeom prst="rect">
            <a:avLst/>
          </a:prstGeom>
          <a:solidFill>
            <a:srgbClr val="DBE3E6"/>
          </a:solidFill>
          <a:ln w="6350">
            <a:solidFill>
              <a:srgbClr val="FFFFFF"/>
            </a:solidFill>
            <a:prstDash val="solid"/>
          </a:ln>
        </p:spPr>
      </p:sp>
      <p:sp>
        <p:nvSpPr>
          <p:cNvPr id="152" name="Text 150"/>
          <p:cNvSpPr/>
          <p:nvPr/>
        </p:nvSpPr>
        <p:spPr>
          <a:xfrm>
            <a:off x="10139591"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153" name="Text 151"/>
          <p:cNvSpPr/>
          <p:nvPr/>
        </p:nvSpPr>
        <p:spPr>
          <a:xfrm>
            <a:off x="10139591"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13</a:t>
            </a:r>
            <a:endParaRPr lang="en-US" sz="550" dirty="0"/>
          </a:p>
        </p:txBody>
      </p:sp>
      <p:sp>
        <p:nvSpPr>
          <p:cNvPr id="154" name="Shape 152"/>
          <p:cNvSpPr/>
          <p:nvPr/>
        </p:nvSpPr>
        <p:spPr>
          <a:xfrm>
            <a:off x="10139591" y="1965960"/>
            <a:ext cx="120453" cy="3429000"/>
          </a:xfrm>
          <a:prstGeom prst="rect">
            <a:avLst/>
          </a:prstGeom>
          <a:solidFill>
            <a:srgbClr val="000000">
              <a:alpha val="6000"/>
            </a:srgbClr>
          </a:solidFill>
          <a:ln w="12700">
            <a:solidFill>
              <a:srgbClr val="000000">
                <a:alpha val="0"/>
              </a:srgbClr>
            </a:solidFill>
            <a:prstDash val="solid"/>
          </a:ln>
        </p:spPr>
      </p:sp>
      <p:sp>
        <p:nvSpPr>
          <p:cNvPr id="155" name="Shape 153"/>
          <p:cNvSpPr/>
          <p:nvPr/>
        </p:nvSpPr>
        <p:spPr>
          <a:xfrm>
            <a:off x="10260044" y="1664208"/>
            <a:ext cx="120453" cy="301752"/>
          </a:xfrm>
          <a:prstGeom prst="rect">
            <a:avLst/>
          </a:prstGeom>
          <a:solidFill>
            <a:srgbClr val="F4F7F8"/>
          </a:solidFill>
          <a:ln w="6350">
            <a:solidFill>
              <a:srgbClr val="FFFFFF"/>
            </a:solidFill>
            <a:prstDash val="solid"/>
          </a:ln>
        </p:spPr>
      </p:sp>
      <p:sp>
        <p:nvSpPr>
          <p:cNvPr id="156" name="Text 154"/>
          <p:cNvSpPr/>
          <p:nvPr/>
        </p:nvSpPr>
        <p:spPr>
          <a:xfrm>
            <a:off x="10260044"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57" name="Text 155"/>
          <p:cNvSpPr/>
          <p:nvPr/>
        </p:nvSpPr>
        <p:spPr>
          <a:xfrm>
            <a:off x="10260044"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14</a:t>
            </a:r>
            <a:endParaRPr lang="en-US" sz="550" dirty="0"/>
          </a:p>
        </p:txBody>
      </p:sp>
      <p:sp>
        <p:nvSpPr>
          <p:cNvPr id="158" name="Shape 156"/>
          <p:cNvSpPr/>
          <p:nvPr/>
        </p:nvSpPr>
        <p:spPr>
          <a:xfrm>
            <a:off x="10260044" y="1965960"/>
            <a:ext cx="0" cy="3429000"/>
          </a:xfrm>
          <a:prstGeom prst="line">
            <a:avLst/>
          </a:prstGeom>
          <a:noFill/>
          <a:ln w="6350">
            <a:solidFill>
              <a:srgbClr val="9DB2BB"/>
            </a:solidFill>
            <a:prstDash val="solid"/>
          </a:ln>
        </p:spPr>
      </p:sp>
      <p:sp>
        <p:nvSpPr>
          <p:cNvPr id="159" name="Shape 157"/>
          <p:cNvSpPr/>
          <p:nvPr/>
        </p:nvSpPr>
        <p:spPr>
          <a:xfrm>
            <a:off x="10380497" y="1664208"/>
            <a:ext cx="120453" cy="301752"/>
          </a:xfrm>
          <a:prstGeom prst="rect">
            <a:avLst/>
          </a:prstGeom>
          <a:solidFill>
            <a:srgbClr val="F4F7F8"/>
          </a:solidFill>
          <a:ln w="6350">
            <a:solidFill>
              <a:srgbClr val="FFFFFF"/>
            </a:solidFill>
            <a:prstDash val="solid"/>
          </a:ln>
        </p:spPr>
      </p:sp>
      <p:sp>
        <p:nvSpPr>
          <p:cNvPr id="160" name="Text 158"/>
          <p:cNvSpPr/>
          <p:nvPr/>
        </p:nvSpPr>
        <p:spPr>
          <a:xfrm>
            <a:off x="10380497"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61" name="Text 159"/>
          <p:cNvSpPr/>
          <p:nvPr/>
        </p:nvSpPr>
        <p:spPr>
          <a:xfrm>
            <a:off x="10380497"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15</a:t>
            </a:r>
            <a:endParaRPr lang="en-US" sz="550" dirty="0"/>
          </a:p>
        </p:txBody>
      </p:sp>
      <p:sp>
        <p:nvSpPr>
          <p:cNvPr id="162" name="Shape 160"/>
          <p:cNvSpPr/>
          <p:nvPr/>
        </p:nvSpPr>
        <p:spPr>
          <a:xfrm>
            <a:off x="10500951" y="1664208"/>
            <a:ext cx="120453" cy="301752"/>
          </a:xfrm>
          <a:prstGeom prst="rect">
            <a:avLst/>
          </a:prstGeom>
          <a:solidFill>
            <a:srgbClr val="F4F7F8"/>
          </a:solidFill>
          <a:ln w="6350">
            <a:solidFill>
              <a:srgbClr val="FFFFFF"/>
            </a:solidFill>
            <a:prstDash val="solid"/>
          </a:ln>
        </p:spPr>
      </p:sp>
      <p:sp>
        <p:nvSpPr>
          <p:cNvPr id="163" name="Text 161"/>
          <p:cNvSpPr/>
          <p:nvPr/>
        </p:nvSpPr>
        <p:spPr>
          <a:xfrm>
            <a:off x="10500951"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164" name="Text 162"/>
          <p:cNvSpPr/>
          <p:nvPr/>
        </p:nvSpPr>
        <p:spPr>
          <a:xfrm>
            <a:off x="10500951"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16</a:t>
            </a:r>
            <a:endParaRPr lang="en-US" sz="550" dirty="0"/>
          </a:p>
        </p:txBody>
      </p:sp>
      <p:sp>
        <p:nvSpPr>
          <p:cNvPr id="165" name="Shape 163"/>
          <p:cNvSpPr/>
          <p:nvPr/>
        </p:nvSpPr>
        <p:spPr>
          <a:xfrm>
            <a:off x="10621404" y="1664208"/>
            <a:ext cx="120453" cy="301752"/>
          </a:xfrm>
          <a:prstGeom prst="rect">
            <a:avLst/>
          </a:prstGeom>
          <a:solidFill>
            <a:srgbClr val="F4F7F8"/>
          </a:solidFill>
          <a:ln w="6350">
            <a:solidFill>
              <a:srgbClr val="FFFFFF"/>
            </a:solidFill>
            <a:prstDash val="solid"/>
          </a:ln>
        </p:spPr>
      </p:sp>
      <p:sp>
        <p:nvSpPr>
          <p:cNvPr id="166" name="Text 164"/>
          <p:cNvSpPr/>
          <p:nvPr/>
        </p:nvSpPr>
        <p:spPr>
          <a:xfrm>
            <a:off x="10621404"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67" name="Text 165"/>
          <p:cNvSpPr/>
          <p:nvPr/>
        </p:nvSpPr>
        <p:spPr>
          <a:xfrm>
            <a:off x="10621404"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17</a:t>
            </a:r>
            <a:endParaRPr lang="en-US" sz="550" dirty="0"/>
          </a:p>
        </p:txBody>
      </p:sp>
      <p:sp>
        <p:nvSpPr>
          <p:cNvPr id="168" name="Shape 166"/>
          <p:cNvSpPr/>
          <p:nvPr/>
        </p:nvSpPr>
        <p:spPr>
          <a:xfrm>
            <a:off x="10741857" y="1664208"/>
            <a:ext cx="120453" cy="301752"/>
          </a:xfrm>
          <a:prstGeom prst="rect">
            <a:avLst/>
          </a:prstGeom>
          <a:solidFill>
            <a:srgbClr val="F4F7F8"/>
          </a:solidFill>
          <a:ln w="6350">
            <a:solidFill>
              <a:srgbClr val="FFFFFF"/>
            </a:solidFill>
            <a:prstDash val="solid"/>
          </a:ln>
        </p:spPr>
      </p:sp>
      <p:sp>
        <p:nvSpPr>
          <p:cNvPr id="169" name="Text 167"/>
          <p:cNvSpPr/>
          <p:nvPr/>
        </p:nvSpPr>
        <p:spPr>
          <a:xfrm>
            <a:off x="10741857"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170" name="Text 168"/>
          <p:cNvSpPr/>
          <p:nvPr/>
        </p:nvSpPr>
        <p:spPr>
          <a:xfrm>
            <a:off x="10741857"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18</a:t>
            </a:r>
            <a:endParaRPr lang="en-US" sz="550" dirty="0"/>
          </a:p>
        </p:txBody>
      </p:sp>
      <p:sp>
        <p:nvSpPr>
          <p:cNvPr id="171" name="Shape 169"/>
          <p:cNvSpPr/>
          <p:nvPr/>
        </p:nvSpPr>
        <p:spPr>
          <a:xfrm>
            <a:off x="10862310" y="1664208"/>
            <a:ext cx="120453" cy="301752"/>
          </a:xfrm>
          <a:prstGeom prst="rect">
            <a:avLst/>
          </a:prstGeom>
          <a:solidFill>
            <a:srgbClr val="F4F7F8"/>
          </a:solidFill>
          <a:ln w="6350">
            <a:solidFill>
              <a:srgbClr val="FFFFFF"/>
            </a:solidFill>
            <a:prstDash val="solid"/>
          </a:ln>
        </p:spPr>
      </p:sp>
      <p:sp>
        <p:nvSpPr>
          <p:cNvPr id="172" name="Text 170"/>
          <p:cNvSpPr/>
          <p:nvPr/>
        </p:nvSpPr>
        <p:spPr>
          <a:xfrm>
            <a:off x="10862310"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73" name="Text 171"/>
          <p:cNvSpPr/>
          <p:nvPr/>
        </p:nvSpPr>
        <p:spPr>
          <a:xfrm>
            <a:off x="10862310"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19</a:t>
            </a:r>
            <a:endParaRPr lang="en-US" sz="550" dirty="0"/>
          </a:p>
        </p:txBody>
      </p:sp>
      <p:sp>
        <p:nvSpPr>
          <p:cNvPr id="174" name="Shape 172"/>
          <p:cNvSpPr/>
          <p:nvPr/>
        </p:nvSpPr>
        <p:spPr>
          <a:xfrm>
            <a:off x="10982763" y="1664208"/>
            <a:ext cx="120453" cy="301752"/>
          </a:xfrm>
          <a:prstGeom prst="rect">
            <a:avLst/>
          </a:prstGeom>
          <a:solidFill>
            <a:srgbClr val="DBE3E6"/>
          </a:solidFill>
          <a:ln w="6350">
            <a:solidFill>
              <a:srgbClr val="FFFFFF"/>
            </a:solidFill>
            <a:prstDash val="solid"/>
          </a:ln>
        </p:spPr>
      </p:sp>
      <p:sp>
        <p:nvSpPr>
          <p:cNvPr id="175" name="Text 173"/>
          <p:cNvSpPr/>
          <p:nvPr/>
        </p:nvSpPr>
        <p:spPr>
          <a:xfrm>
            <a:off x="1098276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8A959C"/>
                </a:solidFill>
                <a:latin typeface="Calibri" pitchFamily="34" charset="0"/>
                <a:ea typeface="Calibri" pitchFamily="34" charset="-122"/>
                <a:cs typeface="Calibri" pitchFamily="34" charset="-120"/>
              </a:rPr>
              <a:t>F</a:t>
            </a:r>
            <a:endParaRPr lang="en-US" sz="500" dirty="0"/>
          </a:p>
        </p:txBody>
      </p:sp>
      <p:sp>
        <p:nvSpPr>
          <p:cNvPr id="176" name="Text 174"/>
          <p:cNvSpPr/>
          <p:nvPr/>
        </p:nvSpPr>
        <p:spPr>
          <a:xfrm>
            <a:off x="1098276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8A959C"/>
                </a:solidFill>
                <a:latin typeface="Calibri" pitchFamily="34" charset="0"/>
                <a:ea typeface="Calibri" pitchFamily="34" charset="-122"/>
                <a:cs typeface="Calibri" pitchFamily="34" charset="-120"/>
              </a:rPr>
              <a:t>20</a:t>
            </a:r>
            <a:endParaRPr lang="en-US" sz="550" dirty="0"/>
          </a:p>
        </p:txBody>
      </p:sp>
      <p:sp>
        <p:nvSpPr>
          <p:cNvPr id="177" name="Shape 175"/>
          <p:cNvSpPr/>
          <p:nvPr/>
        </p:nvSpPr>
        <p:spPr>
          <a:xfrm>
            <a:off x="10982763" y="1965960"/>
            <a:ext cx="120453" cy="3429000"/>
          </a:xfrm>
          <a:prstGeom prst="rect">
            <a:avLst/>
          </a:prstGeom>
          <a:solidFill>
            <a:srgbClr val="000000">
              <a:alpha val="6000"/>
            </a:srgbClr>
          </a:solidFill>
          <a:ln w="12700">
            <a:solidFill>
              <a:srgbClr val="000000">
                <a:alpha val="0"/>
              </a:srgbClr>
            </a:solidFill>
            <a:prstDash val="solid"/>
          </a:ln>
        </p:spPr>
      </p:sp>
      <p:sp>
        <p:nvSpPr>
          <p:cNvPr id="178" name="Shape 176"/>
          <p:cNvSpPr/>
          <p:nvPr/>
        </p:nvSpPr>
        <p:spPr>
          <a:xfrm>
            <a:off x="11103216" y="1664208"/>
            <a:ext cx="120453" cy="301752"/>
          </a:xfrm>
          <a:prstGeom prst="rect">
            <a:avLst/>
          </a:prstGeom>
          <a:solidFill>
            <a:srgbClr val="F4F7F8"/>
          </a:solidFill>
          <a:ln w="6350">
            <a:solidFill>
              <a:srgbClr val="FFFFFF"/>
            </a:solidFill>
            <a:prstDash val="solid"/>
          </a:ln>
        </p:spPr>
      </p:sp>
      <p:sp>
        <p:nvSpPr>
          <p:cNvPr id="179" name="Text 177"/>
          <p:cNvSpPr/>
          <p:nvPr/>
        </p:nvSpPr>
        <p:spPr>
          <a:xfrm>
            <a:off x="1110321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80" name="Text 178"/>
          <p:cNvSpPr/>
          <p:nvPr/>
        </p:nvSpPr>
        <p:spPr>
          <a:xfrm>
            <a:off x="1110321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21</a:t>
            </a:r>
            <a:endParaRPr lang="en-US" sz="550" dirty="0"/>
          </a:p>
        </p:txBody>
      </p:sp>
      <p:sp>
        <p:nvSpPr>
          <p:cNvPr id="181" name="Shape 179"/>
          <p:cNvSpPr/>
          <p:nvPr/>
        </p:nvSpPr>
        <p:spPr>
          <a:xfrm>
            <a:off x="11103216" y="1965960"/>
            <a:ext cx="0" cy="3429000"/>
          </a:xfrm>
          <a:prstGeom prst="line">
            <a:avLst/>
          </a:prstGeom>
          <a:noFill/>
          <a:ln w="6350">
            <a:solidFill>
              <a:srgbClr val="9DB2BB"/>
            </a:solidFill>
            <a:prstDash val="solid"/>
          </a:ln>
        </p:spPr>
      </p:sp>
      <p:sp>
        <p:nvSpPr>
          <p:cNvPr id="182" name="Shape 180"/>
          <p:cNvSpPr/>
          <p:nvPr/>
        </p:nvSpPr>
        <p:spPr>
          <a:xfrm>
            <a:off x="11223669" y="1664208"/>
            <a:ext cx="120453" cy="301752"/>
          </a:xfrm>
          <a:prstGeom prst="rect">
            <a:avLst/>
          </a:prstGeom>
          <a:solidFill>
            <a:srgbClr val="F4F7F8"/>
          </a:solidFill>
          <a:ln w="6350">
            <a:solidFill>
              <a:srgbClr val="FFFFFF"/>
            </a:solidFill>
            <a:prstDash val="solid"/>
          </a:ln>
        </p:spPr>
      </p:sp>
      <p:sp>
        <p:nvSpPr>
          <p:cNvPr id="183" name="Text 181"/>
          <p:cNvSpPr/>
          <p:nvPr/>
        </p:nvSpPr>
        <p:spPr>
          <a:xfrm>
            <a:off x="1122366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S</a:t>
            </a:r>
            <a:endParaRPr lang="en-US" sz="500" dirty="0"/>
          </a:p>
        </p:txBody>
      </p:sp>
      <p:sp>
        <p:nvSpPr>
          <p:cNvPr id="184" name="Text 182"/>
          <p:cNvSpPr/>
          <p:nvPr/>
        </p:nvSpPr>
        <p:spPr>
          <a:xfrm>
            <a:off x="1122366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22</a:t>
            </a:r>
            <a:endParaRPr lang="en-US" sz="550" dirty="0"/>
          </a:p>
        </p:txBody>
      </p:sp>
      <p:sp>
        <p:nvSpPr>
          <p:cNvPr id="185" name="Shape 183"/>
          <p:cNvSpPr/>
          <p:nvPr/>
        </p:nvSpPr>
        <p:spPr>
          <a:xfrm>
            <a:off x="11344123" y="1664208"/>
            <a:ext cx="120453" cy="301752"/>
          </a:xfrm>
          <a:prstGeom prst="rect">
            <a:avLst/>
          </a:prstGeom>
          <a:solidFill>
            <a:srgbClr val="F4F7F8"/>
          </a:solidFill>
          <a:ln w="6350">
            <a:solidFill>
              <a:srgbClr val="FFFFFF"/>
            </a:solidFill>
            <a:prstDash val="solid"/>
          </a:ln>
        </p:spPr>
      </p:sp>
      <p:sp>
        <p:nvSpPr>
          <p:cNvPr id="186" name="Text 184"/>
          <p:cNvSpPr/>
          <p:nvPr/>
        </p:nvSpPr>
        <p:spPr>
          <a:xfrm>
            <a:off x="11344123"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M</a:t>
            </a:r>
            <a:endParaRPr lang="en-US" sz="500" dirty="0"/>
          </a:p>
        </p:txBody>
      </p:sp>
      <p:sp>
        <p:nvSpPr>
          <p:cNvPr id="187" name="Text 185"/>
          <p:cNvSpPr/>
          <p:nvPr/>
        </p:nvSpPr>
        <p:spPr>
          <a:xfrm>
            <a:off x="11344123"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23</a:t>
            </a:r>
            <a:endParaRPr lang="en-US" sz="550" dirty="0"/>
          </a:p>
        </p:txBody>
      </p:sp>
      <p:sp>
        <p:nvSpPr>
          <p:cNvPr id="188" name="Shape 186"/>
          <p:cNvSpPr/>
          <p:nvPr/>
        </p:nvSpPr>
        <p:spPr>
          <a:xfrm>
            <a:off x="11464576" y="1664208"/>
            <a:ext cx="120453" cy="301752"/>
          </a:xfrm>
          <a:prstGeom prst="rect">
            <a:avLst/>
          </a:prstGeom>
          <a:solidFill>
            <a:srgbClr val="F4F7F8"/>
          </a:solidFill>
          <a:ln w="6350">
            <a:solidFill>
              <a:srgbClr val="FFFFFF"/>
            </a:solidFill>
            <a:prstDash val="solid"/>
          </a:ln>
        </p:spPr>
      </p:sp>
      <p:sp>
        <p:nvSpPr>
          <p:cNvPr id="189" name="Text 187"/>
          <p:cNvSpPr/>
          <p:nvPr/>
        </p:nvSpPr>
        <p:spPr>
          <a:xfrm>
            <a:off x="11464576"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90" name="Text 188"/>
          <p:cNvSpPr/>
          <p:nvPr/>
        </p:nvSpPr>
        <p:spPr>
          <a:xfrm>
            <a:off x="11464576"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24</a:t>
            </a:r>
            <a:endParaRPr lang="en-US" sz="550" dirty="0"/>
          </a:p>
        </p:txBody>
      </p:sp>
      <p:sp>
        <p:nvSpPr>
          <p:cNvPr id="191" name="Shape 189"/>
          <p:cNvSpPr/>
          <p:nvPr/>
        </p:nvSpPr>
        <p:spPr>
          <a:xfrm>
            <a:off x="11585029" y="1664208"/>
            <a:ext cx="120453" cy="301752"/>
          </a:xfrm>
          <a:prstGeom prst="rect">
            <a:avLst/>
          </a:prstGeom>
          <a:solidFill>
            <a:srgbClr val="F4F7F8"/>
          </a:solidFill>
          <a:ln w="6350">
            <a:solidFill>
              <a:srgbClr val="FFFFFF"/>
            </a:solidFill>
            <a:prstDash val="solid"/>
          </a:ln>
        </p:spPr>
      </p:sp>
      <p:sp>
        <p:nvSpPr>
          <p:cNvPr id="192" name="Text 190"/>
          <p:cNvSpPr/>
          <p:nvPr/>
        </p:nvSpPr>
        <p:spPr>
          <a:xfrm>
            <a:off x="11585029"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W</a:t>
            </a:r>
            <a:endParaRPr lang="en-US" sz="500" dirty="0"/>
          </a:p>
        </p:txBody>
      </p:sp>
      <p:sp>
        <p:nvSpPr>
          <p:cNvPr id="193" name="Text 191"/>
          <p:cNvSpPr/>
          <p:nvPr/>
        </p:nvSpPr>
        <p:spPr>
          <a:xfrm>
            <a:off x="11585029"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25</a:t>
            </a:r>
            <a:endParaRPr lang="en-US" sz="550" dirty="0"/>
          </a:p>
        </p:txBody>
      </p:sp>
      <p:sp>
        <p:nvSpPr>
          <p:cNvPr id="194" name="Shape 192"/>
          <p:cNvSpPr/>
          <p:nvPr/>
        </p:nvSpPr>
        <p:spPr>
          <a:xfrm>
            <a:off x="11705482" y="1664208"/>
            <a:ext cx="120453" cy="301752"/>
          </a:xfrm>
          <a:prstGeom prst="rect">
            <a:avLst/>
          </a:prstGeom>
          <a:solidFill>
            <a:srgbClr val="F4F7F8"/>
          </a:solidFill>
          <a:ln w="6350">
            <a:solidFill>
              <a:srgbClr val="FFFFFF"/>
            </a:solidFill>
            <a:prstDash val="solid"/>
          </a:ln>
        </p:spPr>
      </p:sp>
      <p:sp>
        <p:nvSpPr>
          <p:cNvPr id="195" name="Text 193"/>
          <p:cNvSpPr/>
          <p:nvPr/>
        </p:nvSpPr>
        <p:spPr>
          <a:xfrm>
            <a:off x="11705482" y="1664208"/>
            <a:ext cx="120453" cy="137160"/>
          </a:xfrm>
          <a:prstGeom prst="rect">
            <a:avLst/>
          </a:prstGeom>
          <a:noFill/>
          <a:ln/>
        </p:spPr>
        <p:txBody>
          <a:bodyPr wrap="square" lIns="0" tIns="0" rIns="0" bIns="0" rtlCol="0" anchor="ctr">
            <a:normAutofit/>
          </a:bodyPr>
          <a:lstStyle/>
          <a:p>
            <a:pPr algn="ctr" indent="0" marL="0">
              <a:buNone/>
            </a:pPr>
            <a:r>
              <a:rPr lang="en-US" altLang="en-US" sz="500" b="1" dirty="0">
                <a:solidFill>
                  <a:srgbClr val="5A6A73"/>
                </a:solidFill>
                <a:latin typeface="Calibri" pitchFamily="34" charset="0"/>
                <a:ea typeface="Calibri" pitchFamily="34" charset="-122"/>
                <a:cs typeface="Calibri" pitchFamily="34" charset="-120"/>
              </a:rPr>
              <a:t>T</a:t>
            </a:r>
            <a:endParaRPr lang="en-US" sz="500" dirty="0"/>
          </a:p>
        </p:txBody>
      </p:sp>
      <p:sp>
        <p:nvSpPr>
          <p:cNvPr id="196" name="Text 194"/>
          <p:cNvSpPr/>
          <p:nvPr/>
        </p:nvSpPr>
        <p:spPr>
          <a:xfrm>
            <a:off x="11705482" y="1801368"/>
            <a:ext cx="120453" cy="164592"/>
          </a:xfrm>
          <a:prstGeom prst="rect">
            <a:avLst/>
          </a:prstGeom>
          <a:noFill/>
          <a:ln/>
        </p:spPr>
        <p:txBody>
          <a:bodyPr wrap="square" lIns="0" tIns="0" rIns="0" bIns="0" rtlCol="0" anchor="ctr">
            <a:normAutofit/>
          </a:bodyPr>
          <a:lstStyle/>
          <a:p>
            <a:pPr algn="ctr" indent="0" marL="0">
              <a:buNone/>
            </a:pPr>
            <a:r>
              <a:rPr lang="en-US" altLang="en-US" sz="550" b="1" dirty="0">
                <a:solidFill>
                  <a:srgbClr val="222222"/>
                </a:solidFill>
                <a:latin typeface="Calibri" pitchFamily="34" charset="0"/>
                <a:ea typeface="Calibri" pitchFamily="34" charset="-122"/>
                <a:cs typeface="Calibri" pitchFamily="34" charset="-120"/>
              </a:rPr>
              <a:t>26</a:t>
            </a:r>
            <a:endParaRPr lang="en-US" sz="550" dirty="0"/>
          </a:p>
        </p:txBody>
      </p:sp>
      <p:sp>
        <p:nvSpPr>
          <p:cNvPr id="197" name="Shape 195"/>
          <p:cNvSpPr/>
          <p:nvPr/>
        </p:nvSpPr>
        <p:spPr>
          <a:xfrm>
            <a:off x="365760" y="1965960"/>
            <a:ext cx="5678424" cy="603504"/>
          </a:xfrm>
          <a:prstGeom prst="rect">
            <a:avLst/>
          </a:prstGeom>
          <a:solidFill>
            <a:srgbClr val="FBFDFD"/>
          </a:solidFill>
          <a:ln w="6350">
            <a:solidFill>
              <a:srgbClr val="DFE6EA"/>
            </a:solidFill>
            <a:prstDash val="solid"/>
          </a:ln>
        </p:spPr>
      </p:sp>
      <p:sp>
        <p:nvSpPr>
          <p:cNvPr id="198" name="Text 196"/>
          <p:cNvSpPr/>
          <p:nvPr/>
        </p:nvSpPr>
        <p:spPr>
          <a:xfrm>
            <a:off x="457200" y="1965960"/>
            <a:ext cx="5495544" cy="603504"/>
          </a:xfrm>
          <a:prstGeom prst="rect">
            <a:avLst/>
          </a:prstGeom>
          <a:noFill/>
          <a:ln/>
        </p:spPr>
        <p:txBody>
          <a:bodyPr wrap="square" lIns="0" tIns="0" rIns="0" bIns="0" rtlCol="0" anchor="ctr">
            <a:normAutofit/>
          </a:bodyPr>
          <a:lstStyle/>
          <a:p>
            <a:pPr algn="l" indent="0" marL="0">
              <a:buNone/>
            </a:pPr>
            <a:r>
              <a:rPr lang="en-US" altLang="en-US" sz="1000" b="1" dirty="0">
                <a:solidFill>
                  <a:srgbClr val="3D3935"/>
                </a:solidFill>
                <a:latin typeface="Calibri" pitchFamily="34" charset="0"/>
                <a:ea typeface="Calibri" pitchFamily="34" charset="-122"/>
                <a:cs typeface="Calibri" pitchFamily="34" charset="-120"/>
              </a:rPr>
              <a:t>◆  Milestone</a:t>
            </a:r>
            <a:endParaRPr lang="en-US" sz="1000" dirty="0"/>
          </a:p>
        </p:txBody>
      </p:sp>
      <p:sp>
        <p:nvSpPr>
          <p:cNvPr id="199" name="Shape 197"/>
          <p:cNvSpPr/>
          <p:nvPr/>
        </p:nvSpPr>
        <p:spPr>
          <a:xfrm>
            <a:off x="6383474" y="2039112"/>
            <a:ext cx="164592" cy="164592"/>
          </a:xfrm>
          <a:prstGeom prst="diamond">
            <a:avLst/>
          </a:prstGeom>
          <a:solidFill>
            <a:srgbClr val="3D3935"/>
          </a:solidFill>
          <a:ln w="19050">
            <a:solidFill>
              <a:srgbClr val="FFFFFF"/>
            </a:solidFill>
            <a:prstDash val="solid"/>
          </a:ln>
        </p:spPr>
      </p:sp>
      <p:sp>
        <p:nvSpPr>
          <p:cNvPr id="200" name="Text 198"/>
          <p:cNvSpPr/>
          <p:nvPr/>
        </p:nvSpPr>
        <p:spPr>
          <a:xfrm>
            <a:off x="6036002" y="2212848"/>
            <a:ext cx="859536" cy="182880"/>
          </a:xfrm>
          <a:prstGeom prst="rect">
            <a:avLst/>
          </a:prstGeom>
          <a:noFill/>
          <a:ln/>
        </p:spPr>
        <p:txBody>
          <a:bodyPr wrap="square" lIns="0" tIns="0" rIns="0" bIns="0" rtlCol="0" anchor="t">
            <a:normAutofit/>
          </a:bodyPr>
          <a:lstStyle/>
          <a:p>
            <a:pPr algn="ctr" indent="0" marL="0">
              <a:buNone/>
            </a:pPr>
            <a:r>
              <a:rPr lang="en-US" altLang="en-US" sz="550" dirty="0">
                <a:solidFill>
                  <a:srgbClr val="556070"/>
                </a:solidFill>
                <a:latin typeface="Calibri" pitchFamily="34" charset="0"/>
                <a:ea typeface="Calibri" pitchFamily="34" charset="-122"/>
                <a:cs typeface="Calibri" pitchFamily="34" charset="-120"/>
              </a:rPr>
              <a:t>Commencement</a:t>
            </a:r>
            <a:endParaRPr lang="en-US" sz="550" dirty="0"/>
          </a:p>
        </p:txBody>
      </p:sp>
      <p:sp>
        <p:nvSpPr>
          <p:cNvPr id="201" name="Text 199"/>
          <p:cNvSpPr/>
          <p:nvPr/>
        </p:nvSpPr>
        <p:spPr>
          <a:xfrm>
            <a:off x="5898842" y="2368296"/>
            <a:ext cx="1133856" cy="164592"/>
          </a:xfrm>
          <a:prstGeom prst="rect">
            <a:avLst/>
          </a:prstGeom>
          <a:noFill/>
          <a:ln/>
        </p:spPr>
        <p:txBody>
          <a:bodyPr wrap="square" lIns="0" tIns="0" rIns="0" bIns="0" rtlCol="0" anchor="ctr">
            <a:normAutofit/>
          </a:bodyPr>
          <a:lstStyle/>
          <a:p>
            <a:pPr algn="ctr" indent="0" marL="0">
              <a:buNone/>
            </a:pPr>
            <a:r>
              <a:rPr lang="en-US" altLang="en-US" sz="750" b="1" dirty="0">
                <a:solidFill>
                  <a:srgbClr val="3D3935"/>
                </a:solidFill>
                <a:latin typeface="Calibri" pitchFamily="34" charset="0"/>
                <a:ea typeface="Calibri" pitchFamily="34" charset="-122"/>
                <a:cs typeface="Calibri" pitchFamily="34" charset="-120"/>
              </a:rPr>
              <a:t>13 Oct</a:t>
            </a:r>
            <a:endParaRPr lang="en-US" sz="750" dirty="0"/>
          </a:p>
        </p:txBody>
      </p:sp>
      <p:sp>
        <p:nvSpPr>
          <p:cNvPr id="202" name="Shape 200"/>
          <p:cNvSpPr/>
          <p:nvPr/>
        </p:nvSpPr>
        <p:spPr>
          <a:xfrm>
            <a:off x="7106193" y="2039112"/>
            <a:ext cx="164592" cy="164592"/>
          </a:xfrm>
          <a:prstGeom prst="diamond">
            <a:avLst/>
          </a:prstGeom>
          <a:solidFill>
            <a:srgbClr val="3D3935"/>
          </a:solidFill>
          <a:ln w="19050">
            <a:solidFill>
              <a:srgbClr val="FFFFFF"/>
            </a:solidFill>
            <a:prstDash val="solid"/>
          </a:ln>
        </p:spPr>
      </p:sp>
      <p:sp>
        <p:nvSpPr>
          <p:cNvPr id="203" name="Text 201"/>
          <p:cNvSpPr/>
          <p:nvPr/>
        </p:nvSpPr>
        <p:spPr>
          <a:xfrm>
            <a:off x="6758721" y="2212848"/>
            <a:ext cx="859536" cy="182880"/>
          </a:xfrm>
          <a:prstGeom prst="rect">
            <a:avLst/>
          </a:prstGeom>
          <a:noFill/>
          <a:ln/>
        </p:spPr>
        <p:txBody>
          <a:bodyPr wrap="square" lIns="0" tIns="0" rIns="0" bIns="0" rtlCol="0" anchor="t">
            <a:normAutofit/>
          </a:bodyPr>
          <a:lstStyle/>
          <a:p>
            <a:pPr algn="ctr" indent="0" marL="0">
              <a:buNone/>
            </a:pPr>
            <a:r>
              <a:rPr lang="en-US" altLang="en-US" sz="550" dirty="0">
                <a:solidFill>
                  <a:srgbClr val="556070"/>
                </a:solidFill>
                <a:latin typeface="Calibri" pitchFamily="34" charset="0"/>
                <a:ea typeface="Calibri" pitchFamily="34" charset="-122"/>
                <a:cs typeface="Calibri" pitchFamily="34" charset="-120"/>
              </a:rPr>
              <a:t>Shoring installation complete</a:t>
            </a:r>
            <a:endParaRPr lang="en-US" sz="550" dirty="0"/>
          </a:p>
        </p:txBody>
      </p:sp>
      <p:sp>
        <p:nvSpPr>
          <p:cNvPr id="204" name="Text 202"/>
          <p:cNvSpPr/>
          <p:nvPr/>
        </p:nvSpPr>
        <p:spPr>
          <a:xfrm>
            <a:off x="6621561" y="2368296"/>
            <a:ext cx="1133856" cy="164592"/>
          </a:xfrm>
          <a:prstGeom prst="rect">
            <a:avLst/>
          </a:prstGeom>
          <a:noFill/>
          <a:ln/>
        </p:spPr>
        <p:txBody>
          <a:bodyPr wrap="square" lIns="0" tIns="0" rIns="0" bIns="0" rtlCol="0" anchor="ctr">
            <a:normAutofit/>
          </a:bodyPr>
          <a:lstStyle/>
          <a:p>
            <a:pPr algn="ctr" indent="0" marL="0">
              <a:buNone/>
            </a:pPr>
            <a:r>
              <a:rPr lang="en-US" altLang="en-US" sz="750" b="1" dirty="0">
                <a:solidFill>
                  <a:srgbClr val="3D3935"/>
                </a:solidFill>
                <a:latin typeface="Calibri" pitchFamily="34" charset="0"/>
                <a:ea typeface="Calibri" pitchFamily="34" charset="-122"/>
                <a:cs typeface="Calibri" pitchFamily="34" charset="-120"/>
              </a:rPr>
              <a:t>19 Oct</a:t>
            </a:r>
            <a:endParaRPr lang="en-US" sz="750" dirty="0"/>
          </a:p>
        </p:txBody>
      </p:sp>
      <p:sp>
        <p:nvSpPr>
          <p:cNvPr id="205" name="Shape 203"/>
          <p:cNvSpPr/>
          <p:nvPr/>
        </p:nvSpPr>
        <p:spPr>
          <a:xfrm>
            <a:off x="9876615" y="2039112"/>
            <a:ext cx="164592" cy="164592"/>
          </a:xfrm>
          <a:prstGeom prst="diamond">
            <a:avLst/>
          </a:prstGeom>
          <a:solidFill>
            <a:srgbClr val="3D3935"/>
          </a:solidFill>
          <a:ln w="19050">
            <a:solidFill>
              <a:srgbClr val="FFFFFF"/>
            </a:solidFill>
            <a:prstDash val="solid"/>
          </a:ln>
        </p:spPr>
      </p:sp>
      <p:sp>
        <p:nvSpPr>
          <p:cNvPr id="206" name="Text 204"/>
          <p:cNvSpPr/>
          <p:nvPr/>
        </p:nvSpPr>
        <p:spPr>
          <a:xfrm>
            <a:off x="9529143" y="2212848"/>
            <a:ext cx="859536" cy="182880"/>
          </a:xfrm>
          <a:prstGeom prst="rect">
            <a:avLst/>
          </a:prstGeom>
          <a:noFill/>
          <a:ln/>
        </p:spPr>
        <p:txBody>
          <a:bodyPr wrap="square" lIns="0" tIns="0" rIns="0" bIns="0" rtlCol="0" anchor="t">
            <a:normAutofit/>
          </a:bodyPr>
          <a:lstStyle/>
          <a:p>
            <a:pPr algn="ctr" indent="0" marL="0">
              <a:buNone/>
            </a:pPr>
            <a:r>
              <a:rPr lang="en-US" altLang="en-US" sz="550" dirty="0">
                <a:solidFill>
                  <a:srgbClr val="556070"/>
                </a:solidFill>
                <a:latin typeface="Calibri" pitchFamily="34" charset="0"/>
                <a:ea typeface="Calibri" pitchFamily="34" charset="-122"/>
                <a:cs typeface="Calibri" pitchFamily="34" charset="-120"/>
              </a:rPr>
              <a:t>Pit works complete (pit wall)</a:t>
            </a:r>
            <a:endParaRPr lang="en-US" sz="550" dirty="0"/>
          </a:p>
        </p:txBody>
      </p:sp>
      <p:sp>
        <p:nvSpPr>
          <p:cNvPr id="207" name="Text 205"/>
          <p:cNvSpPr/>
          <p:nvPr/>
        </p:nvSpPr>
        <p:spPr>
          <a:xfrm>
            <a:off x="9391983" y="2368296"/>
            <a:ext cx="1133856" cy="164592"/>
          </a:xfrm>
          <a:prstGeom prst="rect">
            <a:avLst/>
          </a:prstGeom>
          <a:noFill/>
          <a:ln/>
        </p:spPr>
        <p:txBody>
          <a:bodyPr wrap="square" lIns="0" tIns="0" rIns="0" bIns="0" rtlCol="0" anchor="ctr">
            <a:normAutofit/>
          </a:bodyPr>
          <a:lstStyle/>
          <a:p>
            <a:pPr algn="ctr" indent="0" marL="0">
              <a:buNone/>
            </a:pPr>
            <a:r>
              <a:rPr lang="en-US" altLang="en-US" sz="750" b="1" dirty="0">
                <a:solidFill>
                  <a:srgbClr val="3D3935"/>
                </a:solidFill>
                <a:latin typeface="Calibri" pitchFamily="34" charset="0"/>
                <a:ea typeface="Calibri" pitchFamily="34" charset="-122"/>
                <a:cs typeface="Calibri" pitchFamily="34" charset="-120"/>
              </a:rPr>
              <a:t>11 Nov</a:t>
            </a:r>
            <a:endParaRPr lang="en-US" sz="750" dirty="0"/>
          </a:p>
        </p:txBody>
      </p:sp>
      <p:sp>
        <p:nvSpPr>
          <p:cNvPr id="208" name="Shape 206"/>
          <p:cNvSpPr/>
          <p:nvPr/>
        </p:nvSpPr>
        <p:spPr>
          <a:xfrm>
            <a:off x="10719787" y="2039112"/>
            <a:ext cx="164592" cy="164592"/>
          </a:xfrm>
          <a:prstGeom prst="diamond">
            <a:avLst/>
          </a:prstGeom>
          <a:solidFill>
            <a:srgbClr val="3D3935"/>
          </a:solidFill>
          <a:ln w="19050">
            <a:solidFill>
              <a:srgbClr val="FFFFFF"/>
            </a:solidFill>
            <a:prstDash val="solid"/>
          </a:ln>
        </p:spPr>
      </p:sp>
      <p:sp>
        <p:nvSpPr>
          <p:cNvPr id="209" name="Text 207"/>
          <p:cNvSpPr/>
          <p:nvPr/>
        </p:nvSpPr>
        <p:spPr>
          <a:xfrm>
            <a:off x="10372315" y="2212848"/>
            <a:ext cx="859536" cy="182880"/>
          </a:xfrm>
          <a:prstGeom prst="rect">
            <a:avLst/>
          </a:prstGeom>
          <a:noFill/>
          <a:ln/>
        </p:spPr>
        <p:txBody>
          <a:bodyPr wrap="square" lIns="0" tIns="0" rIns="0" bIns="0" rtlCol="0" anchor="t">
            <a:normAutofit/>
          </a:bodyPr>
          <a:lstStyle/>
          <a:p>
            <a:pPr algn="ctr" indent="0" marL="0">
              <a:buNone/>
            </a:pPr>
            <a:r>
              <a:rPr lang="en-US" altLang="en-US" sz="550" dirty="0">
                <a:solidFill>
                  <a:srgbClr val="556070"/>
                </a:solidFill>
                <a:latin typeface="Calibri" pitchFamily="34" charset="0"/>
                <a:ea typeface="Calibri" pitchFamily="34" charset="-122"/>
                <a:cs typeface="Calibri" pitchFamily="34" charset="-120"/>
              </a:rPr>
              <a:t>Building foundation complete</a:t>
            </a:r>
            <a:endParaRPr lang="en-US" sz="550" dirty="0"/>
          </a:p>
        </p:txBody>
      </p:sp>
      <p:sp>
        <p:nvSpPr>
          <p:cNvPr id="210" name="Text 208"/>
          <p:cNvSpPr/>
          <p:nvPr/>
        </p:nvSpPr>
        <p:spPr>
          <a:xfrm>
            <a:off x="10235155" y="2368296"/>
            <a:ext cx="1133856" cy="164592"/>
          </a:xfrm>
          <a:prstGeom prst="rect">
            <a:avLst/>
          </a:prstGeom>
          <a:noFill/>
          <a:ln/>
        </p:spPr>
        <p:txBody>
          <a:bodyPr wrap="square" lIns="0" tIns="0" rIns="0" bIns="0" rtlCol="0" anchor="ctr">
            <a:normAutofit/>
          </a:bodyPr>
          <a:lstStyle/>
          <a:p>
            <a:pPr algn="ctr" indent="0" marL="0">
              <a:buNone/>
            </a:pPr>
            <a:r>
              <a:rPr lang="en-US" altLang="en-US" sz="750" b="1" dirty="0">
                <a:solidFill>
                  <a:srgbClr val="3D3935"/>
                </a:solidFill>
                <a:latin typeface="Calibri" pitchFamily="34" charset="0"/>
                <a:ea typeface="Calibri" pitchFamily="34" charset="-122"/>
                <a:cs typeface="Calibri" pitchFamily="34" charset="-120"/>
              </a:rPr>
              <a:t>18 Nov</a:t>
            </a:r>
            <a:endParaRPr lang="en-US" sz="750" dirty="0"/>
          </a:p>
        </p:txBody>
      </p:sp>
      <p:sp>
        <p:nvSpPr>
          <p:cNvPr id="211" name="Shape 209"/>
          <p:cNvSpPr/>
          <p:nvPr/>
        </p:nvSpPr>
        <p:spPr>
          <a:xfrm>
            <a:off x="11442506" y="2039112"/>
            <a:ext cx="164592" cy="164592"/>
          </a:xfrm>
          <a:prstGeom prst="diamond">
            <a:avLst/>
          </a:prstGeom>
          <a:solidFill>
            <a:srgbClr val="3D3935"/>
          </a:solidFill>
          <a:ln w="19050">
            <a:solidFill>
              <a:srgbClr val="FFFFFF"/>
            </a:solidFill>
            <a:prstDash val="solid"/>
          </a:ln>
        </p:spPr>
      </p:sp>
      <p:sp>
        <p:nvSpPr>
          <p:cNvPr id="212" name="Text 210"/>
          <p:cNvSpPr/>
          <p:nvPr/>
        </p:nvSpPr>
        <p:spPr>
          <a:xfrm>
            <a:off x="11095034" y="2212848"/>
            <a:ext cx="859536" cy="182880"/>
          </a:xfrm>
          <a:prstGeom prst="rect">
            <a:avLst/>
          </a:prstGeom>
          <a:noFill/>
          <a:ln/>
        </p:spPr>
        <p:txBody>
          <a:bodyPr wrap="square" lIns="0" tIns="0" rIns="0" bIns="0" rtlCol="0" anchor="t">
            <a:normAutofit/>
          </a:bodyPr>
          <a:lstStyle/>
          <a:p>
            <a:pPr algn="ctr" indent="0" marL="0">
              <a:buNone/>
            </a:pPr>
            <a:r>
              <a:rPr lang="en-US" altLang="en-US" sz="550" dirty="0">
                <a:solidFill>
                  <a:srgbClr val="556070"/>
                </a:solidFill>
                <a:latin typeface="Calibri" pitchFamily="34" charset="0"/>
                <a:ea typeface="Calibri" pitchFamily="34" charset="-122"/>
                <a:cs typeface="Calibri" pitchFamily="34" charset="-120"/>
              </a:rPr>
              <a:t>Overall completion</a:t>
            </a:r>
            <a:endParaRPr lang="en-US" sz="550" dirty="0"/>
          </a:p>
        </p:txBody>
      </p:sp>
      <p:sp>
        <p:nvSpPr>
          <p:cNvPr id="213" name="Text 211"/>
          <p:cNvSpPr/>
          <p:nvPr/>
        </p:nvSpPr>
        <p:spPr>
          <a:xfrm>
            <a:off x="10957874" y="2368296"/>
            <a:ext cx="1133856" cy="164592"/>
          </a:xfrm>
          <a:prstGeom prst="rect">
            <a:avLst/>
          </a:prstGeom>
          <a:noFill/>
          <a:ln/>
        </p:spPr>
        <p:txBody>
          <a:bodyPr wrap="square" lIns="0" tIns="0" rIns="0" bIns="0" rtlCol="0" anchor="ctr">
            <a:normAutofit/>
          </a:bodyPr>
          <a:lstStyle/>
          <a:p>
            <a:pPr algn="ctr" indent="0" marL="0">
              <a:buNone/>
            </a:pPr>
            <a:r>
              <a:rPr lang="en-US" altLang="en-US" sz="750" b="1" dirty="0">
                <a:solidFill>
                  <a:srgbClr val="3D3935"/>
                </a:solidFill>
                <a:latin typeface="Calibri" pitchFamily="34" charset="0"/>
                <a:ea typeface="Calibri" pitchFamily="34" charset="-122"/>
                <a:cs typeface="Calibri" pitchFamily="34" charset="-120"/>
              </a:rPr>
              <a:t>24 Nov</a:t>
            </a:r>
            <a:endParaRPr lang="en-US" sz="750" dirty="0"/>
          </a:p>
        </p:txBody>
      </p:sp>
      <p:sp>
        <p:nvSpPr>
          <p:cNvPr id="214" name="Shape 212"/>
          <p:cNvSpPr/>
          <p:nvPr/>
        </p:nvSpPr>
        <p:spPr>
          <a:xfrm>
            <a:off x="365760" y="2569464"/>
            <a:ext cx="11460175" cy="403642"/>
          </a:xfrm>
          <a:prstGeom prst="rect">
            <a:avLst/>
          </a:prstGeom>
          <a:solidFill>
            <a:srgbClr val="FFFFFF"/>
          </a:solidFill>
          <a:ln w="6350">
            <a:solidFill>
              <a:srgbClr val="DFE6EA"/>
            </a:solidFill>
            <a:prstDash val="solid"/>
          </a:ln>
        </p:spPr>
      </p:sp>
      <p:sp>
        <p:nvSpPr>
          <p:cNvPr id="215" name="Shape 213"/>
          <p:cNvSpPr/>
          <p:nvPr/>
        </p:nvSpPr>
        <p:spPr>
          <a:xfrm>
            <a:off x="420624" y="2634125"/>
            <a:ext cx="274320" cy="274320"/>
          </a:xfrm>
          <a:prstGeom prst="ellipse">
            <a:avLst/>
          </a:prstGeom>
          <a:solidFill>
            <a:srgbClr val="C8503F"/>
          </a:solidFill>
          <a:ln w="25400">
            <a:solidFill>
              <a:srgbClr val="222222"/>
            </a:solidFill>
            <a:prstDash val="solid"/>
          </a:ln>
        </p:spPr>
      </p:sp>
      <p:sp>
        <p:nvSpPr>
          <p:cNvPr id="216" name="Text 214"/>
          <p:cNvSpPr/>
          <p:nvPr/>
        </p:nvSpPr>
        <p:spPr>
          <a:xfrm>
            <a:off x="365760" y="2569464"/>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17" name="Text 215"/>
          <p:cNvSpPr/>
          <p:nvPr/>
        </p:nvSpPr>
        <p:spPr>
          <a:xfrm>
            <a:off x="822960" y="2569464"/>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Shoring system installation</a:t>
            </a:r>
            <a:endParaRPr lang="en-US" sz="900" dirty="0"/>
          </a:p>
        </p:txBody>
      </p:sp>
      <p:sp>
        <p:nvSpPr>
          <p:cNvPr id="218" name="Text 216"/>
          <p:cNvSpPr/>
          <p:nvPr/>
        </p:nvSpPr>
        <p:spPr>
          <a:xfrm>
            <a:off x="3447288" y="2569464"/>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a:t>
            </a:r>
            <a:endParaRPr lang="en-US" sz="850" dirty="0"/>
          </a:p>
        </p:txBody>
      </p:sp>
      <p:sp>
        <p:nvSpPr>
          <p:cNvPr id="219" name="Text 217"/>
          <p:cNvSpPr/>
          <p:nvPr/>
        </p:nvSpPr>
        <p:spPr>
          <a:xfrm>
            <a:off x="4224528" y="2569464"/>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6</a:t>
            </a:r>
            <a:endParaRPr lang="en-US" sz="1100" dirty="0"/>
          </a:p>
        </p:txBody>
      </p:sp>
      <p:sp>
        <p:nvSpPr>
          <p:cNvPr id="220" name="Text 218"/>
          <p:cNvSpPr/>
          <p:nvPr/>
        </p:nvSpPr>
        <p:spPr>
          <a:xfrm>
            <a:off x="4727448" y="2569464"/>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13 Oct</a:t>
            </a:r>
            <a:endParaRPr lang="en-US" sz="850" dirty="0"/>
          </a:p>
        </p:txBody>
      </p:sp>
      <p:sp>
        <p:nvSpPr>
          <p:cNvPr id="221" name="Text 219"/>
          <p:cNvSpPr/>
          <p:nvPr/>
        </p:nvSpPr>
        <p:spPr>
          <a:xfrm>
            <a:off x="5385816" y="2569464"/>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19 Oct</a:t>
            </a:r>
            <a:endParaRPr lang="en-US" sz="850" dirty="0"/>
          </a:p>
        </p:txBody>
      </p:sp>
      <p:sp>
        <p:nvSpPr>
          <p:cNvPr id="222" name="Shape 220"/>
          <p:cNvSpPr/>
          <p:nvPr/>
        </p:nvSpPr>
        <p:spPr>
          <a:xfrm>
            <a:off x="6405543" y="2660284"/>
            <a:ext cx="843172" cy="222003"/>
          </a:xfrm>
          <a:prstGeom prst="roundRect">
            <a:avLst>
              <a:gd name="adj" fmla="val 20594"/>
            </a:avLst>
          </a:prstGeom>
          <a:solidFill>
            <a:srgbClr val="C8503F"/>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23" name="Text 221"/>
          <p:cNvSpPr/>
          <p:nvPr/>
        </p:nvSpPr>
        <p:spPr>
          <a:xfrm>
            <a:off x="6405543" y="2660284"/>
            <a:ext cx="843172"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6 d</a:t>
            </a:r>
            <a:endParaRPr lang="en-US" sz="800" dirty="0"/>
          </a:p>
        </p:txBody>
      </p:sp>
      <p:sp>
        <p:nvSpPr>
          <p:cNvPr id="224" name="Shape 222"/>
          <p:cNvSpPr/>
          <p:nvPr/>
        </p:nvSpPr>
        <p:spPr>
          <a:xfrm>
            <a:off x="365760" y="2973106"/>
            <a:ext cx="11460175" cy="403642"/>
          </a:xfrm>
          <a:prstGeom prst="rect">
            <a:avLst/>
          </a:prstGeom>
          <a:solidFill>
            <a:srgbClr val="F6F9FA"/>
          </a:solidFill>
          <a:ln w="6350">
            <a:solidFill>
              <a:srgbClr val="DFE6EA"/>
            </a:solidFill>
            <a:prstDash val="solid"/>
          </a:ln>
        </p:spPr>
      </p:sp>
      <p:sp>
        <p:nvSpPr>
          <p:cNvPr id="225" name="Shape 223"/>
          <p:cNvSpPr/>
          <p:nvPr/>
        </p:nvSpPr>
        <p:spPr>
          <a:xfrm>
            <a:off x="420624" y="3037767"/>
            <a:ext cx="274320" cy="274320"/>
          </a:xfrm>
          <a:prstGeom prst="ellipse">
            <a:avLst/>
          </a:prstGeom>
          <a:solidFill>
            <a:srgbClr val="00778B"/>
          </a:solidFill>
          <a:ln w="6350">
            <a:solidFill>
              <a:srgbClr val="00778B"/>
            </a:solidFill>
            <a:prstDash val="solid"/>
          </a:ln>
        </p:spPr>
      </p:sp>
      <p:sp>
        <p:nvSpPr>
          <p:cNvPr id="226" name="Text 224"/>
          <p:cNvSpPr/>
          <p:nvPr/>
        </p:nvSpPr>
        <p:spPr>
          <a:xfrm>
            <a:off x="365760" y="2973106"/>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27" name="Text 225"/>
          <p:cNvSpPr/>
          <p:nvPr/>
        </p:nvSpPr>
        <p:spPr>
          <a:xfrm>
            <a:off x="822960" y="2973106"/>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Lean concrete</a:t>
            </a:r>
            <a:endParaRPr lang="en-US" sz="900" dirty="0"/>
          </a:p>
        </p:txBody>
      </p:sp>
      <p:sp>
        <p:nvSpPr>
          <p:cNvPr id="228" name="Text 226"/>
          <p:cNvSpPr/>
          <p:nvPr/>
        </p:nvSpPr>
        <p:spPr>
          <a:xfrm>
            <a:off x="3447288" y="2973106"/>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A · SS +6</a:t>
            </a:r>
            <a:endParaRPr lang="en-US" sz="850" dirty="0"/>
          </a:p>
        </p:txBody>
      </p:sp>
      <p:sp>
        <p:nvSpPr>
          <p:cNvPr id="229" name="Text 227"/>
          <p:cNvSpPr/>
          <p:nvPr/>
        </p:nvSpPr>
        <p:spPr>
          <a:xfrm>
            <a:off x="4224528" y="2973106"/>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2</a:t>
            </a:r>
            <a:endParaRPr lang="en-US" sz="1100" dirty="0"/>
          </a:p>
        </p:txBody>
      </p:sp>
      <p:sp>
        <p:nvSpPr>
          <p:cNvPr id="230" name="Text 228"/>
          <p:cNvSpPr/>
          <p:nvPr/>
        </p:nvSpPr>
        <p:spPr>
          <a:xfrm>
            <a:off x="4727448" y="2973106"/>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20 Oct</a:t>
            </a:r>
            <a:endParaRPr lang="en-US" sz="850" dirty="0"/>
          </a:p>
        </p:txBody>
      </p:sp>
      <p:sp>
        <p:nvSpPr>
          <p:cNvPr id="231" name="Text 229"/>
          <p:cNvSpPr/>
          <p:nvPr/>
        </p:nvSpPr>
        <p:spPr>
          <a:xfrm>
            <a:off x="5385816" y="2973106"/>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21 Oct</a:t>
            </a:r>
            <a:endParaRPr lang="en-US" sz="850" dirty="0"/>
          </a:p>
        </p:txBody>
      </p:sp>
      <p:sp>
        <p:nvSpPr>
          <p:cNvPr id="232" name="Shape 230"/>
          <p:cNvSpPr/>
          <p:nvPr/>
        </p:nvSpPr>
        <p:spPr>
          <a:xfrm>
            <a:off x="7248716" y="3063926"/>
            <a:ext cx="240906" cy="222003"/>
          </a:xfrm>
          <a:prstGeom prst="roundRect">
            <a:avLst>
              <a:gd name="adj" fmla="val 20594"/>
            </a:avLst>
          </a:prstGeom>
          <a:solidFill>
            <a:srgbClr val="00778B"/>
          </a:solidFill>
          <a:ln w="6350">
            <a:solidFill>
              <a:srgbClr val="00778B"/>
            </a:solidFill>
            <a:prstDash val="solid"/>
          </a:ln>
          <a:effectLst>
            <a:outerShdw sx="100000" sy="100000" kx="0" ky="0" algn="bl" rotWithShape="0" blurRad="38100" dist="12700" dir="5400000">
              <a:srgbClr val="000000">
                <a:alpha val="20000"/>
              </a:srgbClr>
            </a:outerShdw>
          </a:effectLst>
        </p:spPr>
      </p:sp>
      <p:sp>
        <p:nvSpPr>
          <p:cNvPr id="233" name="Shape 231"/>
          <p:cNvSpPr/>
          <p:nvPr/>
        </p:nvSpPr>
        <p:spPr>
          <a:xfrm>
            <a:off x="365760" y="3376749"/>
            <a:ext cx="11460175" cy="403642"/>
          </a:xfrm>
          <a:prstGeom prst="rect">
            <a:avLst/>
          </a:prstGeom>
          <a:solidFill>
            <a:srgbClr val="FFFFFF"/>
          </a:solidFill>
          <a:ln w="6350">
            <a:solidFill>
              <a:srgbClr val="DFE6EA"/>
            </a:solidFill>
            <a:prstDash val="solid"/>
          </a:ln>
        </p:spPr>
      </p:sp>
      <p:sp>
        <p:nvSpPr>
          <p:cNvPr id="234" name="Shape 232"/>
          <p:cNvSpPr/>
          <p:nvPr/>
        </p:nvSpPr>
        <p:spPr>
          <a:xfrm>
            <a:off x="420624" y="3441410"/>
            <a:ext cx="274320" cy="274320"/>
          </a:xfrm>
          <a:prstGeom prst="ellipse">
            <a:avLst/>
          </a:prstGeom>
          <a:solidFill>
            <a:srgbClr val="00778B"/>
          </a:solidFill>
          <a:ln w="25400">
            <a:solidFill>
              <a:srgbClr val="222222"/>
            </a:solidFill>
            <a:prstDash val="solid"/>
          </a:ln>
        </p:spPr>
      </p:sp>
      <p:sp>
        <p:nvSpPr>
          <p:cNvPr id="235" name="Text 233"/>
          <p:cNvSpPr/>
          <p:nvPr/>
        </p:nvSpPr>
        <p:spPr>
          <a:xfrm>
            <a:off x="365760" y="3376749"/>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36" name="Text 234"/>
          <p:cNvSpPr/>
          <p:nvPr/>
        </p:nvSpPr>
        <p:spPr>
          <a:xfrm>
            <a:off x="822960" y="3376749"/>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Pit trench – reinforcement, formwork &amp; concrete</a:t>
            </a:r>
            <a:endParaRPr lang="en-US" sz="900" dirty="0"/>
          </a:p>
        </p:txBody>
      </p:sp>
      <p:sp>
        <p:nvSpPr>
          <p:cNvPr id="237" name="Text 235"/>
          <p:cNvSpPr/>
          <p:nvPr/>
        </p:nvSpPr>
        <p:spPr>
          <a:xfrm>
            <a:off x="3447288" y="3376749"/>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A · FS</a:t>
            </a:r>
            <a:endParaRPr lang="en-US" sz="850" dirty="0"/>
          </a:p>
        </p:txBody>
      </p:sp>
      <p:sp>
        <p:nvSpPr>
          <p:cNvPr id="238" name="Text 236"/>
          <p:cNvSpPr/>
          <p:nvPr/>
        </p:nvSpPr>
        <p:spPr>
          <a:xfrm>
            <a:off x="4224528" y="3376749"/>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4</a:t>
            </a:r>
            <a:endParaRPr lang="en-US" sz="1100" dirty="0"/>
          </a:p>
        </p:txBody>
      </p:sp>
      <p:sp>
        <p:nvSpPr>
          <p:cNvPr id="239" name="Text 237"/>
          <p:cNvSpPr/>
          <p:nvPr/>
        </p:nvSpPr>
        <p:spPr>
          <a:xfrm>
            <a:off x="4727448" y="3376749"/>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20 Oct</a:t>
            </a:r>
            <a:endParaRPr lang="en-US" sz="850" dirty="0"/>
          </a:p>
        </p:txBody>
      </p:sp>
      <p:sp>
        <p:nvSpPr>
          <p:cNvPr id="240" name="Text 238"/>
          <p:cNvSpPr/>
          <p:nvPr/>
        </p:nvSpPr>
        <p:spPr>
          <a:xfrm>
            <a:off x="5385816" y="3376749"/>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24 Oct</a:t>
            </a:r>
            <a:endParaRPr lang="en-US" sz="850" dirty="0"/>
          </a:p>
        </p:txBody>
      </p:sp>
      <p:sp>
        <p:nvSpPr>
          <p:cNvPr id="241" name="Shape 239"/>
          <p:cNvSpPr/>
          <p:nvPr/>
        </p:nvSpPr>
        <p:spPr>
          <a:xfrm>
            <a:off x="7248716" y="3467568"/>
            <a:ext cx="602266" cy="222003"/>
          </a:xfrm>
          <a:prstGeom prst="roundRect">
            <a:avLst>
              <a:gd name="adj" fmla="val 20594"/>
            </a:avLst>
          </a:prstGeom>
          <a:solidFill>
            <a:srgbClr val="00778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42" name="Text 240"/>
          <p:cNvSpPr/>
          <p:nvPr/>
        </p:nvSpPr>
        <p:spPr>
          <a:xfrm>
            <a:off x="7248716" y="3467568"/>
            <a:ext cx="602266"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4 d</a:t>
            </a:r>
            <a:endParaRPr lang="en-US" sz="800" dirty="0"/>
          </a:p>
        </p:txBody>
      </p:sp>
      <p:sp>
        <p:nvSpPr>
          <p:cNvPr id="243" name="Shape 241"/>
          <p:cNvSpPr/>
          <p:nvPr/>
        </p:nvSpPr>
        <p:spPr>
          <a:xfrm>
            <a:off x="365760" y="3780391"/>
            <a:ext cx="11460175" cy="403642"/>
          </a:xfrm>
          <a:prstGeom prst="rect">
            <a:avLst/>
          </a:prstGeom>
          <a:solidFill>
            <a:srgbClr val="F6F9FA"/>
          </a:solidFill>
          <a:ln w="6350">
            <a:solidFill>
              <a:srgbClr val="DFE6EA"/>
            </a:solidFill>
            <a:prstDash val="solid"/>
          </a:ln>
        </p:spPr>
      </p:sp>
      <p:sp>
        <p:nvSpPr>
          <p:cNvPr id="244" name="Shape 242"/>
          <p:cNvSpPr/>
          <p:nvPr/>
        </p:nvSpPr>
        <p:spPr>
          <a:xfrm>
            <a:off x="420624" y="3845052"/>
            <a:ext cx="274320" cy="274320"/>
          </a:xfrm>
          <a:prstGeom prst="ellipse">
            <a:avLst/>
          </a:prstGeom>
          <a:solidFill>
            <a:srgbClr val="00778B"/>
          </a:solidFill>
          <a:ln w="25400">
            <a:solidFill>
              <a:srgbClr val="222222"/>
            </a:solidFill>
            <a:prstDash val="solid"/>
          </a:ln>
        </p:spPr>
      </p:sp>
      <p:sp>
        <p:nvSpPr>
          <p:cNvPr id="245" name="Text 243"/>
          <p:cNvSpPr/>
          <p:nvPr/>
        </p:nvSpPr>
        <p:spPr>
          <a:xfrm>
            <a:off x="365760" y="3780391"/>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246" name="Text 244"/>
          <p:cNvSpPr/>
          <p:nvPr/>
        </p:nvSpPr>
        <p:spPr>
          <a:xfrm>
            <a:off x="822960" y="3780391"/>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Pit slab / raft – reinforcement, formwork &amp; concrete</a:t>
            </a:r>
            <a:endParaRPr lang="en-US" sz="900" dirty="0"/>
          </a:p>
        </p:txBody>
      </p:sp>
      <p:sp>
        <p:nvSpPr>
          <p:cNvPr id="247" name="Text 245"/>
          <p:cNvSpPr/>
          <p:nvPr/>
        </p:nvSpPr>
        <p:spPr>
          <a:xfrm>
            <a:off x="3447288" y="3780391"/>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C · FS</a:t>
            </a:r>
            <a:endParaRPr lang="en-US" sz="850" dirty="0"/>
          </a:p>
        </p:txBody>
      </p:sp>
      <p:sp>
        <p:nvSpPr>
          <p:cNvPr id="248" name="Text 246"/>
          <p:cNvSpPr/>
          <p:nvPr/>
        </p:nvSpPr>
        <p:spPr>
          <a:xfrm>
            <a:off x="4224528" y="3780391"/>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10</a:t>
            </a:r>
            <a:endParaRPr lang="en-US" sz="1100" dirty="0"/>
          </a:p>
        </p:txBody>
      </p:sp>
      <p:sp>
        <p:nvSpPr>
          <p:cNvPr id="249" name="Text 247"/>
          <p:cNvSpPr/>
          <p:nvPr/>
        </p:nvSpPr>
        <p:spPr>
          <a:xfrm>
            <a:off x="4727448" y="3780391"/>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25 Oct</a:t>
            </a:r>
            <a:endParaRPr lang="en-US" sz="850" dirty="0"/>
          </a:p>
        </p:txBody>
      </p:sp>
      <p:sp>
        <p:nvSpPr>
          <p:cNvPr id="250" name="Text 248"/>
          <p:cNvSpPr/>
          <p:nvPr/>
        </p:nvSpPr>
        <p:spPr>
          <a:xfrm>
            <a:off x="5385816" y="3780391"/>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4 Nov</a:t>
            </a:r>
            <a:endParaRPr lang="en-US" sz="850" dirty="0"/>
          </a:p>
        </p:txBody>
      </p:sp>
      <p:sp>
        <p:nvSpPr>
          <p:cNvPr id="251" name="Shape 249"/>
          <p:cNvSpPr/>
          <p:nvPr/>
        </p:nvSpPr>
        <p:spPr>
          <a:xfrm>
            <a:off x="7850981" y="3871210"/>
            <a:ext cx="1324985" cy="222003"/>
          </a:xfrm>
          <a:prstGeom prst="roundRect">
            <a:avLst>
              <a:gd name="adj" fmla="val 20594"/>
            </a:avLst>
          </a:prstGeom>
          <a:solidFill>
            <a:srgbClr val="00778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52" name="Text 250"/>
          <p:cNvSpPr/>
          <p:nvPr/>
        </p:nvSpPr>
        <p:spPr>
          <a:xfrm>
            <a:off x="7850981" y="3871210"/>
            <a:ext cx="1324985"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10 d</a:t>
            </a:r>
            <a:endParaRPr lang="en-US" sz="800" dirty="0"/>
          </a:p>
        </p:txBody>
      </p:sp>
      <p:sp>
        <p:nvSpPr>
          <p:cNvPr id="253" name="Shape 251"/>
          <p:cNvSpPr/>
          <p:nvPr/>
        </p:nvSpPr>
        <p:spPr>
          <a:xfrm>
            <a:off x="365760" y="4184033"/>
            <a:ext cx="11460175" cy="403642"/>
          </a:xfrm>
          <a:prstGeom prst="rect">
            <a:avLst/>
          </a:prstGeom>
          <a:solidFill>
            <a:srgbClr val="FFFFFF"/>
          </a:solidFill>
          <a:ln w="6350">
            <a:solidFill>
              <a:srgbClr val="DFE6EA"/>
            </a:solidFill>
            <a:prstDash val="solid"/>
          </a:ln>
        </p:spPr>
      </p:sp>
      <p:sp>
        <p:nvSpPr>
          <p:cNvPr id="254" name="Shape 252"/>
          <p:cNvSpPr/>
          <p:nvPr/>
        </p:nvSpPr>
        <p:spPr>
          <a:xfrm>
            <a:off x="420624" y="4248694"/>
            <a:ext cx="274320" cy="274320"/>
          </a:xfrm>
          <a:prstGeom prst="ellipse">
            <a:avLst/>
          </a:prstGeom>
          <a:solidFill>
            <a:srgbClr val="00778B"/>
          </a:solidFill>
          <a:ln w="6350">
            <a:solidFill>
              <a:srgbClr val="00778B"/>
            </a:solidFill>
            <a:prstDash val="solid"/>
          </a:ln>
        </p:spPr>
      </p:sp>
      <p:sp>
        <p:nvSpPr>
          <p:cNvPr id="255" name="Text 253"/>
          <p:cNvSpPr/>
          <p:nvPr/>
        </p:nvSpPr>
        <p:spPr>
          <a:xfrm>
            <a:off x="365760" y="4184033"/>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E</a:t>
            </a:r>
            <a:endParaRPr lang="en-US" sz="900" dirty="0"/>
          </a:p>
        </p:txBody>
      </p:sp>
      <p:sp>
        <p:nvSpPr>
          <p:cNvPr id="256" name="Text 254"/>
          <p:cNvSpPr/>
          <p:nvPr/>
        </p:nvSpPr>
        <p:spPr>
          <a:xfrm>
            <a:off x="822960" y="4184033"/>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Pit wall – reinforcement, formwork &amp; concrete</a:t>
            </a:r>
            <a:endParaRPr lang="en-US" sz="900" dirty="0"/>
          </a:p>
        </p:txBody>
      </p:sp>
      <p:sp>
        <p:nvSpPr>
          <p:cNvPr id="257" name="Text 255"/>
          <p:cNvSpPr/>
          <p:nvPr/>
        </p:nvSpPr>
        <p:spPr>
          <a:xfrm>
            <a:off x="3447288" y="4184033"/>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D · FS</a:t>
            </a:r>
            <a:endParaRPr lang="en-US" sz="850" dirty="0"/>
          </a:p>
        </p:txBody>
      </p:sp>
      <p:sp>
        <p:nvSpPr>
          <p:cNvPr id="258" name="Text 256"/>
          <p:cNvSpPr/>
          <p:nvPr/>
        </p:nvSpPr>
        <p:spPr>
          <a:xfrm>
            <a:off x="4224528" y="4184033"/>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6</a:t>
            </a:r>
            <a:endParaRPr lang="en-US" sz="1100" dirty="0"/>
          </a:p>
        </p:txBody>
      </p:sp>
      <p:sp>
        <p:nvSpPr>
          <p:cNvPr id="259" name="Text 257"/>
          <p:cNvSpPr/>
          <p:nvPr/>
        </p:nvSpPr>
        <p:spPr>
          <a:xfrm>
            <a:off x="4727448" y="4184033"/>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5 Nov</a:t>
            </a:r>
            <a:endParaRPr lang="en-US" sz="850" dirty="0"/>
          </a:p>
        </p:txBody>
      </p:sp>
      <p:sp>
        <p:nvSpPr>
          <p:cNvPr id="260" name="Text 258"/>
          <p:cNvSpPr/>
          <p:nvPr/>
        </p:nvSpPr>
        <p:spPr>
          <a:xfrm>
            <a:off x="5385816" y="4184033"/>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11 Nov</a:t>
            </a:r>
            <a:endParaRPr lang="en-US" sz="850" dirty="0"/>
          </a:p>
        </p:txBody>
      </p:sp>
      <p:sp>
        <p:nvSpPr>
          <p:cNvPr id="261" name="Shape 259"/>
          <p:cNvSpPr/>
          <p:nvPr/>
        </p:nvSpPr>
        <p:spPr>
          <a:xfrm>
            <a:off x="9175966" y="4274853"/>
            <a:ext cx="843172" cy="222003"/>
          </a:xfrm>
          <a:prstGeom prst="roundRect">
            <a:avLst>
              <a:gd name="adj" fmla="val 20594"/>
            </a:avLst>
          </a:prstGeom>
          <a:solidFill>
            <a:srgbClr val="00778B"/>
          </a:solidFill>
          <a:ln w="6350">
            <a:solidFill>
              <a:srgbClr val="00778B"/>
            </a:solidFill>
            <a:prstDash val="solid"/>
          </a:ln>
          <a:effectLst>
            <a:outerShdw sx="100000" sy="100000" kx="0" ky="0" algn="bl" rotWithShape="0" blurRad="38100" dist="12700" dir="5400000">
              <a:srgbClr val="000000">
                <a:alpha val="20000"/>
              </a:srgbClr>
            </a:outerShdw>
          </a:effectLst>
        </p:spPr>
      </p:sp>
      <p:sp>
        <p:nvSpPr>
          <p:cNvPr id="262" name="Text 260"/>
          <p:cNvSpPr/>
          <p:nvPr/>
        </p:nvSpPr>
        <p:spPr>
          <a:xfrm>
            <a:off x="9175966" y="4274853"/>
            <a:ext cx="843172"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6 d</a:t>
            </a:r>
            <a:endParaRPr lang="en-US" sz="800" dirty="0"/>
          </a:p>
        </p:txBody>
      </p:sp>
      <p:sp>
        <p:nvSpPr>
          <p:cNvPr id="263" name="Shape 261"/>
          <p:cNvSpPr/>
          <p:nvPr/>
        </p:nvSpPr>
        <p:spPr>
          <a:xfrm>
            <a:off x="365760" y="4587675"/>
            <a:ext cx="11460175" cy="403642"/>
          </a:xfrm>
          <a:prstGeom prst="rect">
            <a:avLst/>
          </a:prstGeom>
          <a:solidFill>
            <a:srgbClr val="F6F9FA"/>
          </a:solidFill>
          <a:ln w="6350">
            <a:solidFill>
              <a:srgbClr val="DFE6EA"/>
            </a:solidFill>
            <a:prstDash val="solid"/>
          </a:ln>
        </p:spPr>
      </p:sp>
      <p:sp>
        <p:nvSpPr>
          <p:cNvPr id="264" name="Shape 262"/>
          <p:cNvSpPr/>
          <p:nvPr/>
        </p:nvSpPr>
        <p:spPr>
          <a:xfrm>
            <a:off x="420624" y="4652337"/>
            <a:ext cx="274320" cy="274320"/>
          </a:xfrm>
          <a:prstGeom prst="ellipse">
            <a:avLst/>
          </a:prstGeom>
          <a:solidFill>
            <a:srgbClr val="2E9E6B"/>
          </a:solidFill>
          <a:ln w="25400">
            <a:solidFill>
              <a:srgbClr val="222222"/>
            </a:solidFill>
            <a:prstDash val="solid"/>
          </a:ln>
        </p:spPr>
      </p:sp>
      <p:sp>
        <p:nvSpPr>
          <p:cNvPr id="265" name="Text 263"/>
          <p:cNvSpPr/>
          <p:nvPr/>
        </p:nvSpPr>
        <p:spPr>
          <a:xfrm>
            <a:off x="365760" y="4587675"/>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F</a:t>
            </a:r>
            <a:endParaRPr lang="en-US" sz="900" dirty="0"/>
          </a:p>
        </p:txBody>
      </p:sp>
      <p:sp>
        <p:nvSpPr>
          <p:cNvPr id="266" name="Text 264"/>
          <p:cNvSpPr/>
          <p:nvPr/>
        </p:nvSpPr>
        <p:spPr>
          <a:xfrm>
            <a:off x="822960" y="4587675"/>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Building foundation – excavation, compaction / testing, reinforcement &amp; concrete</a:t>
            </a:r>
            <a:endParaRPr lang="en-US" sz="900" dirty="0"/>
          </a:p>
        </p:txBody>
      </p:sp>
      <p:sp>
        <p:nvSpPr>
          <p:cNvPr id="267" name="Text 265"/>
          <p:cNvSpPr/>
          <p:nvPr/>
        </p:nvSpPr>
        <p:spPr>
          <a:xfrm>
            <a:off x="3447288" y="4587675"/>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D · FS</a:t>
            </a:r>
            <a:endParaRPr lang="en-US" sz="850" dirty="0"/>
          </a:p>
        </p:txBody>
      </p:sp>
      <p:sp>
        <p:nvSpPr>
          <p:cNvPr id="268" name="Text 266"/>
          <p:cNvSpPr/>
          <p:nvPr/>
        </p:nvSpPr>
        <p:spPr>
          <a:xfrm>
            <a:off x="4224528" y="4587675"/>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12</a:t>
            </a:r>
            <a:endParaRPr lang="en-US" sz="1100" dirty="0"/>
          </a:p>
        </p:txBody>
      </p:sp>
      <p:sp>
        <p:nvSpPr>
          <p:cNvPr id="269" name="Text 267"/>
          <p:cNvSpPr/>
          <p:nvPr/>
        </p:nvSpPr>
        <p:spPr>
          <a:xfrm>
            <a:off x="4727448" y="4587675"/>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5 Nov</a:t>
            </a:r>
            <a:endParaRPr lang="en-US" sz="850" dirty="0"/>
          </a:p>
        </p:txBody>
      </p:sp>
      <p:sp>
        <p:nvSpPr>
          <p:cNvPr id="270" name="Text 268"/>
          <p:cNvSpPr/>
          <p:nvPr/>
        </p:nvSpPr>
        <p:spPr>
          <a:xfrm>
            <a:off x="5385816" y="4587675"/>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18 Nov</a:t>
            </a:r>
            <a:endParaRPr lang="en-US" sz="850" dirty="0"/>
          </a:p>
        </p:txBody>
      </p:sp>
      <p:sp>
        <p:nvSpPr>
          <p:cNvPr id="271" name="Shape 269"/>
          <p:cNvSpPr/>
          <p:nvPr/>
        </p:nvSpPr>
        <p:spPr>
          <a:xfrm>
            <a:off x="9175966" y="4678495"/>
            <a:ext cx="1686344" cy="222003"/>
          </a:xfrm>
          <a:prstGeom prst="roundRect">
            <a:avLst>
              <a:gd name="adj" fmla="val 20594"/>
            </a:avLst>
          </a:prstGeom>
          <a:solidFill>
            <a:srgbClr val="2E9E6B"/>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72" name="Text 270"/>
          <p:cNvSpPr/>
          <p:nvPr/>
        </p:nvSpPr>
        <p:spPr>
          <a:xfrm>
            <a:off x="9175966" y="4678495"/>
            <a:ext cx="1686344"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12 d</a:t>
            </a:r>
            <a:endParaRPr lang="en-US" sz="800" dirty="0"/>
          </a:p>
        </p:txBody>
      </p:sp>
      <p:sp>
        <p:nvSpPr>
          <p:cNvPr id="273" name="Shape 271"/>
          <p:cNvSpPr/>
          <p:nvPr/>
        </p:nvSpPr>
        <p:spPr>
          <a:xfrm>
            <a:off x="365760" y="4991318"/>
            <a:ext cx="11460175" cy="403642"/>
          </a:xfrm>
          <a:prstGeom prst="rect">
            <a:avLst/>
          </a:prstGeom>
          <a:solidFill>
            <a:srgbClr val="FFFFFF"/>
          </a:solidFill>
          <a:ln w="6350">
            <a:solidFill>
              <a:srgbClr val="DFE6EA"/>
            </a:solidFill>
            <a:prstDash val="solid"/>
          </a:ln>
        </p:spPr>
      </p:sp>
      <p:sp>
        <p:nvSpPr>
          <p:cNvPr id="274" name="Shape 272"/>
          <p:cNvSpPr/>
          <p:nvPr/>
        </p:nvSpPr>
        <p:spPr>
          <a:xfrm>
            <a:off x="420624" y="5055979"/>
            <a:ext cx="274320" cy="274320"/>
          </a:xfrm>
          <a:prstGeom prst="ellipse">
            <a:avLst/>
          </a:prstGeom>
          <a:solidFill>
            <a:srgbClr val="D68A00"/>
          </a:solidFill>
          <a:ln w="25400">
            <a:solidFill>
              <a:srgbClr val="222222"/>
            </a:solidFill>
            <a:prstDash val="solid"/>
          </a:ln>
        </p:spPr>
      </p:sp>
      <p:sp>
        <p:nvSpPr>
          <p:cNvPr id="275" name="Text 273"/>
          <p:cNvSpPr/>
          <p:nvPr/>
        </p:nvSpPr>
        <p:spPr>
          <a:xfrm>
            <a:off x="365760" y="4991318"/>
            <a:ext cx="384048" cy="403642"/>
          </a:xfrm>
          <a:prstGeom prst="rect">
            <a:avLst/>
          </a:prstGeom>
          <a:noFill/>
          <a:ln/>
        </p:spPr>
        <p:txBody>
          <a:bodyPr wrap="square" lIns="0" tIns="0" rIns="0" bIns="0" rtlCol="0" anchor="ctr">
            <a:normAutofit/>
          </a:bodyPr>
          <a:lstStyle/>
          <a:p>
            <a:pPr algn="ctr" indent="0" marL="0">
              <a:buNone/>
            </a:pPr>
            <a:r>
              <a:rPr lang="en-US" altLang="en-US" sz="900" b="1" dirty="0">
                <a:solidFill>
                  <a:srgbClr val="FFFFFF"/>
                </a:solidFill>
                <a:latin typeface="Calibri" pitchFamily="34" charset="0"/>
                <a:ea typeface="Calibri" pitchFamily="34" charset="-122"/>
                <a:cs typeface="Calibri" pitchFamily="34" charset="-120"/>
              </a:rPr>
              <a:t>G</a:t>
            </a:r>
            <a:endParaRPr lang="en-US" sz="900" dirty="0"/>
          </a:p>
        </p:txBody>
      </p:sp>
      <p:sp>
        <p:nvSpPr>
          <p:cNvPr id="276" name="Text 274"/>
          <p:cNvSpPr/>
          <p:nvPr/>
        </p:nvSpPr>
        <p:spPr>
          <a:xfrm>
            <a:off x="822960" y="4991318"/>
            <a:ext cx="2606040" cy="403642"/>
          </a:xfrm>
          <a:prstGeom prst="rect">
            <a:avLst/>
          </a:prstGeom>
          <a:noFill/>
          <a:ln/>
        </p:spPr>
        <p:txBody>
          <a:bodyPr wrap="square" lIns="0" tIns="0" rIns="0" bIns="0" rtlCol="0" anchor="ctr">
            <a:normAutofit/>
          </a:bodyPr>
          <a:lstStyle/>
          <a:p>
            <a:pPr algn="l" indent="0" marL="0">
              <a:buNone/>
            </a:pPr>
            <a:r>
              <a:rPr lang="en-US" altLang="en-US" sz="900" dirty="0">
                <a:solidFill>
                  <a:srgbClr val="222222"/>
                </a:solidFill>
                <a:latin typeface="Calibri" pitchFamily="34" charset="0"/>
                <a:ea typeface="Calibri" pitchFamily="34" charset="-122"/>
                <a:cs typeface="Calibri" pitchFamily="34" charset="-120"/>
              </a:rPr>
              <a:t>Backfilling works for the building</a:t>
            </a:r>
            <a:endParaRPr lang="en-US" sz="900" dirty="0"/>
          </a:p>
        </p:txBody>
      </p:sp>
      <p:sp>
        <p:nvSpPr>
          <p:cNvPr id="277" name="Text 275"/>
          <p:cNvSpPr/>
          <p:nvPr/>
        </p:nvSpPr>
        <p:spPr>
          <a:xfrm>
            <a:off x="3447288" y="4991318"/>
            <a:ext cx="777240" cy="403642"/>
          </a:xfrm>
          <a:prstGeom prst="rect">
            <a:avLst/>
          </a:prstGeom>
          <a:noFill/>
          <a:ln/>
        </p:spPr>
        <p:txBody>
          <a:bodyPr wrap="square" lIns="0" tIns="0" rIns="0" bIns="0" rtlCol="0" anchor="ctr">
            <a:normAutofit/>
          </a:bodyPr>
          <a:lstStyle/>
          <a:p>
            <a:pPr algn="ctr" indent="0" marL="0">
              <a:buNone/>
            </a:pPr>
            <a:r>
              <a:rPr lang="en-US" altLang="en-US" sz="850" dirty="0">
                <a:solidFill>
                  <a:srgbClr val="444444"/>
                </a:solidFill>
                <a:latin typeface="Calibri" pitchFamily="34" charset="0"/>
                <a:ea typeface="Calibri" pitchFamily="34" charset="-122"/>
                <a:cs typeface="Calibri" pitchFamily="34" charset="-120"/>
              </a:rPr>
              <a:t>F · FS</a:t>
            </a:r>
            <a:endParaRPr lang="en-US" sz="850" dirty="0"/>
          </a:p>
        </p:txBody>
      </p:sp>
      <p:sp>
        <p:nvSpPr>
          <p:cNvPr id="278" name="Text 276"/>
          <p:cNvSpPr/>
          <p:nvPr/>
        </p:nvSpPr>
        <p:spPr>
          <a:xfrm>
            <a:off x="4224528" y="4991318"/>
            <a:ext cx="502920" cy="403642"/>
          </a:xfrm>
          <a:prstGeom prst="rect">
            <a:avLst/>
          </a:prstGeom>
          <a:noFill/>
          <a:ln/>
        </p:spPr>
        <p:txBody>
          <a:bodyPr wrap="square" lIns="0" tIns="0" rIns="0" bIns="0" rtlCol="0" anchor="ctr">
            <a:normAutofit/>
          </a:bodyPr>
          <a:lstStyle/>
          <a:p>
            <a:pPr algn="ctr" indent="0" marL="0">
              <a:buNone/>
            </a:pPr>
            <a:r>
              <a:rPr lang="en-US" altLang="en-US" sz="1100" b="1" dirty="0">
                <a:solidFill>
                  <a:srgbClr val="222222"/>
                </a:solidFill>
                <a:latin typeface="Calibri" pitchFamily="34" charset="0"/>
                <a:ea typeface="Calibri" pitchFamily="34" charset="-122"/>
                <a:cs typeface="Calibri" pitchFamily="34" charset="-120"/>
              </a:rPr>
              <a:t>5</a:t>
            </a:r>
            <a:endParaRPr lang="en-US" sz="1100" dirty="0"/>
          </a:p>
        </p:txBody>
      </p:sp>
      <p:sp>
        <p:nvSpPr>
          <p:cNvPr id="279" name="Text 277"/>
          <p:cNvSpPr/>
          <p:nvPr/>
        </p:nvSpPr>
        <p:spPr>
          <a:xfrm>
            <a:off x="4727448" y="4991318"/>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19 Nov</a:t>
            </a:r>
            <a:endParaRPr lang="en-US" sz="850" dirty="0"/>
          </a:p>
        </p:txBody>
      </p:sp>
      <p:sp>
        <p:nvSpPr>
          <p:cNvPr id="280" name="Text 278"/>
          <p:cNvSpPr/>
          <p:nvPr/>
        </p:nvSpPr>
        <p:spPr>
          <a:xfrm>
            <a:off x="5385816" y="4991318"/>
            <a:ext cx="658368" cy="403642"/>
          </a:xfrm>
          <a:prstGeom prst="rect">
            <a:avLst/>
          </a:prstGeom>
          <a:noFill/>
          <a:ln/>
        </p:spPr>
        <p:txBody>
          <a:bodyPr wrap="square" lIns="0" tIns="0" rIns="0" bIns="0" rtlCol="0" anchor="ctr">
            <a:normAutofit/>
          </a:bodyPr>
          <a:lstStyle/>
          <a:p>
            <a:pPr algn="ctr" indent="0" marL="0">
              <a:buNone/>
            </a:pPr>
            <a:r>
              <a:rPr lang="en-US" altLang="en-US" sz="850" b="1" dirty="0">
                <a:solidFill>
                  <a:srgbClr val="222222"/>
                </a:solidFill>
                <a:latin typeface="Calibri" pitchFamily="34" charset="0"/>
                <a:ea typeface="Calibri" pitchFamily="34" charset="-122"/>
                <a:cs typeface="Calibri" pitchFamily="34" charset="-120"/>
              </a:rPr>
              <a:t>24 Nov</a:t>
            </a:r>
            <a:endParaRPr lang="en-US" sz="850" dirty="0"/>
          </a:p>
        </p:txBody>
      </p:sp>
      <p:sp>
        <p:nvSpPr>
          <p:cNvPr id="281" name="Shape 279"/>
          <p:cNvSpPr/>
          <p:nvPr/>
        </p:nvSpPr>
        <p:spPr>
          <a:xfrm>
            <a:off x="10862310" y="5082137"/>
            <a:ext cx="722719" cy="222003"/>
          </a:xfrm>
          <a:prstGeom prst="roundRect">
            <a:avLst>
              <a:gd name="adj" fmla="val 20594"/>
            </a:avLst>
          </a:prstGeom>
          <a:solidFill>
            <a:srgbClr val="D68A00"/>
          </a:solidFill>
          <a:ln w="22225">
            <a:solidFill>
              <a:srgbClr val="222222"/>
            </a:solidFill>
            <a:prstDash val="solid"/>
          </a:ln>
          <a:effectLst>
            <a:outerShdw sx="100000" sy="100000" kx="0" ky="0" algn="bl" rotWithShape="0" blurRad="38100" dist="12700" dir="5400000">
              <a:srgbClr val="000000">
                <a:alpha val="20000"/>
              </a:srgbClr>
            </a:outerShdw>
          </a:effectLst>
        </p:spPr>
      </p:sp>
      <p:sp>
        <p:nvSpPr>
          <p:cNvPr id="282" name="Text 280"/>
          <p:cNvSpPr/>
          <p:nvPr/>
        </p:nvSpPr>
        <p:spPr>
          <a:xfrm>
            <a:off x="10862310" y="5082137"/>
            <a:ext cx="722719" cy="222003"/>
          </a:xfrm>
          <a:prstGeom prst="rect">
            <a:avLst/>
          </a:prstGeom>
          <a:noFill/>
          <a:ln/>
        </p:spPr>
        <p:txBody>
          <a:bodyPr wrap="square" lIns="0" tIns="0" rIns="0" bIns="0" rtlCol="0" anchor="ctr">
            <a:normAutofit/>
          </a:bodyPr>
          <a:lstStyle/>
          <a:p>
            <a:pPr algn="ctr" indent="0" marL="0">
              <a:buNone/>
            </a:pPr>
            <a:r>
              <a:rPr lang="en-US" altLang="en-US" sz="800" b="1" dirty="0">
                <a:solidFill>
                  <a:srgbClr val="FFFFFF"/>
                </a:solidFill>
                <a:latin typeface="Calibri" pitchFamily="34" charset="0"/>
                <a:ea typeface="Calibri" pitchFamily="34" charset="-122"/>
                <a:cs typeface="Calibri" pitchFamily="34" charset="-120"/>
              </a:rPr>
              <a:t>5 d</a:t>
            </a:r>
            <a:endParaRPr lang="en-US" sz="800" dirty="0"/>
          </a:p>
        </p:txBody>
      </p:sp>
      <p:sp>
        <p:nvSpPr>
          <p:cNvPr id="283" name="Shape 281"/>
          <p:cNvSpPr/>
          <p:nvPr/>
        </p:nvSpPr>
        <p:spPr>
          <a:xfrm>
            <a:off x="6460407" y="2882287"/>
            <a:ext cx="0" cy="292641"/>
          </a:xfrm>
          <a:prstGeom prst="line">
            <a:avLst/>
          </a:prstGeom>
          <a:noFill/>
          <a:ln w="13970">
            <a:solidFill>
              <a:srgbClr val="2D3338"/>
            </a:solidFill>
            <a:prstDash val="solid"/>
          </a:ln>
        </p:spPr>
      </p:sp>
      <p:sp>
        <p:nvSpPr>
          <p:cNvPr id="284" name="Shape 282"/>
          <p:cNvSpPr/>
          <p:nvPr/>
        </p:nvSpPr>
        <p:spPr>
          <a:xfrm>
            <a:off x="6460407" y="3174927"/>
            <a:ext cx="779164" cy="0"/>
          </a:xfrm>
          <a:prstGeom prst="line">
            <a:avLst/>
          </a:prstGeom>
          <a:noFill/>
          <a:ln w="13970">
            <a:solidFill>
              <a:srgbClr val="2D3338"/>
            </a:solidFill>
            <a:prstDash val="solid"/>
            <a:tailEnd type="triangle"/>
          </a:ln>
        </p:spPr>
      </p:sp>
      <p:sp>
        <p:nvSpPr>
          <p:cNvPr id="285" name="Shape 283"/>
          <p:cNvSpPr/>
          <p:nvPr/>
        </p:nvSpPr>
        <p:spPr>
          <a:xfrm>
            <a:off x="7202996" y="2771285"/>
            <a:ext cx="45720" cy="0"/>
          </a:xfrm>
          <a:prstGeom prst="line">
            <a:avLst/>
          </a:prstGeom>
          <a:noFill/>
          <a:ln w="13970">
            <a:solidFill>
              <a:srgbClr val="2D3338"/>
            </a:solidFill>
            <a:prstDash val="solid"/>
          </a:ln>
        </p:spPr>
      </p:sp>
      <p:sp>
        <p:nvSpPr>
          <p:cNvPr id="286" name="Shape 284"/>
          <p:cNvSpPr/>
          <p:nvPr/>
        </p:nvSpPr>
        <p:spPr>
          <a:xfrm>
            <a:off x="7202996" y="2771285"/>
            <a:ext cx="0" cy="807285"/>
          </a:xfrm>
          <a:prstGeom prst="line">
            <a:avLst/>
          </a:prstGeom>
          <a:noFill/>
          <a:ln w="13970">
            <a:solidFill>
              <a:srgbClr val="2D3338"/>
            </a:solidFill>
            <a:prstDash val="solid"/>
          </a:ln>
        </p:spPr>
      </p:sp>
      <p:sp>
        <p:nvSpPr>
          <p:cNvPr id="287" name="Shape 285"/>
          <p:cNvSpPr/>
          <p:nvPr/>
        </p:nvSpPr>
        <p:spPr>
          <a:xfrm>
            <a:off x="7202996" y="3578570"/>
            <a:ext cx="36576" cy="0"/>
          </a:xfrm>
          <a:prstGeom prst="line">
            <a:avLst/>
          </a:prstGeom>
          <a:noFill/>
          <a:ln w="13970">
            <a:solidFill>
              <a:srgbClr val="2D3338"/>
            </a:solidFill>
            <a:prstDash val="solid"/>
            <a:tailEnd type="triangle"/>
          </a:ln>
        </p:spPr>
      </p:sp>
      <p:sp>
        <p:nvSpPr>
          <p:cNvPr id="288" name="Shape 286"/>
          <p:cNvSpPr/>
          <p:nvPr/>
        </p:nvSpPr>
        <p:spPr>
          <a:xfrm>
            <a:off x="7805261" y="3578570"/>
            <a:ext cx="45720" cy="0"/>
          </a:xfrm>
          <a:prstGeom prst="line">
            <a:avLst/>
          </a:prstGeom>
          <a:noFill/>
          <a:ln w="13970">
            <a:solidFill>
              <a:srgbClr val="2D3338"/>
            </a:solidFill>
            <a:prstDash val="solid"/>
          </a:ln>
        </p:spPr>
      </p:sp>
      <p:sp>
        <p:nvSpPr>
          <p:cNvPr id="289" name="Shape 287"/>
          <p:cNvSpPr/>
          <p:nvPr/>
        </p:nvSpPr>
        <p:spPr>
          <a:xfrm>
            <a:off x="7805261" y="3578570"/>
            <a:ext cx="0" cy="403642"/>
          </a:xfrm>
          <a:prstGeom prst="line">
            <a:avLst/>
          </a:prstGeom>
          <a:noFill/>
          <a:ln w="13970">
            <a:solidFill>
              <a:srgbClr val="2D3338"/>
            </a:solidFill>
            <a:prstDash val="solid"/>
          </a:ln>
        </p:spPr>
      </p:sp>
      <p:sp>
        <p:nvSpPr>
          <p:cNvPr id="290" name="Shape 288"/>
          <p:cNvSpPr/>
          <p:nvPr/>
        </p:nvSpPr>
        <p:spPr>
          <a:xfrm>
            <a:off x="7805261" y="3982212"/>
            <a:ext cx="36576" cy="0"/>
          </a:xfrm>
          <a:prstGeom prst="line">
            <a:avLst/>
          </a:prstGeom>
          <a:noFill/>
          <a:ln w="13970">
            <a:solidFill>
              <a:srgbClr val="2D3338"/>
            </a:solidFill>
            <a:prstDash val="solid"/>
            <a:tailEnd type="triangle"/>
          </a:ln>
        </p:spPr>
      </p:sp>
      <p:sp>
        <p:nvSpPr>
          <p:cNvPr id="291" name="Shape 289"/>
          <p:cNvSpPr/>
          <p:nvPr/>
        </p:nvSpPr>
        <p:spPr>
          <a:xfrm>
            <a:off x="9130246" y="3982212"/>
            <a:ext cx="45720" cy="0"/>
          </a:xfrm>
          <a:prstGeom prst="line">
            <a:avLst/>
          </a:prstGeom>
          <a:noFill/>
          <a:ln w="13970">
            <a:solidFill>
              <a:srgbClr val="2D3338"/>
            </a:solidFill>
            <a:prstDash val="solid"/>
          </a:ln>
        </p:spPr>
      </p:sp>
      <p:sp>
        <p:nvSpPr>
          <p:cNvPr id="292" name="Shape 290"/>
          <p:cNvSpPr/>
          <p:nvPr/>
        </p:nvSpPr>
        <p:spPr>
          <a:xfrm>
            <a:off x="9130246" y="3982212"/>
            <a:ext cx="0" cy="403642"/>
          </a:xfrm>
          <a:prstGeom prst="line">
            <a:avLst/>
          </a:prstGeom>
          <a:noFill/>
          <a:ln w="13970">
            <a:solidFill>
              <a:srgbClr val="2D3338"/>
            </a:solidFill>
            <a:prstDash val="solid"/>
          </a:ln>
        </p:spPr>
      </p:sp>
      <p:sp>
        <p:nvSpPr>
          <p:cNvPr id="293" name="Shape 291"/>
          <p:cNvSpPr/>
          <p:nvPr/>
        </p:nvSpPr>
        <p:spPr>
          <a:xfrm>
            <a:off x="9130246" y="4385854"/>
            <a:ext cx="36576" cy="0"/>
          </a:xfrm>
          <a:prstGeom prst="line">
            <a:avLst/>
          </a:prstGeom>
          <a:noFill/>
          <a:ln w="13970">
            <a:solidFill>
              <a:srgbClr val="2D3338"/>
            </a:solidFill>
            <a:prstDash val="solid"/>
            <a:tailEnd type="triangle"/>
          </a:ln>
        </p:spPr>
      </p:sp>
      <p:sp>
        <p:nvSpPr>
          <p:cNvPr id="294" name="Shape 292"/>
          <p:cNvSpPr/>
          <p:nvPr/>
        </p:nvSpPr>
        <p:spPr>
          <a:xfrm>
            <a:off x="9130246" y="3982212"/>
            <a:ext cx="45720" cy="0"/>
          </a:xfrm>
          <a:prstGeom prst="line">
            <a:avLst/>
          </a:prstGeom>
          <a:noFill/>
          <a:ln w="13970">
            <a:solidFill>
              <a:srgbClr val="2D3338"/>
            </a:solidFill>
            <a:prstDash val="solid"/>
          </a:ln>
        </p:spPr>
      </p:sp>
      <p:sp>
        <p:nvSpPr>
          <p:cNvPr id="295" name="Shape 293"/>
          <p:cNvSpPr/>
          <p:nvPr/>
        </p:nvSpPr>
        <p:spPr>
          <a:xfrm>
            <a:off x="9130246" y="3982212"/>
            <a:ext cx="0" cy="807285"/>
          </a:xfrm>
          <a:prstGeom prst="line">
            <a:avLst/>
          </a:prstGeom>
          <a:noFill/>
          <a:ln w="13970">
            <a:solidFill>
              <a:srgbClr val="2D3338"/>
            </a:solidFill>
            <a:prstDash val="solid"/>
          </a:ln>
        </p:spPr>
      </p:sp>
      <p:sp>
        <p:nvSpPr>
          <p:cNvPr id="296" name="Shape 294"/>
          <p:cNvSpPr/>
          <p:nvPr/>
        </p:nvSpPr>
        <p:spPr>
          <a:xfrm>
            <a:off x="9130246" y="4789497"/>
            <a:ext cx="36576" cy="0"/>
          </a:xfrm>
          <a:prstGeom prst="line">
            <a:avLst/>
          </a:prstGeom>
          <a:noFill/>
          <a:ln w="13970">
            <a:solidFill>
              <a:srgbClr val="2D3338"/>
            </a:solidFill>
            <a:prstDash val="solid"/>
            <a:tailEnd type="triangle"/>
          </a:ln>
        </p:spPr>
      </p:sp>
      <p:sp>
        <p:nvSpPr>
          <p:cNvPr id="297" name="Shape 295"/>
          <p:cNvSpPr/>
          <p:nvPr/>
        </p:nvSpPr>
        <p:spPr>
          <a:xfrm>
            <a:off x="10816590" y="4789497"/>
            <a:ext cx="45720" cy="0"/>
          </a:xfrm>
          <a:prstGeom prst="line">
            <a:avLst/>
          </a:prstGeom>
          <a:noFill/>
          <a:ln w="13970">
            <a:solidFill>
              <a:srgbClr val="2D3338"/>
            </a:solidFill>
            <a:prstDash val="solid"/>
          </a:ln>
        </p:spPr>
      </p:sp>
      <p:sp>
        <p:nvSpPr>
          <p:cNvPr id="298" name="Shape 296"/>
          <p:cNvSpPr/>
          <p:nvPr/>
        </p:nvSpPr>
        <p:spPr>
          <a:xfrm>
            <a:off x="10816590" y="4789497"/>
            <a:ext cx="0" cy="403642"/>
          </a:xfrm>
          <a:prstGeom prst="line">
            <a:avLst/>
          </a:prstGeom>
          <a:noFill/>
          <a:ln w="13970">
            <a:solidFill>
              <a:srgbClr val="2D3338"/>
            </a:solidFill>
            <a:prstDash val="solid"/>
          </a:ln>
        </p:spPr>
      </p:sp>
      <p:sp>
        <p:nvSpPr>
          <p:cNvPr id="299" name="Shape 297"/>
          <p:cNvSpPr/>
          <p:nvPr/>
        </p:nvSpPr>
        <p:spPr>
          <a:xfrm>
            <a:off x="10816590" y="5193139"/>
            <a:ext cx="36576" cy="0"/>
          </a:xfrm>
          <a:prstGeom prst="line">
            <a:avLst/>
          </a:prstGeom>
          <a:noFill/>
          <a:ln w="13970">
            <a:solidFill>
              <a:srgbClr val="2D3338"/>
            </a:solidFill>
            <a:prstDash val="solid"/>
            <a:tailEnd type="triangle"/>
          </a:ln>
        </p:spPr>
      </p:sp>
      <p:sp>
        <p:nvSpPr>
          <p:cNvPr id="300" name="Shape 298"/>
          <p:cNvSpPr/>
          <p:nvPr/>
        </p:nvSpPr>
        <p:spPr>
          <a:xfrm>
            <a:off x="7429395" y="1947672"/>
            <a:ext cx="0" cy="3447288"/>
          </a:xfrm>
          <a:prstGeom prst="line">
            <a:avLst/>
          </a:prstGeom>
          <a:noFill/>
          <a:ln w="22225">
            <a:solidFill>
              <a:srgbClr val="C8503F"/>
            </a:solidFill>
            <a:prstDash val="dash"/>
          </a:ln>
        </p:spPr>
      </p:sp>
      <p:sp>
        <p:nvSpPr>
          <p:cNvPr id="301" name="Shape 299"/>
          <p:cNvSpPr/>
          <p:nvPr/>
        </p:nvSpPr>
        <p:spPr>
          <a:xfrm>
            <a:off x="7383675" y="1956816"/>
            <a:ext cx="1143000" cy="155448"/>
          </a:xfrm>
          <a:prstGeom prst="roundRect">
            <a:avLst>
              <a:gd name="adj" fmla="val 47059"/>
            </a:avLst>
          </a:prstGeom>
          <a:solidFill>
            <a:srgbClr val="C8503F"/>
          </a:solidFill>
          <a:ln w="12700">
            <a:solidFill>
              <a:srgbClr val="C8503F"/>
            </a:solidFill>
            <a:prstDash val="solid"/>
          </a:ln>
        </p:spPr>
      </p:sp>
      <p:sp>
        <p:nvSpPr>
          <p:cNvPr id="302" name="Text 300"/>
          <p:cNvSpPr/>
          <p:nvPr/>
        </p:nvSpPr>
        <p:spPr>
          <a:xfrm>
            <a:off x="7383675" y="1956816"/>
            <a:ext cx="1143000" cy="155448"/>
          </a:xfrm>
          <a:prstGeom prst="rect">
            <a:avLst/>
          </a:prstGeom>
          <a:noFill/>
          <a:ln/>
        </p:spPr>
        <p:txBody>
          <a:bodyPr wrap="square" lIns="0" tIns="0" rIns="0" bIns="0" rtlCol="0" anchor="ctr">
            <a:normAutofit/>
          </a:bodyPr>
          <a:lstStyle/>
          <a:p>
            <a:pPr algn="ctr" indent="0" marL="0">
              <a:buNone/>
            </a:pPr>
            <a:r>
              <a:rPr lang="en-US" altLang="en-US" sz="650" b="1" dirty="0">
                <a:solidFill>
                  <a:srgbClr val="FFFFFF"/>
                </a:solidFill>
                <a:latin typeface="Calibri" pitchFamily="34" charset="0"/>
                <a:ea typeface="Calibri" pitchFamily="34" charset="-122"/>
                <a:cs typeface="Calibri" pitchFamily="34" charset="-120"/>
              </a:rPr>
              <a:t>Status date · 21 Oct</a:t>
            </a:r>
            <a:endParaRPr lang="en-US" sz="650" dirty="0"/>
          </a:p>
        </p:txBody>
      </p:sp>
      <p:sp>
        <p:nvSpPr>
          <p:cNvPr id="303" name="Shape 301"/>
          <p:cNvSpPr/>
          <p:nvPr/>
        </p:nvSpPr>
        <p:spPr>
          <a:xfrm>
            <a:off x="365760" y="1325880"/>
            <a:ext cx="11460175" cy="4069080"/>
          </a:xfrm>
          <a:prstGeom prst="rect">
            <a:avLst/>
          </a:prstGeom>
          <a:solidFill>
            <a:srgbClr val="FFFFFF">
              <a:alpha val="0"/>
            </a:srgbClr>
          </a:solidFill>
          <a:ln w="9525">
            <a:solidFill>
              <a:srgbClr val="B9C6CC"/>
            </a:solidFill>
            <a:prstDash val="solid"/>
          </a:ln>
        </p:spPr>
      </p:sp>
      <p:sp>
        <p:nvSpPr>
          <p:cNvPr id="304" name="Shape 302"/>
          <p:cNvSpPr/>
          <p:nvPr/>
        </p:nvSpPr>
        <p:spPr>
          <a:xfrm>
            <a:off x="365760"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05" name="Shape 303"/>
          <p:cNvSpPr/>
          <p:nvPr/>
        </p:nvSpPr>
        <p:spPr>
          <a:xfrm>
            <a:off x="420624" y="5522976"/>
            <a:ext cx="2094525" cy="54864"/>
          </a:xfrm>
          <a:prstGeom prst="rect">
            <a:avLst/>
          </a:prstGeom>
          <a:solidFill>
            <a:srgbClr val="3D3935"/>
          </a:solidFill>
          <a:ln w="12700">
            <a:solidFill>
              <a:srgbClr val="3D3935"/>
            </a:solidFill>
            <a:prstDash val="solid"/>
          </a:ln>
        </p:spPr>
      </p:sp>
      <p:sp>
        <p:nvSpPr>
          <p:cNvPr id="306" name="Text 304"/>
          <p:cNvSpPr/>
          <p:nvPr/>
        </p:nvSpPr>
        <p:spPr>
          <a:xfrm>
            <a:off x="475488" y="5614416"/>
            <a:ext cx="1984797" cy="201168"/>
          </a:xfrm>
          <a:prstGeom prst="rect">
            <a:avLst/>
          </a:prstGeom>
          <a:noFill/>
          <a:ln/>
        </p:spPr>
        <p:txBody>
          <a:bodyPr wrap="square" lIns="0" tIns="0" rIns="0" bIns="0" rtlCol="0" anchor="ctr">
            <a:normAutofit/>
          </a:bodyPr>
          <a:lstStyle/>
          <a:p>
            <a:pPr algn="l" indent="0" marL="0">
              <a:buNone/>
            </a:pPr>
            <a:r>
              <a:rPr lang="en-US" altLang="en-US" sz="850" b="1" dirty="0">
                <a:solidFill>
                  <a:srgbClr val="66707A"/>
                </a:solidFill>
                <a:latin typeface="Calibri" pitchFamily="34" charset="0"/>
                <a:ea typeface="Calibri" pitchFamily="34" charset="-122"/>
                <a:cs typeface="Calibri" pitchFamily="34" charset="-120"/>
              </a:rPr>
              <a:t>Commencement</a:t>
            </a:r>
            <a:endParaRPr lang="en-US" sz="850" dirty="0"/>
          </a:p>
        </p:txBody>
      </p:sp>
      <p:sp>
        <p:nvSpPr>
          <p:cNvPr id="307" name="Text 305"/>
          <p:cNvSpPr/>
          <p:nvPr/>
        </p:nvSpPr>
        <p:spPr>
          <a:xfrm>
            <a:off x="475488" y="5815584"/>
            <a:ext cx="1984797" cy="292608"/>
          </a:xfrm>
          <a:prstGeom prst="rect">
            <a:avLst/>
          </a:prstGeom>
          <a:noFill/>
          <a:ln/>
        </p:spPr>
        <p:txBody>
          <a:bodyPr wrap="square" lIns="0" tIns="0" rIns="0" bIns="0" rtlCol="0" anchor="ctr">
            <a:normAutofit/>
          </a:bodyPr>
          <a:lstStyle/>
          <a:p>
            <a:pPr algn="l" indent="0" marL="0">
              <a:buNone/>
            </a:pPr>
            <a:r>
              <a:rPr lang="en-US" altLang="en-US" sz="1300" b="1" dirty="0">
                <a:solidFill>
                  <a:srgbClr val="3D3935"/>
                </a:solidFill>
                <a:latin typeface="Calibri" pitchFamily="34" charset="0"/>
                <a:ea typeface="Calibri" pitchFamily="34" charset="-122"/>
                <a:cs typeface="Calibri" pitchFamily="34" charset="-120"/>
              </a:rPr>
              <a:t>Tue 13 Oct 2026</a:t>
            </a:r>
            <a:endParaRPr lang="en-US" sz="1300" dirty="0"/>
          </a:p>
        </p:txBody>
      </p:sp>
      <p:sp>
        <p:nvSpPr>
          <p:cNvPr id="308" name="Text 306"/>
          <p:cNvSpPr/>
          <p:nvPr/>
        </p:nvSpPr>
        <p:spPr>
          <a:xfrm>
            <a:off x="475488" y="6108192"/>
            <a:ext cx="1984797" cy="182880"/>
          </a:xfrm>
          <a:prstGeom prst="rect">
            <a:avLst/>
          </a:prstGeom>
          <a:noFill/>
          <a:ln/>
        </p:spPr>
        <p:txBody>
          <a:bodyPr wrap="square" lIns="0" tIns="0" rIns="0" bIns="0" rtlCol="0" anchor="ctr">
            <a:normAutofit/>
          </a:bodyPr>
          <a:lstStyle/>
          <a:p>
            <a:pPr algn="l" indent="0" marL="0">
              <a:buNone/>
            </a:pPr>
            <a:r>
              <a:rPr lang="en-US" altLang="en-US" sz="750" b="1" dirty="0">
                <a:solidFill>
                  <a:srgbClr val="66707A"/>
                </a:solidFill>
                <a:latin typeface="Calibri" pitchFamily="34" charset="0"/>
                <a:ea typeface="Calibri" pitchFamily="34" charset="-122"/>
                <a:cs typeface="Calibri" pitchFamily="34" charset="-120"/>
              </a:rPr>
              <a:t>Working day 1 / 37</a:t>
            </a:r>
            <a:endParaRPr lang="en-US" sz="750" dirty="0"/>
          </a:p>
        </p:txBody>
      </p:sp>
      <p:sp>
        <p:nvSpPr>
          <p:cNvPr id="309" name="Shape 307"/>
          <p:cNvSpPr/>
          <p:nvPr/>
        </p:nvSpPr>
        <p:spPr>
          <a:xfrm>
            <a:off x="2679741"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10" name="Shape 308"/>
          <p:cNvSpPr/>
          <p:nvPr/>
        </p:nvSpPr>
        <p:spPr>
          <a:xfrm>
            <a:off x="2734605" y="5522976"/>
            <a:ext cx="2094525" cy="54864"/>
          </a:xfrm>
          <a:prstGeom prst="rect">
            <a:avLst/>
          </a:prstGeom>
          <a:solidFill>
            <a:srgbClr val="C8503F"/>
          </a:solidFill>
          <a:ln w="12700">
            <a:solidFill>
              <a:srgbClr val="C8503F"/>
            </a:solidFill>
            <a:prstDash val="solid"/>
          </a:ln>
        </p:spPr>
      </p:sp>
      <p:sp>
        <p:nvSpPr>
          <p:cNvPr id="311" name="Text 309"/>
          <p:cNvSpPr/>
          <p:nvPr/>
        </p:nvSpPr>
        <p:spPr>
          <a:xfrm>
            <a:off x="2789469" y="5614416"/>
            <a:ext cx="1984797" cy="201168"/>
          </a:xfrm>
          <a:prstGeom prst="rect">
            <a:avLst/>
          </a:prstGeom>
          <a:noFill/>
          <a:ln/>
        </p:spPr>
        <p:txBody>
          <a:bodyPr wrap="square" lIns="0" tIns="0" rIns="0" bIns="0" rtlCol="0" anchor="ctr">
            <a:normAutofit/>
          </a:bodyPr>
          <a:lstStyle/>
          <a:p>
            <a:pPr algn="l" indent="0" marL="0">
              <a:buNone/>
            </a:pPr>
            <a:r>
              <a:rPr lang="en-US" altLang="en-US" sz="850" b="1" dirty="0">
                <a:solidFill>
                  <a:srgbClr val="66707A"/>
                </a:solidFill>
                <a:latin typeface="Calibri" pitchFamily="34" charset="0"/>
                <a:ea typeface="Calibri" pitchFamily="34" charset="-122"/>
                <a:cs typeface="Calibri" pitchFamily="34" charset="-120"/>
              </a:rPr>
              <a:t>Shoring installation complete</a:t>
            </a:r>
            <a:endParaRPr lang="en-US" sz="850" dirty="0"/>
          </a:p>
        </p:txBody>
      </p:sp>
      <p:sp>
        <p:nvSpPr>
          <p:cNvPr id="312" name="Text 310"/>
          <p:cNvSpPr/>
          <p:nvPr/>
        </p:nvSpPr>
        <p:spPr>
          <a:xfrm>
            <a:off x="2789469" y="5815584"/>
            <a:ext cx="1984797" cy="292608"/>
          </a:xfrm>
          <a:prstGeom prst="rect">
            <a:avLst/>
          </a:prstGeom>
          <a:noFill/>
          <a:ln/>
        </p:spPr>
        <p:txBody>
          <a:bodyPr wrap="square" lIns="0" tIns="0" rIns="0" bIns="0" rtlCol="0" anchor="ctr">
            <a:normAutofit/>
          </a:bodyPr>
          <a:lstStyle/>
          <a:p>
            <a:pPr algn="l" indent="0" marL="0">
              <a:buNone/>
            </a:pPr>
            <a:r>
              <a:rPr lang="en-US" altLang="en-US" sz="1300" b="1" dirty="0">
                <a:solidFill>
                  <a:srgbClr val="3D3935"/>
                </a:solidFill>
                <a:latin typeface="Calibri" pitchFamily="34" charset="0"/>
                <a:ea typeface="Calibri" pitchFamily="34" charset="-122"/>
                <a:cs typeface="Calibri" pitchFamily="34" charset="-120"/>
              </a:rPr>
              <a:t>Mon 19 Oct 2026</a:t>
            </a:r>
            <a:endParaRPr lang="en-US" sz="1300" dirty="0"/>
          </a:p>
        </p:txBody>
      </p:sp>
      <p:sp>
        <p:nvSpPr>
          <p:cNvPr id="313" name="Text 311"/>
          <p:cNvSpPr/>
          <p:nvPr/>
        </p:nvSpPr>
        <p:spPr>
          <a:xfrm>
            <a:off x="2789469" y="6108192"/>
            <a:ext cx="1984797" cy="182880"/>
          </a:xfrm>
          <a:prstGeom prst="rect">
            <a:avLst/>
          </a:prstGeom>
          <a:noFill/>
          <a:ln/>
        </p:spPr>
        <p:txBody>
          <a:bodyPr wrap="square" lIns="0" tIns="0" rIns="0" bIns="0" rtlCol="0" anchor="ctr">
            <a:normAutofit/>
          </a:bodyPr>
          <a:lstStyle/>
          <a:p>
            <a:pPr algn="l" indent="0" marL="0">
              <a:buNone/>
            </a:pPr>
            <a:r>
              <a:rPr lang="en-US" altLang="en-US" sz="750" b="1" dirty="0">
                <a:solidFill>
                  <a:srgbClr val="66707A"/>
                </a:solidFill>
                <a:latin typeface="Calibri" pitchFamily="34" charset="0"/>
                <a:ea typeface="Calibri" pitchFamily="34" charset="-122"/>
                <a:cs typeface="Calibri" pitchFamily="34" charset="-120"/>
              </a:rPr>
              <a:t>Working day 6 / 37</a:t>
            </a:r>
            <a:endParaRPr lang="en-US" sz="750" dirty="0"/>
          </a:p>
        </p:txBody>
      </p:sp>
      <p:sp>
        <p:nvSpPr>
          <p:cNvPr id="314" name="Shape 312"/>
          <p:cNvSpPr/>
          <p:nvPr/>
        </p:nvSpPr>
        <p:spPr>
          <a:xfrm>
            <a:off x="4993721"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15" name="Shape 313"/>
          <p:cNvSpPr/>
          <p:nvPr/>
        </p:nvSpPr>
        <p:spPr>
          <a:xfrm>
            <a:off x="5048585" y="5522976"/>
            <a:ext cx="2094525" cy="54864"/>
          </a:xfrm>
          <a:prstGeom prst="rect">
            <a:avLst/>
          </a:prstGeom>
          <a:solidFill>
            <a:srgbClr val="00778B"/>
          </a:solidFill>
          <a:ln w="12700">
            <a:solidFill>
              <a:srgbClr val="00778B"/>
            </a:solidFill>
            <a:prstDash val="solid"/>
          </a:ln>
        </p:spPr>
      </p:sp>
      <p:sp>
        <p:nvSpPr>
          <p:cNvPr id="316" name="Text 314"/>
          <p:cNvSpPr/>
          <p:nvPr/>
        </p:nvSpPr>
        <p:spPr>
          <a:xfrm>
            <a:off x="5103449" y="5614416"/>
            <a:ext cx="1984797" cy="201168"/>
          </a:xfrm>
          <a:prstGeom prst="rect">
            <a:avLst/>
          </a:prstGeom>
          <a:noFill/>
          <a:ln/>
        </p:spPr>
        <p:txBody>
          <a:bodyPr wrap="square" lIns="0" tIns="0" rIns="0" bIns="0" rtlCol="0" anchor="ctr">
            <a:normAutofit/>
          </a:bodyPr>
          <a:lstStyle/>
          <a:p>
            <a:pPr algn="l" indent="0" marL="0">
              <a:buNone/>
            </a:pPr>
            <a:r>
              <a:rPr lang="en-US" altLang="en-US" sz="850" b="1" dirty="0">
                <a:solidFill>
                  <a:srgbClr val="66707A"/>
                </a:solidFill>
                <a:latin typeface="Calibri" pitchFamily="34" charset="0"/>
                <a:ea typeface="Calibri" pitchFamily="34" charset="-122"/>
                <a:cs typeface="Calibri" pitchFamily="34" charset="-120"/>
              </a:rPr>
              <a:t>Pit works complete (pit wall)</a:t>
            </a:r>
            <a:endParaRPr lang="en-US" sz="850" dirty="0"/>
          </a:p>
        </p:txBody>
      </p:sp>
      <p:sp>
        <p:nvSpPr>
          <p:cNvPr id="317" name="Text 315"/>
          <p:cNvSpPr/>
          <p:nvPr/>
        </p:nvSpPr>
        <p:spPr>
          <a:xfrm>
            <a:off x="5103449" y="5815584"/>
            <a:ext cx="1984797" cy="292608"/>
          </a:xfrm>
          <a:prstGeom prst="rect">
            <a:avLst/>
          </a:prstGeom>
          <a:noFill/>
          <a:ln/>
        </p:spPr>
        <p:txBody>
          <a:bodyPr wrap="square" lIns="0" tIns="0" rIns="0" bIns="0" rtlCol="0" anchor="ctr">
            <a:normAutofit/>
          </a:bodyPr>
          <a:lstStyle/>
          <a:p>
            <a:pPr algn="l" indent="0" marL="0">
              <a:buNone/>
            </a:pPr>
            <a:r>
              <a:rPr lang="en-US" altLang="en-US" sz="1300" b="1" dirty="0">
                <a:solidFill>
                  <a:srgbClr val="3D3935"/>
                </a:solidFill>
                <a:latin typeface="Calibri" pitchFamily="34" charset="0"/>
                <a:ea typeface="Calibri" pitchFamily="34" charset="-122"/>
                <a:cs typeface="Calibri" pitchFamily="34" charset="-120"/>
              </a:rPr>
              <a:t>Wed 11 Nov 2026</a:t>
            </a:r>
            <a:endParaRPr lang="en-US" sz="1300" dirty="0"/>
          </a:p>
        </p:txBody>
      </p:sp>
      <p:sp>
        <p:nvSpPr>
          <p:cNvPr id="318" name="Text 316"/>
          <p:cNvSpPr/>
          <p:nvPr/>
        </p:nvSpPr>
        <p:spPr>
          <a:xfrm>
            <a:off x="5103449" y="6108192"/>
            <a:ext cx="1984797" cy="182880"/>
          </a:xfrm>
          <a:prstGeom prst="rect">
            <a:avLst/>
          </a:prstGeom>
          <a:noFill/>
          <a:ln/>
        </p:spPr>
        <p:txBody>
          <a:bodyPr wrap="square" lIns="0" tIns="0" rIns="0" bIns="0" rtlCol="0" anchor="ctr">
            <a:normAutofit/>
          </a:bodyPr>
          <a:lstStyle/>
          <a:p>
            <a:pPr algn="l" indent="0" marL="0">
              <a:buNone/>
            </a:pPr>
            <a:r>
              <a:rPr lang="en-US" altLang="en-US" sz="750" b="1" dirty="0">
                <a:solidFill>
                  <a:srgbClr val="66707A"/>
                </a:solidFill>
                <a:latin typeface="Calibri" pitchFamily="34" charset="0"/>
                <a:ea typeface="Calibri" pitchFamily="34" charset="-122"/>
                <a:cs typeface="Calibri" pitchFamily="34" charset="-120"/>
              </a:rPr>
              <a:t>Working day 26 / 37</a:t>
            </a:r>
            <a:endParaRPr lang="en-US" sz="750" dirty="0"/>
          </a:p>
        </p:txBody>
      </p:sp>
      <p:sp>
        <p:nvSpPr>
          <p:cNvPr id="319" name="Shape 317"/>
          <p:cNvSpPr/>
          <p:nvPr/>
        </p:nvSpPr>
        <p:spPr>
          <a:xfrm>
            <a:off x="7307702" y="5522976"/>
            <a:ext cx="2204253" cy="822960"/>
          </a:xfrm>
          <a:prstGeom prst="roundRect">
            <a:avLst>
              <a:gd name="adj" fmla="val 7778"/>
            </a:avLst>
          </a:prstGeom>
          <a:solidFill>
            <a:srgbClr val="FFFFFF"/>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20" name="Shape 318"/>
          <p:cNvSpPr/>
          <p:nvPr/>
        </p:nvSpPr>
        <p:spPr>
          <a:xfrm>
            <a:off x="7362566" y="5522976"/>
            <a:ext cx="2094525" cy="54864"/>
          </a:xfrm>
          <a:prstGeom prst="rect">
            <a:avLst/>
          </a:prstGeom>
          <a:solidFill>
            <a:srgbClr val="2E9E6B"/>
          </a:solidFill>
          <a:ln w="12700">
            <a:solidFill>
              <a:srgbClr val="2E9E6B"/>
            </a:solidFill>
            <a:prstDash val="solid"/>
          </a:ln>
        </p:spPr>
      </p:sp>
      <p:sp>
        <p:nvSpPr>
          <p:cNvPr id="321" name="Text 319"/>
          <p:cNvSpPr/>
          <p:nvPr/>
        </p:nvSpPr>
        <p:spPr>
          <a:xfrm>
            <a:off x="7417430" y="5614416"/>
            <a:ext cx="1984797" cy="201168"/>
          </a:xfrm>
          <a:prstGeom prst="rect">
            <a:avLst/>
          </a:prstGeom>
          <a:noFill/>
          <a:ln/>
        </p:spPr>
        <p:txBody>
          <a:bodyPr wrap="square" lIns="0" tIns="0" rIns="0" bIns="0" rtlCol="0" anchor="ctr">
            <a:normAutofit/>
          </a:bodyPr>
          <a:lstStyle/>
          <a:p>
            <a:pPr algn="l" indent="0" marL="0">
              <a:buNone/>
            </a:pPr>
            <a:r>
              <a:rPr lang="en-US" altLang="en-US" sz="850" b="1" dirty="0">
                <a:solidFill>
                  <a:srgbClr val="66707A"/>
                </a:solidFill>
                <a:latin typeface="Calibri" pitchFamily="34" charset="0"/>
                <a:ea typeface="Calibri" pitchFamily="34" charset="-122"/>
                <a:cs typeface="Calibri" pitchFamily="34" charset="-120"/>
              </a:rPr>
              <a:t>Building foundation complete</a:t>
            </a:r>
            <a:endParaRPr lang="en-US" sz="850" dirty="0"/>
          </a:p>
        </p:txBody>
      </p:sp>
      <p:sp>
        <p:nvSpPr>
          <p:cNvPr id="322" name="Text 320"/>
          <p:cNvSpPr/>
          <p:nvPr/>
        </p:nvSpPr>
        <p:spPr>
          <a:xfrm>
            <a:off x="7417430" y="5815584"/>
            <a:ext cx="1984797" cy="292608"/>
          </a:xfrm>
          <a:prstGeom prst="rect">
            <a:avLst/>
          </a:prstGeom>
          <a:noFill/>
          <a:ln/>
        </p:spPr>
        <p:txBody>
          <a:bodyPr wrap="square" lIns="0" tIns="0" rIns="0" bIns="0" rtlCol="0" anchor="ctr">
            <a:normAutofit/>
          </a:bodyPr>
          <a:lstStyle/>
          <a:p>
            <a:pPr algn="l" indent="0" marL="0">
              <a:buNone/>
            </a:pPr>
            <a:r>
              <a:rPr lang="en-US" altLang="en-US" sz="1300" b="1" dirty="0">
                <a:solidFill>
                  <a:srgbClr val="3D3935"/>
                </a:solidFill>
                <a:latin typeface="Calibri" pitchFamily="34" charset="0"/>
                <a:ea typeface="Calibri" pitchFamily="34" charset="-122"/>
                <a:cs typeface="Calibri" pitchFamily="34" charset="-120"/>
              </a:rPr>
              <a:t>Wed 18 Nov 2026</a:t>
            </a:r>
            <a:endParaRPr lang="en-US" sz="1300" dirty="0"/>
          </a:p>
        </p:txBody>
      </p:sp>
      <p:sp>
        <p:nvSpPr>
          <p:cNvPr id="323" name="Text 321"/>
          <p:cNvSpPr/>
          <p:nvPr/>
        </p:nvSpPr>
        <p:spPr>
          <a:xfrm>
            <a:off x="7417430" y="6108192"/>
            <a:ext cx="1984797" cy="182880"/>
          </a:xfrm>
          <a:prstGeom prst="rect">
            <a:avLst/>
          </a:prstGeom>
          <a:noFill/>
          <a:ln/>
        </p:spPr>
        <p:txBody>
          <a:bodyPr wrap="square" lIns="0" tIns="0" rIns="0" bIns="0" rtlCol="0" anchor="ctr">
            <a:normAutofit/>
          </a:bodyPr>
          <a:lstStyle/>
          <a:p>
            <a:pPr algn="l" indent="0" marL="0">
              <a:buNone/>
            </a:pPr>
            <a:r>
              <a:rPr lang="en-US" altLang="en-US" sz="750" b="1" dirty="0">
                <a:solidFill>
                  <a:srgbClr val="66707A"/>
                </a:solidFill>
                <a:latin typeface="Calibri" pitchFamily="34" charset="0"/>
                <a:ea typeface="Calibri" pitchFamily="34" charset="-122"/>
                <a:cs typeface="Calibri" pitchFamily="34" charset="-120"/>
              </a:rPr>
              <a:t>Working day 32 / 37</a:t>
            </a:r>
            <a:endParaRPr lang="en-US" sz="750" dirty="0"/>
          </a:p>
        </p:txBody>
      </p:sp>
      <p:sp>
        <p:nvSpPr>
          <p:cNvPr id="324" name="Shape 322"/>
          <p:cNvSpPr/>
          <p:nvPr/>
        </p:nvSpPr>
        <p:spPr>
          <a:xfrm>
            <a:off x="9621683" y="5522976"/>
            <a:ext cx="2204253" cy="822960"/>
          </a:xfrm>
          <a:prstGeom prst="roundRect">
            <a:avLst>
              <a:gd name="adj" fmla="val 7778"/>
            </a:avLst>
          </a:prstGeom>
          <a:solidFill>
            <a:srgbClr val="3D3935"/>
          </a:solidFill>
          <a:ln w="9525">
            <a:solidFill>
              <a:srgbClr val="DFE6EA"/>
            </a:solidFill>
            <a:prstDash val="solid"/>
          </a:ln>
          <a:effectLst>
            <a:outerShdw sx="100000" sy="100000" kx="0" ky="0" algn="bl" rotWithShape="0" blurRad="63500" dist="25400" dir="5400000">
              <a:srgbClr val="000000">
                <a:alpha val="12000"/>
              </a:srgbClr>
            </a:outerShdw>
          </a:effectLst>
        </p:spPr>
      </p:sp>
      <p:sp>
        <p:nvSpPr>
          <p:cNvPr id="325" name="Shape 323"/>
          <p:cNvSpPr/>
          <p:nvPr/>
        </p:nvSpPr>
        <p:spPr>
          <a:xfrm>
            <a:off x="9676547" y="5522976"/>
            <a:ext cx="2094525" cy="54864"/>
          </a:xfrm>
          <a:prstGeom prst="rect">
            <a:avLst/>
          </a:prstGeom>
          <a:solidFill>
            <a:srgbClr val="D68A00"/>
          </a:solidFill>
          <a:ln w="12700">
            <a:solidFill>
              <a:srgbClr val="D68A00"/>
            </a:solidFill>
            <a:prstDash val="solid"/>
          </a:ln>
        </p:spPr>
      </p:sp>
      <p:sp>
        <p:nvSpPr>
          <p:cNvPr id="326" name="Text 324"/>
          <p:cNvSpPr/>
          <p:nvPr/>
        </p:nvSpPr>
        <p:spPr>
          <a:xfrm>
            <a:off x="9731411" y="5614416"/>
            <a:ext cx="1984797" cy="201168"/>
          </a:xfrm>
          <a:prstGeom prst="rect">
            <a:avLst/>
          </a:prstGeom>
          <a:noFill/>
          <a:ln/>
        </p:spPr>
        <p:txBody>
          <a:bodyPr wrap="square" lIns="0" tIns="0" rIns="0" bIns="0" rtlCol="0" anchor="ctr">
            <a:normAutofit/>
          </a:bodyPr>
          <a:lstStyle/>
          <a:p>
            <a:pPr algn="l" indent="0" marL="0">
              <a:buNone/>
            </a:pPr>
            <a:r>
              <a:rPr lang="en-US" altLang="en-US" sz="850" b="1" dirty="0">
                <a:solidFill>
                  <a:srgbClr val="CFD8DC"/>
                </a:solidFill>
                <a:latin typeface="Calibri" pitchFamily="34" charset="0"/>
                <a:ea typeface="Calibri" pitchFamily="34" charset="-122"/>
                <a:cs typeface="Calibri" pitchFamily="34" charset="-120"/>
              </a:rPr>
              <a:t>Overall completion</a:t>
            </a:r>
            <a:endParaRPr lang="en-US" sz="850" dirty="0"/>
          </a:p>
        </p:txBody>
      </p:sp>
      <p:sp>
        <p:nvSpPr>
          <p:cNvPr id="327" name="Text 325"/>
          <p:cNvSpPr/>
          <p:nvPr/>
        </p:nvSpPr>
        <p:spPr>
          <a:xfrm>
            <a:off x="9731411" y="5815584"/>
            <a:ext cx="1984797" cy="292608"/>
          </a:xfrm>
          <a:prstGeom prst="rect">
            <a:avLst/>
          </a:prstGeom>
          <a:noFill/>
          <a:ln/>
        </p:spPr>
        <p:txBody>
          <a:bodyPr wrap="square" lIns="0" tIns="0" rIns="0" bIns="0" rtlCol="0" anchor="ctr">
            <a:normAutofit/>
          </a:bodyPr>
          <a:lstStyle/>
          <a:p>
            <a:pPr algn="l" indent="0" marL="0">
              <a:buNone/>
            </a:pPr>
            <a:r>
              <a:rPr lang="en-US" altLang="en-US" sz="1300" b="1" dirty="0">
                <a:solidFill>
                  <a:srgbClr val="FFFFFF"/>
                </a:solidFill>
                <a:latin typeface="Calibri" pitchFamily="34" charset="0"/>
                <a:ea typeface="Calibri" pitchFamily="34" charset="-122"/>
                <a:cs typeface="Calibri" pitchFamily="34" charset="-120"/>
              </a:rPr>
              <a:t>Tue 24 Nov 2026</a:t>
            </a:r>
            <a:endParaRPr lang="en-US" sz="1300" dirty="0"/>
          </a:p>
        </p:txBody>
      </p:sp>
      <p:sp>
        <p:nvSpPr>
          <p:cNvPr id="328" name="Text 326"/>
          <p:cNvSpPr/>
          <p:nvPr/>
        </p:nvSpPr>
        <p:spPr>
          <a:xfrm>
            <a:off x="9731411" y="6108192"/>
            <a:ext cx="1984797" cy="182880"/>
          </a:xfrm>
          <a:prstGeom prst="rect">
            <a:avLst/>
          </a:prstGeom>
          <a:noFill/>
          <a:ln/>
        </p:spPr>
        <p:txBody>
          <a:bodyPr wrap="square" lIns="0" tIns="0" rIns="0" bIns="0" rtlCol="0" anchor="ctr">
            <a:normAutofit/>
          </a:bodyPr>
          <a:lstStyle/>
          <a:p>
            <a:pPr algn="l" indent="0" marL="0">
              <a:buNone/>
            </a:pPr>
            <a:r>
              <a:rPr lang="en-US" altLang="en-US" sz="750" b="1" dirty="0">
                <a:solidFill>
                  <a:srgbClr val="CFD8DC"/>
                </a:solidFill>
                <a:latin typeface="Calibri" pitchFamily="34" charset="0"/>
                <a:ea typeface="Calibri" pitchFamily="34" charset="-122"/>
                <a:cs typeface="Calibri" pitchFamily="34" charset="-120"/>
              </a:rPr>
              <a:t>Working day 37 / 37</a:t>
            </a:r>
            <a:endParaRPr lang="en-US" sz="750" dirty="0"/>
          </a:p>
        </p:txBody>
      </p:sp>
      <p:sp>
        <p:nvSpPr>
          <p:cNvPr id="25" name="Slide Number Placeholder 0"/>
          <p:cNvSpPr>
            <a:spLocks noGrp="1"/>
          </p:cNvSpPr>
          <p:nvPr>
            <p:ph type="sldNum" sz="quarter" idx="4294967295"/>
          </p:nvPr>
        </p:nvSpPr>
        <p:spPr>
          <a:xfrm>
            <a:off x="11323015"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109728"/>
            <a:ext cx="10134295" cy="457200"/>
          </a:xfrm>
          <a:prstGeom prst="rect">
            <a:avLst/>
          </a:prstGeom>
          <a:noFill/>
          <a:ln/>
        </p:spPr>
        <p:txBody>
          <a:bodyPr wrap="square" lIns="0" tIns="0" rIns="0" bIns="0" rtlCol="0" anchor="ctr">
            <a:normAutofit/>
          </a:bodyPr>
          <a:lstStyle/>
          <a:p>
            <a:pPr algn="l" indent="0" marL="0">
              <a:buNone/>
            </a:pPr>
            <a:r>
              <a:rPr lang="en-US" altLang="en-US" sz="2400" b="1" dirty="0">
                <a:solidFill>
                  <a:srgbClr val="3D3935"/>
                </a:solidFill>
                <a:latin typeface="Calibri" pitchFamily="34" charset="0"/>
                <a:ea typeface="Calibri" pitchFamily="34" charset="-122"/>
                <a:cs typeface="Calibri" pitchFamily="34" charset="-120"/>
              </a:rPr>
              <a:t>Shoring Activities &amp; Planning Basis</a:t>
            </a:r>
            <a:endParaRPr lang="en-US" sz="2400" dirty="0"/>
          </a:p>
        </p:txBody>
      </p:sp>
      <p:sp>
        <p:nvSpPr>
          <p:cNvPr id="3" name="Text 1"/>
          <p:cNvSpPr/>
          <p:nvPr/>
        </p:nvSpPr>
        <p:spPr>
          <a:xfrm>
            <a:off x="365760" y="548640"/>
            <a:ext cx="10134295" cy="256032"/>
          </a:xfrm>
          <a:prstGeom prst="rect">
            <a:avLst/>
          </a:prstGeom>
          <a:noFill/>
          <a:ln/>
        </p:spPr>
        <p:txBody>
          <a:bodyPr wrap="square" lIns="0" tIns="0" rIns="0" bIns="0" rtlCol="0" anchor="ctr">
            <a:normAutofit/>
          </a:bodyPr>
          <a:lstStyle/>
          <a:p>
            <a:pPr algn="l" indent="0" marL="0">
              <a:buNone/>
            </a:pPr>
            <a:r>
              <a:rPr lang="en-US" altLang="en-US" sz="1200" dirty="0">
                <a:solidFill>
                  <a:srgbClr val="66707A"/>
                </a:solidFill>
                <a:latin typeface="Calibri" pitchFamily="34" charset="0"/>
                <a:ea typeface="Calibri" pitchFamily="34" charset="-122"/>
                <a:cs typeface="Calibri" pitchFamily="34" charset="-120"/>
              </a:rPr>
              <a:t>Sequence of shoring works, key dates and conditions of the proposed programme</a:t>
            </a:r>
            <a:endParaRPr lang="en-US" sz="1200" dirty="0"/>
          </a:p>
        </p:txBody>
      </p:sp>
      <p:sp>
        <p:nvSpPr>
          <p:cNvPr id="4" name="Shape 2"/>
          <p:cNvSpPr/>
          <p:nvPr/>
        </p:nvSpPr>
        <p:spPr>
          <a:xfrm>
            <a:off x="365760" y="1133856"/>
            <a:ext cx="54864" cy="256032"/>
          </a:xfrm>
          <a:prstGeom prst="rect">
            <a:avLst/>
          </a:prstGeom>
          <a:solidFill>
            <a:srgbClr val="00778B"/>
          </a:solidFill>
          <a:ln w="12700">
            <a:solidFill>
              <a:srgbClr val="00778B"/>
            </a:solidFill>
            <a:prstDash val="solid"/>
          </a:ln>
        </p:spPr>
      </p:sp>
      <p:sp>
        <p:nvSpPr>
          <p:cNvPr id="5" name="Text 3"/>
          <p:cNvSpPr/>
          <p:nvPr/>
        </p:nvSpPr>
        <p:spPr>
          <a:xfrm>
            <a:off x="512064" y="1097280"/>
            <a:ext cx="7315200" cy="329184"/>
          </a:xfrm>
          <a:prstGeom prst="rect">
            <a:avLst/>
          </a:prstGeom>
          <a:noFill/>
          <a:ln/>
        </p:spPr>
        <p:txBody>
          <a:bodyPr wrap="square" lIns="0" tIns="0" rIns="0" bIns="0" rtlCol="0" anchor="ctr">
            <a:normAutofit/>
          </a:bodyPr>
          <a:lstStyle/>
          <a:p>
            <a:pPr algn="l" indent="0" marL="0">
              <a:buNone/>
            </a:pPr>
            <a:r>
              <a:rPr lang="en-US" altLang="en-US" sz="1500" b="1" dirty="0">
                <a:solidFill>
                  <a:srgbClr val="3D3935"/>
                </a:solidFill>
                <a:latin typeface="Calibri" pitchFamily="34" charset="0"/>
                <a:ea typeface="Calibri" pitchFamily="34" charset="-122"/>
                <a:cs typeface="Calibri" pitchFamily="34" charset="-120"/>
              </a:rPr>
              <a:t>Shoring works sequence (Activity A)</a:t>
            </a:r>
            <a:endParaRPr lang="en-US" sz="1500" dirty="0"/>
          </a:p>
        </p:txBody>
      </p:sp>
      <p:sp>
        <p:nvSpPr>
          <p:cNvPr id="6" name="Text 4"/>
          <p:cNvSpPr/>
          <p:nvPr/>
        </p:nvSpPr>
        <p:spPr>
          <a:xfrm>
            <a:off x="512064" y="1417320"/>
            <a:ext cx="8229600" cy="256032"/>
          </a:xfrm>
          <a:prstGeom prst="rect">
            <a:avLst/>
          </a:prstGeom>
          <a:noFill/>
          <a:ln/>
        </p:spPr>
        <p:txBody>
          <a:bodyPr wrap="square" lIns="0" tIns="0" rIns="0" bIns="0" rtlCol="0" anchor="ctr">
            <a:normAutofit/>
          </a:bodyPr>
          <a:lstStyle/>
          <a:p>
            <a:pPr algn="l" indent="0" marL="0">
              <a:buNone/>
            </a:pPr>
            <a:r>
              <a:rPr lang="en-US" altLang="en-US" sz="1100" b="1" dirty="0">
                <a:solidFill>
                  <a:srgbClr val="C8503F"/>
                </a:solidFill>
                <a:latin typeface="Calibri" pitchFamily="34" charset="0"/>
                <a:ea typeface="Calibri" pitchFamily="34" charset="-122"/>
                <a:cs typeface="Calibri" pitchFamily="34" charset="-120"/>
              </a:rPr>
              <a:t>13 October 2026 → 19 October 2026 · 6 working days</a:t>
            </a:r>
            <a:endParaRPr lang="en-US" sz="1100" dirty="0"/>
          </a:p>
        </p:txBody>
      </p:sp>
      <p:sp>
        <p:nvSpPr>
          <p:cNvPr id="7" name="Shape 5"/>
          <p:cNvSpPr/>
          <p:nvPr/>
        </p:nvSpPr>
        <p:spPr>
          <a:xfrm>
            <a:off x="365760" y="1783080"/>
            <a:ext cx="2365187" cy="1051560"/>
          </a:xfrm>
          <a:prstGeom prst="chevron">
            <a:avLst/>
          </a:prstGeom>
          <a:solidFill>
            <a:srgbClr val="F4DAD6"/>
          </a:solidFill>
          <a:ln w="12700">
            <a:solidFill>
              <a:srgbClr val="F4DAD6"/>
            </a:solidFill>
            <a:prstDash val="solid"/>
          </a:ln>
        </p:spPr>
      </p:sp>
      <p:sp>
        <p:nvSpPr>
          <p:cNvPr id="8" name="Shape 6"/>
          <p:cNvSpPr/>
          <p:nvPr/>
        </p:nvSpPr>
        <p:spPr>
          <a:xfrm>
            <a:off x="731520" y="1874520"/>
            <a:ext cx="274320" cy="274320"/>
          </a:xfrm>
          <a:prstGeom prst="ellipse">
            <a:avLst/>
          </a:prstGeom>
          <a:solidFill>
            <a:srgbClr val="C8503F"/>
          </a:solidFill>
          <a:ln w="12700">
            <a:solidFill>
              <a:srgbClr val="C8503F"/>
            </a:solidFill>
            <a:prstDash val="solid"/>
          </a:ln>
        </p:spPr>
      </p:sp>
      <p:sp>
        <p:nvSpPr>
          <p:cNvPr id="9" name="Text 7"/>
          <p:cNvSpPr/>
          <p:nvPr/>
        </p:nvSpPr>
        <p:spPr>
          <a:xfrm>
            <a:off x="731520" y="1874520"/>
            <a:ext cx="274320" cy="274320"/>
          </a:xfrm>
          <a:prstGeom prst="rect">
            <a:avLst/>
          </a:prstGeom>
          <a:noFill/>
          <a:ln/>
        </p:spPr>
        <p:txBody>
          <a:bodyPr wrap="square" lIns="0" tIns="0" rIns="0" bIns="0" rtlCol="0" anchor="ctr">
            <a:normAutofit/>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749808" y="2176272"/>
            <a:ext cx="1606235" cy="621792"/>
          </a:xfrm>
          <a:prstGeom prst="rect">
            <a:avLst/>
          </a:prstGeom>
          <a:noFill/>
          <a:ln/>
        </p:spPr>
        <p:txBody>
          <a:bodyPr wrap="square" lIns="0" tIns="0" rIns="0" bIns="0" rtlCol="0" anchor="t">
            <a:normAutofit/>
          </a:bodyPr>
          <a:lstStyle/>
          <a:p>
            <a:pPr algn="l" indent="0" marL="0">
              <a:buNone/>
            </a:pPr>
            <a:r>
              <a:rPr lang="en-US" altLang="en-US" sz="1100" b="1" dirty="0">
                <a:solidFill>
                  <a:srgbClr val="3D3935"/>
                </a:solidFill>
                <a:latin typeface="Calibri" pitchFamily="34" charset="0"/>
                <a:ea typeface="Calibri" pitchFamily="34" charset="-122"/>
                <a:cs typeface="Calibri" pitchFamily="34" charset="-120"/>
              </a:rPr>
              <a:t>Excavation / digging for H-Beam</a:t>
            </a:r>
            <a:endParaRPr lang="en-US" sz="1100" dirty="0"/>
          </a:p>
        </p:txBody>
      </p:sp>
      <p:sp>
        <p:nvSpPr>
          <p:cNvPr id="11" name="Shape 9"/>
          <p:cNvSpPr/>
          <p:nvPr/>
        </p:nvSpPr>
        <p:spPr>
          <a:xfrm>
            <a:off x="2657795" y="1783080"/>
            <a:ext cx="2365187" cy="1051560"/>
          </a:xfrm>
          <a:prstGeom prst="chevron">
            <a:avLst/>
          </a:prstGeom>
          <a:solidFill>
            <a:srgbClr val="F4DAD6"/>
          </a:solidFill>
          <a:ln w="12700">
            <a:solidFill>
              <a:srgbClr val="F4DAD6"/>
            </a:solidFill>
            <a:prstDash val="solid"/>
          </a:ln>
        </p:spPr>
      </p:sp>
      <p:sp>
        <p:nvSpPr>
          <p:cNvPr id="12" name="Shape 10"/>
          <p:cNvSpPr/>
          <p:nvPr/>
        </p:nvSpPr>
        <p:spPr>
          <a:xfrm>
            <a:off x="3023555" y="1874520"/>
            <a:ext cx="274320" cy="274320"/>
          </a:xfrm>
          <a:prstGeom prst="ellipse">
            <a:avLst/>
          </a:prstGeom>
          <a:solidFill>
            <a:srgbClr val="C8503F"/>
          </a:solidFill>
          <a:ln w="12700">
            <a:solidFill>
              <a:srgbClr val="C8503F"/>
            </a:solidFill>
            <a:prstDash val="solid"/>
          </a:ln>
        </p:spPr>
      </p:sp>
      <p:sp>
        <p:nvSpPr>
          <p:cNvPr id="13" name="Text 11"/>
          <p:cNvSpPr/>
          <p:nvPr/>
        </p:nvSpPr>
        <p:spPr>
          <a:xfrm>
            <a:off x="3023555" y="1874520"/>
            <a:ext cx="274320" cy="274320"/>
          </a:xfrm>
          <a:prstGeom prst="rect">
            <a:avLst/>
          </a:prstGeom>
          <a:noFill/>
          <a:ln/>
        </p:spPr>
        <p:txBody>
          <a:bodyPr wrap="square" lIns="0" tIns="0" rIns="0" bIns="0" rtlCol="0" anchor="ctr">
            <a:normAutofit/>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3041843" y="2176272"/>
            <a:ext cx="1606235" cy="621792"/>
          </a:xfrm>
          <a:prstGeom prst="rect">
            <a:avLst/>
          </a:prstGeom>
          <a:noFill/>
          <a:ln/>
        </p:spPr>
        <p:txBody>
          <a:bodyPr wrap="square" lIns="0" tIns="0" rIns="0" bIns="0" rtlCol="0" anchor="t">
            <a:normAutofit/>
          </a:bodyPr>
          <a:lstStyle/>
          <a:p>
            <a:pPr algn="l" indent="0" marL="0">
              <a:buNone/>
            </a:pPr>
            <a:r>
              <a:rPr lang="en-US" altLang="en-US" sz="1100" b="1" dirty="0">
                <a:solidFill>
                  <a:srgbClr val="3D3935"/>
                </a:solidFill>
                <a:latin typeface="Calibri" pitchFamily="34" charset="0"/>
                <a:ea typeface="Calibri" pitchFamily="34" charset="-122"/>
                <a:cs typeface="Calibri" pitchFamily="34" charset="-120"/>
              </a:rPr>
              <a:t>Installation of H-Beam</a:t>
            </a:r>
            <a:endParaRPr lang="en-US" sz="1100" dirty="0"/>
          </a:p>
        </p:txBody>
      </p:sp>
      <p:sp>
        <p:nvSpPr>
          <p:cNvPr id="15" name="Shape 13"/>
          <p:cNvSpPr/>
          <p:nvPr/>
        </p:nvSpPr>
        <p:spPr>
          <a:xfrm>
            <a:off x="4949830" y="1783080"/>
            <a:ext cx="2365187" cy="1051560"/>
          </a:xfrm>
          <a:prstGeom prst="chevron">
            <a:avLst/>
          </a:prstGeom>
          <a:solidFill>
            <a:srgbClr val="F4DAD6"/>
          </a:solidFill>
          <a:ln w="12700">
            <a:solidFill>
              <a:srgbClr val="F4DAD6"/>
            </a:solidFill>
            <a:prstDash val="solid"/>
          </a:ln>
        </p:spPr>
      </p:sp>
      <p:sp>
        <p:nvSpPr>
          <p:cNvPr id="16" name="Shape 14"/>
          <p:cNvSpPr/>
          <p:nvPr/>
        </p:nvSpPr>
        <p:spPr>
          <a:xfrm>
            <a:off x="5315590" y="1874520"/>
            <a:ext cx="274320" cy="274320"/>
          </a:xfrm>
          <a:prstGeom prst="ellipse">
            <a:avLst/>
          </a:prstGeom>
          <a:solidFill>
            <a:srgbClr val="C8503F"/>
          </a:solidFill>
          <a:ln w="12700">
            <a:solidFill>
              <a:srgbClr val="C8503F"/>
            </a:solidFill>
            <a:prstDash val="solid"/>
          </a:ln>
        </p:spPr>
      </p:sp>
      <p:sp>
        <p:nvSpPr>
          <p:cNvPr id="17" name="Text 15"/>
          <p:cNvSpPr/>
          <p:nvPr/>
        </p:nvSpPr>
        <p:spPr>
          <a:xfrm>
            <a:off x="5315590" y="1874520"/>
            <a:ext cx="274320" cy="274320"/>
          </a:xfrm>
          <a:prstGeom prst="rect">
            <a:avLst/>
          </a:prstGeom>
          <a:noFill/>
          <a:ln/>
        </p:spPr>
        <p:txBody>
          <a:bodyPr wrap="square" lIns="0" tIns="0" rIns="0" bIns="0" rtlCol="0" anchor="ctr">
            <a:normAutofit/>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5333878" y="2176272"/>
            <a:ext cx="1606235" cy="621792"/>
          </a:xfrm>
          <a:prstGeom prst="rect">
            <a:avLst/>
          </a:prstGeom>
          <a:noFill/>
          <a:ln/>
        </p:spPr>
        <p:txBody>
          <a:bodyPr wrap="square" lIns="0" tIns="0" rIns="0" bIns="0" rtlCol="0" anchor="t">
            <a:normAutofit/>
          </a:bodyPr>
          <a:lstStyle/>
          <a:p>
            <a:pPr algn="l" indent="0" marL="0">
              <a:buNone/>
            </a:pPr>
            <a:r>
              <a:rPr lang="en-US" altLang="en-US" sz="1100" b="1" dirty="0">
                <a:solidFill>
                  <a:srgbClr val="3D3935"/>
                </a:solidFill>
                <a:latin typeface="Calibri" pitchFamily="34" charset="0"/>
                <a:ea typeface="Calibri" pitchFamily="34" charset="-122"/>
                <a:cs typeface="Calibri" pitchFamily="34" charset="-120"/>
              </a:rPr>
              <a:t>Concrete work for H-Beam</a:t>
            </a:r>
            <a:endParaRPr lang="en-US" sz="1100" dirty="0"/>
          </a:p>
        </p:txBody>
      </p:sp>
      <p:sp>
        <p:nvSpPr>
          <p:cNvPr id="19" name="Shape 17"/>
          <p:cNvSpPr/>
          <p:nvPr/>
        </p:nvSpPr>
        <p:spPr>
          <a:xfrm>
            <a:off x="7241865" y="1783080"/>
            <a:ext cx="2365187" cy="1051560"/>
          </a:xfrm>
          <a:prstGeom prst="chevron">
            <a:avLst/>
          </a:prstGeom>
          <a:solidFill>
            <a:srgbClr val="F4DAD6"/>
          </a:solidFill>
          <a:ln w="12700">
            <a:solidFill>
              <a:srgbClr val="F4DAD6"/>
            </a:solidFill>
            <a:prstDash val="solid"/>
          </a:ln>
        </p:spPr>
      </p:sp>
      <p:sp>
        <p:nvSpPr>
          <p:cNvPr id="20" name="Shape 18"/>
          <p:cNvSpPr/>
          <p:nvPr/>
        </p:nvSpPr>
        <p:spPr>
          <a:xfrm>
            <a:off x="7607625" y="1874520"/>
            <a:ext cx="274320" cy="274320"/>
          </a:xfrm>
          <a:prstGeom prst="ellipse">
            <a:avLst/>
          </a:prstGeom>
          <a:solidFill>
            <a:srgbClr val="C8503F"/>
          </a:solidFill>
          <a:ln w="12700">
            <a:solidFill>
              <a:srgbClr val="C8503F"/>
            </a:solidFill>
            <a:prstDash val="solid"/>
          </a:ln>
        </p:spPr>
      </p:sp>
      <p:sp>
        <p:nvSpPr>
          <p:cNvPr id="21" name="Text 19"/>
          <p:cNvSpPr/>
          <p:nvPr/>
        </p:nvSpPr>
        <p:spPr>
          <a:xfrm>
            <a:off x="7607625" y="1874520"/>
            <a:ext cx="274320" cy="274320"/>
          </a:xfrm>
          <a:prstGeom prst="rect">
            <a:avLst/>
          </a:prstGeom>
          <a:noFill/>
          <a:ln/>
        </p:spPr>
        <p:txBody>
          <a:bodyPr wrap="square" lIns="0" tIns="0" rIns="0" bIns="0" rtlCol="0" anchor="ctr">
            <a:normAutofit/>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7625913" y="2176272"/>
            <a:ext cx="1606235" cy="621792"/>
          </a:xfrm>
          <a:prstGeom prst="rect">
            <a:avLst/>
          </a:prstGeom>
          <a:noFill/>
          <a:ln/>
        </p:spPr>
        <p:txBody>
          <a:bodyPr wrap="square" lIns="0" tIns="0" rIns="0" bIns="0" rtlCol="0" anchor="t">
            <a:normAutofit/>
          </a:bodyPr>
          <a:lstStyle/>
          <a:p>
            <a:pPr algn="l" indent="0" marL="0">
              <a:buNone/>
            </a:pPr>
            <a:r>
              <a:rPr lang="en-US" altLang="en-US" sz="1100" b="1" dirty="0">
                <a:solidFill>
                  <a:srgbClr val="3D3935"/>
                </a:solidFill>
                <a:latin typeface="Calibri" pitchFamily="34" charset="0"/>
                <a:ea typeface="Calibri" pitchFamily="34" charset="-122"/>
                <a:cs typeface="Calibri" pitchFamily="34" charset="-120"/>
              </a:rPr>
              <a:t>Bracing for shoring</a:t>
            </a:r>
            <a:endParaRPr lang="en-US" sz="1100" dirty="0"/>
          </a:p>
        </p:txBody>
      </p:sp>
      <p:sp>
        <p:nvSpPr>
          <p:cNvPr id="23" name="Shape 21"/>
          <p:cNvSpPr/>
          <p:nvPr/>
        </p:nvSpPr>
        <p:spPr>
          <a:xfrm>
            <a:off x="9533900" y="1783080"/>
            <a:ext cx="2365187" cy="1051560"/>
          </a:xfrm>
          <a:prstGeom prst="chevron">
            <a:avLst/>
          </a:prstGeom>
          <a:solidFill>
            <a:srgbClr val="F4DAD6"/>
          </a:solidFill>
          <a:ln w="12700">
            <a:solidFill>
              <a:srgbClr val="F4DAD6"/>
            </a:solidFill>
            <a:prstDash val="solid"/>
          </a:ln>
        </p:spPr>
      </p:sp>
      <p:sp>
        <p:nvSpPr>
          <p:cNvPr id="24" name="Shape 22"/>
          <p:cNvSpPr/>
          <p:nvPr/>
        </p:nvSpPr>
        <p:spPr>
          <a:xfrm>
            <a:off x="9899660" y="1874520"/>
            <a:ext cx="274320" cy="274320"/>
          </a:xfrm>
          <a:prstGeom prst="ellipse">
            <a:avLst/>
          </a:prstGeom>
          <a:solidFill>
            <a:srgbClr val="C8503F"/>
          </a:solidFill>
          <a:ln w="12700">
            <a:solidFill>
              <a:srgbClr val="C8503F"/>
            </a:solidFill>
            <a:prstDash val="solid"/>
          </a:ln>
        </p:spPr>
      </p:sp>
      <p:sp>
        <p:nvSpPr>
          <p:cNvPr id="25" name="Text 23"/>
          <p:cNvSpPr/>
          <p:nvPr/>
        </p:nvSpPr>
        <p:spPr>
          <a:xfrm>
            <a:off x="9899660" y="1874520"/>
            <a:ext cx="274320" cy="274320"/>
          </a:xfrm>
          <a:prstGeom prst="rect">
            <a:avLst/>
          </a:prstGeom>
          <a:noFill/>
          <a:ln/>
        </p:spPr>
        <p:txBody>
          <a:bodyPr wrap="square" lIns="0" tIns="0" rIns="0" bIns="0" rtlCol="0" anchor="ctr">
            <a:normAutofit/>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9917948" y="2176272"/>
            <a:ext cx="1606235" cy="621792"/>
          </a:xfrm>
          <a:prstGeom prst="rect">
            <a:avLst/>
          </a:prstGeom>
          <a:noFill/>
          <a:ln/>
        </p:spPr>
        <p:txBody>
          <a:bodyPr wrap="square" lIns="0" tIns="0" rIns="0" bIns="0" rtlCol="0" anchor="t">
            <a:normAutofit/>
          </a:bodyPr>
          <a:lstStyle/>
          <a:p>
            <a:pPr algn="l" indent="0" marL="0">
              <a:buNone/>
            </a:pPr>
            <a:r>
              <a:rPr lang="en-US" altLang="en-US" sz="1100" b="1" dirty="0">
                <a:solidFill>
                  <a:srgbClr val="3D3935"/>
                </a:solidFill>
                <a:latin typeface="Calibri" pitchFamily="34" charset="0"/>
                <a:ea typeface="Calibri" pitchFamily="34" charset="-122"/>
                <a:cs typeface="Calibri" pitchFamily="34" charset="-120"/>
              </a:rPr>
              <a:t>Corrugated sheets installation / insertion</a:t>
            </a:r>
            <a:endParaRPr lang="en-US" sz="1100" dirty="0"/>
          </a:p>
        </p:txBody>
      </p:sp>
      <p:sp>
        <p:nvSpPr>
          <p:cNvPr id="27" name="Shape 25"/>
          <p:cNvSpPr/>
          <p:nvPr/>
        </p:nvSpPr>
        <p:spPr>
          <a:xfrm>
            <a:off x="365760" y="3099816"/>
            <a:ext cx="54864" cy="256032"/>
          </a:xfrm>
          <a:prstGeom prst="rect">
            <a:avLst/>
          </a:prstGeom>
          <a:solidFill>
            <a:srgbClr val="00778B"/>
          </a:solidFill>
          <a:ln w="12700">
            <a:solidFill>
              <a:srgbClr val="00778B"/>
            </a:solidFill>
            <a:prstDash val="solid"/>
          </a:ln>
        </p:spPr>
      </p:sp>
      <p:sp>
        <p:nvSpPr>
          <p:cNvPr id="28" name="Text 26"/>
          <p:cNvSpPr/>
          <p:nvPr/>
        </p:nvSpPr>
        <p:spPr>
          <a:xfrm>
            <a:off x="512064" y="3063240"/>
            <a:ext cx="3657600" cy="329184"/>
          </a:xfrm>
          <a:prstGeom prst="rect">
            <a:avLst/>
          </a:prstGeom>
          <a:noFill/>
          <a:ln/>
        </p:spPr>
        <p:txBody>
          <a:bodyPr wrap="square" lIns="0" tIns="0" rIns="0" bIns="0" rtlCol="0" anchor="ctr">
            <a:normAutofit/>
          </a:bodyPr>
          <a:lstStyle/>
          <a:p>
            <a:pPr algn="l" indent="0" marL="0">
              <a:buNone/>
            </a:pPr>
            <a:r>
              <a:rPr lang="en-US" altLang="en-US" sz="1500" b="1" dirty="0">
                <a:solidFill>
                  <a:srgbClr val="3D3935"/>
                </a:solidFill>
                <a:latin typeface="Calibri" pitchFamily="34" charset="0"/>
                <a:ea typeface="Calibri" pitchFamily="34" charset="-122"/>
                <a:cs typeface="Calibri" pitchFamily="34" charset="-120"/>
              </a:rPr>
              <a:t>Key dates (automatic)</a:t>
            </a:r>
            <a:endParaRPr lang="en-US" sz="1500" dirty="0"/>
          </a:p>
        </p:txBody>
      </p:sp>
      <p:sp>
        <p:nvSpPr>
          <p:cNvPr id="29" name="Shape 27"/>
          <p:cNvSpPr/>
          <p:nvPr/>
        </p:nvSpPr>
        <p:spPr>
          <a:xfrm>
            <a:off x="365760" y="3493008"/>
            <a:ext cx="4206240" cy="310896"/>
          </a:xfrm>
          <a:prstGeom prst="rect">
            <a:avLst/>
          </a:prstGeom>
          <a:solidFill>
            <a:srgbClr val="FFFFFF"/>
          </a:solidFill>
          <a:ln w="6350">
            <a:solidFill>
              <a:srgbClr val="DFE6EA"/>
            </a:solidFill>
            <a:prstDash val="solid"/>
          </a:ln>
        </p:spPr>
      </p:sp>
      <p:sp>
        <p:nvSpPr>
          <p:cNvPr id="30" name="Text 28"/>
          <p:cNvSpPr/>
          <p:nvPr/>
        </p:nvSpPr>
        <p:spPr>
          <a:xfrm>
            <a:off x="457200" y="3493008"/>
            <a:ext cx="2286000" cy="310896"/>
          </a:xfrm>
          <a:prstGeom prst="rect">
            <a:avLst/>
          </a:prstGeom>
          <a:noFill/>
          <a:ln/>
        </p:spPr>
        <p:txBody>
          <a:bodyPr wrap="square" lIns="0" tIns="0" rIns="0" bIns="0" rtlCol="0" anchor="ctr">
            <a:normAutofit/>
          </a:bodyPr>
          <a:lstStyle/>
          <a:p>
            <a:pPr algn="l" indent="0" marL="0">
              <a:buNone/>
            </a:pPr>
            <a:r>
              <a:rPr lang="en-US" altLang="en-US" sz="950" dirty="0">
                <a:solidFill>
                  <a:srgbClr val="4A555D"/>
                </a:solidFill>
                <a:latin typeface="Calibri" pitchFamily="34" charset="0"/>
                <a:ea typeface="Calibri" pitchFamily="34" charset="-122"/>
                <a:cs typeface="Calibri" pitchFamily="34" charset="-120"/>
              </a:rPr>
              <a:t>Commencement</a:t>
            </a:r>
            <a:endParaRPr lang="en-US" sz="950" dirty="0"/>
          </a:p>
        </p:txBody>
      </p:sp>
      <p:sp>
        <p:nvSpPr>
          <p:cNvPr id="31" name="Text 29"/>
          <p:cNvSpPr/>
          <p:nvPr/>
        </p:nvSpPr>
        <p:spPr>
          <a:xfrm>
            <a:off x="2651760" y="3493008"/>
            <a:ext cx="1828800" cy="310896"/>
          </a:xfrm>
          <a:prstGeom prst="rect">
            <a:avLst/>
          </a:prstGeom>
          <a:noFill/>
          <a:ln/>
        </p:spPr>
        <p:txBody>
          <a:bodyPr wrap="square" lIns="0" tIns="0" rIns="0" bIns="0" rtlCol="0" anchor="ctr">
            <a:normAutofit/>
          </a:bodyPr>
          <a:lstStyle/>
          <a:p>
            <a:pPr algn="r" indent="0" marL="0">
              <a:buNone/>
            </a:pPr>
            <a:r>
              <a:rPr lang="en-US" altLang="en-US" sz="950" b="1" dirty="0">
                <a:solidFill>
                  <a:srgbClr val="3D3935"/>
                </a:solidFill>
                <a:latin typeface="Calibri" pitchFamily="34" charset="0"/>
                <a:ea typeface="Calibri" pitchFamily="34" charset="-122"/>
                <a:cs typeface="Calibri" pitchFamily="34" charset="-120"/>
              </a:rPr>
              <a:t>Tue 13 Oct 2026</a:t>
            </a:r>
            <a:endParaRPr lang="en-US" sz="950" dirty="0"/>
          </a:p>
        </p:txBody>
      </p:sp>
      <p:sp>
        <p:nvSpPr>
          <p:cNvPr id="32" name="Shape 30"/>
          <p:cNvSpPr/>
          <p:nvPr/>
        </p:nvSpPr>
        <p:spPr>
          <a:xfrm>
            <a:off x="365760" y="3803904"/>
            <a:ext cx="4206240" cy="310896"/>
          </a:xfrm>
          <a:prstGeom prst="rect">
            <a:avLst/>
          </a:prstGeom>
          <a:solidFill>
            <a:srgbClr val="F6F9FA"/>
          </a:solidFill>
          <a:ln w="6350">
            <a:solidFill>
              <a:srgbClr val="DFE6EA"/>
            </a:solidFill>
            <a:prstDash val="solid"/>
          </a:ln>
        </p:spPr>
      </p:sp>
      <p:sp>
        <p:nvSpPr>
          <p:cNvPr id="33" name="Text 31"/>
          <p:cNvSpPr/>
          <p:nvPr/>
        </p:nvSpPr>
        <p:spPr>
          <a:xfrm>
            <a:off x="457200" y="3803904"/>
            <a:ext cx="2286000" cy="310896"/>
          </a:xfrm>
          <a:prstGeom prst="rect">
            <a:avLst/>
          </a:prstGeom>
          <a:noFill/>
          <a:ln/>
        </p:spPr>
        <p:txBody>
          <a:bodyPr wrap="square" lIns="0" tIns="0" rIns="0" bIns="0" rtlCol="0" anchor="ctr">
            <a:normAutofit/>
          </a:bodyPr>
          <a:lstStyle/>
          <a:p>
            <a:pPr algn="l" indent="0" marL="0">
              <a:buNone/>
            </a:pPr>
            <a:r>
              <a:rPr lang="en-US" altLang="en-US" sz="950" dirty="0">
                <a:solidFill>
                  <a:srgbClr val="4A555D"/>
                </a:solidFill>
                <a:latin typeface="Calibri" pitchFamily="34" charset="0"/>
                <a:ea typeface="Calibri" pitchFamily="34" charset="-122"/>
                <a:cs typeface="Calibri" pitchFamily="34" charset="-120"/>
              </a:rPr>
              <a:t>Shoring installation complete</a:t>
            </a:r>
            <a:endParaRPr lang="en-US" sz="950" dirty="0"/>
          </a:p>
        </p:txBody>
      </p:sp>
      <p:sp>
        <p:nvSpPr>
          <p:cNvPr id="34" name="Text 32"/>
          <p:cNvSpPr/>
          <p:nvPr/>
        </p:nvSpPr>
        <p:spPr>
          <a:xfrm>
            <a:off x="2651760" y="3803904"/>
            <a:ext cx="1828800" cy="310896"/>
          </a:xfrm>
          <a:prstGeom prst="rect">
            <a:avLst/>
          </a:prstGeom>
          <a:noFill/>
          <a:ln/>
        </p:spPr>
        <p:txBody>
          <a:bodyPr wrap="square" lIns="0" tIns="0" rIns="0" bIns="0" rtlCol="0" anchor="ctr">
            <a:normAutofit/>
          </a:bodyPr>
          <a:lstStyle/>
          <a:p>
            <a:pPr algn="r" indent="0" marL="0">
              <a:buNone/>
            </a:pPr>
            <a:r>
              <a:rPr lang="en-US" altLang="en-US" sz="950" b="1" dirty="0">
                <a:solidFill>
                  <a:srgbClr val="3D3935"/>
                </a:solidFill>
                <a:latin typeface="Calibri" pitchFamily="34" charset="0"/>
                <a:ea typeface="Calibri" pitchFamily="34" charset="-122"/>
                <a:cs typeface="Calibri" pitchFamily="34" charset="-120"/>
              </a:rPr>
              <a:t>Mon 19 Oct 2026</a:t>
            </a:r>
            <a:endParaRPr lang="en-US" sz="950" dirty="0"/>
          </a:p>
        </p:txBody>
      </p:sp>
      <p:sp>
        <p:nvSpPr>
          <p:cNvPr id="35" name="Shape 33"/>
          <p:cNvSpPr/>
          <p:nvPr/>
        </p:nvSpPr>
        <p:spPr>
          <a:xfrm>
            <a:off x="365760" y="4114800"/>
            <a:ext cx="4206240" cy="310896"/>
          </a:xfrm>
          <a:prstGeom prst="rect">
            <a:avLst/>
          </a:prstGeom>
          <a:solidFill>
            <a:srgbClr val="FFFFFF"/>
          </a:solidFill>
          <a:ln w="6350">
            <a:solidFill>
              <a:srgbClr val="DFE6EA"/>
            </a:solidFill>
            <a:prstDash val="solid"/>
          </a:ln>
        </p:spPr>
      </p:sp>
      <p:sp>
        <p:nvSpPr>
          <p:cNvPr id="36" name="Text 34"/>
          <p:cNvSpPr/>
          <p:nvPr/>
        </p:nvSpPr>
        <p:spPr>
          <a:xfrm>
            <a:off x="457200" y="4114800"/>
            <a:ext cx="2286000" cy="310896"/>
          </a:xfrm>
          <a:prstGeom prst="rect">
            <a:avLst/>
          </a:prstGeom>
          <a:noFill/>
          <a:ln/>
        </p:spPr>
        <p:txBody>
          <a:bodyPr wrap="square" lIns="0" tIns="0" rIns="0" bIns="0" rtlCol="0" anchor="ctr">
            <a:normAutofit/>
          </a:bodyPr>
          <a:lstStyle/>
          <a:p>
            <a:pPr algn="l" indent="0" marL="0">
              <a:buNone/>
            </a:pPr>
            <a:r>
              <a:rPr lang="en-US" altLang="en-US" sz="950" dirty="0">
                <a:solidFill>
                  <a:srgbClr val="4A555D"/>
                </a:solidFill>
                <a:latin typeface="Calibri" pitchFamily="34" charset="0"/>
                <a:ea typeface="Calibri" pitchFamily="34" charset="-122"/>
                <a:cs typeface="Calibri" pitchFamily="34" charset="-120"/>
              </a:rPr>
              <a:t>Pit works complete (pit wall)</a:t>
            </a:r>
            <a:endParaRPr lang="en-US" sz="950" dirty="0"/>
          </a:p>
        </p:txBody>
      </p:sp>
      <p:sp>
        <p:nvSpPr>
          <p:cNvPr id="37" name="Text 35"/>
          <p:cNvSpPr/>
          <p:nvPr/>
        </p:nvSpPr>
        <p:spPr>
          <a:xfrm>
            <a:off x="2651760" y="4114800"/>
            <a:ext cx="1828800" cy="310896"/>
          </a:xfrm>
          <a:prstGeom prst="rect">
            <a:avLst/>
          </a:prstGeom>
          <a:noFill/>
          <a:ln/>
        </p:spPr>
        <p:txBody>
          <a:bodyPr wrap="square" lIns="0" tIns="0" rIns="0" bIns="0" rtlCol="0" anchor="ctr">
            <a:normAutofit/>
          </a:bodyPr>
          <a:lstStyle/>
          <a:p>
            <a:pPr algn="r" indent="0" marL="0">
              <a:buNone/>
            </a:pPr>
            <a:r>
              <a:rPr lang="en-US" altLang="en-US" sz="950" b="1" dirty="0">
                <a:solidFill>
                  <a:srgbClr val="3D3935"/>
                </a:solidFill>
                <a:latin typeface="Calibri" pitchFamily="34" charset="0"/>
                <a:ea typeface="Calibri" pitchFamily="34" charset="-122"/>
                <a:cs typeface="Calibri" pitchFamily="34" charset="-120"/>
              </a:rPr>
              <a:t>Wed 11 Nov 2026</a:t>
            </a:r>
            <a:endParaRPr lang="en-US" sz="950" dirty="0"/>
          </a:p>
        </p:txBody>
      </p:sp>
      <p:sp>
        <p:nvSpPr>
          <p:cNvPr id="38" name="Shape 36"/>
          <p:cNvSpPr/>
          <p:nvPr/>
        </p:nvSpPr>
        <p:spPr>
          <a:xfrm>
            <a:off x="365760" y="4425696"/>
            <a:ext cx="4206240" cy="310896"/>
          </a:xfrm>
          <a:prstGeom prst="rect">
            <a:avLst/>
          </a:prstGeom>
          <a:solidFill>
            <a:srgbClr val="F6F9FA"/>
          </a:solidFill>
          <a:ln w="6350">
            <a:solidFill>
              <a:srgbClr val="DFE6EA"/>
            </a:solidFill>
            <a:prstDash val="solid"/>
          </a:ln>
        </p:spPr>
      </p:sp>
      <p:sp>
        <p:nvSpPr>
          <p:cNvPr id="39" name="Text 37"/>
          <p:cNvSpPr/>
          <p:nvPr/>
        </p:nvSpPr>
        <p:spPr>
          <a:xfrm>
            <a:off x="457200" y="4425696"/>
            <a:ext cx="2286000" cy="310896"/>
          </a:xfrm>
          <a:prstGeom prst="rect">
            <a:avLst/>
          </a:prstGeom>
          <a:noFill/>
          <a:ln/>
        </p:spPr>
        <p:txBody>
          <a:bodyPr wrap="square" lIns="0" tIns="0" rIns="0" bIns="0" rtlCol="0" anchor="ctr">
            <a:normAutofit/>
          </a:bodyPr>
          <a:lstStyle/>
          <a:p>
            <a:pPr algn="l" indent="0" marL="0">
              <a:buNone/>
            </a:pPr>
            <a:r>
              <a:rPr lang="en-US" altLang="en-US" sz="950" dirty="0">
                <a:solidFill>
                  <a:srgbClr val="4A555D"/>
                </a:solidFill>
                <a:latin typeface="Calibri" pitchFamily="34" charset="0"/>
                <a:ea typeface="Calibri" pitchFamily="34" charset="-122"/>
                <a:cs typeface="Calibri" pitchFamily="34" charset="-120"/>
              </a:rPr>
              <a:t>Building foundation complete</a:t>
            </a:r>
            <a:endParaRPr lang="en-US" sz="950" dirty="0"/>
          </a:p>
        </p:txBody>
      </p:sp>
      <p:sp>
        <p:nvSpPr>
          <p:cNvPr id="40" name="Text 38"/>
          <p:cNvSpPr/>
          <p:nvPr/>
        </p:nvSpPr>
        <p:spPr>
          <a:xfrm>
            <a:off x="2651760" y="4425696"/>
            <a:ext cx="1828800" cy="310896"/>
          </a:xfrm>
          <a:prstGeom prst="rect">
            <a:avLst/>
          </a:prstGeom>
          <a:noFill/>
          <a:ln/>
        </p:spPr>
        <p:txBody>
          <a:bodyPr wrap="square" lIns="0" tIns="0" rIns="0" bIns="0" rtlCol="0" anchor="ctr">
            <a:normAutofit/>
          </a:bodyPr>
          <a:lstStyle/>
          <a:p>
            <a:pPr algn="r" indent="0" marL="0">
              <a:buNone/>
            </a:pPr>
            <a:r>
              <a:rPr lang="en-US" altLang="en-US" sz="950" b="1" dirty="0">
                <a:solidFill>
                  <a:srgbClr val="3D3935"/>
                </a:solidFill>
                <a:latin typeface="Calibri" pitchFamily="34" charset="0"/>
                <a:ea typeface="Calibri" pitchFamily="34" charset="-122"/>
                <a:cs typeface="Calibri" pitchFamily="34" charset="-120"/>
              </a:rPr>
              <a:t>Wed 18 Nov 2026</a:t>
            </a:r>
            <a:endParaRPr lang="en-US" sz="950" dirty="0"/>
          </a:p>
        </p:txBody>
      </p:sp>
      <p:sp>
        <p:nvSpPr>
          <p:cNvPr id="41" name="Shape 39"/>
          <p:cNvSpPr/>
          <p:nvPr/>
        </p:nvSpPr>
        <p:spPr>
          <a:xfrm>
            <a:off x="365760" y="4736592"/>
            <a:ext cx="4206240" cy="310896"/>
          </a:xfrm>
          <a:prstGeom prst="rect">
            <a:avLst/>
          </a:prstGeom>
          <a:solidFill>
            <a:srgbClr val="FFFFFF"/>
          </a:solidFill>
          <a:ln w="6350">
            <a:solidFill>
              <a:srgbClr val="DFE6EA"/>
            </a:solidFill>
            <a:prstDash val="solid"/>
          </a:ln>
        </p:spPr>
      </p:sp>
      <p:sp>
        <p:nvSpPr>
          <p:cNvPr id="42" name="Text 40"/>
          <p:cNvSpPr/>
          <p:nvPr/>
        </p:nvSpPr>
        <p:spPr>
          <a:xfrm>
            <a:off x="457200" y="4736592"/>
            <a:ext cx="2286000" cy="310896"/>
          </a:xfrm>
          <a:prstGeom prst="rect">
            <a:avLst/>
          </a:prstGeom>
          <a:noFill/>
          <a:ln/>
        </p:spPr>
        <p:txBody>
          <a:bodyPr wrap="square" lIns="0" tIns="0" rIns="0" bIns="0" rtlCol="0" anchor="ctr">
            <a:normAutofit/>
          </a:bodyPr>
          <a:lstStyle/>
          <a:p>
            <a:pPr algn="l" indent="0" marL="0">
              <a:buNone/>
            </a:pPr>
            <a:r>
              <a:rPr lang="en-US" altLang="en-US" sz="950" dirty="0">
                <a:solidFill>
                  <a:srgbClr val="4A555D"/>
                </a:solidFill>
                <a:latin typeface="Calibri" pitchFamily="34" charset="0"/>
                <a:ea typeface="Calibri" pitchFamily="34" charset="-122"/>
                <a:cs typeface="Calibri" pitchFamily="34" charset="-120"/>
              </a:rPr>
              <a:t>Overall completion</a:t>
            </a:r>
            <a:endParaRPr lang="en-US" sz="950" dirty="0"/>
          </a:p>
        </p:txBody>
      </p:sp>
      <p:sp>
        <p:nvSpPr>
          <p:cNvPr id="43" name="Text 41"/>
          <p:cNvSpPr/>
          <p:nvPr/>
        </p:nvSpPr>
        <p:spPr>
          <a:xfrm>
            <a:off x="2651760" y="4736592"/>
            <a:ext cx="1828800" cy="310896"/>
          </a:xfrm>
          <a:prstGeom prst="rect">
            <a:avLst/>
          </a:prstGeom>
          <a:noFill/>
          <a:ln/>
        </p:spPr>
        <p:txBody>
          <a:bodyPr wrap="square" lIns="0" tIns="0" rIns="0" bIns="0" rtlCol="0" anchor="ctr">
            <a:normAutofit/>
          </a:bodyPr>
          <a:lstStyle/>
          <a:p>
            <a:pPr algn="r" indent="0" marL="0">
              <a:buNone/>
            </a:pPr>
            <a:r>
              <a:rPr lang="en-US" altLang="en-US" sz="950" b="1" dirty="0">
                <a:solidFill>
                  <a:srgbClr val="3D3935"/>
                </a:solidFill>
                <a:latin typeface="Calibri" pitchFamily="34" charset="0"/>
                <a:ea typeface="Calibri" pitchFamily="34" charset="-122"/>
                <a:cs typeface="Calibri" pitchFamily="34" charset="-120"/>
              </a:rPr>
              <a:t>Tue 24 Nov 2026</a:t>
            </a:r>
            <a:endParaRPr lang="en-US" sz="950" dirty="0"/>
          </a:p>
        </p:txBody>
      </p:sp>
      <p:sp>
        <p:nvSpPr>
          <p:cNvPr id="44" name="Shape 42"/>
          <p:cNvSpPr/>
          <p:nvPr/>
        </p:nvSpPr>
        <p:spPr>
          <a:xfrm>
            <a:off x="365760" y="5166360"/>
            <a:ext cx="4206240" cy="960120"/>
          </a:xfrm>
          <a:prstGeom prst="roundRect">
            <a:avLst>
              <a:gd name="adj" fmla="val 7619"/>
            </a:avLst>
          </a:prstGeom>
          <a:solidFill>
            <a:srgbClr val="FFF6E5"/>
          </a:solidFill>
          <a:ln w="12700">
            <a:solidFill>
              <a:srgbClr val="F0C36D"/>
            </a:solidFill>
            <a:prstDash val="solid"/>
          </a:ln>
        </p:spPr>
      </p:sp>
      <p:sp>
        <p:nvSpPr>
          <p:cNvPr id="45" name="Text 43"/>
          <p:cNvSpPr/>
          <p:nvPr/>
        </p:nvSpPr>
        <p:spPr>
          <a:xfrm>
            <a:off x="502920" y="5212080"/>
            <a:ext cx="3931920" cy="228600"/>
          </a:xfrm>
          <a:prstGeom prst="rect">
            <a:avLst/>
          </a:prstGeom>
          <a:noFill/>
          <a:ln/>
        </p:spPr>
        <p:txBody>
          <a:bodyPr wrap="square" lIns="0" tIns="0" rIns="0" bIns="0" rtlCol="0" anchor="ctr">
            <a:normAutofit/>
          </a:bodyPr>
          <a:lstStyle/>
          <a:p>
            <a:pPr algn="l" indent="0" marL="0">
              <a:buNone/>
            </a:pPr>
            <a:r>
              <a:rPr lang="en-US" altLang="en-US" sz="950" b="1" dirty="0">
                <a:solidFill>
                  <a:srgbClr val="9A6A00"/>
                </a:solidFill>
                <a:latin typeface="Calibri" pitchFamily="34" charset="0"/>
                <a:ea typeface="Calibri" pitchFamily="34" charset="-122"/>
                <a:cs typeface="Calibri" pitchFamily="34" charset="-120"/>
              </a:rPr>
              <a:t>What-if scenario</a:t>
            </a:r>
            <a:endParaRPr lang="en-US" sz="950" dirty="0"/>
          </a:p>
        </p:txBody>
      </p:sp>
      <p:sp>
        <p:nvSpPr>
          <p:cNvPr id="46" name="Text 44"/>
          <p:cNvSpPr/>
          <p:nvPr/>
        </p:nvSpPr>
        <p:spPr>
          <a:xfrm>
            <a:off x="502920" y="5440680"/>
            <a:ext cx="3931920" cy="658368"/>
          </a:xfrm>
          <a:prstGeom prst="rect">
            <a:avLst/>
          </a:prstGeom>
          <a:noFill/>
          <a:ln/>
        </p:spPr>
        <p:txBody>
          <a:bodyPr wrap="square" lIns="0" tIns="0" rIns="0" bIns="0" rtlCol="0" anchor="t">
            <a:normAutofit/>
          </a:bodyPr>
          <a:lstStyle/>
          <a:p>
            <a:pPr algn="l" indent="0" marL="0">
              <a:buNone/>
            </a:pPr>
            <a:r>
              <a:rPr lang="en-US" altLang="en-US" sz="950" dirty="0">
                <a:solidFill>
                  <a:srgbClr val="3D3935"/>
                </a:solidFill>
                <a:latin typeface="Calibri" pitchFamily="34" charset="0"/>
                <a:ea typeface="Calibri" pitchFamily="34" charset="-122"/>
                <a:cs typeface="Calibri" pitchFamily="34" charset="-120"/>
              </a:rPr>
              <a:t>If works start on 21 October 2026 (permit-ready date) → overall completion would be 2 December 2026 (+8 calendar days later than proposed).</a:t>
            </a:r>
            <a:endParaRPr lang="en-US" sz="950" dirty="0"/>
          </a:p>
        </p:txBody>
      </p:sp>
      <p:sp>
        <p:nvSpPr>
          <p:cNvPr id="47" name="Shape 45"/>
          <p:cNvSpPr/>
          <p:nvPr/>
        </p:nvSpPr>
        <p:spPr>
          <a:xfrm>
            <a:off x="4937760" y="3099816"/>
            <a:ext cx="54864" cy="256032"/>
          </a:xfrm>
          <a:prstGeom prst="rect">
            <a:avLst/>
          </a:prstGeom>
          <a:solidFill>
            <a:srgbClr val="00778B"/>
          </a:solidFill>
          <a:ln w="12700">
            <a:solidFill>
              <a:srgbClr val="00778B"/>
            </a:solidFill>
            <a:prstDash val="solid"/>
          </a:ln>
        </p:spPr>
      </p:sp>
      <p:sp>
        <p:nvSpPr>
          <p:cNvPr id="48" name="Text 46"/>
          <p:cNvSpPr/>
          <p:nvPr/>
        </p:nvSpPr>
        <p:spPr>
          <a:xfrm>
            <a:off x="5084064" y="3063240"/>
            <a:ext cx="5486400" cy="329184"/>
          </a:xfrm>
          <a:prstGeom prst="rect">
            <a:avLst/>
          </a:prstGeom>
          <a:noFill/>
          <a:ln/>
        </p:spPr>
        <p:txBody>
          <a:bodyPr wrap="square" lIns="0" tIns="0" rIns="0" bIns="0" rtlCol="0" anchor="ctr">
            <a:normAutofit/>
          </a:bodyPr>
          <a:lstStyle/>
          <a:p>
            <a:pPr algn="l" indent="0" marL="0">
              <a:buNone/>
            </a:pPr>
            <a:r>
              <a:rPr lang="en-US" altLang="en-US" sz="1500" b="1" dirty="0">
                <a:solidFill>
                  <a:srgbClr val="3D3935"/>
                </a:solidFill>
                <a:latin typeface="Calibri" pitchFamily="34" charset="0"/>
                <a:ea typeface="Calibri" pitchFamily="34" charset="-122"/>
                <a:cs typeface="Calibri" pitchFamily="34" charset="-120"/>
              </a:rPr>
              <a:t>Notes &amp; conditions</a:t>
            </a:r>
            <a:endParaRPr lang="en-US" sz="1500" dirty="0"/>
          </a:p>
        </p:txBody>
      </p:sp>
      <p:sp>
        <p:nvSpPr>
          <p:cNvPr id="49" name="Text 47"/>
          <p:cNvSpPr/>
          <p:nvPr/>
        </p:nvSpPr>
        <p:spPr>
          <a:xfrm>
            <a:off x="5029200" y="3474720"/>
            <a:ext cx="6766560" cy="2697480"/>
          </a:xfrm>
          <a:prstGeom prst="rect">
            <a:avLst/>
          </a:prstGeom>
          <a:noFill/>
          <a:ln/>
        </p:spPr>
        <p:txBody>
          <a:bodyPr wrap="square" lIns="0" tIns="0" rIns="0" bIns="0" rtlCol="0" anchor="t">
            <a:normAutofit/>
          </a:bodyPr>
          <a:lstStyle/>
          <a:p>
            <a:pPr algn="l" marL="342900" indent="-342900">
              <a:spcAft>
                <a:spcPts val="600"/>
              </a:spcAft>
              <a:buSzPct val="100000"/>
              <a:buFont typeface="+mj-lt"/>
              <a:buAutoNum type="arabicPeriod" startAt="1"/>
            </a:pPr>
            <a:r>
              <a:rPr lang="en-US" altLang="en-US" sz="1050" dirty="0">
                <a:solidFill>
                  <a:srgbClr val="333333"/>
                </a:solidFill>
                <a:latin typeface="Calibri" pitchFamily="34" charset="0"/>
                <a:ea typeface="Calibri" pitchFamily="34" charset="-122"/>
                <a:cs typeface="Calibri" pitchFamily="34" charset="-120"/>
              </a:rPr>
              <a:t>Commencement of each activity is subject to issuance of the work permit and timely approval of Work Inspection Requests (WIRs) and Material Inspection Requests (MIRs). Any delay in permit issuance or WIR / MIR approval will shift the affected activity and all succeeding activities accordingly.</a:t>
            </a:r>
            <a:endParaRPr lang="en-US" sz="1050" dirty="0"/>
          </a:p>
          <a:p>
            <a:pPr algn="l" marL="342900" indent="-342900">
              <a:spcAft>
                <a:spcPts val="600"/>
              </a:spcAft>
              <a:buSzPct val="100000"/>
              <a:buFont typeface="+mj-lt"/>
              <a:buAutoNum type="arabicPeriod" startAt="1"/>
            </a:pPr>
            <a:r>
              <a:rPr lang="en-US" altLang="en-US" sz="1050" dirty="0">
                <a:solidFill>
                  <a:srgbClr val="333333"/>
                </a:solidFill>
                <a:latin typeface="Calibri" pitchFamily="34" charset="0"/>
                <a:ea typeface="Calibri" pitchFamily="34" charset="-122"/>
                <a:cs typeface="Calibri" pitchFamily="34" charset="-120"/>
              </a:rPr>
              <a:t>Working week is Saturday to Thursday. Fridays are non-working.</a:t>
            </a:r>
            <a:endParaRPr lang="en-US" sz="1050" dirty="0"/>
          </a:p>
          <a:p>
            <a:pPr algn="l" marL="342900" indent="-342900">
              <a:spcAft>
                <a:spcPts val="600"/>
              </a:spcAft>
              <a:buSzPct val="100000"/>
              <a:buFont typeface="+mj-lt"/>
              <a:buAutoNum type="arabicPeriod" startAt="1"/>
            </a:pPr>
            <a:r>
              <a:rPr lang="en-US" altLang="en-US" sz="1050" dirty="0">
                <a:solidFill>
                  <a:srgbClr val="333333"/>
                </a:solidFill>
                <a:latin typeface="Calibri" pitchFamily="34" charset="0"/>
                <a:ea typeface="Calibri" pitchFamily="34" charset="-122"/>
                <a:cs typeface="Calibri" pitchFamily="34" charset="-120"/>
              </a:rPr>
              <a:t>Lean concrete runs parallel to shoring (SS link) and is placed only in bays where shoring is installed.</a:t>
            </a:r>
            <a:endParaRPr lang="en-US" sz="1050" dirty="0"/>
          </a:p>
          <a:p>
            <a:pPr algn="l" marL="342900" indent="-342900">
              <a:spcAft>
                <a:spcPts val="600"/>
              </a:spcAft>
              <a:buSzPct val="100000"/>
              <a:buFont typeface="+mj-lt"/>
              <a:buAutoNum type="arabicPeriod" startAt="1"/>
            </a:pPr>
            <a:r>
              <a:rPr lang="en-US" altLang="en-US" sz="1050" dirty="0">
                <a:solidFill>
                  <a:srgbClr val="333333"/>
                </a:solidFill>
                <a:latin typeface="Calibri" pitchFamily="34" charset="0"/>
                <a:ea typeface="Calibri" pitchFamily="34" charset="-122"/>
                <a:cs typeface="Calibri" pitchFamily="34" charset="-120"/>
              </a:rPr>
              <a:t>Building foundation is linked to completion of the pit slab / raft (FS link) and runs parallel to the pit wall. Change its predecessor to E if it must follow the pit wall.</a:t>
            </a:r>
            <a:endParaRPr lang="en-US" sz="1050" dirty="0"/>
          </a:p>
        </p:txBody>
      </p:sp>
      <p:sp>
        <p:nvSpPr>
          <p:cNvPr id="50" name="Text 48"/>
          <p:cNvSpPr/>
          <p:nvPr/>
        </p:nvSpPr>
        <p:spPr>
          <a:xfrm>
            <a:off x="365760" y="6199632"/>
            <a:ext cx="11460175" cy="228600"/>
          </a:xfrm>
          <a:prstGeom prst="rect">
            <a:avLst/>
          </a:prstGeom>
          <a:noFill/>
          <a:ln/>
        </p:spPr>
        <p:txBody>
          <a:bodyPr wrap="square" lIns="0" tIns="0" rIns="0" bIns="0" rtlCol="0" anchor="ctr">
            <a:normAutofit/>
          </a:bodyPr>
          <a:lstStyle/>
          <a:p>
            <a:pPr algn="l" indent="0" marL="0">
              <a:buNone/>
            </a:pPr>
            <a:r>
              <a:rPr lang="en-US" altLang="en-US" sz="750" dirty="0">
                <a:solidFill>
                  <a:srgbClr val="66707A"/>
                </a:solidFill>
                <a:latin typeface="Calibri" pitchFamily="34" charset="0"/>
                <a:ea typeface="Calibri" pitchFamily="34" charset="-122"/>
                <a:cs typeface="Calibri" pitchFamily="34" charset="-120"/>
              </a:rPr>
              <a:t>Source: Gulf Development Company for Contracting – Programme Rev 01 (12 Oct 2026), forwarded by SAR Construction Manager</a:t>
            </a:r>
            <a:endParaRPr lang="en-US" sz="750" dirty="0"/>
          </a:p>
        </p:txBody>
      </p:sp>
      <p:sp>
        <p:nvSpPr>
          <p:cNvPr id="25" name="Slide Number Placeholder 0"/>
          <p:cNvSpPr>
            <a:spLocks noGrp="1"/>
          </p:cNvSpPr>
          <p:nvPr>
            <p:ph type="sldNum" sz="quarter" idx="4294967295"/>
          </p:nvPr>
        </p:nvSpPr>
        <p:spPr>
          <a:xfrm>
            <a:off x="11323015" y="6519672"/>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ct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SAR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UFWL Project – Gantt Chart</dc:title>
  <dc:subject>PptxGenJS Presentation</dc:subject>
  <dc:creator>UFWL Project</dc:creator>
  <cp:lastModifiedBy>UFWL Project</cp:lastModifiedBy>
  <cp:revision>1</cp:revision>
  <dcterms:created xsi:type="dcterms:W3CDTF">2026-10-21T13:03:07Z</dcterms:created>
  <dcterms:modified xsi:type="dcterms:W3CDTF">2026-10-21T13:03:07Z</dcterms:modified>
</cp:coreProperties>
</file>