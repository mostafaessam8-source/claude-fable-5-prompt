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AR">
    <p:bg>
      <p:bgPr>
        <a:solidFill>
          <a:srgbClr val="F6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0778B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868680"/>
            <a:ext cx="2011680" cy="45720"/>
          </a:xfrm>
          <a:prstGeom prst="rect">
            <a:avLst/>
          </a:prstGeom>
          <a:solidFill>
            <a:srgbClr val="3D3935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74375" y="142875"/>
            <a:ext cx="1051560" cy="58293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3D3935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64922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UFWL Project – Site Suspension &amp; Remaining Works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519672"/>
            <a:ext cx="54864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519672"/>
            <a:ext cx="54864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09728"/>
            <a:ext cx="10134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24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UFWL Project – Timeline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365760" y="548640"/>
            <a:ext cx="101342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1200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Activity Timeline · Site Suspension and Shoring Works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65760" y="1069848"/>
            <a:ext cx="256032" cy="109728"/>
          </a:xfrm>
          <a:prstGeom prst="roundRect">
            <a:avLst>
              <a:gd name="adj" fmla="val 25000"/>
            </a:avLst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76656" y="1005840"/>
            <a:ext cx="170627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– Permit Request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437790" y="1069848"/>
            <a:ext cx="256032" cy="109728"/>
          </a:xfrm>
          <a:prstGeom prst="roundRect">
            <a:avLst>
              <a:gd name="adj" fmla="val 25000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8686" y="1005840"/>
            <a:ext cx="228965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– Suspension &amp; Site Assessment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093208" y="1069848"/>
            <a:ext cx="256032" cy="109728"/>
          </a:xfrm>
          <a:prstGeom prst="roundRect">
            <a:avLst>
              <a:gd name="adj" fmla="val 25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04104" y="1005840"/>
            <a:ext cx="276697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– Method Statement Preparation &amp; Review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8225942" y="1069848"/>
            <a:ext cx="256032" cy="109728"/>
          </a:xfrm>
          <a:prstGeom prst="roundRect">
            <a:avLst>
              <a:gd name="adj" fmla="val 25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36838" y="1005840"/>
            <a:ext cx="1865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– Work Permit Issuance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48640" y="3803904"/>
            <a:ext cx="325419" cy="73152"/>
          </a:xfrm>
          <a:prstGeom prst="roundRect">
            <a:avLst>
              <a:gd name="adj" fmla="val 50000"/>
            </a:avLst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74059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24896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175734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826572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477409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128247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9085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29922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80760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31598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382435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033273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684111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334948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985786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0636624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1287461" y="3803904"/>
            <a:ext cx="325419" cy="73152"/>
          </a:xfrm>
          <a:prstGeom prst="roundRect">
            <a:avLst>
              <a:gd name="adj" fmla="val 50000"/>
            </a:avLst>
          </a:prstGeom>
          <a:solidFill>
            <a:srgbClr val="C9D3D8"/>
          </a:solidFill>
          <a:ln w="12700">
            <a:solidFill>
              <a:srgbClr val="C9D3D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74059" y="3447288"/>
            <a:ext cx="0" cy="182880"/>
          </a:xfrm>
          <a:prstGeom prst="line">
            <a:avLst/>
          </a:prstGeom>
          <a:noFill/>
          <a:ln w="19050">
            <a:solidFill>
              <a:srgbClr val="7A8791">
                <a:alpha val="6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63747" y="3630168"/>
            <a:ext cx="420624" cy="420624"/>
          </a:xfrm>
          <a:prstGeom prst="ellipse">
            <a:avLst/>
          </a:prstGeom>
          <a:solidFill>
            <a:srgbClr val="7A8791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63747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274320" y="273405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47472" y="2734056"/>
            <a:ext cx="1871293" cy="54864"/>
          </a:xfrm>
          <a:prstGeom prst="rect">
            <a:avLst/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280720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 31 Aug 2026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365760" y="305409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7A87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– Permit Request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Permit Requested</a:t>
            </a:r>
            <a:endParaRPr lang="en-US" sz="650" dirty="0"/>
          </a:p>
        </p:txBody>
      </p:sp>
      <p:sp>
        <p:nvSpPr>
          <p:cNvPr id="37" name="Shape 35"/>
          <p:cNvSpPr/>
          <p:nvPr/>
        </p:nvSpPr>
        <p:spPr>
          <a:xfrm>
            <a:off x="1524896" y="4050792"/>
            <a:ext cx="0" cy="182880"/>
          </a:xfrm>
          <a:prstGeom prst="line">
            <a:avLst/>
          </a:prstGeom>
          <a:noFill/>
          <a:ln w="19050">
            <a:solidFill>
              <a:srgbClr val="7A8791">
                <a:alpha val="6500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314584" y="3630168"/>
            <a:ext cx="420624" cy="420624"/>
          </a:xfrm>
          <a:prstGeom prst="ellipse">
            <a:avLst/>
          </a:prstGeom>
          <a:solidFill>
            <a:srgbClr val="7A8791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1314584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516098" y="423367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589250" y="4233672"/>
            <a:ext cx="1871293" cy="54864"/>
          </a:xfrm>
          <a:prstGeom prst="rect">
            <a:avLst/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07538" y="430682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 28 Sep 2026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607538" y="455371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7A87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– Permit Request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 Request Rejected</a:t>
            </a:r>
            <a:endParaRPr lang="en-US" sz="650" dirty="0"/>
          </a:p>
        </p:txBody>
      </p:sp>
      <p:sp>
        <p:nvSpPr>
          <p:cNvPr id="44" name="Shape 42"/>
          <p:cNvSpPr/>
          <p:nvPr/>
        </p:nvSpPr>
        <p:spPr>
          <a:xfrm>
            <a:off x="2175734" y="2624328"/>
            <a:ext cx="0" cy="1005840"/>
          </a:xfrm>
          <a:prstGeom prst="line">
            <a:avLst/>
          </a:prstGeom>
          <a:noFill/>
          <a:ln w="19050">
            <a:solidFill>
              <a:srgbClr val="C8503F">
                <a:alpha val="6500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65422" y="3630168"/>
            <a:ext cx="420624" cy="420624"/>
          </a:xfrm>
          <a:prstGeom prst="ellipse">
            <a:avLst/>
          </a:prstGeom>
          <a:solidFill>
            <a:srgbClr val="C8503F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1965422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166936" y="191109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1240088" y="1911096"/>
            <a:ext cx="1871293" cy="54864"/>
          </a:xfrm>
          <a:prstGeom prst="rect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258376" y="198424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 1 Oct 2026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1258376" y="223113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C85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– Suspension &amp; Site Assessment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Activities Suspended</a:t>
            </a:r>
            <a:endParaRPr lang="en-US" sz="650" dirty="0"/>
          </a:p>
        </p:txBody>
      </p:sp>
      <p:sp>
        <p:nvSpPr>
          <p:cNvPr id="51" name="Shape 49"/>
          <p:cNvSpPr/>
          <p:nvPr/>
        </p:nvSpPr>
        <p:spPr>
          <a:xfrm>
            <a:off x="2826572" y="4050792"/>
            <a:ext cx="0" cy="1005840"/>
          </a:xfrm>
          <a:prstGeom prst="line">
            <a:avLst/>
          </a:prstGeom>
          <a:noFill/>
          <a:ln w="19050">
            <a:solidFill>
              <a:srgbClr val="C8503F">
                <a:alpha val="6500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2616260" y="3630168"/>
            <a:ext cx="420624" cy="420624"/>
          </a:xfrm>
          <a:prstGeom prst="ellipse">
            <a:avLst/>
          </a:prstGeom>
          <a:solidFill>
            <a:srgbClr val="C8503F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2616260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1817773" y="505663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55" name="Shape 53"/>
          <p:cNvSpPr/>
          <p:nvPr/>
        </p:nvSpPr>
        <p:spPr>
          <a:xfrm>
            <a:off x="1890925" y="5056632"/>
            <a:ext cx="1871293" cy="54864"/>
          </a:xfrm>
          <a:prstGeom prst="rect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1909213" y="512978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 3 Oct 2026</a:t>
            </a:r>
            <a:endParaRPr lang="en-US" sz="950" dirty="0"/>
          </a:p>
        </p:txBody>
      </p:sp>
      <p:sp>
        <p:nvSpPr>
          <p:cNvPr id="57" name="Text 55"/>
          <p:cNvSpPr/>
          <p:nvPr/>
        </p:nvSpPr>
        <p:spPr>
          <a:xfrm>
            <a:off x="1909213" y="537667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C85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– Suspension &amp; Site Assessment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Joint Site Visit</a:t>
            </a:r>
            <a:endParaRPr lang="en-US" sz="650" dirty="0"/>
          </a:p>
        </p:txBody>
      </p:sp>
      <p:sp>
        <p:nvSpPr>
          <p:cNvPr id="58" name="Shape 56"/>
          <p:cNvSpPr/>
          <p:nvPr/>
        </p:nvSpPr>
        <p:spPr>
          <a:xfrm>
            <a:off x="3477409" y="3447288"/>
            <a:ext cx="0" cy="182880"/>
          </a:xfrm>
          <a:prstGeom prst="line">
            <a:avLst/>
          </a:prstGeom>
          <a:noFill/>
          <a:ln w="19050">
            <a:solidFill>
              <a:srgbClr val="C8503F">
                <a:alpha val="65000"/>
              </a:srgbClr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3267097" y="3630168"/>
            <a:ext cx="420624" cy="420624"/>
          </a:xfrm>
          <a:prstGeom prst="ellipse">
            <a:avLst/>
          </a:prstGeom>
          <a:solidFill>
            <a:srgbClr val="C8503F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60" name="Text 58"/>
          <p:cNvSpPr/>
          <p:nvPr/>
        </p:nvSpPr>
        <p:spPr>
          <a:xfrm>
            <a:off x="3267097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2468611" y="273405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62" name="Shape 60"/>
          <p:cNvSpPr/>
          <p:nvPr/>
        </p:nvSpPr>
        <p:spPr>
          <a:xfrm>
            <a:off x="2541763" y="2734056"/>
            <a:ext cx="1871293" cy="54864"/>
          </a:xfrm>
          <a:prstGeom prst="rect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2560051" y="280720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4 Oct 2026</a:t>
            </a:r>
            <a:endParaRPr lang="en-US" sz="950" dirty="0"/>
          </a:p>
        </p:txBody>
      </p:sp>
      <p:sp>
        <p:nvSpPr>
          <p:cNvPr id="64" name="Text 62"/>
          <p:cNvSpPr/>
          <p:nvPr/>
        </p:nvSpPr>
        <p:spPr>
          <a:xfrm>
            <a:off x="2560051" y="305409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C85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– Suspension &amp; Site Assessment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Assessment &amp; Mitigation Plan Submitted</a:t>
            </a:r>
            <a:endParaRPr lang="en-US" sz="650" dirty="0"/>
          </a:p>
        </p:txBody>
      </p:sp>
      <p:sp>
        <p:nvSpPr>
          <p:cNvPr id="65" name="Shape 63"/>
          <p:cNvSpPr/>
          <p:nvPr/>
        </p:nvSpPr>
        <p:spPr>
          <a:xfrm>
            <a:off x="4128247" y="4050792"/>
            <a:ext cx="0" cy="182880"/>
          </a:xfrm>
          <a:prstGeom prst="line">
            <a:avLst/>
          </a:prstGeom>
          <a:noFill/>
          <a:ln w="19050">
            <a:solidFill>
              <a:srgbClr val="C8503F">
                <a:alpha val="6500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917935" y="3630168"/>
            <a:ext cx="420624" cy="420624"/>
          </a:xfrm>
          <a:prstGeom prst="ellipse">
            <a:avLst/>
          </a:prstGeom>
          <a:solidFill>
            <a:srgbClr val="C8503F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67" name="Text 65"/>
          <p:cNvSpPr/>
          <p:nvPr/>
        </p:nvSpPr>
        <p:spPr>
          <a:xfrm>
            <a:off x="3917935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68" name="Shape 66"/>
          <p:cNvSpPr/>
          <p:nvPr/>
        </p:nvSpPr>
        <p:spPr>
          <a:xfrm>
            <a:off x="3119449" y="423367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69" name="Shape 67"/>
          <p:cNvSpPr/>
          <p:nvPr/>
        </p:nvSpPr>
        <p:spPr>
          <a:xfrm>
            <a:off x="3192601" y="4233672"/>
            <a:ext cx="1871293" cy="54864"/>
          </a:xfrm>
          <a:prstGeom prst="rect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3210889" y="430682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 5 Oct 2026</a:t>
            </a:r>
            <a:endParaRPr lang="en-US" sz="950" dirty="0"/>
          </a:p>
        </p:txBody>
      </p:sp>
      <p:sp>
        <p:nvSpPr>
          <p:cNvPr id="71" name="Text 69"/>
          <p:cNvSpPr/>
          <p:nvPr/>
        </p:nvSpPr>
        <p:spPr>
          <a:xfrm>
            <a:off x="3210889" y="455371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C85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– Suspension &amp; Site Assessment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Action Plan Requested</a:t>
            </a:r>
            <a:endParaRPr lang="en-US" sz="650" dirty="0"/>
          </a:p>
        </p:txBody>
      </p:sp>
      <p:sp>
        <p:nvSpPr>
          <p:cNvPr id="72" name="Shape 70"/>
          <p:cNvSpPr/>
          <p:nvPr/>
        </p:nvSpPr>
        <p:spPr>
          <a:xfrm>
            <a:off x="4779085" y="2624328"/>
            <a:ext cx="0" cy="1005840"/>
          </a:xfrm>
          <a:prstGeom prst="line">
            <a:avLst/>
          </a:prstGeom>
          <a:noFill/>
          <a:ln w="19050">
            <a:solidFill>
              <a:srgbClr val="00778B">
                <a:alpha val="65000"/>
              </a:srgbClr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4568773" y="3630168"/>
            <a:ext cx="420624" cy="420624"/>
          </a:xfrm>
          <a:prstGeom prst="ellipse">
            <a:avLst/>
          </a:prstGeom>
          <a:solidFill>
            <a:srgbClr val="00778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74" name="Text 72"/>
          <p:cNvSpPr/>
          <p:nvPr/>
        </p:nvSpPr>
        <p:spPr>
          <a:xfrm>
            <a:off x="4568773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75" name="Shape 73"/>
          <p:cNvSpPr/>
          <p:nvPr/>
        </p:nvSpPr>
        <p:spPr>
          <a:xfrm>
            <a:off x="3770286" y="191109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76" name="Shape 74"/>
          <p:cNvSpPr/>
          <p:nvPr/>
        </p:nvSpPr>
        <p:spPr>
          <a:xfrm>
            <a:off x="3843438" y="1911096"/>
            <a:ext cx="1871293" cy="54864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3861726" y="198424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 7 Oct 2026</a:t>
            </a:r>
            <a:endParaRPr lang="en-US" sz="950" dirty="0"/>
          </a:p>
        </p:txBody>
      </p:sp>
      <p:sp>
        <p:nvSpPr>
          <p:cNvPr id="78" name="Text 76"/>
          <p:cNvSpPr/>
          <p:nvPr/>
        </p:nvSpPr>
        <p:spPr>
          <a:xfrm>
            <a:off x="3861726" y="223113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0077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– Method Statement Preparation &amp; Review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Statement (MoS) Submitted</a:t>
            </a:r>
            <a:endParaRPr lang="en-US" sz="650" dirty="0"/>
          </a:p>
        </p:txBody>
      </p:sp>
      <p:sp>
        <p:nvSpPr>
          <p:cNvPr id="79" name="Shape 77"/>
          <p:cNvSpPr/>
          <p:nvPr/>
        </p:nvSpPr>
        <p:spPr>
          <a:xfrm>
            <a:off x="5429922" y="4050792"/>
            <a:ext cx="0" cy="1005840"/>
          </a:xfrm>
          <a:prstGeom prst="line">
            <a:avLst/>
          </a:prstGeom>
          <a:noFill/>
          <a:ln w="19050">
            <a:solidFill>
              <a:srgbClr val="00778B">
                <a:alpha val="65000"/>
              </a:srgbClr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5219610" y="3630168"/>
            <a:ext cx="420624" cy="420624"/>
          </a:xfrm>
          <a:prstGeom prst="ellipse">
            <a:avLst/>
          </a:prstGeom>
          <a:solidFill>
            <a:srgbClr val="00778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81" name="Text 79"/>
          <p:cNvSpPr/>
          <p:nvPr/>
        </p:nvSpPr>
        <p:spPr>
          <a:xfrm>
            <a:off x="5219610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82" name="Shape 80"/>
          <p:cNvSpPr/>
          <p:nvPr/>
        </p:nvSpPr>
        <p:spPr>
          <a:xfrm>
            <a:off x="4421124" y="505663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83" name="Shape 81"/>
          <p:cNvSpPr/>
          <p:nvPr/>
        </p:nvSpPr>
        <p:spPr>
          <a:xfrm>
            <a:off x="4494276" y="5056632"/>
            <a:ext cx="1871293" cy="54864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4512564" y="512978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 7 Oct 2026</a:t>
            </a:r>
            <a:endParaRPr lang="en-US" sz="950" dirty="0"/>
          </a:p>
        </p:txBody>
      </p:sp>
      <p:sp>
        <p:nvSpPr>
          <p:cNvPr id="85" name="Text 83"/>
          <p:cNvSpPr/>
          <p:nvPr/>
        </p:nvSpPr>
        <p:spPr>
          <a:xfrm>
            <a:off x="4512564" y="537667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0077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– Method Statement Preparation &amp; Review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Stakeholders Meeting</a:t>
            </a:r>
            <a:endParaRPr lang="en-US" sz="650" dirty="0"/>
          </a:p>
        </p:txBody>
      </p:sp>
      <p:sp>
        <p:nvSpPr>
          <p:cNvPr id="86" name="Shape 84"/>
          <p:cNvSpPr/>
          <p:nvPr/>
        </p:nvSpPr>
        <p:spPr>
          <a:xfrm>
            <a:off x="6080760" y="3447288"/>
            <a:ext cx="0" cy="182880"/>
          </a:xfrm>
          <a:prstGeom prst="line">
            <a:avLst/>
          </a:prstGeom>
          <a:noFill/>
          <a:ln w="19050">
            <a:solidFill>
              <a:srgbClr val="00778B">
                <a:alpha val="65000"/>
              </a:srgbClr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870448" y="3630168"/>
            <a:ext cx="420624" cy="420624"/>
          </a:xfrm>
          <a:prstGeom prst="ellipse">
            <a:avLst/>
          </a:prstGeom>
          <a:solidFill>
            <a:srgbClr val="00778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88" name="Text 86"/>
          <p:cNvSpPr/>
          <p:nvPr/>
        </p:nvSpPr>
        <p:spPr>
          <a:xfrm>
            <a:off x="5870448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  <p:sp>
        <p:nvSpPr>
          <p:cNvPr id="89" name="Shape 87"/>
          <p:cNvSpPr/>
          <p:nvPr/>
        </p:nvSpPr>
        <p:spPr>
          <a:xfrm>
            <a:off x="5071962" y="273405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90" name="Shape 88"/>
          <p:cNvSpPr/>
          <p:nvPr/>
        </p:nvSpPr>
        <p:spPr>
          <a:xfrm>
            <a:off x="5145114" y="2734056"/>
            <a:ext cx="1871293" cy="54864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5163402" y="280720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 8 Oct 2026</a:t>
            </a:r>
            <a:endParaRPr lang="en-US" sz="950" dirty="0"/>
          </a:p>
        </p:txBody>
      </p:sp>
      <p:sp>
        <p:nvSpPr>
          <p:cNvPr id="92" name="Text 90"/>
          <p:cNvSpPr/>
          <p:nvPr/>
        </p:nvSpPr>
        <p:spPr>
          <a:xfrm>
            <a:off x="5163402" y="305409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0077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– Method Statement Preparation &amp; Review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Stakeholders’ Clarifications Answered</a:t>
            </a:r>
            <a:endParaRPr lang="en-US" sz="650" dirty="0"/>
          </a:p>
        </p:txBody>
      </p:sp>
      <p:sp>
        <p:nvSpPr>
          <p:cNvPr id="93" name="Shape 91"/>
          <p:cNvSpPr/>
          <p:nvPr/>
        </p:nvSpPr>
        <p:spPr>
          <a:xfrm>
            <a:off x="6731598" y="4050792"/>
            <a:ext cx="0" cy="182880"/>
          </a:xfrm>
          <a:prstGeom prst="line">
            <a:avLst/>
          </a:prstGeom>
          <a:noFill/>
          <a:ln w="19050">
            <a:solidFill>
              <a:srgbClr val="00778B">
                <a:alpha val="65000"/>
              </a:srgbClr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521286" y="3630168"/>
            <a:ext cx="420624" cy="420624"/>
          </a:xfrm>
          <a:prstGeom prst="ellipse">
            <a:avLst/>
          </a:prstGeom>
          <a:solidFill>
            <a:srgbClr val="00778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95" name="Text 93"/>
          <p:cNvSpPr/>
          <p:nvPr/>
        </p:nvSpPr>
        <p:spPr>
          <a:xfrm>
            <a:off x="6521286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96" name="Shape 94"/>
          <p:cNvSpPr/>
          <p:nvPr/>
        </p:nvSpPr>
        <p:spPr>
          <a:xfrm>
            <a:off x="5722799" y="423367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97" name="Shape 95"/>
          <p:cNvSpPr/>
          <p:nvPr/>
        </p:nvSpPr>
        <p:spPr>
          <a:xfrm>
            <a:off x="5795951" y="4233672"/>
            <a:ext cx="1871293" cy="54864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5814239" y="430682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11 Oct 2026</a:t>
            </a:r>
            <a:endParaRPr lang="en-US" sz="950" dirty="0"/>
          </a:p>
        </p:txBody>
      </p:sp>
      <p:sp>
        <p:nvSpPr>
          <p:cNvPr id="99" name="Text 97"/>
          <p:cNvSpPr/>
          <p:nvPr/>
        </p:nvSpPr>
        <p:spPr>
          <a:xfrm>
            <a:off x="5814239" y="455371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0077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– Method Statement Preparation &amp; Review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Clarification Received</a:t>
            </a:r>
            <a:endParaRPr lang="en-US" sz="650" dirty="0"/>
          </a:p>
        </p:txBody>
      </p:sp>
      <p:sp>
        <p:nvSpPr>
          <p:cNvPr id="100" name="Shape 98"/>
          <p:cNvSpPr/>
          <p:nvPr/>
        </p:nvSpPr>
        <p:spPr>
          <a:xfrm>
            <a:off x="7382435" y="2624328"/>
            <a:ext cx="0" cy="1005840"/>
          </a:xfrm>
          <a:prstGeom prst="line">
            <a:avLst/>
          </a:prstGeom>
          <a:noFill/>
          <a:ln w="19050">
            <a:solidFill>
              <a:srgbClr val="00778B">
                <a:alpha val="65000"/>
              </a:srgbClr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2123" y="3630168"/>
            <a:ext cx="420624" cy="420624"/>
          </a:xfrm>
          <a:prstGeom prst="ellipse">
            <a:avLst/>
          </a:prstGeom>
          <a:solidFill>
            <a:srgbClr val="00778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02" name="Text 100"/>
          <p:cNvSpPr/>
          <p:nvPr/>
        </p:nvSpPr>
        <p:spPr>
          <a:xfrm>
            <a:off x="7172123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103" name="Shape 101"/>
          <p:cNvSpPr/>
          <p:nvPr/>
        </p:nvSpPr>
        <p:spPr>
          <a:xfrm>
            <a:off x="6373637" y="191109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04" name="Shape 102"/>
          <p:cNvSpPr/>
          <p:nvPr/>
        </p:nvSpPr>
        <p:spPr>
          <a:xfrm>
            <a:off x="6446789" y="1911096"/>
            <a:ext cx="1871293" cy="54864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6465077" y="198424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 12 Oct 2026</a:t>
            </a:r>
            <a:endParaRPr lang="en-US" sz="950" dirty="0"/>
          </a:p>
        </p:txBody>
      </p:sp>
      <p:sp>
        <p:nvSpPr>
          <p:cNvPr id="106" name="Text 104"/>
          <p:cNvSpPr/>
          <p:nvPr/>
        </p:nvSpPr>
        <p:spPr>
          <a:xfrm>
            <a:off x="6465077" y="223113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0077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– Method Statement Preparation &amp; Review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 Revision 2 Submitted</a:t>
            </a:r>
            <a:endParaRPr lang="en-US" sz="650" dirty="0"/>
          </a:p>
        </p:txBody>
      </p:sp>
      <p:sp>
        <p:nvSpPr>
          <p:cNvPr id="107" name="Shape 105"/>
          <p:cNvSpPr/>
          <p:nvPr/>
        </p:nvSpPr>
        <p:spPr>
          <a:xfrm>
            <a:off x="8033273" y="4050792"/>
            <a:ext cx="0" cy="1005840"/>
          </a:xfrm>
          <a:prstGeom prst="line">
            <a:avLst/>
          </a:prstGeom>
          <a:noFill/>
          <a:ln w="19050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822961" y="3630168"/>
            <a:ext cx="420624" cy="420624"/>
          </a:xfrm>
          <a:prstGeom prst="ellipse">
            <a:avLst/>
          </a:prstGeom>
          <a:solidFill>
            <a:srgbClr val="2E9E6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09" name="Text 107"/>
          <p:cNvSpPr/>
          <p:nvPr/>
        </p:nvSpPr>
        <p:spPr>
          <a:xfrm>
            <a:off x="7822961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  <p:sp>
        <p:nvSpPr>
          <p:cNvPr id="110" name="Shape 108"/>
          <p:cNvSpPr/>
          <p:nvPr/>
        </p:nvSpPr>
        <p:spPr>
          <a:xfrm>
            <a:off x="7024475" y="505663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11" name="Shape 109"/>
          <p:cNvSpPr/>
          <p:nvPr/>
        </p:nvSpPr>
        <p:spPr>
          <a:xfrm>
            <a:off x="7097627" y="5056632"/>
            <a:ext cx="1871293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7115915" y="512978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Tue 13 Oct 2026</a:t>
            </a:r>
            <a:endParaRPr lang="en-US" sz="950" dirty="0"/>
          </a:p>
        </p:txBody>
      </p:sp>
      <p:sp>
        <p:nvSpPr>
          <p:cNvPr id="113" name="Text 111"/>
          <p:cNvSpPr/>
          <p:nvPr/>
        </p:nvSpPr>
        <p:spPr>
          <a:xfrm>
            <a:off x="7115915" y="537667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– Work Permit Issuance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Department Contacted</a:t>
            </a:r>
            <a:endParaRPr lang="en-US" sz="650" dirty="0"/>
          </a:p>
        </p:txBody>
      </p:sp>
      <p:sp>
        <p:nvSpPr>
          <p:cNvPr id="114" name="Shape 112"/>
          <p:cNvSpPr/>
          <p:nvPr/>
        </p:nvSpPr>
        <p:spPr>
          <a:xfrm>
            <a:off x="8684111" y="3447288"/>
            <a:ext cx="0" cy="182880"/>
          </a:xfrm>
          <a:prstGeom prst="line">
            <a:avLst/>
          </a:prstGeom>
          <a:noFill/>
          <a:ln w="19050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8473799" y="3630168"/>
            <a:ext cx="420624" cy="420624"/>
          </a:xfrm>
          <a:prstGeom prst="ellipse">
            <a:avLst/>
          </a:prstGeom>
          <a:solidFill>
            <a:srgbClr val="2E9E6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16" name="Text 114"/>
          <p:cNvSpPr/>
          <p:nvPr/>
        </p:nvSpPr>
        <p:spPr>
          <a:xfrm>
            <a:off x="8473799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  <p:sp>
        <p:nvSpPr>
          <p:cNvPr id="117" name="Shape 115"/>
          <p:cNvSpPr/>
          <p:nvPr/>
        </p:nvSpPr>
        <p:spPr>
          <a:xfrm>
            <a:off x="7675312" y="273405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18" name="Shape 116"/>
          <p:cNvSpPr/>
          <p:nvPr/>
        </p:nvSpPr>
        <p:spPr>
          <a:xfrm>
            <a:off x="7748464" y="2734056"/>
            <a:ext cx="1871293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7766752" y="280720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 14 Oct 2026</a:t>
            </a:r>
            <a:endParaRPr lang="en-US" sz="950" dirty="0"/>
          </a:p>
        </p:txBody>
      </p:sp>
      <p:sp>
        <p:nvSpPr>
          <p:cNvPr id="120" name="Text 118"/>
          <p:cNvSpPr/>
          <p:nvPr/>
        </p:nvSpPr>
        <p:spPr>
          <a:xfrm>
            <a:off x="7766752" y="305409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– Work Permit Issuance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 Circulated for Approvals</a:t>
            </a:r>
            <a:endParaRPr lang="en-US" sz="650" dirty="0"/>
          </a:p>
        </p:txBody>
      </p:sp>
      <p:sp>
        <p:nvSpPr>
          <p:cNvPr id="121" name="Shape 119"/>
          <p:cNvSpPr/>
          <p:nvPr/>
        </p:nvSpPr>
        <p:spPr>
          <a:xfrm>
            <a:off x="9334948" y="4050792"/>
            <a:ext cx="0" cy="182880"/>
          </a:xfrm>
          <a:prstGeom prst="line">
            <a:avLst/>
          </a:prstGeom>
          <a:noFill/>
          <a:ln w="19050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9124636" y="3630168"/>
            <a:ext cx="420624" cy="420624"/>
          </a:xfrm>
          <a:prstGeom prst="ellipse">
            <a:avLst/>
          </a:prstGeom>
          <a:solidFill>
            <a:srgbClr val="2E9E6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23" name="Text 121"/>
          <p:cNvSpPr/>
          <p:nvPr/>
        </p:nvSpPr>
        <p:spPr>
          <a:xfrm>
            <a:off x="9124636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  <p:sp>
        <p:nvSpPr>
          <p:cNvPr id="124" name="Shape 122"/>
          <p:cNvSpPr/>
          <p:nvPr/>
        </p:nvSpPr>
        <p:spPr>
          <a:xfrm>
            <a:off x="8326150" y="423367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25" name="Shape 123"/>
          <p:cNvSpPr/>
          <p:nvPr/>
        </p:nvSpPr>
        <p:spPr>
          <a:xfrm>
            <a:off x="8399302" y="4233672"/>
            <a:ext cx="1871293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8417590" y="430682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 15 Oct 2026</a:t>
            </a:r>
            <a:endParaRPr lang="en-US" sz="950" dirty="0"/>
          </a:p>
        </p:txBody>
      </p:sp>
      <p:sp>
        <p:nvSpPr>
          <p:cNvPr id="127" name="Text 125"/>
          <p:cNvSpPr/>
          <p:nvPr/>
        </p:nvSpPr>
        <p:spPr>
          <a:xfrm>
            <a:off x="8417590" y="455371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– Work Permit Issuance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Further Department Comments</a:t>
            </a:r>
            <a:endParaRPr lang="en-US" sz="650" dirty="0"/>
          </a:p>
        </p:txBody>
      </p:sp>
      <p:sp>
        <p:nvSpPr>
          <p:cNvPr id="128" name="Shape 126"/>
          <p:cNvSpPr/>
          <p:nvPr/>
        </p:nvSpPr>
        <p:spPr>
          <a:xfrm>
            <a:off x="9985786" y="2624328"/>
            <a:ext cx="0" cy="1005840"/>
          </a:xfrm>
          <a:prstGeom prst="line">
            <a:avLst/>
          </a:prstGeom>
          <a:noFill/>
          <a:ln w="19050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9775474" y="3630168"/>
            <a:ext cx="420624" cy="420624"/>
          </a:xfrm>
          <a:prstGeom prst="ellipse">
            <a:avLst/>
          </a:prstGeom>
          <a:solidFill>
            <a:srgbClr val="2E9E6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30" name="Text 128"/>
          <p:cNvSpPr/>
          <p:nvPr/>
        </p:nvSpPr>
        <p:spPr>
          <a:xfrm>
            <a:off x="9775474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00" dirty="0"/>
          </a:p>
        </p:txBody>
      </p:sp>
      <p:sp>
        <p:nvSpPr>
          <p:cNvPr id="131" name="Shape 129"/>
          <p:cNvSpPr/>
          <p:nvPr/>
        </p:nvSpPr>
        <p:spPr>
          <a:xfrm>
            <a:off x="8976988" y="191109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32" name="Shape 130"/>
          <p:cNvSpPr/>
          <p:nvPr/>
        </p:nvSpPr>
        <p:spPr>
          <a:xfrm>
            <a:off x="9050140" y="1911096"/>
            <a:ext cx="1871293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9068428" y="198424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 19 Oct 2026</a:t>
            </a:r>
            <a:endParaRPr lang="en-US" sz="950" dirty="0"/>
          </a:p>
        </p:txBody>
      </p:sp>
      <p:sp>
        <p:nvSpPr>
          <p:cNvPr id="134" name="Text 132"/>
          <p:cNvSpPr/>
          <p:nvPr/>
        </p:nvSpPr>
        <p:spPr>
          <a:xfrm>
            <a:off x="9068428" y="223113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– Work Permit Issuance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 Revision 3 Submitted</a:t>
            </a:r>
            <a:endParaRPr lang="en-US" sz="650" dirty="0"/>
          </a:p>
        </p:txBody>
      </p:sp>
      <p:sp>
        <p:nvSpPr>
          <p:cNvPr id="135" name="Shape 133"/>
          <p:cNvSpPr/>
          <p:nvPr/>
        </p:nvSpPr>
        <p:spPr>
          <a:xfrm>
            <a:off x="10636624" y="4050792"/>
            <a:ext cx="0" cy="1005840"/>
          </a:xfrm>
          <a:prstGeom prst="line">
            <a:avLst/>
          </a:prstGeom>
          <a:noFill/>
          <a:ln w="19050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10426312" y="3630168"/>
            <a:ext cx="420624" cy="420624"/>
          </a:xfrm>
          <a:prstGeom prst="ellipse">
            <a:avLst/>
          </a:prstGeom>
          <a:solidFill>
            <a:srgbClr val="2E9E6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37" name="Text 135"/>
          <p:cNvSpPr/>
          <p:nvPr/>
        </p:nvSpPr>
        <p:spPr>
          <a:xfrm>
            <a:off x="10426312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100" dirty="0"/>
          </a:p>
        </p:txBody>
      </p:sp>
      <p:sp>
        <p:nvSpPr>
          <p:cNvPr id="138" name="Shape 136"/>
          <p:cNvSpPr/>
          <p:nvPr/>
        </p:nvSpPr>
        <p:spPr>
          <a:xfrm>
            <a:off x="9627825" y="505663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39" name="Shape 137"/>
          <p:cNvSpPr/>
          <p:nvPr/>
        </p:nvSpPr>
        <p:spPr>
          <a:xfrm>
            <a:off x="9700977" y="5056632"/>
            <a:ext cx="1871293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40" name="Text 138"/>
          <p:cNvSpPr/>
          <p:nvPr/>
        </p:nvSpPr>
        <p:spPr>
          <a:xfrm>
            <a:off x="9719265" y="512978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Tue 20 Oct 2026</a:t>
            </a:r>
            <a:endParaRPr lang="en-US" sz="950" dirty="0"/>
          </a:p>
        </p:txBody>
      </p:sp>
      <p:sp>
        <p:nvSpPr>
          <p:cNvPr id="141" name="Text 139"/>
          <p:cNvSpPr/>
          <p:nvPr/>
        </p:nvSpPr>
        <p:spPr>
          <a:xfrm>
            <a:off x="9719265" y="537667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– Work Permit Issuance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 Clarification Cleared</a:t>
            </a:r>
            <a:endParaRPr lang="en-US" sz="650" dirty="0"/>
          </a:p>
        </p:txBody>
      </p:sp>
      <p:sp>
        <p:nvSpPr>
          <p:cNvPr id="142" name="Shape 140"/>
          <p:cNvSpPr/>
          <p:nvPr/>
        </p:nvSpPr>
        <p:spPr>
          <a:xfrm>
            <a:off x="11287461" y="3447288"/>
            <a:ext cx="0" cy="182880"/>
          </a:xfrm>
          <a:prstGeom prst="line">
            <a:avLst/>
          </a:prstGeom>
          <a:noFill/>
          <a:ln w="19050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11077149" y="3630168"/>
            <a:ext cx="420624" cy="420624"/>
          </a:xfrm>
          <a:prstGeom prst="ellipse">
            <a:avLst/>
          </a:prstGeom>
          <a:solidFill>
            <a:srgbClr val="2E9E6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44" name="Text 142"/>
          <p:cNvSpPr/>
          <p:nvPr/>
        </p:nvSpPr>
        <p:spPr>
          <a:xfrm>
            <a:off x="11077149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100" dirty="0"/>
          </a:p>
        </p:txBody>
      </p:sp>
      <p:sp>
        <p:nvSpPr>
          <p:cNvPr id="145" name="Shape 143"/>
          <p:cNvSpPr/>
          <p:nvPr/>
        </p:nvSpPr>
        <p:spPr>
          <a:xfrm>
            <a:off x="9899778" y="273405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46" name="Shape 144"/>
          <p:cNvSpPr/>
          <p:nvPr/>
        </p:nvSpPr>
        <p:spPr>
          <a:xfrm>
            <a:off x="9972930" y="2734056"/>
            <a:ext cx="1871293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47" name="Text 145"/>
          <p:cNvSpPr/>
          <p:nvPr/>
        </p:nvSpPr>
        <p:spPr>
          <a:xfrm>
            <a:off x="9991218" y="280720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 21 Oct 2026</a:t>
            </a:r>
            <a:endParaRPr lang="en-US" sz="950" dirty="0"/>
          </a:p>
        </p:txBody>
      </p:sp>
      <p:sp>
        <p:nvSpPr>
          <p:cNvPr id="148" name="Text 146"/>
          <p:cNvSpPr/>
          <p:nvPr/>
        </p:nvSpPr>
        <p:spPr>
          <a:xfrm>
            <a:off x="9991218" y="305409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– Work Permit Issuance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Permit Ready for Signature</a:t>
            </a:r>
            <a:endParaRPr lang="en-US" sz="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519672"/>
            <a:ext cx="54864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09728"/>
            <a:ext cx="10134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24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Remaining Works – Shoring &amp; Pit Works Programme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365760" y="548640"/>
            <a:ext cx="101342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1200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RYDN-WLB pit works · Initial re-plan based on the contractor programme (Rev 01) · Commencement 22 Oct 2026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65760" y="1069848"/>
            <a:ext cx="274320" cy="109728"/>
          </a:xfrm>
          <a:prstGeom prst="roundRect">
            <a:avLst>
              <a:gd name="adj" fmla="val 25000"/>
            </a:avLst>
          </a:prstGeom>
          <a:solidFill>
            <a:srgbClr val="00778B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94944" y="1005840"/>
            <a:ext cx="105521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path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1695298" y="1069848"/>
            <a:ext cx="274320" cy="109728"/>
          </a:xfrm>
          <a:prstGeom prst="roundRect">
            <a:avLst>
              <a:gd name="adj" fmla="val 25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024482" y="1005840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(colour = work group)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926434" y="1060704"/>
            <a:ext cx="128016" cy="128016"/>
          </a:xfrm>
          <a:prstGeom prst="diamond">
            <a:avLst/>
          </a:prstGeom>
          <a:solidFill>
            <a:srgbClr val="3D3935"/>
          </a:solidFill>
          <a:ln w="12700">
            <a:solidFill>
              <a:srgbClr val="3D393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255618" y="1005840"/>
            <a:ext cx="84307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043830" y="1060704"/>
            <a:ext cx="182880" cy="128016"/>
          </a:xfrm>
          <a:prstGeom prst="rect">
            <a:avLst/>
          </a:prstGeom>
          <a:solidFill>
            <a:srgbClr val="CFD8DC"/>
          </a:solidFill>
          <a:ln w="12700">
            <a:solidFill>
              <a:srgbClr val="CFD8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373014" y="1005840"/>
            <a:ext cx="11612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Non-working day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525158" y="1042416"/>
            <a:ext cx="0" cy="164592"/>
          </a:xfrm>
          <a:prstGeom prst="line">
            <a:avLst/>
          </a:prstGeom>
          <a:noFill/>
          <a:ln w="22225">
            <a:solidFill>
              <a:srgbClr val="C8503F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6808622" y="1005840"/>
            <a:ext cx="94914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date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7702906" y="1005840"/>
            <a:ext cx="15325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Dependency (FS / SS)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65760" y="1325880"/>
            <a:ext cx="5678424" cy="640080"/>
          </a:xfrm>
          <a:prstGeom prst="rect">
            <a:avLst/>
          </a:prstGeom>
          <a:solidFill>
            <a:srgbClr val="3D3935"/>
          </a:solidFill>
          <a:ln w="12700">
            <a:solidFill>
              <a:srgbClr val="3D393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325880"/>
            <a:ext cx="3840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22960" y="132588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47288" y="132588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Predecessor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224528" y="132588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Dur. (wd)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4727448" y="1325880"/>
            <a:ext cx="658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385816" y="1325880"/>
            <a:ext cx="658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Finish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044184" y="1325880"/>
            <a:ext cx="3060927" cy="182880"/>
          </a:xfrm>
          <a:prstGeom prst="rect">
            <a:avLst/>
          </a:prstGeom>
          <a:solidFill>
            <a:srgbClr val="DCE8E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44184" y="1325880"/>
            <a:ext cx="306092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8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October 2026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9105111" y="1325880"/>
            <a:ext cx="2720824" cy="182880"/>
          </a:xfrm>
          <a:prstGeom prst="rect">
            <a:avLst/>
          </a:prstGeom>
          <a:solidFill>
            <a:srgbClr val="DCE8E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05111" y="1325880"/>
            <a:ext cx="2720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8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November 2026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044184" y="1508760"/>
            <a:ext cx="510155" cy="155448"/>
          </a:xfrm>
          <a:prstGeom prst="rect">
            <a:avLst/>
          </a:prstGeom>
          <a:solidFill>
            <a:srgbClr val="D5E6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044184" y="1508760"/>
            <a:ext cx="510155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345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</a:t>
            </a:r>
            <a:endParaRPr lang="en-US" sz="650" dirty="0"/>
          </a:p>
        </p:txBody>
      </p:sp>
      <p:sp>
        <p:nvSpPr>
          <p:cNvPr id="28" name="Shape 26"/>
          <p:cNvSpPr/>
          <p:nvPr/>
        </p:nvSpPr>
        <p:spPr>
          <a:xfrm>
            <a:off x="6554339" y="1508760"/>
            <a:ext cx="1190361" cy="155448"/>
          </a:xfrm>
          <a:prstGeom prst="rect">
            <a:avLst/>
          </a:prstGeom>
          <a:solidFill>
            <a:srgbClr val="E4F0F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554339" y="1508760"/>
            <a:ext cx="1190361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345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7744699" y="1508760"/>
            <a:ext cx="1190361" cy="155448"/>
          </a:xfrm>
          <a:prstGeom prst="rect">
            <a:avLst/>
          </a:prstGeom>
          <a:solidFill>
            <a:srgbClr val="D5E6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44699" y="1508760"/>
            <a:ext cx="1190361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345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650" dirty="0"/>
          </a:p>
        </p:txBody>
      </p:sp>
      <p:sp>
        <p:nvSpPr>
          <p:cNvPr id="32" name="Shape 30"/>
          <p:cNvSpPr/>
          <p:nvPr/>
        </p:nvSpPr>
        <p:spPr>
          <a:xfrm>
            <a:off x="8935060" y="1508760"/>
            <a:ext cx="1190361" cy="155448"/>
          </a:xfrm>
          <a:prstGeom prst="rect">
            <a:avLst/>
          </a:prstGeom>
          <a:solidFill>
            <a:srgbClr val="E4F0F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935060" y="1508760"/>
            <a:ext cx="1190361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345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</a:t>
            </a:r>
            <a:endParaRPr lang="en-US" sz="650" dirty="0"/>
          </a:p>
        </p:txBody>
      </p:sp>
      <p:sp>
        <p:nvSpPr>
          <p:cNvPr id="34" name="Shape 32"/>
          <p:cNvSpPr/>
          <p:nvPr/>
        </p:nvSpPr>
        <p:spPr>
          <a:xfrm>
            <a:off x="10125420" y="1508760"/>
            <a:ext cx="1190361" cy="155448"/>
          </a:xfrm>
          <a:prstGeom prst="rect">
            <a:avLst/>
          </a:prstGeom>
          <a:solidFill>
            <a:srgbClr val="D5E6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125420" y="1508760"/>
            <a:ext cx="1190361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345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</a:t>
            </a:r>
            <a:endParaRPr lang="en-US" sz="650" dirty="0"/>
          </a:p>
        </p:txBody>
      </p:sp>
      <p:sp>
        <p:nvSpPr>
          <p:cNvPr id="36" name="Shape 34"/>
          <p:cNvSpPr/>
          <p:nvPr/>
        </p:nvSpPr>
        <p:spPr>
          <a:xfrm>
            <a:off x="11315781" y="1508760"/>
            <a:ext cx="510155" cy="155448"/>
          </a:xfrm>
          <a:prstGeom prst="rect">
            <a:avLst/>
          </a:prstGeom>
          <a:solidFill>
            <a:srgbClr val="E4F0F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315781" y="1508760"/>
            <a:ext cx="510155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345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</a:t>
            </a:r>
            <a:endParaRPr lang="en-US" sz="650" dirty="0"/>
          </a:p>
        </p:txBody>
      </p:sp>
      <p:sp>
        <p:nvSpPr>
          <p:cNvPr id="38" name="Shape 36"/>
          <p:cNvSpPr/>
          <p:nvPr/>
        </p:nvSpPr>
        <p:spPr>
          <a:xfrm>
            <a:off x="6044184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044184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</a:t>
            </a:r>
            <a:endParaRPr lang="en-US" sz="500" dirty="0"/>
          </a:p>
        </p:txBody>
      </p:sp>
      <p:sp>
        <p:nvSpPr>
          <p:cNvPr id="40" name="Text 38"/>
          <p:cNvSpPr/>
          <p:nvPr/>
        </p:nvSpPr>
        <p:spPr>
          <a:xfrm>
            <a:off x="6044184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550" dirty="0"/>
          </a:p>
        </p:txBody>
      </p:sp>
      <p:sp>
        <p:nvSpPr>
          <p:cNvPr id="41" name="Shape 39"/>
          <p:cNvSpPr/>
          <p:nvPr/>
        </p:nvSpPr>
        <p:spPr>
          <a:xfrm>
            <a:off x="6214236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214236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500" dirty="0"/>
          </a:p>
        </p:txBody>
      </p:sp>
      <p:sp>
        <p:nvSpPr>
          <p:cNvPr id="43" name="Text 41"/>
          <p:cNvSpPr/>
          <p:nvPr/>
        </p:nvSpPr>
        <p:spPr>
          <a:xfrm>
            <a:off x="6214236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550" dirty="0"/>
          </a:p>
        </p:txBody>
      </p:sp>
      <p:sp>
        <p:nvSpPr>
          <p:cNvPr id="44" name="Shape 42"/>
          <p:cNvSpPr/>
          <p:nvPr/>
        </p:nvSpPr>
        <p:spPr>
          <a:xfrm>
            <a:off x="6384287" y="1664208"/>
            <a:ext cx="170052" cy="301752"/>
          </a:xfrm>
          <a:prstGeom prst="rect">
            <a:avLst/>
          </a:prstGeom>
          <a:solidFill>
            <a:srgbClr val="DBE3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384287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500" dirty="0"/>
          </a:p>
        </p:txBody>
      </p:sp>
      <p:sp>
        <p:nvSpPr>
          <p:cNvPr id="46" name="Text 44"/>
          <p:cNvSpPr/>
          <p:nvPr/>
        </p:nvSpPr>
        <p:spPr>
          <a:xfrm>
            <a:off x="6384287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550" dirty="0"/>
          </a:p>
        </p:txBody>
      </p:sp>
      <p:sp>
        <p:nvSpPr>
          <p:cNvPr id="47" name="Shape 45"/>
          <p:cNvSpPr/>
          <p:nvPr/>
        </p:nvSpPr>
        <p:spPr>
          <a:xfrm>
            <a:off x="6384287" y="1965960"/>
            <a:ext cx="170052" cy="3502152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554339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554339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500" dirty="0"/>
          </a:p>
        </p:txBody>
      </p:sp>
      <p:sp>
        <p:nvSpPr>
          <p:cNvPr id="50" name="Text 48"/>
          <p:cNvSpPr/>
          <p:nvPr/>
        </p:nvSpPr>
        <p:spPr>
          <a:xfrm>
            <a:off x="6554339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550" dirty="0"/>
          </a:p>
        </p:txBody>
      </p:sp>
      <p:sp>
        <p:nvSpPr>
          <p:cNvPr id="51" name="Shape 49"/>
          <p:cNvSpPr/>
          <p:nvPr/>
        </p:nvSpPr>
        <p:spPr>
          <a:xfrm>
            <a:off x="6554339" y="1965960"/>
            <a:ext cx="0" cy="3502152"/>
          </a:xfrm>
          <a:prstGeom prst="line">
            <a:avLst/>
          </a:prstGeom>
          <a:noFill/>
          <a:ln w="6350">
            <a:solidFill>
              <a:srgbClr val="9DB2BB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6724390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724390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500" dirty="0"/>
          </a:p>
        </p:txBody>
      </p:sp>
      <p:sp>
        <p:nvSpPr>
          <p:cNvPr id="54" name="Text 52"/>
          <p:cNvSpPr/>
          <p:nvPr/>
        </p:nvSpPr>
        <p:spPr>
          <a:xfrm>
            <a:off x="6724390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550" dirty="0"/>
          </a:p>
        </p:txBody>
      </p:sp>
      <p:sp>
        <p:nvSpPr>
          <p:cNvPr id="55" name="Shape 53"/>
          <p:cNvSpPr/>
          <p:nvPr/>
        </p:nvSpPr>
        <p:spPr>
          <a:xfrm>
            <a:off x="6894442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894442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500" dirty="0"/>
          </a:p>
        </p:txBody>
      </p:sp>
      <p:sp>
        <p:nvSpPr>
          <p:cNvPr id="57" name="Text 55"/>
          <p:cNvSpPr/>
          <p:nvPr/>
        </p:nvSpPr>
        <p:spPr>
          <a:xfrm>
            <a:off x="6894442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550" dirty="0"/>
          </a:p>
        </p:txBody>
      </p:sp>
      <p:sp>
        <p:nvSpPr>
          <p:cNvPr id="58" name="Shape 56"/>
          <p:cNvSpPr/>
          <p:nvPr/>
        </p:nvSpPr>
        <p:spPr>
          <a:xfrm>
            <a:off x="7064493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064493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500" dirty="0"/>
          </a:p>
        </p:txBody>
      </p:sp>
      <p:sp>
        <p:nvSpPr>
          <p:cNvPr id="60" name="Text 58"/>
          <p:cNvSpPr/>
          <p:nvPr/>
        </p:nvSpPr>
        <p:spPr>
          <a:xfrm>
            <a:off x="7064493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550" dirty="0"/>
          </a:p>
        </p:txBody>
      </p:sp>
      <p:sp>
        <p:nvSpPr>
          <p:cNvPr id="61" name="Shape 59"/>
          <p:cNvSpPr/>
          <p:nvPr/>
        </p:nvSpPr>
        <p:spPr>
          <a:xfrm>
            <a:off x="7234545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234545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</a:t>
            </a:r>
            <a:endParaRPr lang="en-US" sz="500" dirty="0"/>
          </a:p>
        </p:txBody>
      </p:sp>
      <p:sp>
        <p:nvSpPr>
          <p:cNvPr id="63" name="Text 61"/>
          <p:cNvSpPr/>
          <p:nvPr/>
        </p:nvSpPr>
        <p:spPr>
          <a:xfrm>
            <a:off x="7234545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550" dirty="0"/>
          </a:p>
        </p:txBody>
      </p:sp>
      <p:sp>
        <p:nvSpPr>
          <p:cNvPr id="64" name="Shape 62"/>
          <p:cNvSpPr/>
          <p:nvPr/>
        </p:nvSpPr>
        <p:spPr>
          <a:xfrm>
            <a:off x="7404596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404596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500" dirty="0"/>
          </a:p>
        </p:txBody>
      </p:sp>
      <p:sp>
        <p:nvSpPr>
          <p:cNvPr id="66" name="Text 64"/>
          <p:cNvSpPr/>
          <p:nvPr/>
        </p:nvSpPr>
        <p:spPr>
          <a:xfrm>
            <a:off x="7404596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550" dirty="0"/>
          </a:p>
        </p:txBody>
      </p:sp>
      <p:sp>
        <p:nvSpPr>
          <p:cNvPr id="67" name="Shape 65"/>
          <p:cNvSpPr/>
          <p:nvPr/>
        </p:nvSpPr>
        <p:spPr>
          <a:xfrm>
            <a:off x="7574648" y="1664208"/>
            <a:ext cx="170052" cy="301752"/>
          </a:xfrm>
          <a:prstGeom prst="rect">
            <a:avLst/>
          </a:prstGeom>
          <a:solidFill>
            <a:srgbClr val="DBE3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574648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500" dirty="0"/>
          </a:p>
        </p:txBody>
      </p:sp>
      <p:sp>
        <p:nvSpPr>
          <p:cNvPr id="69" name="Text 67"/>
          <p:cNvSpPr/>
          <p:nvPr/>
        </p:nvSpPr>
        <p:spPr>
          <a:xfrm>
            <a:off x="7574648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550" dirty="0"/>
          </a:p>
        </p:txBody>
      </p:sp>
      <p:sp>
        <p:nvSpPr>
          <p:cNvPr id="70" name="Shape 68"/>
          <p:cNvSpPr/>
          <p:nvPr/>
        </p:nvSpPr>
        <p:spPr>
          <a:xfrm>
            <a:off x="7574648" y="1965960"/>
            <a:ext cx="170052" cy="3502152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7744699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7744699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500" dirty="0"/>
          </a:p>
        </p:txBody>
      </p:sp>
      <p:sp>
        <p:nvSpPr>
          <p:cNvPr id="73" name="Text 71"/>
          <p:cNvSpPr/>
          <p:nvPr/>
        </p:nvSpPr>
        <p:spPr>
          <a:xfrm>
            <a:off x="7744699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550" dirty="0"/>
          </a:p>
        </p:txBody>
      </p:sp>
      <p:sp>
        <p:nvSpPr>
          <p:cNvPr id="74" name="Shape 72"/>
          <p:cNvSpPr/>
          <p:nvPr/>
        </p:nvSpPr>
        <p:spPr>
          <a:xfrm>
            <a:off x="7744699" y="1965960"/>
            <a:ext cx="0" cy="3502152"/>
          </a:xfrm>
          <a:prstGeom prst="line">
            <a:avLst/>
          </a:prstGeom>
          <a:noFill/>
          <a:ln w="6350">
            <a:solidFill>
              <a:srgbClr val="9DB2BB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7914751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7914751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500" dirty="0"/>
          </a:p>
        </p:txBody>
      </p:sp>
      <p:sp>
        <p:nvSpPr>
          <p:cNvPr id="77" name="Text 75"/>
          <p:cNvSpPr/>
          <p:nvPr/>
        </p:nvSpPr>
        <p:spPr>
          <a:xfrm>
            <a:off x="7914751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550" dirty="0"/>
          </a:p>
        </p:txBody>
      </p:sp>
      <p:sp>
        <p:nvSpPr>
          <p:cNvPr id="78" name="Shape 76"/>
          <p:cNvSpPr/>
          <p:nvPr/>
        </p:nvSpPr>
        <p:spPr>
          <a:xfrm>
            <a:off x="8084802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8084802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500" dirty="0"/>
          </a:p>
        </p:txBody>
      </p:sp>
      <p:sp>
        <p:nvSpPr>
          <p:cNvPr id="80" name="Text 78"/>
          <p:cNvSpPr/>
          <p:nvPr/>
        </p:nvSpPr>
        <p:spPr>
          <a:xfrm>
            <a:off x="8084802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550" dirty="0"/>
          </a:p>
        </p:txBody>
      </p:sp>
      <p:sp>
        <p:nvSpPr>
          <p:cNvPr id="81" name="Shape 79"/>
          <p:cNvSpPr/>
          <p:nvPr/>
        </p:nvSpPr>
        <p:spPr>
          <a:xfrm>
            <a:off x="8254854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8254854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500" dirty="0"/>
          </a:p>
        </p:txBody>
      </p:sp>
      <p:sp>
        <p:nvSpPr>
          <p:cNvPr id="83" name="Text 81"/>
          <p:cNvSpPr/>
          <p:nvPr/>
        </p:nvSpPr>
        <p:spPr>
          <a:xfrm>
            <a:off x="8254854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550" dirty="0"/>
          </a:p>
        </p:txBody>
      </p:sp>
      <p:sp>
        <p:nvSpPr>
          <p:cNvPr id="84" name="Shape 82"/>
          <p:cNvSpPr/>
          <p:nvPr/>
        </p:nvSpPr>
        <p:spPr>
          <a:xfrm>
            <a:off x="8424905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8424905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</a:t>
            </a:r>
            <a:endParaRPr lang="en-US" sz="500" dirty="0"/>
          </a:p>
        </p:txBody>
      </p:sp>
      <p:sp>
        <p:nvSpPr>
          <p:cNvPr id="86" name="Text 84"/>
          <p:cNvSpPr/>
          <p:nvPr/>
        </p:nvSpPr>
        <p:spPr>
          <a:xfrm>
            <a:off x="8424905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550" dirty="0"/>
          </a:p>
        </p:txBody>
      </p:sp>
      <p:sp>
        <p:nvSpPr>
          <p:cNvPr id="87" name="Shape 85"/>
          <p:cNvSpPr/>
          <p:nvPr/>
        </p:nvSpPr>
        <p:spPr>
          <a:xfrm>
            <a:off x="8594957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8594957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500" dirty="0"/>
          </a:p>
        </p:txBody>
      </p:sp>
      <p:sp>
        <p:nvSpPr>
          <p:cNvPr id="89" name="Text 87"/>
          <p:cNvSpPr/>
          <p:nvPr/>
        </p:nvSpPr>
        <p:spPr>
          <a:xfrm>
            <a:off x="8594957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550" dirty="0"/>
          </a:p>
        </p:txBody>
      </p:sp>
      <p:sp>
        <p:nvSpPr>
          <p:cNvPr id="90" name="Shape 88"/>
          <p:cNvSpPr/>
          <p:nvPr/>
        </p:nvSpPr>
        <p:spPr>
          <a:xfrm>
            <a:off x="8765008" y="1664208"/>
            <a:ext cx="170052" cy="301752"/>
          </a:xfrm>
          <a:prstGeom prst="rect">
            <a:avLst/>
          </a:prstGeom>
          <a:solidFill>
            <a:srgbClr val="DBE3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8765008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500" dirty="0"/>
          </a:p>
        </p:txBody>
      </p:sp>
      <p:sp>
        <p:nvSpPr>
          <p:cNvPr id="92" name="Text 90"/>
          <p:cNvSpPr/>
          <p:nvPr/>
        </p:nvSpPr>
        <p:spPr>
          <a:xfrm>
            <a:off x="8765008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550" dirty="0"/>
          </a:p>
        </p:txBody>
      </p:sp>
      <p:sp>
        <p:nvSpPr>
          <p:cNvPr id="93" name="Shape 91"/>
          <p:cNvSpPr/>
          <p:nvPr/>
        </p:nvSpPr>
        <p:spPr>
          <a:xfrm>
            <a:off x="8765008" y="1965960"/>
            <a:ext cx="170052" cy="3502152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8935060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8935060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500" dirty="0"/>
          </a:p>
        </p:txBody>
      </p:sp>
      <p:sp>
        <p:nvSpPr>
          <p:cNvPr id="96" name="Text 94"/>
          <p:cNvSpPr/>
          <p:nvPr/>
        </p:nvSpPr>
        <p:spPr>
          <a:xfrm>
            <a:off x="8935060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550" dirty="0"/>
          </a:p>
        </p:txBody>
      </p:sp>
      <p:sp>
        <p:nvSpPr>
          <p:cNvPr id="97" name="Shape 95"/>
          <p:cNvSpPr/>
          <p:nvPr/>
        </p:nvSpPr>
        <p:spPr>
          <a:xfrm>
            <a:off x="8935060" y="1965960"/>
            <a:ext cx="0" cy="3502152"/>
          </a:xfrm>
          <a:prstGeom prst="line">
            <a:avLst/>
          </a:prstGeom>
          <a:noFill/>
          <a:ln w="6350">
            <a:solidFill>
              <a:srgbClr val="9DB2BB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9105111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9105111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500" dirty="0"/>
          </a:p>
        </p:txBody>
      </p:sp>
      <p:sp>
        <p:nvSpPr>
          <p:cNvPr id="100" name="Text 98"/>
          <p:cNvSpPr/>
          <p:nvPr/>
        </p:nvSpPr>
        <p:spPr>
          <a:xfrm>
            <a:off x="9105111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550" dirty="0"/>
          </a:p>
        </p:txBody>
      </p:sp>
      <p:sp>
        <p:nvSpPr>
          <p:cNvPr id="101" name="Shape 99"/>
          <p:cNvSpPr/>
          <p:nvPr/>
        </p:nvSpPr>
        <p:spPr>
          <a:xfrm>
            <a:off x="9275163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9275163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500" dirty="0"/>
          </a:p>
        </p:txBody>
      </p:sp>
      <p:sp>
        <p:nvSpPr>
          <p:cNvPr id="103" name="Text 101"/>
          <p:cNvSpPr/>
          <p:nvPr/>
        </p:nvSpPr>
        <p:spPr>
          <a:xfrm>
            <a:off x="9275163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550" dirty="0"/>
          </a:p>
        </p:txBody>
      </p:sp>
      <p:sp>
        <p:nvSpPr>
          <p:cNvPr id="104" name="Shape 102"/>
          <p:cNvSpPr/>
          <p:nvPr/>
        </p:nvSpPr>
        <p:spPr>
          <a:xfrm>
            <a:off x="9445214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9445214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500" dirty="0"/>
          </a:p>
        </p:txBody>
      </p:sp>
      <p:sp>
        <p:nvSpPr>
          <p:cNvPr id="106" name="Text 104"/>
          <p:cNvSpPr/>
          <p:nvPr/>
        </p:nvSpPr>
        <p:spPr>
          <a:xfrm>
            <a:off x="9445214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550" dirty="0"/>
          </a:p>
        </p:txBody>
      </p:sp>
      <p:sp>
        <p:nvSpPr>
          <p:cNvPr id="107" name="Shape 105"/>
          <p:cNvSpPr/>
          <p:nvPr/>
        </p:nvSpPr>
        <p:spPr>
          <a:xfrm>
            <a:off x="9615266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9615266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</a:t>
            </a:r>
            <a:endParaRPr lang="en-US" sz="500" dirty="0"/>
          </a:p>
        </p:txBody>
      </p:sp>
      <p:sp>
        <p:nvSpPr>
          <p:cNvPr id="109" name="Text 107"/>
          <p:cNvSpPr/>
          <p:nvPr/>
        </p:nvSpPr>
        <p:spPr>
          <a:xfrm>
            <a:off x="9615266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550" dirty="0"/>
          </a:p>
        </p:txBody>
      </p:sp>
      <p:sp>
        <p:nvSpPr>
          <p:cNvPr id="110" name="Shape 108"/>
          <p:cNvSpPr/>
          <p:nvPr/>
        </p:nvSpPr>
        <p:spPr>
          <a:xfrm>
            <a:off x="9785317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9785317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500" dirty="0"/>
          </a:p>
        </p:txBody>
      </p:sp>
      <p:sp>
        <p:nvSpPr>
          <p:cNvPr id="112" name="Text 110"/>
          <p:cNvSpPr/>
          <p:nvPr/>
        </p:nvSpPr>
        <p:spPr>
          <a:xfrm>
            <a:off x="9785317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550" dirty="0"/>
          </a:p>
        </p:txBody>
      </p:sp>
      <p:sp>
        <p:nvSpPr>
          <p:cNvPr id="113" name="Shape 111"/>
          <p:cNvSpPr/>
          <p:nvPr/>
        </p:nvSpPr>
        <p:spPr>
          <a:xfrm>
            <a:off x="9955369" y="1664208"/>
            <a:ext cx="170052" cy="301752"/>
          </a:xfrm>
          <a:prstGeom prst="rect">
            <a:avLst/>
          </a:prstGeom>
          <a:solidFill>
            <a:srgbClr val="DBE3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9955369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500" dirty="0"/>
          </a:p>
        </p:txBody>
      </p:sp>
      <p:sp>
        <p:nvSpPr>
          <p:cNvPr id="115" name="Text 113"/>
          <p:cNvSpPr/>
          <p:nvPr/>
        </p:nvSpPr>
        <p:spPr>
          <a:xfrm>
            <a:off x="9955369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550" dirty="0"/>
          </a:p>
        </p:txBody>
      </p:sp>
      <p:sp>
        <p:nvSpPr>
          <p:cNvPr id="116" name="Shape 114"/>
          <p:cNvSpPr/>
          <p:nvPr/>
        </p:nvSpPr>
        <p:spPr>
          <a:xfrm>
            <a:off x="9955369" y="1965960"/>
            <a:ext cx="170052" cy="3502152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10125420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10125420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500" dirty="0"/>
          </a:p>
        </p:txBody>
      </p:sp>
      <p:sp>
        <p:nvSpPr>
          <p:cNvPr id="119" name="Text 117"/>
          <p:cNvSpPr/>
          <p:nvPr/>
        </p:nvSpPr>
        <p:spPr>
          <a:xfrm>
            <a:off x="10125420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550" dirty="0"/>
          </a:p>
        </p:txBody>
      </p:sp>
      <p:sp>
        <p:nvSpPr>
          <p:cNvPr id="120" name="Shape 118"/>
          <p:cNvSpPr/>
          <p:nvPr/>
        </p:nvSpPr>
        <p:spPr>
          <a:xfrm>
            <a:off x="10125420" y="1965960"/>
            <a:ext cx="0" cy="3502152"/>
          </a:xfrm>
          <a:prstGeom prst="line">
            <a:avLst/>
          </a:prstGeom>
          <a:noFill/>
          <a:ln w="6350">
            <a:solidFill>
              <a:srgbClr val="9DB2BB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10295472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10295472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500" dirty="0"/>
          </a:p>
        </p:txBody>
      </p:sp>
      <p:sp>
        <p:nvSpPr>
          <p:cNvPr id="123" name="Text 121"/>
          <p:cNvSpPr/>
          <p:nvPr/>
        </p:nvSpPr>
        <p:spPr>
          <a:xfrm>
            <a:off x="10295472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550" dirty="0"/>
          </a:p>
        </p:txBody>
      </p:sp>
      <p:sp>
        <p:nvSpPr>
          <p:cNvPr id="124" name="Shape 122"/>
          <p:cNvSpPr/>
          <p:nvPr/>
        </p:nvSpPr>
        <p:spPr>
          <a:xfrm>
            <a:off x="10465523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10465523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500" dirty="0"/>
          </a:p>
        </p:txBody>
      </p:sp>
      <p:sp>
        <p:nvSpPr>
          <p:cNvPr id="126" name="Text 124"/>
          <p:cNvSpPr/>
          <p:nvPr/>
        </p:nvSpPr>
        <p:spPr>
          <a:xfrm>
            <a:off x="10465523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550" dirty="0"/>
          </a:p>
        </p:txBody>
      </p:sp>
      <p:sp>
        <p:nvSpPr>
          <p:cNvPr id="127" name="Shape 125"/>
          <p:cNvSpPr/>
          <p:nvPr/>
        </p:nvSpPr>
        <p:spPr>
          <a:xfrm>
            <a:off x="10635575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10635575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500" dirty="0"/>
          </a:p>
        </p:txBody>
      </p:sp>
      <p:sp>
        <p:nvSpPr>
          <p:cNvPr id="129" name="Text 127"/>
          <p:cNvSpPr/>
          <p:nvPr/>
        </p:nvSpPr>
        <p:spPr>
          <a:xfrm>
            <a:off x="10635575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550" dirty="0"/>
          </a:p>
        </p:txBody>
      </p:sp>
      <p:sp>
        <p:nvSpPr>
          <p:cNvPr id="130" name="Shape 128"/>
          <p:cNvSpPr/>
          <p:nvPr/>
        </p:nvSpPr>
        <p:spPr>
          <a:xfrm>
            <a:off x="10805626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10805626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</a:t>
            </a:r>
            <a:endParaRPr lang="en-US" sz="500" dirty="0"/>
          </a:p>
        </p:txBody>
      </p:sp>
      <p:sp>
        <p:nvSpPr>
          <p:cNvPr id="132" name="Text 130"/>
          <p:cNvSpPr/>
          <p:nvPr/>
        </p:nvSpPr>
        <p:spPr>
          <a:xfrm>
            <a:off x="10805626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550" dirty="0"/>
          </a:p>
        </p:txBody>
      </p:sp>
      <p:sp>
        <p:nvSpPr>
          <p:cNvPr id="133" name="Shape 131"/>
          <p:cNvSpPr/>
          <p:nvPr/>
        </p:nvSpPr>
        <p:spPr>
          <a:xfrm>
            <a:off x="10975678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10975678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500" dirty="0"/>
          </a:p>
        </p:txBody>
      </p:sp>
      <p:sp>
        <p:nvSpPr>
          <p:cNvPr id="135" name="Text 133"/>
          <p:cNvSpPr/>
          <p:nvPr/>
        </p:nvSpPr>
        <p:spPr>
          <a:xfrm>
            <a:off x="10975678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550" dirty="0"/>
          </a:p>
        </p:txBody>
      </p:sp>
      <p:sp>
        <p:nvSpPr>
          <p:cNvPr id="136" name="Shape 134"/>
          <p:cNvSpPr/>
          <p:nvPr/>
        </p:nvSpPr>
        <p:spPr>
          <a:xfrm>
            <a:off x="11145729" y="1664208"/>
            <a:ext cx="170052" cy="301752"/>
          </a:xfrm>
          <a:prstGeom prst="rect">
            <a:avLst/>
          </a:prstGeom>
          <a:solidFill>
            <a:srgbClr val="DBE3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11145729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500" dirty="0"/>
          </a:p>
        </p:txBody>
      </p:sp>
      <p:sp>
        <p:nvSpPr>
          <p:cNvPr id="138" name="Text 136"/>
          <p:cNvSpPr/>
          <p:nvPr/>
        </p:nvSpPr>
        <p:spPr>
          <a:xfrm>
            <a:off x="11145729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550" dirty="0"/>
          </a:p>
        </p:txBody>
      </p:sp>
      <p:sp>
        <p:nvSpPr>
          <p:cNvPr id="139" name="Shape 137"/>
          <p:cNvSpPr/>
          <p:nvPr/>
        </p:nvSpPr>
        <p:spPr>
          <a:xfrm>
            <a:off x="11145729" y="1965960"/>
            <a:ext cx="170052" cy="3502152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11315781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11315781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500" dirty="0"/>
          </a:p>
        </p:txBody>
      </p:sp>
      <p:sp>
        <p:nvSpPr>
          <p:cNvPr id="142" name="Text 140"/>
          <p:cNvSpPr/>
          <p:nvPr/>
        </p:nvSpPr>
        <p:spPr>
          <a:xfrm>
            <a:off x="11315781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550" dirty="0"/>
          </a:p>
        </p:txBody>
      </p:sp>
      <p:sp>
        <p:nvSpPr>
          <p:cNvPr id="143" name="Shape 141"/>
          <p:cNvSpPr/>
          <p:nvPr/>
        </p:nvSpPr>
        <p:spPr>
          <a:xfrm>
            <a:off x="11315781" y="1965960"/>
            <a:ext cx="0" cy="3502152"/>
          </a:xfrm>
          <a:prstGeom prst="line">
            <a:avLst/>
          </a:prstGeom>
          <a:noFill/>
          <a:ln w="6350">
            <a:solidFill>
              <a:srgbClr val="9DB2BB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11485832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5" name="Text 143"/>
          <p:cNvSpPr/>
          <p:nvPr/>
        </p:nvSpPr>
        <p:spPr>
          <a:xfrm>
            <a:off x="11485832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500" dirty="0"/>
          </a:p>
        </p:txBody>
      </p:sp>
      <p:sp>
        <p:nvSpPr>
          <p:cNvPr id="146" name="Text 144"/>
          <p:cNvSpPr/>
          <p:nvPr/>
        </p:nvSpPr>
        <p:spPr>
          <a:xfrm>
            <a:off x="11485832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550" dirty="0"/>
          </a:p>
        </p:txBody>
      </p:sp>
      <p:sp>
        <p:nvSpPr>
          <p:cNvPr id="147" name="Shape 145"/>
          <p:cNvSpPr/>
          <p:nvPr/>
        </p:nvSpPr>
        <p:spPr>
          <a:xfrm>
            <a:off x="11655884" y="1664208"/>
            <a:ext cx="170052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8" name="Text 146"/>
          <p:cNvSpPr/>
          <p:nvPr/>
        </p:nvSpPr>
        <p:spPr>
          <a:xfrm>
            <a:off x="11655884" y="1664208"/>
            <a:ext cx="1700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500" dirty="0"/>
          </a:p>
        </p:txBody>
      </p:sp>
      <p:sp>
        <p:nvSpPr>
          <p:cNvPr id="149" name="Text 147"/>
          <p:cNvSpPr/>
          <p:nvPr/>
        </p:nvSpPr>
        <p:spPr>
          <a:xfrm>
            <a:off x="11655884" y="1801368"/>
            <a:ext cx="1700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550" dirty="0"/>
          </a:p>
        </p:txBody>
      </p:sp>
      <p:sp>
        <p:nvSpPr>
          <p:cNvPr id="150" name="Shape 148"/>
          <p:cNvSpPr/>
          <p:nvPr/>
        </p:nvSpPr>
        <p:spPr>
          <a:xfrm>
            <a:off x="365760" y="1965960"/>
            <a:ext cx="11460175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438912" y="1984248"/>
            <a:ext cx="237744" cy="237744"/>
          </a:xfrm>
          <a:prstGeom prst="ellipse">
            <a:avLst/>
          </a:prstGeom>
          <a:solidFill>
            <a:srgbClr val="3D3935"/>
          </a:solidFill>
          <a:ln w="12700">
            <a:solidFill>
              <a:srgbClr val="3D3935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365760" y="196596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</a:t>
            </a:r>
            <a:endParaRPr lang="en-US" sz="900" dirty="0"/>
          </a:p>
        </p:txBody>
      </p:sp>
      <p:sp>
        <p:nvSpPr>
          <p:cNvPr id="153" name="Text 151"/>
          <p:cNvSpPr/>
          <p:nvPr/>
        </p:nvSpPr>
        <p:spPr>
          <a:xfrm>
            <a:off x="822960" y="19659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10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project duration</a:t>
            </a:r>
            <a:endParaRPr lang="en-US" sz="1000" dirty="0"/>
          </a:p>
        </p:txBody>
      </p:sp>
      <p:sp>
        <p:nvSpPr>
          <p:cNvPr id="154" name="Text 152"/>
          <p:cNvSpPr/>
          <p:nvPr/>
        </p:nvSpPr>
        <p:spPr>
          <a:xfrm>
            <a:off x="4224528" y="196596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100" dirty="0"/>
          </a:p>
        </p:txBody>
      </p:sp>
      <p:sp>
        <p:nvSpPr>
          <p:cNvPr id="155" name="Text 153"/>
          <p:cNvSpPr/>
          <p:nvPr/>
        </p:nvSpPr>
        <p:spPr>
          <a:xfrm>
            <a:off x="4727448" y="196596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8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Oct</a:t>
            </a:r>
            <a:endParaRPr lang="en-US" sz="850" dirty="0"/>
          </a:p>
        </p:txBody>
      </p:sp>
      <p:sp>
        <p:nvSpPr>
          <p:cNvPr id="156" name="Text 154"/>
          <p:cNvSpPr/>
          <p:nvPr/>
        </p:nvSpPr>
        <p:spPr>
          <a:xfrm>
            <a:off x="5385816" y="196596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8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Nov</a:t>
            </a:r>
            <a:endParaRPr lang="en-US" sz="850" dirty="0"/>
          </a:p>
        </p:txBody>
      </p:sp>
      <p:sp>
        <p:nvSpPr>
          <p:cNvPr id="157" name="Shape 155"/>
          <p:cNvSpPr/>
          <p:nvPr/>
        </p:nvSpPr>
        <p:spPr>
          <a:xfrm>
            <a:off x="7404596" y="2011680"/>
            <a:ext cx="4081236" cy="182880"/>
          </a:xfrm>
          <a:prstGeom prst="roundRect">
            <a:avLst>
              <a:gd name="adj" fmla="val 25000"/>
            </a:avLst>
          </a:prstGeom>
          <a:solidFill>
            <a:srgbClr val="3D3935"/>
          </a:solidFill>
          <a:ln w="12700">
            <a:solidFill>
              <a:srgbClr val="3D3935"/>
            </a:solidFill>
            <a:prstDash val="solid"/>
          </a:ln>
        </p:spPr>
      </p:sp>
      <p:sp>
        <p:nvSpPr>
          <p:cNvPr id="158" name="Text 156"/>
          <p:cNvSpPr/>
          <p:nvPr/>
        </p:nvSpPr>
        <p:spPr>
          <a:xfrm>
            <a:off x="7404596" y="2011680"/>
            <a:ext cx="40812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working days · 22 Oct → 14 Nov</a:t>
            </a:r>
            <a:endParaRPr lang="en-US" sz="850" dirty="0"/>
          </a:p>
        </p:txBody>
      </p:sp>
      <p:sp>
        <p:nvSpPr>
          <p:cNvPr id="159" name="Shape 157"/>
          <p:cNvSpPr/>
          <p:nvPr/>
        </p:nvSpPr>
        <p:spPr>
          <a:xfrm>
            <a:off x="365760" y="2240280"/>
            <a:ext cx="11460175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438912" y="2258568"/>
            <a:ext cx="237744" cy="237744"/>
          </a:xfrm>
          <a:prstGeom prst="ellipse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161" name="Text 159"/>
          <p:cNvSpPr/>
          <p:nvPr/>
        </p:nvSpPr>
        <p:spPr>
          <a:xfrm>
            <a:off x="365760" y="224028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⟷</a:t>
            </a:r>
            <a:endParaRPr lang="en-US" sz="900" dirty="0"/>
          </a:p>
        </p:txBody>
      </p:sp>
      <p:sp>
        <p:nvSpPr>
          <p:cNvPr id="162" name="Text 160"/>
          <p:cNvSpPr/>
          <p:nvPr/>
        </p:nvSpPr>
        <p:spPr>
          <a:xfrm>
            <a:off x="822960" y="224028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850" b="1" dirty="0">
                <a:solidFill>
                  <a:srgbClr val="C85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Shoring works – total time required</a:t>
            </a:r>
            <a:endParaRPr lang="en-US" sz="850" dirty="0"/>
          </a:p>
        </p:txBody>
      </p:sp>
      <p:sp>
        <p:nvSpPr>
          <p:cNvPr id="163" name="Text 161"/>
          <p:cNvSpPr/>
          <p:nvPr/>
        </p:nvSpPr>
        <p:spPr>
          <a:xfrm>
            <a:off x="4224528" y="22402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64" name="Text 162"/>
          <p:cNvSpPr/>
          <p:nvPr/>
        </p:nvSpPr>
        <p:spPr>
          <a:xfrm>
            <a:off x="4727448" y="224028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8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Oct</a:t>
            </a:r>
            <a:endParaRPr lang="en-US" sz="850" dirty="0"/>
          </a:p>
        </p:txBody>
      </p:sp>
      <p:sp>
        <p:nvSpPr>
          <p:cNvPr id="165" name="Text 163"/>
          <p:cNvSpPr/>
          <p:nvPr/>
        </p:nvSpPr>
        <p:spPr>
          <a:xfrm>
            <a:off x="5385816" y="224028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8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Oct</a:t>
            </a:r>
            <a:endParaRPr lang="en-US" sz="850" dirty="0"/>
          </a:p>
        </p:txBody>
      </p:sp>
      <p:sp>
        <p:nvSpPr>
          <p:cNvPr id="166" name="Shape 164"/>
          <p:cNvSpPr/>
          <p:nvPr/>
        </p:nvSpPr>
        <p:spPr>
          <a:xfrm>
            <a:off x="7404596" y="2276856"/>
            <a:ext cx="850258" cy="201168"/>
          </a:xfrm>
          <a:prstGeom prst="roundRect">
            <a:avLst>
              <a:gd name="adj" fmla="val 18182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167" name="Text 165"/>
          <p:cNvSpPr/>
          <p:nvPr/>
        </p:nvSpPr>
        <p:spPr>
          <a:xfrm>
            <a:off x="7404596" y="2276856"/>
            <a:ext cx="8502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working days</a:t>
            </a:r>
            <a:endParaRPr lang="en-US" sz="800" dirty="0"/>
          </a:p>
        </p:txBody>
      </p:sp>
      <p:sp>
        <p:nvSpPr>
          <p:cNvPr id="168" name="Shape 166"/>
          <p:cNvSpPr/>
          <p:nvPr/>
        </p:nvSpPr>
        <p:spPr>
          <a:xfrm>
            <a:off x="365760" y="2514600"/>
            <a:ext cx="11460175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438912" y="2532888"/>
            <a:ext cx="237744" cy="237744"/>
          </a:xfrm>
          <a:prstGeom prst="ellipse">
            <a:avLst/>
          </a:prstGeom>
          <a:solidFill>
            <a:srgbClr val="6C4AB6"/>
          </a:solidFill>
          <a:ln w="12700">
            <a:solidFill>
              <a:srgbClr val="6C4AB6"/>
            </a:solidFill>
            <a:prstDash val="solid"/>
          </a:ln>
        </p:spPr>
      </p:sp>
      <p:sp>
        <p:nvSpPr>
          <p:cNvPr id="170" name="Text 168"/>
          <p:cNvSpPr/>
          <p:nvPr/>
        </p:nvSpPr>
        <p:spPr>
          <a:xfrm>
            <a:off x="365760" y="251460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⟷</a:t>
            </a:r>
            <a:endParaRPr lang="en-US" sz="900" dirty="0"/>
          </a:p>
        </p:txBody>
      </p:sp>
      <p:sp>
        <p:nvSpPr>
          <p:cNvPr id="171" name="Text 169"/>
          <p:cNvSpPr/>
          <p:nvPr/>
        </p:nvSpPr>
        <p:spPr>
          <a:xfrm>
            <a:off x="822960" y="251460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850" b="1" dirty="0">
                <a:solidFill>
                  <a:srgbClr val="6C4A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Concrete works to backfilling – total time required</a:t>
            </a:r>
            <a:endParaRPr lang="en-US" sz="850" dirty="0"/>
          </a:p>
        </p:txBody>
      </p:sp>
      <p:sp>
        <p:nvSpPr>
          <p:cNvPr id="172" name="Text 170"/>
          <p:cNvSpPr/>
          <p:nvPr/>
        </p:nvSpPr>
        <p:spPr>
          <a:xfrm>
            <a:off x="4224528" y="251460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100" dirty="0"/>
          </a:p>
        </p:txBody>
      </p:sp>
      <p:sp>
        <p:nvSpPr>
          <p:cNvPr id="173" name="Text 171"/>
          <p:cNvSpPr/>
          <p:nvPr/>
        </p:nvSpPr>
        <p:spPr>
          <a:xfrm>
            <a:off x="4727448" y="251460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8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Oct</a:t>
            </a:r>
            <a:endParaRPr lang="en-US" sz="850" dirty="0"/>
          </a:p>
        </p:txBody>
      </p:sp>
      <p:sp>
        <p:nvSpPr>
          <p:cNvPr id="174" name="Text 172"/>
          <p:cNvSpPr/>
          <p:nvPr/>
        </p:nvSpPr>
        <p:spPr>
          <a:xfrm>
            <a:off x="5385816" y="251460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8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Nov</a:t>
            </a:r>
            <a:endParaRPr lang="en-US" sz="850" dirty="0"/>
          </a:p>
        </p:txBody>
      </p:sp>
      <p:sp>
        <p:nvSpPr>
          <p:cNvPr id="175" name="Shape 173"/>
          <p:cNvSpPr/>
          <p:nvPr/>
        </p:nvSpPr>
        <p:spPr>
          <a:xfrm>
            <a:off x="8254854" y="2551176"/>
            <a:ext cx="3230979" cy="201168"/>
          </a:xfrm>
          <a:prstGeom prst="roundRect">
            <a:avLst>
              <a:gd name="adj" fmla="val 18182"/>
            </a:avLst>
          </a:prstGeom>
          <a:solidFill>
            <a:srgbClr val="6C4AB6"/>
          </a:solidFill>
          <a:ln w="12700">
            <a:solidFill>
              <a:srgbClr val="6C4AB6"/>
            </a:solidFill>
            <a:prstDash val="solid"/>
          </a:ln>
        </p:spPr>
      </p:sp>
      <p:sp>
        <p:nvSpPr>
          <p:cNvPr id="176" name="Text 174"/>
          <p:cNvSpPr/>
          <p:nvPr/>
        </p:nvSpPr>
        <p:spPr>
          <a:xfrm>
            <a:off x="8254854" y="2551176"/>
            <a:ext cx="323097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working days</a:t>
            </a:r>
            <a:endParaRPr lang="en-US" sz="800" dirty="0"/>
          </a:p>
        </p:txBody>
      </p:sp>
      <p:sp>
        <p:nvSpPr>
          <p:cNvPr id="177" name="Shape 175"/>
          <p:cNvSpPr/>
          <p:nvPr/>
        </p:nvSpPr>
        <p:spPr>
          <a:xfrm>
            <a:off x="365760" y="2788920"/>
            <a:ext cx="11460175" cy="223266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438912" y="2781681"/>
            <a:ext cx="237744" cy="237744"/>
          </a:xfrm>
          <a:prstGeom prst="ellipse">
            <a:avLst/>
          </a:prstGeom>
          <a:solidFill>
            <a:srgbClr val="C8503F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179" name="Text 177"/>
          <p:cNvSpPr/>
          <p:nvPr/>
        </p:nvSpPr>
        <p:spPr>
          <a:xfrm>
            <a:off x="365760" y="2788920"/>
            <a:ext cx="384048" cy="2232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850" dirty="0"/>
          </a:p>
        </p:txBody>
      </p:sp>
      <p:sp>
        <p:nvSpPr>
          <p:cNvPr id="180" name="Text 178"/>
          <p:cNvSpPr/>
          <p:nvPr/>
        </p:nvSpPr>
        <p:spPr>
          <a:xfrm>
            <a:off x="822960" y="2788920"/>
            <a:ext cx="2606040" cy="2232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Shoring system installation</a:t>
            </a:r>
            <a:endParaRPr lang="en-US" sz="750" dirty="0"/>
          </a:p>
        </p:txBody>
      </p:sp>
      <p:sp>
        <p:nvSpPr>
          <p:cNvPr id="181" name="Text 179"/>
          <p:cNvSpPr/>
          <p:nvPr/>
        </p:nvSpPr>
        <p:spPr>
          <a:xfrm>
            <a:off x="3447288" y="2788920"/>
            <a:ext cx="777240" cy="2232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00" dirty="0"/>
          </a:p>
        </p:txBody>
      </p:sp>
      <p:sp>
        <p:nvSpPr>
          <p:cNvPr id="182" name="Text 180"/>
          <p:cNvSpPr/>
          <p:nvPr/>
        </p:nvSpPr>
        <p:spPr>
          <a:xfrm>
            <a:off x="4224528" y="2788920"/>
            <a:ext cx="502920" cy="2232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183" name="Text 181"/>
          <p:cNvSpPr/>
          <p:nvPr/>
        </p:nvSpPr>
        <p:spPr>
          <a:xfrm>
            <a:off x="4727448" y="2788920"/>
            <a:ext cx="658368" cy="2232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Oct</a:t>
            </a:r>
            <a:endParaRPr lang="en-US" sz="700" dirty="0"/>
          </a:p>
        </p:txBody>
      </p:sp>
      <p:sp>
        <p:nvSpPr>
          <p:cNvPr id="184" name="Text 182"/>
          <p:cNvSpPr/>
          <p:nvPr/>
        </p:nvSpPr>
        <p:spPr>
          <a:xfrm>
            <a:off x="5385816" y="2788920"/>
            <a:ext cx="658368" cy="2232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Oct</a:t>
            </a:r>
            <a:endParaRPr lang="en-US" sz="700" dirty="0"/>
          </a:p>
        </p:txBody>
      </p:sp>
      <p:sp>
        <p:nvSpPr>
          <p:cNvPr id="185" name="Shape 183"/>
          <p:cNvSpPr/>
          <p:nvPr/>
        </p:nvSpPr>
        <p:spPr>
          <a:xfrm>
            <a:off x="7404596" y="2841117"/>
            <a:ext cx="850258" cy="64008"/>
          </a:xfrm>
          <a:prstGeom prst="rect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 flipV="1">
            <a:off x="7404596" y="2905125"/>
            <a:ext cx="64008" cy="54864"/>
          </a:xfrm>
          <a:prstGeom prst="triangle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 flipV="1">
            <a:off x="8190846" y="2905125"/>
            <a:ext cx="64008" cy="54864"/>
          </a:xfrm>
          <a:prstGeom prst="triangle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188" name="Text 186"/>
          <p:cNvSpPr/>
          <p:nvPr/>
        </p:nvSpPr>
        <p:spPr>
          <a:xfrm>
            <a:off x="8300574" y="2788920"/>
            <a:ext cx="548640" cy="2232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d</a:t>
            </a:r>
            <a:endParaRPr lang="en-US" sz="750" dirty="0"/>
          </a:p>
        </p:txBody>
      </p:sp>
      <p:sp>
        <p:nvSpPr>
          <p:cNvPr id="189" name="Shape 187"/>
          <p:cNvSpPr/>
          <p:nvPr/>
        </p:nvSpPr>
        <p:spPr>
          <a:xfrm>
            <a:off x="365760" y="3012186"/>
            <a:ext cx="11460175" cy="223266"/>
          </a:xfrm>
          <a:prstGeom prst="rect">
            <a:avLst/>
          </a:prstGeom>
          <a:solidFill>
            <a:srgbClr val="F6F9FA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420624" y="3046095"/>
            <a:ext cx="329184" cy="155448"/>
          </a:xfrm>
          <a:prstGeom prst="roundRect">
            <a:avLst>
              <a:gd name="adj" fmla="val 50000"/>
            </a:avLst>
          </a:prstGeom>
          <a:solidFill>
            <a:srgbClr val="D9695A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191" name="Text 189"/>
          <p:cNvSpPr/>
          <p:nvPr/>
        </p:nvSpPr>
        <p:spPr>
          <a:xfrm>
            <a:off x="393192" y="3012186"/>
            <a:ext cx="384048" cy="2232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A.1</a:t>
            </a:r>
            <a:endParaRPr lang="en-US" sz="650" dirty="0"/>
          </a:p>
        </p:txBody>
      </p:sp>
      <p:sp>
        <p:nvSpPr>
          <p:cNvPr id="192" name="Text 190"/>
          <p:cNvSpPr/>
          <p:nvPr/>
        </p:nvSpPr>
        <p:spPr>
          <a:xfrm>
            <a:off x="987552" y="3012186"/>
            <a:ext cx="2441448" cy="2232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Excavation / digging for H-Beam</a:t>
            </a:r>
            <a:endParaRPr lang="en-US" sz="700" dirty="0"/>
          </a:p>
        </p:txBody>
      </p:sp>
      <p:sp>
        <p:nvSpPr>
          <p:cNvPr id="193" name="Text 191"/>
          <p:cNvSpPr/>
          <p:nvPr/>
        </p:nvSpPr>
        <p:spPr>
          <a:xfrm>
            <a:off x="3447288" y="3012186"/>
            <a:ext cx="777240" cy="2232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00" dirty="0"/>
          </a:p>
        </p:txBody>
      </p:sp>
      <p:sp>
        <p:nvSpPr>
          <p:cNvPr id="194" name="Text 192"/>
          <p:cNvSpPr/>
          <p:nvPr/>
        </p:nvSpPr>
        <p:spPr>
          <a:xfrm>
            <a:off x="4224528" y="3012186"/>
            <a:ext cx="502920" cy="2232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95" name="Text 193"/>
          <p:cNvSpPr/>
          <p:nvPr/>
        </p:nvSpPr>
        <p:spPr>
          <a:xfrm>
            <a:off x="4727448" y="3012186"/>
            <a:ext cx="658368" cy="2232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Oct</a:t>
            </a:r>
            <a:endParaRPr lang="en-US" sz="700" dirty="0"/>
          </a:p>
        </p:txBody>
      </p:sp>
      <p:sp>
        <p:nvSpPr>
          <p:cNvPr id="196" name="Text 194"/>
          <p:cNvSpPr/>
          <p:nvPr/>
        </p:nvSpPr>
        <p:spPr>
          <a:xfrm>
            <a:off x="5385816" y="3012186"/>
            <a:ext cx="658368" cy="2232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Oct</a:t>
            </a:r>
            <a:endParaRPr lang="en-US" sz="700" dirty="0"/>
          </a:p>
        </p:txBody>
      </p:sp>
      <p:sp>
        <p:nvSpPr>
          <p:cNvPr id="197" name="Shape 195"/>
          <p:cNvSpPr/>
          <p:nvPr/>
        </p:nvSpPr>
        <p:spPr>
          <a:xfrm>
            <a:off x="7404596" y="3059072"/>
            <a:ext cx="510155" cy="129494"/>
          </a:xfrm>
          <a:prstGeom prst="roundRect">
            <a:avLst>
              <a:gd name="adj" fmla="val 28245"/>
            </a:avLst>
          </a:prstGeom>
          <a:solidFill>
            <a:srgbClr val="D9695A"/>
          </a:solidFill>
          <a:ln w="19050">
            <a:solidFill>
              <a:srgbClr val="222222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198" name="Text 196"/>
          <p:cNvSpPr/>
          <p:nvPr/>
        </p:nvSpPr>
        <p:spPr>
          <a:xfrm>
            <a:off x="7404596" y="3059072"/>
            <a:ext cx="510155" cy="12949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d</a:t>
            </a:r>
            <a:endParaRPr lang="en-US" sz="700" dirty="0"/>
          </a:p>
        </p:txBody>
      </p:sp>
      <p:sp>
        <p:nvSpPr>
          <p:cNvPr id="199" name="Shape 197"/>
          <p:cNvSpPr/>
          <p:nvPr/>
        </p:nvSpPr>
        <p:spPr>
          <a:xfrm>
            <a:off x="365760" y="3235452"/>
            <a:ext cx="11460175" cy="223266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420624" y="3269361"/>
            <a:ext cx="329184" cy="155448"/>
          </a:xfrm>
          <a:prstGeom prst="roundRect">
            <a:avLst>
              <a:gd name="adj" fmla="val 50000"/>
            </a:avLst>
          </a:prstGeom>
          <a:solidFill>
            <a:srgbClr val="D9695A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201" name="Text 199"/>
          <p:cNvSpPr/>
          <p:nvPr/>
        </p:nvSpPr>
        <p:spPr>
          <a:xfrm>
            <a:off x="393192" y="3235452"/>
            <a:ext cx="384048" cy="2232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A.2</a:t>
            </a:r>
            <a:endParaRPr lang="en-US" sz="650" dirty="0"/>
          </a:p>
        </p:txBody>
      </p:sp>
      <p:sp>
        <p:nvSpPr>
          <p:cNvPr id="202" name="Text 200"/>
          <p:cNvSpPr/>
          <p:nvPr/>
        </p:nvSpPr>
        <p:spPr>
          <a:xfrm>
            <a:off x="987552" y="3235452"/>
            <a:ext cx="2441448" cy="2232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Installation of H-Beam</a:t>
            </a:r>
            <a:endParaRPr lang="en-US" sz="700" dirty="0"/>
          </a:p>
        </p:txBody>
      </p:sp>
      <p:sp>
        <p:nvSpPr>
          <p:cNvPr id="203" name="Text 201"/>
          <p:cNvSpPr/>
          <p:nvPr/>
        </p:nvSpPr>
        <p:spPr>
          <a:xfrm>
            <a:off x="3447288" y="3235452"/>
            <a:ext cx="777240" cy="2232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 · SS +1</a:t>
            </a:r>
            <a:endParaRPr lang="en-US" sz="700" dirty="0"/>
          </a:p>
        </p:txBody>
      </p:sp>
      <p:sp>
        <p:nvSpPr>
          <p:cNvPr id="204" name="Text 202"/>
          <p:cNvSpPr/>
          <p:nvPr/>
        </p:nvSpPr>
        <p:spPr>
          <a:xfrm>
            <a:off x="4224528" y="3235452"/>
            <a:ext cx="502920" cy="2232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205" name="Text 203"/>
          <p:cNvSpPr/>
          <p:nvPr/>
        </p:nvSpPr>
        <p:spPr>
          <a:xfrm>
            <a:off x="4727448" y="3235452"/>
            <a:ext cx="658368" cy="2232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Oct</a:t>
            </a:r>
            <a:endParaRPr lang="en-US" sz="700" dirty="0"/>
          </a:p>
        </p:txBody>
      </p:sp>
      <p:sp>
        <p:nvSpPr>
          <p:cNvPr id="206" name="Text 204"/>
          <p:cNvSpPr/>
          <p:nvPr/>
        </p:nvSpPr>
        <p:spPr>
          <a:xfrm>
            <a:off x="5385816" y="3235452"/>
            <a:ext cx="658368" cy="2232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Oct</a:t>
            </a:r>
            <a:endParaRPr lang="en-US" sz="700" dirty="0"/>
          </a:p>
        </p:txBody>
      </p:sp>
      <p:sp>
        <p:nvSpPr>
          <p:cNvPr id="207" name="Shape 205"/>
          <p:cNvSpPr/>
          <p:nvPr/>
        </p:nvSpPr>
        <p:spPr>
          <a:xfrm>
            <a:off x="7744699" y="3282338"/>
            <a:ext cx="340103" cy="129494"/>
          </a:xfrm>
          <a:prstGeom prst="roundRect">
            <a:avLst>
              <a:gd name="adj" fmla="val 28245"/>
            </a:avLst>
          </a:prstGeom>
          <a:solidFill>
            <a:srgbClr val="D9695A"/>
          </a:solidFill>
          <a:ln w="19050">
            <a:solidFill>
              <a:srgbClr val="222222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208" name="Text 206"/>
          <p:cNvSpPr/>
          <p:nvPr/>
        </p:nvSpPr>
        <p:spPr>
          <a:xfrm>
            <a:off x="7744699" y="3282338"/>
            <a:ext cx="340103" cy="12949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d</a:t>
            </a:r>
            <a:endParaRPr lang="en-US" sz="700" dirty="0"/>
          </a:p>
        </p:txBody>
      </p:sp>
      <p:sp>
        <p:nvSpPr>
          <p:cNvPr id="209" name="Shape 207"/>
          <p:cNvSpPr/>
          <p:nvPr/>
        </p:nvSpPr>
        <p:spPr>
          <a:xfrm>
            <a:off x="365760" y="3458718"/>
            <a:ext cx="11460175" cy="223266"/>
          </a:xfrm>
          <a:prstGeom prst="rect">
            <a:avLst/>
          </a:prstGeom>
          <a:solidFill>
            <a:srgbClr val="F6F9FA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420624" y="3492627"/>
            <a:ext cx="329184" cy="155448"/>
          </a:xfrm>
          <a:prstGeom prst="roundRect">
            <a:avLst>
              <a:gd name="adj" fmla="val 50000"/>
            </a:avLst>
          </a:prstGeom>
          <a:solidFill>
            <a:srgbClr val="D9695A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211" name="Text 209"/>
          <p:cNvSpPr/>
          <p:nvPr/>
        </p:nvSpPr>
        <p:spPr>
          <a:xfrm>
            <a:off x="393192" y="3458718"/>
            <a:ext cx="384048" cy="2232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A.3</a:t>
            </a:r>
            <a:endParaRPr lang="en-US" sz="650" dirty="0"/>
          </a:p>
        </p:txBody>
      </p:sp>
      <p:sp>
        <p:nvSpPr>
          <p:cNvPr id="212" name="Text 210"/>
          <p:cNvSpPr/>
          <p:nvPr/>
        </p:nvSpPr>
        <p:spPr>
          <a:xfrm>
            <a:off x="987552" y="3458718"/>
            <a:ext cx="2441448" cy="2232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Concrete work for H-Beam</a:t>
            </a:r>
            <a:endParaRPr lang="en-US" sz="700" dirty="0"/>
          </a:p>
        </p:txBody>
      </p:sp>
      <p:sp>
        <p:nvSpPr>
          <p:cNvPr id="213" name="Text 211"/>
          <p:cNvSpPr/>
          <p:nvPr/>
        </p:nvSpPr>
        <p:spPr>
          <a:xfrm>
            <a:off x="3447288" y="3458718"/>
            <a:ext cx="777240" cy="2232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A2 · SS +1</a:t>
            </a:r>
            <a:endParaRPr lang="en-US" sz="700" dirty="0"/>
          </a:p>
        </p:txBody>
      </p:sp>
      <p:sp>
        <p:nvSpPr>
          <p:cNvPr id="214" name="Text 212"/>
          <p:cNvSpPr/>
          <p:nvPr/>
        </p:nvSpPr>
        <p:spPr>
          <a:xfrm>
            <a:off x="4224528" y="3458718"/>
            <a:ext cx="502920" cy="2232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215" name="Text 213"/>
          <p:cNvSpPr/>
          <p:nvPr/>
        </p:nvSpPr>
        <p:spPr>
          <a:xfrm>
            <a:off x="4727448" y="3458718"/>
            <a:ext cx="658368" cy="2232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Oct</a:t>
            </a:r>
            <a:endParaRPr lang="en-US" sz="700" dirty="0"/>
          </a:p>
        </p:txBody>
      </p:sp>
      <p:sp>
        <p:nvSpPr>
          <p:cNvPr id="216" name="Text 214"/>
          <p:cNvSpPr/>
          <p:nvPr/>
        </p:nvSpPr>
        <p:spPr>
          <a:xfrm>
            <a:off x="5385816" y="3458718"/>
            <a:ext cx="658368" cy="2232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Oct</a:t>
            </a:r>
            <a:endParaRPr lang="en-US" sz="700" dirty="0"/>
          </a:p>
        </p:txBody>
      </p:sp>
      <p:sp>
        <p:nvSpPr>
          <p:cNvPr id="217" name="Shape 215"/>
          <p:cNvSpPr/>
          <p:nvPr/>
        </p:nvSpPr>
        <p:spPr>
          <a:xfrm>
            <a:off x="7914751" y="3505604"/>
            <a:ext cx="340103" cy="129494"/>
          </a:xfrm>
          <a:prstGeom prst="roundRect">
            <a:avLst>
              <a:gd name="adj" fmla="val 28245"/>
            </a:avLst>
          </a:prstGeom>
          <a:solidFill>
            <a:srgbClr val="D9695A"/>
          </a:solidFill>
          <a:ln w="19050">
            <a:solidFill>
              <a:srgbClr val="222222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218" name="Text 216"/>
          <p:cNvSpPr/>
          <p:nvPr/>
        </p:nvSpPr>
        <p:spPr>
          <a:xfrm>
            <a:off x="7914751" y="3505604"/>
            <a:ext cx="340103" cy="12949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d</a:t>
            </a:r>
            <a:endParaRPr lang="en-US" sz="700" dirty="0"/>
          </a:p>
        </p:txBody>
      </p:sp>
      <p:sp>
        <p:nvSpPr>
          <p:cNvPr id="219" name="Shape 217"/>
          <p:cNvSpPr/>
          <p:nvPr/>
        </p:nvSpPr>
        <p:spPr>
          <a:xfrm>
            <a:off x="365760" y="3681984"/>
            <a:ext cx="11460175" cy="223266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420624" y="3715893"/>
            <a:ext cx="329184" cy="155448"/>
          </a:xfrm>
          <a:prstGeom prst="roundRect">
            <a:avLst>
              <a:gd name="adj" fmla="val 50000"/>
            </a:avLst>
          </a:prstGeom>
          <a:solidFill>
            <a:srgbClr val="D9695A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221" name="Text 219"/>
          <p:cNvSpPr/>
          <p:nvPr/>
        </p:nvSpPr>
        <p:spPr>
          <a:xfrm>
            <a:off x="393192" y="3681984"/>
            <a:ext cx="384048" cy="2232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A.4</a:t>
            </a:r>
            <a:endParaRPr lang="en-US" sz="650" dirty="0"/>
          </a:p>
        </p:txBody>
      </p:sp>
      <p:sp>
        <p:nvSpPr>
          <p:cNvPr id="222" name="Text 220"/>
          <p:cNvSpPr/>
          <p:nvPr/>
        </p:nvSpPr>
        <p:spPr>
          <a:xfrm>
            <a:off x="987552" y="3681984"/>
            <a:ext cx="2441448" cy="2232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Bracing for shoring</a:t>
            </a:r>
            <a:endParaRPr lang="en-US" sz="700" dirty="0"/>
          </a:p>
        </p:txBody>
      </p:sp>
      <p:sp>
        <p:nvSpPr>
          <p:cNvPr id="223" name="Text 221"/>
          <p:cNvSpPr/>
          <p:nvPr/>
        </p:nvSpPr>
        <p:spPr>
          <a:xfrm>
            <a:off x="3447288" y="3681984"/>
            <a:ext cx="777240" cy="2232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A3 · SS +1</a:t>
            </a:r>
            <a:endParaRPr lang="en-US" sz="700" dirty="0"/>
          </a:p>
        </p:txBody>
      </p:sp>
      <p:sp>
        <p:nvSpPr>
          <p:cNvPr id="224" name="Text 222"/>
          <p:cNvSpPr/>
          <p:nvPr/>
        </p:nvSpPr>
        <p:spPr>
          <a:xfrm>
            <a:off x="4224528" y="3681984"/>
            <a:ext cx="502920" cy="2232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225" name="Text 223"/>
          <p:cNvSpPr/>
          <p:nvPr/>
        </p:nvSpPr>
        <p:spPr>
          <a:xfrm>
            <a:off x="4727448" y="3681984"/>
            <a:ext cx="658368" cy="2232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Oct</a:t>
            </a:r>
            <a:endParaRPr lang="en-US" sz="700" dirty="0"/>
          </a:p>
        </p:txBody>
      </p:sp>
      <p:sp>
        <p:nvSpPr>
          <p:cNvPr id="226" name="Text 224"/>
          <p:cNvSpPr/>
          <p:nvPr/>
        </p:nvSpPr>
        <p:spPr>
          <a:xfrm>
            <a:off x="5385816" y="3681984"/>
            <a:ext cx="658368" cy="2232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Oct</a:t>
            </a:r>
            <a:endParaRPr lang="en-US" sz="700" dirty="0"/>
          </a:p>
        </p:txBody>
      </p:sp>
      <p:sp>
        <p:nvSpPr>
          <p:cNvPr id="227" name="Shape 225"/>
          <p:cNvSpPr/>
          <p:nvPr/>
        </p:nvSpPr>
        <p:spPr>
          <a:xfrm>
            <a:off x="8084802" y="3728870"/>
            <a:ext cx="170052" cy="129494"/>
          </a:xfrm>
          <a:prstGeom prst="roundRect">
            <a:avLst>
              <a:gd name="adj" fmla="val 28245"/>
            </a:avLst>
          </a:prstGeom>
          <a:solidFill>
            <a:srgbClr val="D9695A"/>
          </a:solidFill>
          <a:ln w="19050">
            <a:solidFill>
              <a:srgbClr val="222222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228" name="Shape 226"/>
          <p:cNvSpPr/>
          <p:nvPr/>
        </p:nvSpPr>
        <p:spPr>
          <a:xfrm>
            <a:off x="365760" y="3905250"/>
            <a:ext cx="11460175" cy="223266"/>
          </a:xfrm>
          <a:prstGeom prst="rect">
            <a:avLst/>
          </a:prstGeom>
          <a:solidFill>
            <a:srgbClr val="F6F9FA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420624" y="3939159"/>
            <a:ext cx="329184" cy="155448"/>
          </a:xfrm>
          <a:prstGeom prst="roundRect">
            <a:avLst>
              <a:gd name="adj" fmla="val 50000"/>
            </a:avLst>
          </a:prstGeom>
          <a:solidFill>
            <a:srgbClr val="D9695A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230" name="Text 228"/>
          <p:cNvSpPr/>
          <p:nvPr/>
        </p:nvSpPr>
        <p:spPr>
          <a:xfrm>
            <a:off x="393192" y="3905250"/>
            <a:ext cx="384048" cy="2232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A.5</a:t>
            </a:r>
            <a:endParaRPr lang="en-US" sz="650" dirty="0"/>
          </a:p>
        </p:txBody>
      </p:sp>
      <p:sp>
        <p:nvSpPr>
          <p:cNvPr id="231" name="Text 229"/>
          <p:cNvSpPr/>
          <p:nvPr/>
        </p:nvSpPr>
        <p:spPr>
          <a:xfrm>
            <a:off x="987552" y="3905250"/>
            <a:ext cx="2441448" cy="2232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Corrugated sheets installation / insertion</a:t>
            </a:r>
            <a:endParaRPr lang="en-US" sz="700" dirty="0"/>
          </a:p>
        </p:txBody>
      </p:sp>
      <p:sp>
        <p:nvSpPr>
          <p:cNvPr id="232" name="Text 230"/>
          <p:cNvSpPr/>
          <p:nvPr/>
        </p:nvSpPr>
        <p:spPr>
          <a:xfrm>
            <a:off x="3447288" y="3905250"/>
            <a:ext cx="777240" cy="2232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A4 · SS +0</a:t>
            </a:r>
            <a:endParaRPr lang="en-US" sz="700" dirty="0"/>
          </a:p>
        </p:txBody>
      </p:sp>
      <p:sp>
        <p:nvSpPr>
          <p:cNvPr id="233" name="Text 231"/>
          <p:cNvSpPr/>
          <p:nvPr/>
        </p:nvSpPr>
        <p:spPr>
          <a:xfrm>
            <a:off x="4224528" y="3905250"/>
            <a:ext cx="502920" cy="2232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234" name="Text 232"/>
          <p:cNvSpPr/>
          <p:nvPr/>
        </p:nvSpPr>
        <p:spPr>
          <a:xfrm>
            <a:off x="4727448" y="3905250"/>
            <a:ext cx="658368" cy="2232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Oct</a:t>
            </a:r>
            <a:endParaRPr lang="en-US" sz="700" dirty="0"/>
          </a:p>
        </p:txBody>
      </p:sp>
      <p:sp>
        <p:nvSpPr>
          <p:cNvPr id="235" name="Text 233"/>
          <p:cNvSpPr/>
          <p:nvPr/>
        </p:nvSpPr>
        <p:spPr>
          <a:xfrm>
            <a:off x="5385816" y="3905250"/>
            <a:ext cx="658368" cy="2232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Oct</a:t>
            </a:r>
            <a:endParaRPr lang="en-US" sz="700" dirty="0"/>
          </a:p>
        </p:txBody>
      </p:sp>
      <p:sp>
        <p:nvSpPr>
          <p:cNvPr id="236" name="Shape 234"/>
          <p:cNvSpPr/>
          <p:nvPr/>
        </p:nvSpPr>
        <p:spPr>
          <a:xfrm>
            <a:off x="8084802" y="3952136"/>
            <a:ext cx="170052" cy="129494"/>
          </a:xfrm>
          <a:prstGeom prst="roundRect">
            <a:avLst>
              <a:gd name="adj" fmla="val 28245"/>
            </a:avLst>
          </a:prstGeom>
          <a:solidFill>
            <a:srgbClr val="D9695A"/>
          </a:solidFill>
          <a:ln w="19050">
            <a:solidFill>
              <a:srgbClr val="222222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237" name="Shape 235"/>
          <p:cNvSpPr/>
          <p:nvPr/>
        </p:nvSpPr>
        <p:spPr>
          <a:xfrm>
            <a:off x="365760" y="4128516"/>
            <a:ext cx="11460175" cy="223266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438912" y="4121277"/>
            <a:ext cx="237744" cy="237744"/>
          </a:xfrm>
          <a:prstGeom prst="ellipse">
            <a:avLst/>
          </a:prstGeom>
          <a:solidFill>
            <a:srgbClr val="00778B"/>
          </a:solidFill>
          <a:ln w="6350">
            <a:solidFill>
              <a:srgbClr val="00778B"/>
            </a:solidFill>
            <a:prstDash val="solid"/>
          </a:ln>
        </p:spPr>
      </p:sp>
      <p:sp>
        <p:nvSpPr>
          <p:cNvPr id="239" name="Text 237"/>
          <p:cNvSpPr/>
          <p:nvPr/>
        </p:nvSpPr>
        <p:spPr>
          <a:xfrm>
            <a:off x="365760" y="4128516"/>
            <a:ext cx="384048" cy="2232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850" dirty="0"/>
          </a:p>
        </p:txBody>
      </p:sp>
      <p:sp>
        <p:nvSpPr>
          <p:cNvPr id="240" name="Text 238"/>
          <p:cNvSpPr/>
          <p:nvPr/>
        </p:nvSpPr>
        <p:spPr>
          <a:xfrm>
            <a:off x="822960" y="4128516"/>
            <a:ext cx="2606040" cy="2232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Lean concrete</a:t>
            </a:r>
            <a:endParaRPr lang="en-US" sz="750" dirty="0"/>
          </a:p>
        </p:txBody>
      </p:sp>
      <p:sp>
        <p:nvSpPr>
          <p:cNvPr id="241" name="Text 239"/>
          <p:cNvSpPr/>
          <p:nvPr/>
        </p:nvSpPr>
        <p:spPr>
          <a:xfrm>
            <a:off x="3447288" y="4128516"/>
            <a:ext cx="777240" cy="2232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· SS +4</a:t>
            </a:r>
            <a:endParaRPr lang="en-US" sz="700" dirty="0"/>
          </a:p>
        </p:txBody>
      </p:sp>
      <p:sp>
        <p:nvSpPr>
          <p:cNvPr id="242" name="Text 240"/>
          <p:cNvSpPr/>
          <p:nvPr/>
        </p:nvSpPr>
        <p:spPr>
          <a:xfrm>
            <a:off x="4224528" y="4128516"/>
            <a:ext cx="502920" cy="2232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243" name="Text 241"/>
          <p:cNvSpPr/>
          <p:nvPr/>
        </p:nvSpPr>
        <p:spPr>
          <a:xfrm>
            <a:off x="4727448" y="4128516"/>
            <a:ext cx="658368" cy="2232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Oct</a:t>
            </a:r>
            <a:endParaRPr lang="en-US" sz="700" dirty="0"/>
          </a:p>
        </p:txBody>
      </p:sp>
      <p:sp>
        <p:nvSpPr>
          <p:cNvPr id="244" name="Text 242"/>
          <p:cNvSpPr/>
          <p:nvPr/>
        </p:nvSpPr>
        <p:spPr>
          <a:xfrm>
            <a:off x="5385816" y="4128516"/>
            <a:ext cx="658368" cy="2232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Oct</a:t>
            </a:r>
            <a:endParaRPr lang="en-US" sz="700" dirty="0"/>
          </a:p>
        </p:txBody>
      </p:sp>
      <p:sp>
        <p:nvSpPr>
          <p:cNvPr id="245" name="Shape 243"/>
          <p:cNvSpPr/>
          <p:nvPr/>
        </p:nvSpPr>
        <p:spPr>
          <a:xfrm>
            <a:off x="8254854" y="4175402"/>
            <a:ext cx="170052" cy="129494"/>
          </a:xfrm>
          <a:prstGeom prst="roundRect">
            <a:avLst>
              <a:gd name="adj" fmla="val 28245"/>
            </a:avLst>
          </a:prstGeom>
          <a:solidFill>
            <a:srgbClr val="00778B"/>
          </a:solidFill>
          <a:ln w="6350">
            <a:solidFill>
              <a:srgbClr val="00778B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246" name="Shape 244"/>
          <p:cNvSpPr/>
          <p:nvPr/>
        </p:nvSpPr>
        <p:spPr>
          <a:xfrm>
            <a:off x="365760" y="4351782"/>
            <a:ext cx="11460175" cy="223266"/>
          </a:xfrm>
          <a:prstGeom prst="rect">
            <a:avLst/>
          </a:prstGeom>
          <a:solidFill>
            <a:srgbClr val="F6F9FA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438912" y="4344543"/>
            <a:ext cx="237744" cy="237744"/>
          </a:xfrm>
          <a:prstGeom prst="ellipse">
            <a:avLst/>
          </a:prstGeom>
          <a:solidFill>
            <a:srgbClr val="00778B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248" name="Text 246"/>
          <p:cNvSpPr/>
          <p:nvPr/>
        </p:nvSpPr>
        <p:spPr>
          <a:xfrm>
            <a:off x="365760" y="4351782"/>
            <a:ext cx="384048" cy="2232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850" dirty="0"/>
          </a:p>
        </p:txBody>
      </p:sp>
      <p:sp>
        <p:nvSpPr>
          <p:cNvPr id="249" name="Text 247"/>
          <p:cNvSpPr/>
          <p:nvPr/>
        </p:nvSpPr>
        <p:spPr>
          <a:xfrm>
            <a:off x="822960" y="4351782"/>
            <a:ext cx="2606040" cy="2232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 trench – reinforcement, formwork &amp; concrete</a:t>
            </a:r>
            <a:endParaRPr lang="en-US" sz="750" dirty="0"/>
          </a:p>
        </p:txBody>
      </p:sp>
      <p:sp>
        <p:nvSpPr>
          <p:cNvPr id="250" name="Text 248"/>
          <p:cNvSpPr/>
          <p:nvPr/>
        </p:nvSpPr>
        <p:spPr>
          <a:xfrm>
            <a:off x="3447288" y="4351782"/>
            <a:ext cx="777240" cy="2232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· FS</a:t>
            </a:r>
            <a:endParaRPr lang="en-US" sz="700" dirty="0"/>
          </a:p>
        </p:txBody>
      </p:sp>
      <p:sp>
        <p:nvSpPr>
          <p:cNvPr id="251" name="Text 249"/>
          <p:cNvSpPr/>
          <p:nvPr/>
        </p:nvSpPr>
        <p:spPr>
          <a:xfrm>
            <a:off x="4224528" y="4351782"/>
            <a:ext cx="502920" cy="2232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252" name="Text 250"/>
          <p:cNvSpPr/>
          <p:nvPr/>
        </p:nvSpPr>
        <p:spPr>
          <a:xfrm>
            <a:off x="4727448" y="4351782"/>
            <a:ext cx="658368" cy="2232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Oct</a:t>
            </a:r>
            <a:endParaRPr lang="en-US" sz="700" dirty="0"/>
          </a:p>
        </p:txBody>
      </p:sp>
      <p:sp>
        <p:nvSpPr>
          <p:cNvPr id="253" name="Text 251"/>
          <p:cNvSpPr/>
          <p:nvPr/>
        </p:nvSpPr>
        <p:spPr>
          <a:xfrm>
            <a:off x="5385816" y="4351782"/>
            <a:ext cx="658368" cy="2232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Oct</a:t>
            </a:r>
            <a:endParaRPr lang="en-US" sz="700" dirty="0"/>
          </a:p>
        </p:txBody>
      </p:sp>
      <p:sp>
        <p:nvSpPr>
          <p:cNvPr id="254" name="Shape 252"/>
          <p:cNvSpPr/>
          <p:nvPr/>
        </p:nvSpPr>
        <p:spPr>
          <a:xfrm>
            <a:off x="8254854" y="4398668"/>
            <a:ext cx="340103" cy="129494"/>
          </a:xfrm>
          <a:prstGeom prst="roundRect">
            <a:avLst>
              <a:gd name="adj" fmla="val 28245"/>
            </a:avLst>
          </a:prstGeom>
          <a:solidFill>
            <a:srgbClr val="00778B"/>
          </a:solidFill>
          <a:ln w="19050">
            <a:solidFill>
              <a:srgbClr val="222222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255" name="Text 253"/>
          <p:cNvSpPr/>
          <p:nvPr/>
        </p:nvSpPr>
        <p:spPr>
          <a:xfrm>
            <a:off x="8254854" y="4398668"/>
            <a:ext cx="340103" cy="12949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d</a:t>
            </a:r>
            <a:endParaRPr lang="en-US" sz="700" dirty="0"/>
          </a:p>
        </p:txBody>
      </p:sp>
      <p:sp>
        <p:nvSpPr>
          <p:cNvPr id="256" name="Shape 254"/>
          <p:cNvSpPr/>
          <p:nvPr/>
        </p:nvSpPr>
        <p:spPr>
          <a:xfrm>
            <a:off x="365760" y="4575048"/>
            <a:ext cx="11460175" cy="223266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438912" y="4567809"/>
            <a:ext cx="237744" cy="237744"/>
          </a:xfrm>
          <a:prstGeom prst="ellipse">
            <a:avLst/>
          </a:prstGeom>
          <a:solidFill>
            <a:srgbClr val="00778B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258" name="Text 256"/>
          <p:cNvSpPr/>
          <p:nvPr/>
        </p:nvSpPr>
        <p:spPr>
          <a:xfrm>
            <a:off x="365760" y="4575048"/>
            <a:ext cx="384048" cy="2232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850" dirty="0"/>
          </a:p>
        </p:txBody>
      </p:sp>
      <p:sp>
        <p:nvSpPr>
          <p:cNvPr id="259" name="Text 257"/>
          <p:cNvSpPr/>
          <p:nvPr/>
        </p:nvSpPr>
        <p:spPr>
          <a:xfrm>
            <a:off x="822960" y="4575048"/>
            <a:ext cx="2606040" cy="2232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 slab / raft – reinforcement, formwork &amp; concrete</a:t>
            </a:r>
            <a:endParaRPr lang="en-US" sz="750" dirty="0"/>
          </a:p>
        </p:txBody>
      </p:sp>
      <p:sp>
        <p:nvSpPr>
          <p:cNvPr id="260" name="Text 258"/>
          <p:cNvSpPr/>
          <p:nvPr/>
        </p:nvSpPr>
        <p:spPr>
          <a:xfrm>
            <a:off x="3447288" y="4575048"/>
            <a:ext cx="777240" cy="2232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· FS</a:t>
            </a:r>
            <a:endParaRPr lang="en-US" sz="700" dirty="0"/>
          </a:p>
        </p:txBody>
      </p:sp>
      <p:sp>
        <p:nvSpPr>
          <p:cNvPr id="261" name="Text 259"/>
          <p:cNvSpPr/>
          <p:nvPr/>
        </p:nvSpPr>
        <p:spPr>
          <a:xfrm>
            <a:off x="4224528" y="4575048"/>
            <a:ext cx="502920" cy="2232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262" name="Text 260"/>
          <p:cNvSpPr/>
          <p:nvPr/>
        </p:nvSpPr>
        <p:spPr>
          <a:xfrm>
            <a:off x="4727448" y="4575048"/>
            <a:ext cx="658368" cy="2232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Oct</a:t>
            </a:r>
            <a:endParaRPr lang="en-US" sz="700" dirty="0"/>
          </a:p>
        </p:txBody>
      </p:sp>
      <p:sp>
        <p:nvSpPr>
          <p:cNvPr id="263" name="Text 261"/>
          <p:cNvSpPr/>
          <p:nvPr/>
        </p:nvSpPr>
        <p:spPr>
          <a:xfrm>
            <a:off x="5385816" y="4575048"/>
            <a:ext cx="658368" cy="2232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Nov</a:t>
            </a:r>
            <a:endParaRPr lang="en-US" sz="700" dirty="0"/>
          </a:p>
        </p:txBody>
      </p:sp>
      <p:sp>
        <p:nvSpPr>
          <p:cNvPr id="264" name="Shape 262"/>
          <p:cNvSpPr/>
          <p:nvPr/>
        </p:nvSpPr>
        <p:spPr>
          <a:xfrm>
            <a:off x="8594957" y="4621934"/>
            <a:ext cx="1020309" cy="129494"/>
          </a:xfrm>
          <a:prstGeom prst="roundRect">
            <a:avLst>
              <a:gd name="adj" fmla="val 28245"/>
            </a:avLst>
          </a:prstGeom>
          <a:solidFill>
            <a:srgbClr val="00778B"/>
          </a:solidFill>
          <a:ln w="19050">
            <a:solidFill>
              <a:srgbClr val="222222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265" name="Text 263"/>
          <p:cNvSpPr/>
          <p:nvPr/>
        </p:nvSpPr>
        <p:spPr>
          <a:xfrm>
            <a:off x="8594957" y="4621934"/>
            <a:ext cx="1020309" cy="12949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d</a:t>
            </a:r>
            <a:endParaRPr lang="en-US" sz="700" dirty="0"/>
          </a:p>
        </p:txBody>
      </p:sp>
      <p:sp>
        <p:nvSpPr>
          <p:cNvPr id="266" name="Shape 264"/>
          <p:cNvSpPr/>
          <p:nvPr/>
        </p:nvSpPr>
        <p:spPr>
          <a:xfrm>
            <a:off x="365760" y="4798314"/>
            <a:ext cx="11460175" cy="223266"/>
          </a:xfrm>
          <a:prstGeom prst="rect">
            <a:avLst/>
          </a:prstGeom>
          <a:solidFill>
            <a:srgbClr val="F6F9FA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438912" y="4791075"/>
            <a:ext cx="237744" cy="237744"/>
          </a:xfrm>
          <a:prstGeom prst="ellipse">
            <a:avLst/>
          </a:prstGeom>
          <a:solidFill>
            <a:srgbClr val="00778B"/>
          </a:solidFill>
          <a:ln w="6350">
            <a:solidFill>
              <a:srgbClr val="00778B"/>
            </a:solidFill>
            <a:prstDash val="solid"/>
          </a:ln>
        </p:spPr>
      </p:sp>
      <p:sp>
        <p:nvSpPr>
          <p:cNvPr id="268" name="Text 266"/>
          <p:cNvSpPr/>
          <p:nvPr/>
        </p:nvSpPr>
        <p:spPr>
          <a:xfrm>
            <a:off x="365760" y="4798314"/>
            <a:ext cx="384048" cy="2232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850" dirty="0"/>
          </a:p>
        </p:txBody>
      </p:sp>
      <p:sp>
        <p:nvSpPr>
          <p:cNvPr id="269" name="Text 267"/>
          <p:cNvSpPr/>
          <p:nvPr/>
        </p:nvSpPr>
        <p:spPr>
          <a:xfrm>
            <a:off x="822960" y="4798314"/>
            <a:ext cx="2606040" cy="2232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 wall – reinforcement, formwork &amp; concrete</a:t>
            </a:r>
            <a:endParaRPr lang="en-US" sz="750" dirty="0"/>
          </a:p>
        </p:txBody>
      </p:sp>
      <p:sp>
        <p:nvSpPr>
          <p:cNvPr id="270" name="Text 268"/>
          <p:cNvSpPr/>
          <p:nvPr/>
        </p:nvSpPr>
        <p:spPr>
          <a:xfrm>
            <a:off x="3447288" y="4798314"/>
            <a:ext cx="777240" cy="2232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· FS</a:t>
            </a:r>
            <a:endParaRPr lang="en-US" sz="700" dirty="0"/>
          </a:p>
        </p:txBody>
      </p:sp>
      <p:sp>
        <p:nvSpPr>
          <p:cNvPr id="271" name="Text 269"/>
          <p:cNvSpPr/>
          <p:nvPr/>
        </p:nvSpPr>
        <p:spPr>
          <a:xfrm>
            <a:off x="4224528" y="4798314"/>
            <a:ext cx="502920" cy="2232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72" name="Text 270"/>
          <p:cNvSpPr/>
          <p:nvPr/>
        </p:nvSpPr>
        <p:spPr>
          <a:xfrm>
            <a:off x="4727448" y="4798314"/>
            <a:ext cx="658368" cy="2232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Nov</a:t>
            </a:r>
            <a:endParaRPr lang="en-US" sz="700" dirty="0"/>
          </a:p>
        </p:txBody>
      </p:sp>
      <p:sp>
        <p:nvSpPr>
          <p:cNvPr id="273" name="Text 271"/>
          <p:cNvSpPr/>
          <p:nvPr/>
        </p:nvSpPr>
        <p:spPr>
          <a:xfrm>
            <a:off x="5385816" y="4798314"/>
            <a:ext cx="658368" cy="2232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Nov</a:t>
            </a:r>
            <a:endParaRPr lang="en-US" sz="700" dirty="0"/>
          </a:p>
        </p:txBody>
      </p:sp>
      <p:sp>
        <p:nvSpPr>
          <p:cNvPr id="274" name="Shape 272"/>
          <p:cNvSpPr/>
          <p:nvPr/>
        </p:nvSpPr>
        <p:spPr>
          <a:xfrm>
            <a:off x="9615266" y="4845200"/>
            <a:ext cx="680206" cy="129494"/>
          </a:xfrm>
          <a:prstGeom prst="roundRect">
            <a:avLst>
              <a:gd name="adj" fmla="val 28245"/>
            </a:avLst>
          </a:prstGeom>
          <a:solidFill>
            <a:srgbClr val="00778B"/>
          </a:solidFill>
          <a:ln w="6350">
            <a:solidFill>
              <a:srgbClr val="00778B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275" name="Text 273"/>
          <p:cNvSpPr/>
          <p:nvPr/>
        </p:nvSpPr>
        <p:spPr>
          <a:xfrm>
            <a:off x="9615266" y="4845200"/>
            <a:ext cx="680206" cy="12949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</a:t>
            </a:r>
            <a:endParaRPr lang="en-US" sz="700" dirty="0"/>
          </a:p>
        </p:txBody>
      </p:sp>
      <p:sp>
        <p:nvSpPr>
          <p:cNvPr id="276" name="Shape 274"/>
          <p:cNvSpPr/>
          <p:nvPr/>
        </p:nvSpPr>
        <p:spPr>
          <a:xfrm>
            <a:off x="365760" y="5021580"/>
            <a:ext cx="11460175" cy="223266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438912" y="5014341"/>
            <a:ext cx="237744" cy="237744"/>
          </a:xfrm>
          <a:prstGeom prst="ellipse">
            <a:avLst/>
          </a:prstGeom>
          <a:solidFill>
            <a:srgbClr val="2E9E6B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278" name="Text 276"/>
          <p:cNvSpPr/>
          <p:nvPr/>
        </p:nvSpPr>
        <p:spPr>
          <a:xfrm>
            <a:off x="365760" y="5021580"/>
            <a:ext cx="384048" cy="2232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850" dirty="0"/>
          </a:p>
        </p:txBody>
      </p:sp>
      <p:sp>
        <p:nvSpPr>
          <p:cNvPr id="279" name="Text 277"/>
          <p:cNvSpPr/>
          <p:nvPr/>
        </p:nvSpPr>
        <p:spPr>
          <a:xfrm>
            <a:off x="822960" y="5021580"/>
            <a:ext cx="2606040" cy="2232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foundation – excavation, compaction / testing, reinforcement &amp; concrete</a:t>
            </a:r>
            <a:endParaRPr lang="en-US" sz="750" dirty="0"/>
          </a:p>
        </p:txBody>
      </p:sp>
      <p:sp>
        <p:nvSpPr>
          <p:cNvPr id="280" name="Text 278"/>
          <p:cNvSpPr/>
          <p:nvPr/>
        </p:nvSpPr>
        <p:spPr>
          <a:xfrm>
            <a:off x="3447288" y="5021580"/>
            <a:ext cx="777240" cy="2232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· FS</a:t>
            </a:r>
            <a:endParaRPr lang="en-US" sz="700" dirty="0"/>
          </a:p>
        </p:txBody>
      </p:sp>
      <p:sp>
        <p:nvSpPr>
          <p:cNvPr id="281" name="Text 279"/>
          <p:cNvSpPr/>
          <p:nvPr/>
        </p:nvSpPr>
        <p:spPr>
          <a:xfrm>
            <a:off x="4224528" y="5021580"/>
            <a:ext cx="502920" cy="2232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282" name="Text 280"/>
          <p:cNvSpPr/>
          <p:nvPr/>
        </p:nvSpPr>
        <p:spPr>
          <a:xfrm>
            <a:off x="4727448" y="5021580"/>
            <a:ext cx="658368" cy="2232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Nov</a:t>
            </a:r>
            <a:endParaRPr lang="en-US" sz="700" dirty="0"/>
          </a:p>
        </p:txBody>
      </p:sp>
      <p:sp>
        <p:nvSpPr>
          <p:cNvPr id="283" name="Text 281"/>
          <p:cNvSpPr/>
          <p:nvPr/>
        </p:nvSpPr>
        <p:spPr>
          <a:xfrm>
            <a:off x="5385816" y="5021580"/>
            <a:ext cx="658368" cy="2232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Nov</a:t>
            </a:r>
            <a:endParaRPr lang="en-US" sz="700" dirty="0"/>
          </a:p>
        </p:txBody>
      </p:sp>
      <p:sp>
        <p:nvSpPr>
          <p:cNvPr id="284" name="Shape 282"/>
          <p:cNvSpPr/>
          <p:nvPr/>
        </p:nvSpPr>
        <p:spPr>
          <a:xfrm>
            <a:off x="9615266" y="5068466"/>
            <a:ext cx="1190361" cy="129494"/>
          </a:xfrm>
          <a:prstGeom prst="roundRect">
            <a:avLst>
              <a:gd name="adj" fmla="val 28245"/>
            </a:avLst>
          </a:prstGeom>
          <a:solidFill>
            <a:srgbClr val="2E9E6B"/>
          </a:solidFill>
          <a:ln w="19050">
            <a:solidFill>
              <a:srgbClr val="222222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285" name="Text 283"/>
          <p:cNvSpPr/>
          <p:nvPr/>
        </p:nvSpPr>
        <p:spPr>
          <a:xfrm>
            <a:off x="9615266" y="5068466"/>
            <a:ext cx="1190361" cy="12949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d</a:t>
            </a:r>
            <a:endParaRPr lang="en-US" sz="700" dirty="0"/>
          </a:p>
        </p:txBody>
      </p:sp>
      <p:sp>
        <p:nvSpPr>
          <p:cNvPr id="286" name="Shape 284"/>
          <p:cNvSpPr/>
          <p:nvPr/>
        </p:nvSpPr>
        <p:spPr>
          <a:xfrm>
            <a:off x="365760" y="5244846"/>
            <a:ext cx="11460175" cy="223266"/>
          </a:xfrm>
          <a:prstGeom prst="rect">
            <a:avLst/>
          </a:prstGeom>
          <a:solidFill>
            <a:srgbClr val="F6F9FA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87" name="Shape 285"/>
          <p:cNvSpPr/>
          <p:nvPr/>
        </p:nvSpPr>
        <p:spPr>
          <a:xfrm>
            <a:off x="438912" y="5237607"/>
            <a:ext cx="237744" cy="237744"/>
          </a:xfrm>
          <a:prstGeom prst="ellipse">
            <a:avLst/>
          </a:prstGeom>
          <a:solidFill>
            <a:srgbClr val="D68A00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288" name="Text 286"/>
          <p:cNvSpPr/>
          <p:nvPr/>
        </p:nvSpPr>
        <p:spPr>
          <a:xfrm>
            <a:off x="365760" y="5244846"/>
            <a:ext cx="384048" cy="2232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endParaRPr lang="en-US" sz="850" dirty="0"/>
          </a:p>
        </p:txBody>
      </p:sp>
      <p:sp>
        <p:nvSpPr>
          <p:cNvPr id="289" name="Text 287"/>
          <p:cNvSpPr/>
          <p:nvPr/>
        </p:nvSpPr>
        <p:spPr>
          <a:xfrm>
            <a:off x="822960" y="5244846"/>
            <a:ext cx="2606040" cy="2232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Backfilling works for the building</a:t>
            </a:r>
            <a:endParaRPr lang="en-US" sz="750" dirty="0"/>
          </a:p>
        </p:txBody>
      </p:sp>
      <p:sp>
        <p:nvSpPr>
          <p:cNvPr id="290" name="Text 288"/>
          <p:cNvSpPr/>
          <p:nvPr/>
        </p:nvSpPr>
        <p:spPr>
          <a:xfrm>
            <a:off x="3447288" y="5244846"/>
            <a:ext cx="777240" cy="2232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· FS</a:t>
            </a:r>
            <a:endParaRPr lang="en-US" sz="700" dirty="0"/>
          </a:p>
        </p:txBody>
      </p:sp>
      <p:sp>
        <p:nvSpPr>
          <p:cNvPr id="291" name="Text 289"/>
          <p:cNvSpPr/>
          <p:nvPr/>
        </p:nvSpPr>
        <p:spPr>
          <a:xfrm>
            <a:off x="4224528" y="5244846"/>
            <a:ext cx="502920" cy="2232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92" name="Text 290"/>
          <p:cNvSpPr/>
          <p:nvPr/>
        </p:nvSpPr>
        <p:spPr>
          <a:xfrm>
            <a:off x="4727448" y="5244846"/>
            <a:ext cx="658368" cy="2232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Nov</a:t>
            </a:r>
            <a:endParaRPr lang="en-US" sz="700" dirty="0"/>
          </a:p>
        </p:txBody>
      </p:sp>
      <p:sp>
        <p:nvSpPr>
          <p:cNvPr id="293" name="Text 291"/>
          <p:cNvSpPr/>
          <p:nvPr/>
        </p:nvSpPr>
        <p:spPr>
          <a:xfrm>
            <a:off x="5385816" y="5244846"/>
            <a:ext cx="658368" cy="2232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Nov</a:t>
            </a:r>
            <a:endParaRPr lang="en-US" sz="700" dirty="0"/>
          </a:p>
        </p:txBody>
      </p:sp>
      <p:sp>
        <p:nvSpPr>
          <p:cNvPr id="294" name="Shape 292"/>
          <p:cNvSpPr/>
          <p:nvPr/>
        </p:nvSpPr>
        <p:spPr>
          <a:xfrm>
            <a:off x="10805626" y="5291732"/>
            <a:ext cx="680206" cy="129494"/>
          </a:xfrm>
          <a:prstGeom prst="roundRect">
            <a:avLst>
              <a:gd name="adj" fmla="val 28245"/>
            </a:avLst>
          </a:prstGeom>
          <a:solidFill>
            <a:srgbClr val="D68A00"/>
          </a:solidFill>
          <a:ln w="19050">
            <a:solidFill>
              <a:srgbClr val="222222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295" name="Text 293"/>
          <p:cNvSpPr/>
          <p:nvPr/>
        </p:nvSpPr>
        <p:spPr>
          <a:xfrm>
            <a:off x="10805626" y="5291732"/>
            <a:ext cx="680206" cy="12949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</a:t>
            </a:r>
            <a:endParaRPr lang="en-US" sz="700" dirty="0"/>
          </a:p>
        </p:txBody>
      </p:sp>
      <p:sp>
        <p:nvSpPr>
          <p:cNvPr id="296" name="Shape 294"/>
          <p:cNvSpPr/>
          <p:nvPr/>
        </p:nvSpPr>
        <p:spPr>
          <a:xfrm>
            <a:off x="7459460" y="3188566"/>
            <a:ext cx="0" cy="158519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297" name="Shape 295"/>
          <p:cNvSpPr/>
          <p:nvPr/>
        </p:nvSpPr>
        <p:spPr>
          <a:xfrm>
            <a:off x="7459460" y="3347085"/>
            <a:ext cx="276095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298" name="Shape 296"/>
          <p:cNvSpPr/>
          <p:nvPr/>
        </p:nvSpPr>
        <p:spPr>
          <a:xfrm>
            <a:off x="7799563" y="3411832"/>
            <a:ext cx="0" cy="158519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299" name="Shape 297"/>
          <p:cNvSpPr/>
          <p:nvPr/>
        </p:nvSpPr>
        <p:spPr>
          <a:xfrm>
            <a:off x="7799563" y="3570351"/>
            <a:ext cx="106044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300" name="Shape 298"/>
          <p:cNvSpPr/>
          <p:nvPr/>
        </p:nvSpPr>
        <p:spPr>
          <a:xfrm>
            <a:off x="7969615" y="3635098"/>
            <a:ext cx="0" cy="158519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01" name="Shape 299"/>
          <p:cNvSpPr/>
          <p:nvPr/>
        </p:nvSpPr>
        <p:spPr>
          <a:xfrm>
            <a:off x="7969615" y="3793617"/>
            <a:ext cx="106044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302" name="Shape 300"/>
          <p:cNvSpPr/>
          <p:nvPr/>
        </p:nvSpPr>
        <p:spPr>
          <a:xfrm>
            <a:off x="8139666" y="3858364"/>
            <a:ext cx="0" cy="158519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03" name="Shape 301"/>
          <p:cNvSpPr/>
          <p:nvPr/>
        </p:nvSpPr>
        <p:spPr>
          <a:xfrm>
            <a:off x="8075658" y="4016883"/>
            <a:ext cx="64008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304" name="Shape 302"/>
          <p:cNvSpPr/>
          <p:nvPr/>
        </p:nvSpPr>
        <p:spPr>
          <a:xfrm>
            <a:off x="7459460" y="2965300"/>
            <a:ext cx="0" cy="1274849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05" name="Shape 303"/>
          <p:cNvSpPr/>
          <p:nvPr/>
        </p:nvSpPr>
        <p:spPr>
          <a:xfrm>
            <a:off x="7459460" y="4240149"/>
            <a:ext cx="786250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306" name="Shape 304"/>
          <p:cNvSpPr/>
          <p:nvPr/>
        </p:nvSpPr>
        <p:spPr>
          <a:xfrm>
            <a:off x="8209134" y="2900553"/>
            <a:ext cx="45720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07" name="Shape 305"/>
          <p:cNvSpPr/>
          <p:nvPr/>
        </p:nvSpPr>
        <p:spPr>
          <a:xfrm>
            <a:off x="8209134" y="2900553"/>
            <a:ext cx="0" cy="1562862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08" name="Shape 306"/>
          <p:cNvSpPr/>
          <p:nvPr/>
        </p:nvSpPr>
        <p:spPr>
          <a:xfrm>
            <a:off x="8209134" y="4463415"/>
            <a:ext cx="36576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309" name="Shape 307"/>
          <p:cNvSpPr/>
          <p:nvPr/>
        </p:nvSpPr>
        <p:spPr>
          <a:xfrm>
            <a:off x="8549237" y="4463415"/>
            <a:ext cx="45720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10" name="Shape 308"/>
          <p:cNvSpPr/>
          <p:nvPr/>
        </p:nvSpPr>
        <p:spPr>
          <a:xfrm>
            <a:off x="8549237" y="4463415"/>
            <a:ext cx="0" cy="223266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11" name="Shape 309"/>
          <p:cNvSpPr/>
          <p:nvPr/>
        </p:nvSpPr>
        <p:spPr>
          <a:xfrm>
            <a:off x="8549237" y="4686681"/>
            <a:ext cx="36576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312" name="Shape 310"/>
          <p:cNvSpPr/>
          <p:nvPr/>
        </p:nvSpPr>
        <p:spPr>
          <a:xfrm>
            <a:off x="9569546" y="4686681"/>
            <a:ext cx="45720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13" name="Shape 311"/>
          <p:cNvSpPr/>
          <p:nvPr/>
        </p:nvSpPr>
        <p:spPr>
          <a:xfrm>
            <a:off x="9569546" y="4686681"/>
            <a:ext cx="0" cy="223266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14" name="Shape 312"/>
          <p:cNvSpPr/>
          <p:nvPr/>
        </p:nvSpPr>
        <p:spPr>
          <a:xfrm>
            <a:off x="9569546" y="4909947"/>
            <a:ext cx="36576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315" name="Shape 313"/>
          <p:cNvSpPr/>
          <p:nvPr/>
        </p:nvSpPr>
        <p:spPr>
          <a:xfrm>
            <a:off x="9569546" y="4686681"/>
            <a:ext cx="45720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16" name="Shape 314"/>
          <p:cNvSpPr/>
          <p:nvPr/>
        </p:nvSpPr>
        <p:spPr>
          <a:xfrm>
            <a:off x="9569546" y="4686681"/>
            <a:ext cx="0" cy="446532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17" name="Shape 315"/>
          <p:cNvSpPr/>
          <p:nvPr/>
        </p:nvSpPr>
        <p:spPr>
          <a:xfrm>
            <a:off x="9569546" y="5133213"/>
            <a:ext cx="36576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318" name="Shape 316"/>
          <p:cNvSpPr/>
          <p:nvPr/>
        </p:nvSpPr>
        <p:spPr>
          <a:xfrm>
            <a:off x="10759906" y="5133213"/>
            <a:ext cx="45720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19" name="Shape 317"/>
          <p:cNvSpPr/>
          <p:nvPr/>
        </p:nvSpPr>
        <p:spPr>
          <a:xfrm>
            <a:off x="10759906" y="5133213"/>
            <a:ext cx="0" cy="223266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20" name="Shape 318"/>
          <p:cNvSpPr/>
          <p:nvPr/>
        </p:nvSpPr>
        <p:spPr>
          <a:xfrm>
            <a:off x="10759906" y="5356479"/>
            <a:ext cx="36576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321" name="Shape 319"/>
          <p:cNvSpPr/>
          <p:nvPr/>
        </p:nvSpPr>
        <p:spPr>
          <a:xfrm>
            <a:off x="7319570" y="1947672"/>
            <a:ext cx="0" cy="3520440"/>
          </a:xfrm>
          <a:prstGeom prst="line">
            <a:avLst/>
          </a:prstGeom>
          <a:noFill/>
          <a:ln w="22225">
            <a:solidFill>
              <a:srgbClr val="C8503F"/>
            </a:solidFill>
            <a:prstDash val="dash"/>
          </a:ln>
        </p:spPr>
      </p:sp>
      <p:sp>
        <p:nvSpPr>
          <p:cNvPr id="322" name="Shape 320"/>
          <p:cNvSpPr/>
          <p:nvPr/>
        </p:nvSpPr>
        <p:spPr>
          <a:xfrm>
            <a:off x="6450890" y="2020824"/>
            <a:ext cx="841248" cy="155448"/>
          </a:xfrm>
          <a:prstGeom prst="roundRect">
            <a:avLst>
              <a:gd name="adj" fmla="val 47059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323" name="Text 321"/>
          <p:cNvSpPr/>
          <p:nvPr/>
        </p:nvSpPr>
        <p:spPr>
          <a:xfrm>
            <a:off x="6450890" y="2020824"/>
            <a:ext cx="8412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date · 21 Oct</a:t>
            </a:r>
            <a:endParaRPr lang="en-US" sz="650" dirty="0"/>
          </a:p>
        </p:txBody>
      </p:sp>
      <p:sp>
        <p:nvSpPr>
          <p:cNvPr id="324" name="Shape 322"/>
          <p:cNvSpPr/>
          <p:nvPr/>
        </p:nvSpPr>
        <p:spPr>
          <a:xfrm>
            <a:off x="365760" y="1325880"/>
            <a:ext cx="11460175" cy="4142232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B9C6CC"/>
            </a:solidFill>
            <a:prstDash val="solid"/>
          </a:ln>
        </p:spPr>
      </p:sp>
      <p:sp>
        <p:nvSpPr>
          <p:cNvPr id="325" name="Shape 323"/>
          <p:cNvSpPr/>
          <p:nvPr/>
        </p:nvSpPr>
        <p:spPr>
          <a:xfrm>
            <a:off x="365760" y="5577840"/>
            <a:ext cx="2204253" cy="82296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326" name="Shape 324"/>
          <p:cNvSpPr/>
          <p:nvPr/>
        </p:nvSpPr>
        <p:spPr>
          <a:xfrm>
            <a:off x="420624" y="5577840"/>
            <a:ext cx="2094525" cy="54864"/>
          </a:xfrm>
          <a:prstGeom prst="rect">
            <a:avLst/>
          </a:prstGeom>
          <a:solidFill>
            <a:srgbClr val="3D3935"/>
          </a:solidFill>
          <a:ln w="12700">
            <a:solidFill>
              <a:srgbClr val="3D3935"/>
            </a:solidFill>
            <a:prstDash val="solid"/>
          </a:ln>
        </p:spPr>
      </p:sp>
      <p:sp>
        <p:nvSpPr>
          <p:cNvPr id="327" name="Text 325"/>
          <p:cNvSpPr/>
          <p:nvPr/>
        </p:nvSpPr>
        <p:spPr>
          <a:xfrm>
            <a:off x="475488" y="5669280"/>
            <a:ext cx="198479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850" b="1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Commencement</a:t>
            </a:r>
            <a:endParaRPr lang="en-US" sz="850" dirty="0"/>
          </a:p>
        </p:txBody>
      </p:sp>
      <p:sp>
        <p:nvSpPr>
          <p:cNvPr id="328" name="Text 326"/>
          <p:cNvSpPr/>
          <p:nvPr/>
        </p:nvSpPr>
        <p:spPr>
          <a:xfrm>
            <a:off x="475488" y="5870448"/>
            <a:ext cx="198479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13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 22 Oct 2026</a:t>
            </a:r>
            <a:endParaRPr lang="en-US" sz="1300" dirty="0"/>
          </a:p>
        </p:txBody>
      </p:sp>
      <p:sp>
        <p:nvSpPr>
          <p:cNvPr id="329" name="Text 327"/>
          <p:cNvSpPr/>
          <p:nvPr/>
        </p:nvSpPr>
        <p:spPr>
          <a:xfrm>
            <a:off x="475488" y="6163056"/>
            <a:ext cx="198479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50" b="1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day 1 / 20</a:t>
            </a:r>
            <a:endParaRPr lang="en-US" sz="750" dirty="0"/>
          </a:p>
        </p:txBody>
      </p:sp>
      <p:sp>
        <p:nvSpPr>
          <p:cNvPr id="330" name="Shape 328"/>
          <p:cNvSpPr/>
          <p:nvPr/>
        </p:nvSpPr>
        <p:spPr>
          <a:xfrm>
            <a:off x="2679741" y="5577840"/>
            <a:ext cx="2204253" cy="82296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331" name="Shape 329"/>
          <p:cNvSpPr/>
          <p:nvPr/>
        </p:nvSpPr>
        <p:spPr>
          <a:xfrm>
            <a:off x="2734605" y="5577840"/>
            <a:ext cx="2094525" cy="54864"/>
          </a:xfrm>
          <a:prstGeom prst="rect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332" name="Text 330"/>
          <p:cNvSpPr/>
          <p:nvPr/>
        </p:nvSpPr>
        <p:spPr>
          <a:xfrm>
            <a:off x="2789469" y="5669280"/>
            <a:ext cx="198479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850" b="1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Shoring installation complete</a:t>
            </a:r>
            <a:endParaRPr lang="en-US" sz="850" dirty="0"/>
          </a:p>
        </p:txBody>
      </p:sp>
      <p:sp>
        <p:nvSpPr>
          <p:cNvPr id="333" name="Text 331"/>
          <p:cNvSpPr/>
          <p:nvPr/>
        </p:nvSpPr>
        <p:spPr>
          <a:xfrm>
            <a:off x="2789469" y="5870448"/>
            <a:ext cx="198479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13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 26 Oct 2026</a:t>
            </a:r>
            <a:endParaRPr lang="en-US" sz="1300" dirty="0"/>
          </a:p>
        </p:txBody>
      </p:sp>
      <p:sp>
        <p:nvSpPr>
          <p:cNvPr id="334" name="Text 332"/>
          <p:cNvSpPr/>
          <p:nvPr/>
        </p:nvSpPr>
        <p:spPr>
          <a:xfrm>
            <a:off x="2789469" y="6163056"/>
            <a:ext cx="198479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50" b="1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day 4 / 20</a:t>
            </a:r>
            <a:endParaRPr lang="en-US" sz="750" dirty="0"/>
          </a:p>
        </p:txBody>
      </p:sp>
      <p:sp>
        <p:nvSpPr>
          <p:cNvPr id="335" name="Shape 333"/>
          <p:cNvSpPr/>
          <p:nvPr/>
        </p:nvSpPr>
        <p:spPr>
          <a:xfrm>
            <a:off x="4993721" y="5577840"/>
            <a:ext cx="2204253" cy="82296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336" name="Shape 334"/>
          <p:cNvSpPr/>
          <p:nvPr/>
        </p:nvSpPr>
        <p:spPr>
          <a:xfrm>
            <a:off x="5048585" y="5577840"/>
            <a:ext cx="2094525" cy="54864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337" name="Text 335"/>
          <p:cNvSpPr/>
          <p:nvPr/>
        </p:nvSpPr>
        <p:spPr>
          <a:xfrm>
            <a:off x="5103449" y="5669280"/>
            <a:ext cx="198479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850" b="1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 works complete (pit wall)</a:t>
            </a:r>
            <a:endParaRPr lang="en-US" sz="850" dirty="0"/>
          </a:p>
        </p:txBody>
      </p:sp>
      <p:sp>
        <p:nvSpPr>
          <p:cNvPr id="338" name="Text 336"/>
          <p:cNvSpPr/>
          <p:nvPr/>
        </p:nvSpPr>
        <p:spPr>
          <a:xfrm>
            <a:off x="5103449" y="5870448"/>
            <a:ext cx="198479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13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 7 Nov 2026</a:t>
            </a:r>
            <a:endParaRPr lang="en-US" sz="1300" dirty="0"/>
          </a:p>
        </p:txBody>
      </p:sp>
      <p:sp>
        <p:nvSpPr>
          <p:cNvPr id="339" name="Text 337"/>
          <p:cNvSpPr/>
          <p:nvPr/>
        </p:nvSpPr>
        <p:spPr>
          <a:xfrm>
            <a:off x="5103449" y="6163056"/>
            <a:ext cx="198479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50" b="1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day 14 / 20</a:t>
            </a:r>
            <a:endParaRPr lang="en-US" sz="750" dirty="0"/>
          </a:p>
        </p:txBody>
      </p:sp>
      <p:sp>
        <p:nvSpPr>
          <p:cNvPr id="340" name="Shape 338"/>
          <p:cNvSpPr/>
          <p:nvPr/>
        </p:nvSpPr>
        <p:spPr>
          <a:xfrm>
            <a:off x="7307702" y="5577840"/>
            <a:ext cx="2204253" cy="82296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341" name="Shape 339"/>
          <p:cNvSpPr/>
          <p:nvPr/>
        </p:nvSpPr>
        <p:spPr>
          <a:xfrm>
            <a:off x="7362566" y="5577840"/>
            <a:ext cx="2094525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342" name="Text 340"/>
          <p:cNvSpPr/>
          <p:nvPr/>
        </p:nvSpPr>
        <p:spPr>
          <a:xfrm>
            <a:off x="7417430" y="5669280"/>
            <a:ext cx="198479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850" b="1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foundation complete</a:t>
            </a:r>
            <a:endParaRPr lang="en-US" sz="850" dirty="0"/>
          </a:p>
        </p:txBody>
      </p:sp>
      <p:sp>
        <p:nvSpPr>
          <p:cNvPr id="343" name="Text 341"/>
          <p:cNvSpPr/>
          <p:nvPr/>
        </p:nvSpPr>
        <p:spPr>
          <a:xfrm>
            <a:off x="7417430" y="5870448"/>
            <a:ext cx="198479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13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Tue 10 Nov 2026</a:t>
            </a:r>
            <a:endParaRPr lang="en-US" sz="1300" dirty="0"/>
          </a:p>
        </p:txBody>
      </p:sp>
      <p:sp>
        <p:nvSpPr>
          <p:cNvPr id="344" name="Text 342"/>
          <p:cNvSpPr/>
          <p:nvPr/>
        </p:nvSpPr>
        <p:spPr>
          <a:xfrm>
            <a:off x="7417430" y="6163056"/>
            <a:ext cx="198479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50" b="1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day 17 / 20</a:t>
            </a:r>
            <a:endParaRPr lang="en-US" sz="750" dirty="0"/>
          </a:p>
        </p:txBody>
      </p:sp>
      <p:sp>
        <p:nvSpPr>
          <p:cNvPr id="345" name="Shape 343"/>
          <p:cNvSpPr/>
          <p:nvPr/>
        </p:nvSpPr>
        <p:spPr>
          <a:xfrm>
            <a:off x="9621683" y="5577840"/>
            <a:ext cx="2204253" cy="822960"/>
          </a:xfrm>
          <a:prstGeom prst="roundRect">
            <a:avLst>
              <a:gd name="adj" fmla="val 7778"/>
            </a:avLst>
          </a:prstGeom>
          <a:solidFill>
            <a:srgbClr val="3D3935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346" name="Shape 344"/>
          <p:cNvSpPr/>
          <p:nvPr/>
        </p:nvSpPr>
        <p:spPr>
          <a:xfrm>
            <a:off x="9676547" y="5577840"/>
            <a:ext cx="2094525" cy="54864"/>
          </a:xfrm>
          <a:prstGeom prst="rect">
            <a:avLst/>
          </a:prstGeom>
          <a:solidFill>
            <a:srgbClr val="D68A00"/>
          </a:solidFill>
          <a:ln w="12700">
            <a:solidFill>
              <a:srgbClr val="D68A00"/>
            </a:solidFill>
            <a:prstDash val="solid"/>
          </a:ln>
        </p:spPr>
      </p:sp>
      <p:sp>
        <p:nvSpPr>
          <p:cNvPr id="347" name="Text 345"/>
          <p:cNvSpPr/>
          <p:nvPr/>
        </p:nvSpPr>
        <p:spPr>
          <a:xfrm>
            <a:off x="9731411" y="5669280"/>
            <a:ext cx="198479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850" b="1" dirty="0">
                <a:solidFill>
                  <a:srgbClr val="CF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completion</a:t>
            </a:r>
            <a:endParaRPr lang="en-US" sz="850" dirty="0"/>
          </a:p>
        </p:txBody>
      </p:sp>
      <p:sp>
        <p:nvSpPr>
          <p:cNvPr id="348" name="Text 346"/>
          <p:cNvSpPr/>
          <p:nvPr/>
        </p:nvSpPr>
        <p:spPr>
          <a:xfrm>
            <a:off x="9731411" y="5870448"/>
            <a:ext cx="198479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 14 Nov 2026</a:t>
            </a:r>
            <a:endParaRPr lang="en-US" sz="1300" dirty="0"/>
          </a:p>
        </p:txBody>
      </p:sp>
      <p:sp>
        <p:nvSpPr>
          <p:cNvPr id="349" name="Text 347"/>
          <p:cNvSpPr/>
          <p:nvPr/>
        </p:nvSpPr>
        <p:spPr>
          <a:xfrm>
            <a:off x="9731411" y="6163056"/>
            <a:ext cx="198479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50" b="1" dirty="0">
                <a:solidFill>
                  <a:srgbClr val="CF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day 20 / 20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519672"/>
            <a:ext cx="54864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SAR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UFWL Project – Gantt Chart</dc:title>
  <dc:subject>PptxGenJS Presentation</dc:subject>
  <dc:creator>UFWL Project</dc:creator>
  <cp:lastModifiedBy>UFWL Project</cp:lastModifiedBy>
  <cp:revision>1</cp:revision>
  <dcterms:created xsi:type="dcterms:W3CDTF">2026-10-21T13:51:16Z</dcterms:created>
  <dcterms:modified xsi:type="dcterms:W3CDTF">2026-10-21T13:51:16Z</dcterms:modified>
</cp:coreProperties>
</file>