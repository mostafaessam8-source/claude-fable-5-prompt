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Site Suspension &amp; Remaining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098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7538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7538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175734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16693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240088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5837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25837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2826572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8177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890925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092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092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468611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541763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051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60051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1194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108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2108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77908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7028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843438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6172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386172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429922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4211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49427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25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45125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507196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45114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6340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16340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57227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8142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8142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8243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6373637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6446789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65077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465077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033273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02447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709762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1591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11591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67531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7748464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6675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776675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3261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4175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4175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9985786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8976988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9050140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068428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068428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636624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96278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970097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192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97192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Works – Shoring &amp; Pit Works Programme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RYDN-WLB pit works · Proposed by Gulf Development Company for Contracting · Rev 01 · 12 Oct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005840"/>
            <a:ext cx="10552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5298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4482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(colour = work group)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26434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5618" y="1005840"/>
            <a:ext cx="8430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43830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3014" y="1005840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Non-working 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25158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08622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02906" y="1005840"/>
            <a:ext cx="153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Dependency (FS / SS)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47288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24528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 (wd)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27448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85816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44184" y="1325880"/>
            <a:ext cx="2649969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44184" y="1325880"/>
            <a:ext cx="26499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694153" y="1325880"/>
            <a:ext cx="3131782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94153" y="1325880"/>
            <a:ext cx="31317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44184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887356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87356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7730528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0528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8573700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73700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9416872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16872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0260044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60044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11103216" y="1508760"/>
            <a:ext cx="722719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103216" y="1508760"/>
            <a:ext cx="72271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04418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4418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604418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6044184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6463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6463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616463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628509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8509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628509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640554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554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52" name="Text 50"/>
          <p:cNvSpPr/>
          <p:nvPr/>
        </p:nvSpPr>
        <p:spPr>
          <a:xfrm>
            <a:off x="640554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652599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99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652599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664645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4645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58" name="Text 56"/>
          <p:cNvSpPr/>
          <p:nvPr/>
        </p:nvSpPr>
        <p:spPr>
          <a:xfrm>
            <a:off x="664645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59" name="Shape 57"/>
          <p:cNvSpPr/>
          <p:nvPr/>
        </p:nvSpPr>
        <p:spPr>
          <a:xfrm>
            <a:off x="6766903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6690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61" name="Text 59"/>
          <p:cNvSpPr/>
          <p:nvPr/>
        </p:nvSpPr>
        <p:spPr>
          <a:xfrm>
            <a:off x="676690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62" name="Shape 60"/>
          <p:cNvSpPr/>
          <p:nvPr/>
        </p:nvSpPr>
        <p:spPr>
          <a:xfrm>
            <a:off x="6766903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8735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8735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688735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688735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0780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0780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700780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712826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12826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72" name="Text 70"/>
          <p:cNvSpPr/>
          <p:nvPr/>
        </p:nvSpPr>
        <p:spPr>
          <a:xfrm>
            <a:off x="712826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73" name="Shape 71"/>
          <p:cNvSpPr/>
          <p:nvPr/>
        </p:nvSpPr>
        <p:spPr>
          <a:xfrm>
            <a:off x="724871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24871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724871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736916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6916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78" name="Text 76"/>
          <p:cNvSpPr/>
          <p:nvPr/>
        </p:nvSpPr>
        <p:spPr>
          <a:xfrm>
            <a:off x="736916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79" name="Shape 77"/>
          <p:cNvSpPr/>
          <p:nvPr/>
        </p:nvSpPr>
        <p:spPr>
          <a:xfrm>
            <a:off x="748962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48962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1" name="Text 79"/>
          <p:cNvSpPr/>
          <p:nvPr/>
        </p:nvSpPr>
        <p:spPr>
          <a:xfrm>
            <a:off x="748962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82" name="Shape 80"/>
          <p:cNvSpPr/>
          <p:nvPr/>
        </p:nvSpPr>
        <p:spPr>
          <a:xfrm>
            <a:off x="7610075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61007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84" name="Text 82"/>
          <p:cNvSpPr/>
          <p:nvPr/>
        </p:nvSpPr>
        <p:spPr>
          <a:xfrm>
            <a:off x="761007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7610075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73052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73052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88" name="Text 86"/>
          <p:cNvSpPr/>
          <p:nvPr/>
        </p:nvSpPr>
        <p:spPr>
          <a:xfrm>
            <a:off x="773052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7730528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85098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85098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2" name="Text 90"/>
          <p:cNvSpPr/>
          <p:nvPr/>
        </p:nvSpPr>
        <p:spPr>
          <a:xfrm>
            <a:off x="785098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797143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97143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95" name="Text 93"/>
          <p:cNvSpPr/>
          <p:nvPr/>
        </p:nvSpPr>
        <p:spPr>
          <a:xfrm>
            <a:off x="797143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809188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09188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98" name="Text 96"/>
          <p:cNvSpPr/>
          <p:nvPr/>
        </p:nvSpPr>
        <p:spPr>
          <a:xfrm>
            <a:off x="809188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821234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21234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01" name="Text 99"/>
          <p:cNvSpPr/>
          <p:nvPr/>
        </p:nvSpPr>
        <p:spPr>
          <a:xfrm>
            <a:off x="821234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833279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33279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4" name="Text 102"/>
          <p:cNvSpPr/>
          <p:nvPr/>
        </p:nvSpPr>
        <p:spPr>
          <a:xfrm>
            <a:off x="833279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8453247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45324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07" name="Text 105"/>
          <p:cNvSpPr/>
          <p:nvPr/>
        </p:nvSpPr>
        <p:spPr>
          <a:xfrm>
            <a:off x="845324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8453247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57370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57370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1" name="Text 109"/>
          <p:cNvSpPr/>
          <p:nvPr/>
        </p:nvSpPr>
        <p:spPr>
          <a:xfrm>
            <a:off x="857370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857370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9415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69415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5" name="Text 113"/>
          <p:cNvSpPr/>
          <p:nvPr/>
        </p:nvSpPr>
        <p:spPr>
          <a:xfrm>
            <a:off x="869415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881460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1460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18" name="Text 116"/>
          <p:cNvSpPr/>
          <p:nvPr/>
        </p:nvSpPr>
        <p:spPr>
          <a:xfrm>
            <a:off x="881460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893506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93506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1" name="Text 119"/>
          <p:cNvSpPr/>
          <p:nvPr/>
        </p:nvSpPr>
        <p:spPr>
          <a:xfrm>
            <a:off x="893506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905551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05551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24" name="Text 122"/>
          <p:cNvSpPr/>
          <p:nvPr/>
        </p:nvSpPr>
        <p:spPr>
          <a:xfrm>
            <a:off x="905551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917596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17596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7" name="Text 125"/>
          <p:cNvSpPr/>
          <p:nvPr/>
        </p:nvSpPr>
        <p:spPr>
          <a:xfrm>
            <a:off x="917596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50" dirty="0"/>
          </a:p>
        </p:txBody>
      </p:sp>
      <p:sp>
        <p:nvSpPr>
          <p:cNvPr id="128" name="Shape 126"/>
          <p:cNvSpPr/>
          <p:nvPr/>
        </p:nvSpPr>
        <p:spPr>
          <a:xfrm>
            <a:off x="9296419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29641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30" name="Text 128"/>
          <p:cNvSpPr/>
          <p:nvPr/>
        </p:nvSpPr>
        <p:spPr>
          <a:xfrm>
            <a:off x="929641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50" dirty="0"/>
          </a:p>
        </p:txBody>
      </p:sp>
      <p:sp>
        <p:nvSpPr>
          <p:cNvPr id="131" name="Shape 129"/>
          <p:cNvSpPr/>
          <p:nvPr/>
        </p:nvSpPr>
        <p:spPr>
          <a:xfrm>
            <a:off x="9296419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41687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41687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34" name="Text 132"/>
          <p:cNvSpPr/>
          <p:nvPr/>
        </p:nvSpPr>
        <p:spPr>
          <a:xfrm>
            <a:off x="941687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50" dirty="0"/>
          </a:p>
        </p:txBody>
      </p:sp>
      <p:sp>
        <p:nvSpPr>
          <p:cNvPr id="135" name="Shape 133"/>
          <p:cNvSpPr/>
          <p:nvPr/>
        </p:nvSpPr>
        <p:spPr>
          <a:xfrm>
            <a:off x="9416872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3732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53732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38" name="Text 136"/>
          <p:cNvSpPr/>
          <p:nvPr/>
        </p:nvSpPr>
        <p:spPr>
          <a:xfrm>
            <a:off x="953732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50" dirty="0"/>
          </a:p>
        </p:txBody>
      </p:sp>
      <p:sp>
        <p:nvSpPr>
          <p:cNvPr id="139" name="Shape 137"/>
          <p:cNvSpPr/>
          <p:nvPr/>
        </p:nvSpPr>
        <p:spPr>
          <a:xfrm>
            <a:off x="965777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65777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41" name="Text 139"/>
          <p:cNvSpPr/>
          <p:nvPr/>
        </p:nvSpPr>
        <p:spPr>
          <a:xfrm>
            <a:off x="965777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977823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977823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44" name="Text 142"/>
          <p:cNvSpPr/>
          <p:nvPr/>
        </p:nvSpPr>
        <p:spPr>
          <a:xfrm>
            <a:off x="977823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145" name="Shape 143"/>
          <p:cNvSpPr/>
          <p:nvPr/>
        </p:nvSpPr>
        <p:spPr>
          <a:xfrm>
            <a:off x="989868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89868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47" name="Text 145"/>
          <p:cNvSpPr/>
          <p:nvPr/>
        </p:nvSpPr>
        <p:spPr>
          <a:xfrm>
            <a:off x="989868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148" name="Shape 146"/>
          <p:cNvSpPr/>
          <p:nvPr/>
        </p:nvSpPr>
        <p:spPr>
          <a:xfrm>
            <a:off x="1001913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001913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50" name="Text 148"/>
          <p:cNvSpPr/>
          <p:nvPr/>
        </p:nvSpPr>
        <p:spPr>
          <a:xfrm>
            <a:off x="1001913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151" name="Shape 149"/>
          <p:cNvSpPr/>
          <p:nvPr/>
        </p:nvSpPr>
        <p:spPr>
          <a:xfrm>
            <a:off x="10139591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013959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53" name="Text 151"/>
          <p:cNvSpPr/>
          <p:nvPr/>
        </p:nvSpPr>
        <p:spPr>
          <a:xfrm>
            <a:off x="1013959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154" name="Shape 152"/>
          <p:cNvSpPr/>
          <p:nvPr/>
        </p:nvSpPr>
        <p:spPr>
          <a:xfrm>
            <a:off x="10139591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1026004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026004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57" name="Text 155"/>
          <p:cNvSpPr/>
          <p:nvPr/>
        </p:nvSpPr>
        <p:spPr>
          <a:xfrm>
            <a:off x="1026004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10260044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038049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038049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61" name="Text 159"/>
          <p:cNvSpPr/>
          <p:nvPr/>
        </p:nvSpPr>
        <p:spPr>
          <a:xfrm>
            <a:off x="1038049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162" name="Shape 160"/>
          <p:cNvSpPr/>
          <p:nvPr/>
        </p:nvSpPr>
        <p:spPr>
          <a:xfrm>
            <a:off x="1050095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50095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64" name="Text 162"/>
          <p:cNvSpPr/>
          <p:nvPr/>
        </p:nvSpPr>
        <p:spPr>
          <a:xfrm>
            <a:off x="1050095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165" name="Shape 163"/>
          <p:cNvSpPr/>
          <p:nvPr/>
        </p:nvSpPr>
        <p:spPr>
          <a:xfrm>
            <a:off x="1062140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062140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67" name="Text 165"/>
          <p:cNvSpPr/>
          <p:nvPr/>
        </p:nvSpPr>
        <p:spPr>
          <a:xfrm>
            <a:off x="1062140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168" name="Shape 166"/>
          <p:cNvSpPr/>
          <p:nvPr/>
        </p:nvSpPr>
        <p:spPr>
          <a:xfrm>
            <a:off x="1074185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074185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70" name="Text 168"/>
          <p:cNvSpPr/>
          <p:nvPr/>
        </p:nvSpPr>
        <p:spPr>
          <a:xfrm>
            <a:off x="1074185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171" name="Shape 169"/>
          <p:cNvSpPr/>
          <p:nvPr/>
        </p:nvSpPr>
        <p:spPr>
          <a:xfrm>
            <a:off x="1086231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1086231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73" name="Text 171"/>
          <p:cNvSpPr/>
          <p:nvPr/>
        </p:nvSpPr>
        <p:spPr>
          <a:xfrm>
            <a:off x="1086231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174" name="Shape 172"/>
          <p:cNvSpPr/>
          <p:nvPr/>
        </p:nvSpPr>
        <p:spPr>
          <a:xfrm>
            <a:off x="10982763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8276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76" name="Text 174"/>
          <p:cNvSpPr/>
          <p:nvPr/>
        </p:nvSpPr>
        <p:spPr>
          <a:xfrm>
            <a:off x="1098276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177" name="Shape 175"/>
          <p:cNvSpPr/>
          <p:nvPr/>
        </p:nvSpPr>
        <p:spPr>
          <a:xfrm>
            <a:off x="10982763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1110321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110321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80" name="Text 178"/>
          <p:cNvSpPr/>
          <p:nvPr/>
        </p:nvSpPr>
        <p:spPr>
          <a:xfrm>
            <a:off x="1110321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181" name="Shape 179"/>
          <p:cNvSpPr/>
          <p:nvPr/>
        </p:nvSpPr>
        <p:spPr>
          <a:xfrm>
            <a:off x="1110321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1122366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1122366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84" name="Text 182"/>
          <p:cNvSpPr/>
          <p:nvPr/>
        </p:nvSpPr>
        <p:spPr>
          <a:xfrm>
            <a:off x="1122366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1134412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1134412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87" name="Text 185"/>
          <p:cNvSpPr/>
          <p:nvPr/>
        </p:nvSpPr>
        <p:spPr>
          <a:xfrm>
            <a:off x="1134412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1146457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1146457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90" name="Text 188"/>
          <p:cNvSpPr/>
          <p:nvPr/>
        </p:nvSpPr>
        <p:spPr>
          <a:xfrm>
            <a:off x="1146457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1158502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158502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93" name="Text 191"/>
          <p:cNvSpPr/>
          <p:nvPr/>
        </p:nvSpPr>
        <p:spPr>
          <a:xfrm>
            <a:off x="1158502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194" name="Shape 192"/>
          <p:cNvSpPr/>
          <p:nvPr/>
        </p:nvSpPr>
        <p:spPr>
          <a:xfrm>
            <a:off x="1170548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1170548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96" name="Text 194"/>
          <p:cNvSpPr/>
          <p:nvPr/>
        </p:nvSpPr>
        <p:spPr>
          <a:xfrm>
            <a:off x="1170548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197" name="Shape 195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38912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65760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900" dirty="0"/>
          </a:p>
        </p:txBody>
      </p:sp>
      <p:sp>
        <p:nvSpPr>
          <p:cNvPr id="200" name="Text 198"/>
          <p:cNvSpPr/>
          <p:nvPr/>
        </p:nvSpPr>
        <p:spPr>
          <a:xfrm>
            <a:off x="8229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duration</a:t>
            </a:r>
            <a:endParaRPr lang="en-US" sz="1000" dirty="0"/>
          </a:p>
        </p:txBody>
      </p:sp>
      <p:sp>
        <p:nvSpPr>
          <p:cNvPr id="201" name="Text 199"/>
          <p:cNvSpPr/>
          <p:nvPr/>
        </p:nvSpPr>
        <p:spPr>
          <a:xfrm>
            <a:off x="4224528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02" name="Text 200"/>
          <p:cNvSpPr/>
          <p:nvPr/>
        </p:nvSpPr>
        <p:spPr>
          <a:xfrm>
            <a:off x="4727448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850" dirty="0"/>
          </a:p>
        </p:txBody>
      </p:sp>
      <p:sp>
        <p:nvSpPr>
          <p:cNvPr id="203" name="Text 201"/>
          <p:cNvSpPr/>
          <p:nvPr/>
        </p:nvSpPr>
        <p:spPr>
          <a:xfrm>
            <a:off x="5385816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Nov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405543" y="2011680"/>
            <a:ext cx="5179485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6405543" y="2011680"/>
            <a:ext cx="51794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working days · 13 Oct → 24 Nov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365760" y="224028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457200" y="224028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Milestone</a:t>
            </a:r>
            <a:endParaRPr lang="en-US" sz="1000" dirty="0"/>
          </a:p>
        </p:txBody>
      </p:sp>
      <p:sp>
        <p:nvSpPr>
          <p:cNvPr id="208" name="Shape 206"/>
          <p:cNvSpPr/>
          <p:nvPr/>
        </p:nvSpPr>
        <p:spPr>
          <a:xfrm>
            <a:off x="6383474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6036002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550" dirty="0"/>
          </a:p>
        </p:txBody>
      </p:sp>
      <p:sp>
        <p:nvSpPr>
          <p:cNvPr id="210" name="Text 208"/>
          <p:cNvSpPr/>
          <p:nvPr/>
        </p:nvSpPr>
        <p:spPr>
          <a:xfrm>
            <a:off x="5898842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750" dirty="0"/>
          </a:p>
        </p:txBody>
      </p:sp>
      <p:sp>
        <p:nvSpPr>
          <p:cNvPr id="211" name="Shape 209"/>
          <p:cNvSpPr/>
          <p:nvPr/>
        </p:nvSpPr>
        <p:spPr>
          <a:xfrm>
            <a:off x="7106193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6758721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550" dirty="0"/>
          </a:p>
        </p:txBody>
      </p:sp>
      <p:sp>
        <p:nvSpPr>
          <p:cNvPr id="213" name="Text 211"/>
          <p:cNvSpPr/>
          <p:nvPr/>
        </p:nvSpPr>
        <p:spPr>
          <a:xfrm>
            <a:off x="6621561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9876615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9529143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550" dirty="0"/>
          </a:p>
        </p:txBody>
      </p:sp>
      <p:sp>
        <p:nvSpPr>
          <p:cNvPr id="216" name="Text 214"/>
          <p:cNvSpPr/>
          <p:nvPr/>
        </p:nvSpPr>
        <p:spPr>
          <a:xfrm>
            <a:off x="9391983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Nov</a:t>
            </a:r>
            <a:endParaRPr lang="en-US" sz="750" dirty="0"/>
          </a:p>
        </p:txBody>
      </p:sp>
      <p:sp>
        <p:nvSpPr>
          <p:cNvPr id="217" name="Shape 215"/>
          <p:cNvSpPr/>
          <p:nvPr/>
        </p:nvSpPr>
        <p:spPr>
          <a:xfrm>
            <a:off x="10719787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10372315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550" dirty="0"/>
          </a:p>
        </p:txBody>
      </p:sp>
      <p:sp>
        <p:nvSpPr>
          <p:cNvPr id="219" name="Text 217"/>
          <p:cNvSpPr/>
          <p:nvPr/>
        </p:nvSpPr>
        <p:spPr>
          <a:xfrm>
            <a:off x="10235155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Nov</a:t>
            </a:r>
            <a:endParaRPr lang="en-US" sz="750" dirty="0"/>
          </a:p>
        </p:txBody>
      </p:sp>
      <p:sp>
        <p:nvSpPr>
          <p:cNvPr id="220" name="Shape 218"/>
          <p:cNvSpPr/>
          <p:nvPr/>
        </p:nvSpPr>
        <p:spPr>
          <a:xfrm>
            <a:off x="11442506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11095034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550" dirty="0"/>
          </a:p>
        </p:txBody>
      </p:sp>
      <p:sp>
        <p:nvSpPr>
          <p:cNvPr id="222" name="Text 220"/>
          <p:cNvSpPr/>
          <p:nvPr/>
        </p:nvSpPr>
        <p:spPr>
          <a:xfrm>
            <a:off x="10957874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Nov</a:t>
            </a:r>
            <a:endParaRPr lang="en-US" sz="750" dirty="0"/>
          </a:p>
        </p:txBody>
      </p:sp>
      <p:sp>
        <p:nvSpPr>
          <p:cNvPr id="223" name="Shape 221"/>
          <p:cNvSpPr/>
          <p:nvPr/>
        </p:nvSpPr>
        <p:spPr>
          <a:xfrm>
            <a:off x="365760" y="288036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438912" y="286931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365760" y="288036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22960" y="288036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system installation</a:t>
            </a:r>
            <a:endParaRPr lang="en-US" sz="750" dirty="0"/>
          </a:p>
        </p:txBody>
      </p:sp>
      <p:sp>
        <p:nvSpPr>
          <p:cNvPr id="227" name="Text 225"/>
          <p:cNvSpPr/>
          <p:nvPr/>
        </p:nvSpPr>
        <p:spPr>
          <a:xfrm>
            <a:off x="3447288" y="288036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228" name="Text 226"/>
          <p:cNvSpPr/>
          <p:nvPr/>
        </p:nvSpPr>
        <p:spPr>
          <a:xfrm>
            <a:off x="4224528" y="288036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29" name="Text 227"/>
          <p:cNvSpPr/>
          <p:nvPr/>
        </p:nvSpPr>
        <p:spPr>
          <a:xfrm>
            <a:off x="4727448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700" dirty="0"/>
          </a:p>
        </p:txBody>
      </p:sp>
      <p:sp>
        <p:nvSpPr>
          <p:cNvPr id="230" name="Text 228"/>
          <p:cNvSpPr/>
          <p:nvPr/>
        </p:nvSpPr>
        <p:spPr>
          <a:xfrm>
            <a:off x="5385816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700" dirty="0"/>
          </a:p>
        </p:txBody>
      </p:sp>
      <p:sp>
        <p:nvSpPr>
          <p:cNvPr id="231" name="Shape 229"/>
          <p:cNvSpPr/>
          <p:nvPr/>
        </p:nvSpPr>
        <p:spPr>
          <a:xfrm>
            <a:off x="6405543" y="2928747"/>
            <a:ext cx="843172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 flipV="1">
            <a:off x="6405543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 flipV="1">
            <a:off x="7184707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7294435" y="2880360"/>
            <a:ext cx="5486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</a:t>
            </a:r>
            <a:endParaRPr lang="en-US" sz="750" dirty="0"/>
          </a:p>
        </p:txBody>
      </p:sp>
      <p:sp>
        <p:nvSpPr>
          <p:cNvPr id="235" name="Shape 233"/>
          <p:cNvSpPr/>
          <p:nvPr/>
        </p:nvSpPr>
        <p:spPr>
          <a:xfrm>
            <a:off x="365760" y="309600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420624" y="312610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393192" y="309600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A.1</a:t>
            </a:r>
            <a:endParaRPr lang="en-US" sz="650" dirty="0"/>
          </a:p>
        </p:txBody>
      </p:sp>
      <p:sp>
        <p:nvSpPr>
          <p:cNvPr id="238" name="Text 236"/>
          <p:cNvSpPr/>
          <p:nvPr/>
        </p:nvSpPr>
        <p:spPr>
          <a:xfrm>
            <a:off x="987552" y="3096006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Excavation / digging for H-Beam</a:t>
            </a:r>
            <a:endParaRPr lang="en-US" sz="700" dirty="0"/>
          </a:p>
        </p:txBody>
      </p:sp>
      <p:sp>
        <p:nvSpPr>
          <p:cNvPr id="239" name="Text 237"/>
          <p:cNvSpPr/>
          <p:nvPr/>
        </p:nvSpPr>
        <p:spPr>
          <a:xfrm>
            <a:off x="3447288" y="309600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240" name="Text 238"/>
          <p:cNvSpPr/>
          <p:nvPr/>
        </p:nvSpPr>
        <p:spPr>
          <a:xfrm>
            <a:off x="4224528" y="309600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41" name="Text 239"/>
          <p:cNvSpPr/>
          <p:nvPr/>
        </p:nvSpPr>
        <p:spPr>
          <a:xfrm>
            <a:off x="4727448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700" dirty="0"/>
          </a:p>
        </p:txBody>
      </p:sp>
      <p:sp>
        <p:nvSpPr>
          <p:cNvPr id="242" name="Text 240"/>
          <p:cNvSpPr/>
          <p:nvPr/>
        </p:nvSpPr>
        <p:spPr>
          <a:xfrm>
            <a:off x="5385816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700" dirty="0"/>
          </a:p>
        </p:txBody>
      </p:sp>
      <p:sp>
        <p:nvSpPr>
          <p:cNvPr id="243" name="Shape 241"/>
          <p:cNvSpPr/>
          <p:nvPr/>
        </p:nvSpPr>
        <p:spPr>
          <a:xfrm>
            <a:off x="6405543" y="314129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4" name="Shape 242"/>
          <p:cNvSpPr/>
          <p:nvPr/>
        </p:nvSpPr>
        <p:spPr>
          <a:xfrm>
            <a:off x="365760" y="3311652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420624" y="334175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393192" y="331165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A.2</a:t>
            </a:r>
            <a:endParaRPr lang="en-US" sz="650" dirty="0"/>
          </a:p>
        </p:txBody>
      </p:sp>
      <p:sp>
        <p:nvSpPr>
          <p:cNvPr id="247" name="Text 245"/>
          <p:cNvSpPr/>
          <p:nvPr/>
        </p:nvSpPr>
        <p:spPr>
          <a:xfrm>
            <a:off x="987552" y="3311652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of H-Beam</a:t>
            </a:r>
            <a:endParaRPr lang="en-US" sz="700" dirty="0"/>
          </a:p>
        </p:txBody>
      </p:sp>
      <p:sp>
        <p:nvSpPr>
          <p:cNvPr id="248" name="Text 246"/>
          <p:cNvSpPr/>
          <p:nvPr/>
        </p:nvSpPr>
        <p:spPr>
          <a:xfrm>
            <a:off x="3447288" y="331165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SS +1</a:t>
            </a:r>
            <a:endParaRPr lang="en-US" sz="700" dirty="0"/>
          </a:p>
        </p:txBody>
      </p:sp>
      <p:sp>
        <p:nvSpPr>
          <p:cNvPr id="249" name="Text 247"/>
          <p:cNvSpPr/>
          <p:nvPr/>
        </p:nvSpPr>
        <p:spPr>
          <a:xfrm>
            <a:off x="4224528" y="331165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50" name="Text 248"/>
          <p:cNvSpPr/>
          <p:nvPr/>
        </p:nvSpPr>
        <p:spPr>
          <a:xfrm>
            <a:off x="4727448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700" dirty="0"/>
          </a:p>
        </p:txBody>
      </p:sp>
      <p:sp>
        <p:nvSpPr>
          <p:cNvPr id="251" name="Text 249"/>
          <p:cNvSpPr/>
          <p:nvPr/>
        </p:nvSpPr>
        <p:spPr>
          <a:xfrm>
            <a:off x="5385816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52" name="Shape 250"/>
          <p:cNvSpPr/>
          <p:nvPr/>
        </p:nvSpPr>
        <p:spPr>
          <a:xfrm>
            <a:off x="6525997" y="3356938"/>
            <a:ext cx="481813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3" name="Text 251"/>
          <p:cNvSpPr/>
          <p:nvPr/>
        </p:nvSpPr>
        <p:spPr>
          <a:xfrm>
            <a:off x="6525997" y="3356938"/>
            <a:ext cx="481813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54" name="Shape 252"/>
          <p:cNvSpPr/>
          <p:nvPr/>
        </p:nvSpPr>
        <p:spPr>
          <a:xfrm>
            <a:off x="365760" y="3527298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20624" y="355739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393192" y="352729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A.3</a:t>
            </a:r>
            <a:endParaRPr lang="en-US" sz="650" dirty="0"/>
          </a:p>
        </p:txBody>
      </p:sp>
      <p:sp>
        <p:nvSpPr>
          <p:cNvPr id="257" name="Text 255"/>
          <p:cNvSpPr/>
          <p:nvPr/>
        </p:nvSpPr>
        <p:spPr>
          <a:xfrm>
            <a:off x="987552" y="3527298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work for H-Beam</a:t>
            </a:r>
            <a:endParaRPr lang="en-US" sz="700" dirty="0"/>
          </a:p>
        </p:txBody>
      </p:sp>
      <p:sp>
        <p:nvSpPr>
          <p:cNvPr id="258" name="Text 256"/>
          <p:cNvSpPr/>
          <p:nvPr/>
        </p:nvSpPr>
        <p:spPr>
          <a:xfrm>
            <a:off x="3447288" y="352729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SS +1</a:t>
            </a:r>
            <a:endParaRPr lang="en-US" sz="700" dirty="0"/>
          </a:p>
        </p:txBody>
      </p:sp>
      <p:sp>
        <p:nvSpPr>
          <p:cNvPr id="259" name="Text 257"/>
          <p:cNvSpPr/>
          <p:nvPr/>
        </p:nvSpPr>
        <p:spPr>
          <a:xfrm>
            <a:off x="4224528" y="352729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60" name="Text 258"/>
          <p:cNvSpPr/>
          <p:nvPr/>
        </p:nvSpPr>
        <p:spPr>
          <a:xfrm>
            <a:off x="4727448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Oct</a:t>
            </a:r>
            <a:endParaRPr lang="en-US" sz="700" dirty="0"/>
          </a:p>
        </p:txBody>
      </p:sp>
      <p:sp>
        <p:nvSpPr>
          <p:cNvPr id="261" name="Text 259"/>
          <p:cNvSpPr/>
          <p:nvPr/>
        </p:nvSpPr>
        <p:spPr>
          <a:xfrm>
            <a:off x="5385816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Oct</a:t>
            </a:r>
            <a:endParaRPr lang="en-US" sz="700" dirty="0"/>
          </a:p>
        </p:txBody>
      </p:sp>
      <p:sp>
        <p:nvSpPr>
          <p:cNvPr id="262" name="Shape 260"/>
          <p:cNvSpPr/>
          <p:nvPr/>
        </p:nvSpPr>
        <p:spPr>
          <a:xfrm>
            <a:off x="6646450" y="3572584"/>
            <a:ext cx="481813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3" name="Text 261"/>
          <p:cNvSpPr/>
          <p:nvPr/>
        </p:nvSpPr>
        <p:spPr>
          <a:xfrm>
            <a:off x="6646450" y="3572584"/>
            <a:ext cx="481813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64" name="Shape 262"/>
          <p:cNvSpPr/>
          <p:nvPr/>
        </p:nvSpPr>
        <p:spPr>
          <a:xfrm>
            <a:off x="365760" y="3742944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420624" y="377304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393192" y="374294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A.4</a:t>
            </a:r>
            <a:endParaRPr lang="en-US" sz="650" dirty="0"/>
          </a:p>
        </p:txBody>
      </p:sp>
      <p:sp>
        <p:nvSpPr>
          <p:cNvPr id="267" name="Text 265"/>
          <p:cNvSpPr/>
          <p:nvPr/>
        </p:nvSpPr>
        <p:spPr>
          <a:xfrm>
            <a:off x="987552" y="3742944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Bracing for shoring</a:t>
            </a:r>
            <a:endParaRPr lang="en-US" sz="700" dirty="0"/>
          </a:p>
        </p:txBody>
      </p:sp>
      <p:sp>
        <p:nvSpPr>
          <p:cNvPr id="268" name="Text 266"/>
          <p:cNvSpPr/>
          <p:nvPr/>
        </p:nvSpPr>
        <p:spPr>
          <a:xfrm>
            <a:off x="3447288" y="374294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SS +1</a:t>
            </a:r>
            <a:endParaRPr lang="en-US" sz="700" dirty="0"/>
          </a:p>
        </p:txBody>
      </p:sp>
      <p:sp>
        <p:nvSpPr>
          <p:cNvPr id="269" name="Text 267"/>
          <p:cNvSpPr/>
          <p:nvPr/>
        </p:nvSpPr>
        <p:spPr>
          <a:xfrm>
            <a:off x="4224528" y="374294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70" name="Text 268"/>
          <p:cNvSpPr/>
          <p:nvPr/>
        </p:nvSpPr>
        <p:spPr>
          <a:xfrm>
            <a:off x="4727448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71" name="Text 269"/>
          <p:cNvSpPr/>
          <p:nvPr/>
        </p:nvSpPr>
        <p:spPr>
          <a:xfrm>
            <a:off x="5385816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700" dirty="0"/>
          </a:p>
        </p:txBody>
      </p:sp>
      <p:sp>
        <p:nvSpPr>
          <p:cNvPr id="272" name="Shape 270"/>
          <p:cNvSpPr/>
          <p:nvPr/>
        </p:nvSpPr>
        <p:spPr>
          <a:xfrm>
            <a:off x="6887356" y="3788230"/>
            <a:ext cx="361359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3" name="Text 271"/>
          <p:cNvSpPr/>
          <p:nvPr/>
        </p:nvSpPr>
        <p:spPr>
          <a:xfrm>
            <a:off x="6887356" y="3788230"/>
            <a:ext cx="36135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74" name="Shape 272"/>
          <p:cNvSpPr/>
          <p:nvPr/>
        </p:nvSpPr>
        <p:spPr>
          <a:xfrm>
            <a:off x="365760" y="3958590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420624" y="398868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393192" y="395859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A.5</a:t>
            </a:r>
            <a:endParaRPr lang="en-US" sz="650" dirty="0"/>
          </a:p>
        </p:txBody>
      </p:sp>
      <p:sp>
        <p:nvSpPr>
          <p:cNvPr id="277" name="Text 275"/>
          <p:cNvSpPr/>
          <p:nvPr/>
        </p:nvSpPr>
        <p:spPr>
          <a:xfrm>
            <a:off x="987552" y="3958590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Corrugated sheets installation / insertion</a:t>
            </a:r>
            <a:endParaRPr lang="en-US" sz="700" dirty="0"/>
          </a:p>
        </p:txBody>
      </p:sp>
      <p:sp>
        <p:nvSpPr>
          <p:cNvPr id="278" name="Text 276"/>
          <p:cNvSpPr/>
          <p:nvPr/>
        </p:nvSpPr>
        <p:spPr>
          <a:xfrm>
            <a:off x="3447288" y="395859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SS +1</a:t>
            </a:r>
            <a:endParaRPr lang="en-US" sz="700" dirty="0"/>
          </a:p>
        </p:txBody>
      </p:sp>
      <p:sp>
        <p:nvSpPr>
          <p:cNvPr id="279" name="Text 277"/>
          <p:cNvSpPr/>
          <p:nvPr/>
        </p:nvSpPr>
        <p:spPr>
          <a:xfrm>
            <a:off x="4224528" y="395859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80" name="Text 278"/>
          <p:cNvSpPr/>
          <p:nvPr/>
        </p:nvSpPr>
        <p:spPr>
          <a:xfrm>
            <a:off x="4727448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Oct</a:t>
            </a:r>
            <a:endParaRPr lang="en-US" sz="700" dirty="0"/>
          </a:p>
        </p:txBody>
      </p:sp>
      <p:sp>
        <p:nvSpPr>
          <p:cNvPr id="281" name="Text 279"/>
          <p:cNvSpPr/>
          <p:nvPr/>
        </p:nvSpPr>
        <p:spPr>
          <a:xfrm>
            <a:off x="5385816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700" dirty="0"/>
          </a:p>
        </p:txBody>
      </p:sp>
      <p:sp>
        <p:nvSpPr>
          <p:cNvPr id="282" name="Shape 280"/>
          <p:cNvSpPr/>
          <p:nvPr/>
        </p:nvSpPr>
        <p:spPr>
          <a:xfrm>
            <a:off x="7007809" y="4003876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3" name="Shape 281"/>
          <p:cNvSpPr/>
          <p:nvPr/>
        </p:nvSpPr>
        <p:spPr>
          <a:xfrm>
            <a:off x="365760" y="4174236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438912" y="416318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365760" y="417423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50" dirty="0"/>
          </a:p>
        </p:txBody>
      </p:sp>
      <p:sp>
        <p:nvSpPr>
          <p:cNvPr id="286" name="Text 284"/>
          <p:cNvSpPr/>
          <p:nvPr/>
        </p:nvSpPr>
        <p:spPr>
          <a:xfrm>
            <a:off x="822960" y="417423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concrete</a:t>
            </a:r>
            <a:endParaRPr lang="en-US" sz="750" dirty="0"/>
          </a:p>
        </p:txBody>
      </p:sp>
      <p:sp>
        <p:nvSpPr>
          <p:cNvPr id="287" name="Text 285"/>
          <p:cNvSpPr/>
          <p:nvPr/>
        </p:nvSpPr>
        <p:spPr>
          <a:xfrm>
            <a:off x="3447288" y="417423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SS +6</a:t>
            </a:r>
            <a:endParaRPr lang="en-US" sz="700" dirty="0"/>
          </a:p>
        </p:txBody>
      </p:sp>
      <p:sp>
        <p:nvSpPr>
          <p:cNvPr id="288" name="Text 286"/>
          <p:cNvSpPr/>
          <p:nvPr/>
        </p:nvSpPr>
        <p:spPr>
          <a:xfrm>
            <a:off x="4224528" y="417423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89" name="Text 287"/>
          <p:cNvSpPr/>
          <p:nvPr/>
        </p:nvSpPr>
        <p:spPr>
          <a:xfrm>
            <a:off x="4727448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Oct</a:t>
            </a:r>
            <a:endParaRPr lang="en-US" sz="700" dirty="0"/>
          </a:p>
        </p:txBody>
      </p:sp>
      <p:sp>
        <p:nvSpPr>
          <p:cNvPr id="290" name="Text 288"/>
          <p:cNvSpPr/>
          <p:nvPr/>
        </p:nvSpPr>
        <p:spPr>
          <a:xfrm>
            <a:off x="5385816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</a:t>
            </a:r>
            <a:endParaRPr lang="en-US" sz="700" dirty="0"/>
          </a:p>
        </p:txBody>
      </p:sp>
      <p:sp>
        <p:nvSpPr>
          <p:cNvPr id="291" name="Shape 289"/>
          <p:cNvSpPr/>
          <p:nvPr/>
        </p:nvSpPr>
        <p:spPr>
          <a:xfrm>
            <a:off x="7248716" y="421952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2" name="Shape 290"/>
          <p:cNvSpPr/>
          <p:nvPr/>
        </p:nvSpPr>
        <p:spPr>
          <a:xfrm>
            <a:off x="365760" y="4389882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438912" y="437883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365760" y="438988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50" dirty="0"/>
          </a:p>
        </p:txBody>
      </p:sp>
      <p:sp>
        <p:nvSpPr>
          <p:cNvPr id="295" name="Text 293"/>
          <p:cNvSpPr/>
          <p:nvPr/>
        </p:nvSpPr>
        <p:spPr>
          <a:xfrm>
            <a:off x="822960" y="4389882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trench – reinforcement, formwork &amp; concrete</a:t>
            </a:r>
            <a:endParaRPr lang="en-US" sz="750" dirty="0"/>
          </a:p>
        </p:txBody>
      </p:sp>
      <p:sp>
        <p:nvSpPr>
          <p:cNvPr id="296" name="Text 294"/>
          <p:cNvSpPr/>
          <p:nvPr/>
        </p:nvSpPr>
        <p:spPr>
          <a:xfrm>
            <a:off x="3447288" y="438988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FS</a:t>
            </a:r>
            <a:endParaRPr lang="en-US" sz="700" dirty="0"/>
          </a:p>
        </p:txBody>
      </p:sp>
      <p:sp>
        <p:nvSpPr>
          <p:cNvPr id="297" name="Text 295"/>
          <p:cNvSpPr/>
          <p:nvPr/>
        </p:nvSpPr>
        <p:spPr>
          <a:xfrm>
            <a:off x="4224528" y="438988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98" name="Text 296"/>
          <p:cNvSpPr/>
          <p:nvPr/>
        </p:nvSpPr>
        <p:spPr>
          <a:xfrm>
            <a:off x="4727448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Oct</a:t>
            </a:r>
            <a:endParaRPr lang="en-US" sz="700" dirty="0"/>
          </a:p>
        </p:txBody>
      </p:sp>
      <p:sp>
        <p:nvSpPr>
          <p:cNvPr id="299" name="Text 297"/>
          <p:cNvSpPr/>
          <p:nvPr/>
        </p:nvSpPr>
        <p:spPr>
          <a:xfrm>
            <a:off x="5385816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300" name="Shape 298"/>
          <p:cNvSpPr/>
          <p:nvPr/>
        </p:nvSpPr>
        <p:spPr>
          <a:xfrm>
            <a:off x="7248716" y="4435168"/>
            <a:ext cx="60226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1" name="Text 299"/>
          <p:cNvSpPr/>
          <p:nvPr/>
        </p:nvSpPr>
        <p:spPr>
          <a:xfrm>
            <a:off x="7248716" y="4435168"/>
            <a:ext cx="602266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</a:t>
            </a:r>
            <a:endParaRPr lang="en-US" sz="700" dirty="0"/>
          </a:p>
        </p:txBody>
      </p:sp>
      <p:sp>
        <p:nvSpPr>
          <p:cNvPr id="302" name="Shape 300"/>
          <p:cNvSpPr/>
          <p:nvPr/>
        </p:nvSpPr>
        <p:spPr>
          <a:xfrm>
            <a:off x="365760" y="4605528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438912" y="459447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365760" y="460552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50" dirty="0"/>
          </a:p>
        </p:txBody>
      </p:sp>
      <p:sp>
        <p:nvSpPr>
          <p:cNvPr id="305" name="Text 303"/>
          <p:cNvSpPr/>
          <p:nvPr/>
        </p:nvSpPr>
        <p:spPr>
          <a:xfrm>
            <a:off x="822960" y="4605528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slab / raft – reinforcement, formwork &amp; concrete</a:t>
            </a:r>
            <a:endParaRPr lang="en-US" sz="750" dirty="0"/>
          </a:p>
        </p:txBody>
      </p:sp>
      <p:sp>
        <p:nvSpPr>
          <p:cNvPr id="306" name="Text 304"/>
          <p:cNvSpPr/>
          <p:nvPr/>
        </p:nvSpPr>
        <p:spPr>
          <a:xfrm>
            <a:off x="3447288" y="460552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FS</a:t>
            </a:r>
            <a:endParaRPr lang="en-US" sz="700" dirty="0"/>
          </a:p>
        </p:txBody>
      </p:sp>
      <p:sp>
        <p:nvSpPr>
          <p:cNvPr id="307" name="Text 305"/>
          <p:cNvSpPr/>
          <p:nvPr/>
        </p:nvSpPr>
        <p:spPr>
          <a:xfrm>
            <a:off x="4224528" y="460552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08" name="Text 306"/>
          <p:cNvSpPr/>
          <p:nvPr/>
        </p:nvSpPr>
        <p:spPr>
          <a:xfrm>
            <a:off x="4727448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309" name="Text 307"/>
          <p:cNvSpPr/>
          <p:nvPr/>
        </p:nvSpPr>
        <p:spPr>
          <a:xfrm>
            <a:off x="5385816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Nov</a:t>
            </a:r>
            <a:endParaRPr lang="en-US" sz="700" dirty="0"/>
          </a:p>
        </p:txBody>
      </p:sp>
      <p:sp>
        <p:nvSpPr>
          <p:cNvPr id="310" name="Shape 308"/>
          <p:cNvSpPr/>
          <p:nvPr/>
        </p:nvSpPr>
        <p:spPr>
          <a:xfrm>
            <a:off x="7850981" y="4650814"/>
            <a:ext cx="1324985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11" name="Text 309"/>
          <p:cNvSpPr/>
          <p:nvPr/>
        </p:nvSpPr>
        <p:spPr>
          <a:xfrm>
            <a:off x="7850981" y="4650814"/>
            <a:ext cx="1324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</a:t>
            </a:r>
            <a:endParaRPr lang="en-US" sz="700" dirty="0"/>
          </a:p>
        </p:txBody>
      </p:sp>
      <p:sp>
        <p:nvSpPr>
          <p:cNvPr id="312" name="Shape 310"/>
          <p:cNvSpPr/>
          <p:nvPr/>
        </p:nvSpPr>
        <p:spPr>
          <a:xfrm>
            <a:off x="365760" y="4821174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438912" y="481012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365760" y="482117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850" dirty="0"/>
          </a:p>
        </p:txBody>
      </p:sp>
      <p:sp>
        <p:nvSpPr>
          <p:cNvPr id="315" name="Text 313"/>
          <p:cNvSpPr/>
          <p:nvPr/>
        </p:nvSpPr>
        <p:spPr>
          <a:xfrm>
            <a:off x="822960" y="4821174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wall – reinforcement, formwork &amp; concrete</a:t>
            </a:r>
            <a:endParaRPr lang="en-US" sz="750" dirty="0"/>
          </a:p>
        </p:txBody>
      </p:sp>
      <p:sp>
        <p:nvSpPr>
          <p:cNvPr id="316" name="Text 314"/>
          <p:cNvSpPr/>
          <p:nvPr/>
        </p:nvSpPr>
        <p:spPr>
          <a:xfrm>
            <a:off x="3447288" y="482117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317" name="Text 315"/>
          <p:cNvSpPr/>
          <p:nvPr/>
        </p:nvSpPr>
        <p:spPr>
          <a:xfrm>
            <a:off x="4224528" y="482117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18" name="Text 316"/>
          <p:cNvSpPr/>
          <p:nvPr/>
        </p:nvSpPr>
        <p:spPr>
          <a:xfrm>
            <a:off x="4727448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Nov</a:t>
            </a:r>
            <a:endParaRPr lang="en-US" sz="700" dirty="0"/>
          </a:p>
        </p:txBody>
      </p:sp>
      <p:sp>
        <p:nvSpPr>
          <p:cNvPr id="319" name="Text 317"/>
          <p:cNvSpPr/>
          <p:nvPr/>
        </p:nvSpPr>
        <p:spPr>
          <a:xfrm>
            <a:off x="5385816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Nov</a:t>
            </a:r>
            <a:endParaRPr lang="en-US" sz="700" dirty="0"/>
          </a:p>
        </p:txBody>
      </p:sp>
      <p:sp>
        <p:nvSpPr>
          <p:cNvPr id="320" name="Shape 318"/>
          <p:cNvSpPr/>
          <p:nvPr/>
        </p:nvSpPr>
        <p:spPr>
          <a:xfrm>
            <a:off x="9175966" y="4866460"/>
            <a:ext cx="843172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21" name="Text 319"/>
          <p:cNvSpPr/>
          <p:nvPr/>
        </p:nvSpPr>
        <p:spPr>
          <a:xfrm>
            <a:off x="9175966" y="4866460"/>
            <a:ext cx="843172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</a:t>
            </a:r>
            <a:endParaRPr lang="en-US" sz="700" dirty="0"/>
          </a:p>
        </p:txBody>
      </p:sp>
      <p:sp>
        <p:nvSpPr>
          <p:cNvPr id="322" name="Shape 320"/>
          <p:cNvSpPr/>
          <p:nvPr/>
        </p:nvSpPr>
        <p:spPr>
          <a:xfrm>
            <a:off x="365760" y="503682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438912" y="502577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365760" y="503682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325" name="Text 323"/>
          <p:cNvSpPr/>
          <p:nvPr/>
        </p:nvSpPr>
        <p:spPr>
          <a:xfrm>
            <a:off x="822960" y="503682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– excavation, compaction / testing, reinforcement &amp; concrete</a:t>
            </a:r>
            <a:endParaRPr lang="en-US" sz="750" dirty="0"/>
          </a:p>
        </p:txBody>
      </p:sp>
      <p:sp>
        <p:nvSpPr>
          <p:cNvPr id="326" name="Text 324"/>
          <p:cNvSpPr/>
          <p:nvPr/>
        </p:nvSpPr>
        <p:spPr>
          <a:xfrm>
            <a:off x="3447288" y="503682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327" name="Text 325"/>
          <p:cNvSpPr/>
          <p:nvPr/>
        </p:nvSpPr>
        <p:spPr>
          <a:xfrm>
            <a:off x="4224528" y="503682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28" name="Text 326"/>
          <p:cNvSpPr/>
          <p:nvPr/>
        </p:nvSpPr>
        <p:spPr>
          <a:xfrm>
            <a:off x="4727448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Nov</a:t>
            </a:r>
            <a:endParaRPr lang="en-US" sz="700" dirty="0"/>
          </a:p>
        </p:txBody>
      </p:sp>
      <p:sp>
        <p:nvSpPr>
          <p:cNvPr id="329" name="Text 327"/>
          <p:cNvSpPr/>
          <p:nvPr/>
        </p:nvSpPr>
        <p:spPr>
          <a:xfrm>
            <a:off x="5385816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Nov</a:t>
            </a:r>
            <a:endParaRPr lang="en-US" sz="700" dirty="0"/>
          </a:p>
        </p:txBody>
      </p:sp>
      <p:sp>
        <p:nvSpPr>
          <p:cNvPr id="330" name="Shape 328"/>
          <p:cNvSpPr/>
          <p:nvPr/>
        </p:nvSpPr>
        <p:spPr>
          <a:xfrm>
            <a:off x="9175966" y="5082106"/>
            <a:ext cx="1686344" cy="125075"/>
          </a:xfrm>
          <a:prstGeom prst="roundRect">
            <a:avLst>
              <a:gd name="adj" fmla="val 29243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31" name="Text 329"/>
          <p:cNvSpPr/>
          <p:nvPr/>
        </p:nvSpPr>
        <p:spPr>
          <a:xfrm>
            <a:off x="9175966" y="5082106"/>
            <a:ext cx="1686344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</a:t>
            </a:r>
            <a:endParaRPr lang="en-US" sz="700" dirty="0"/>
          </a:p>
        </p:txBody>
      </p:sp>
      <p:sp>
        <p:nvSpPr>
          <p:cNvPr id="332" name="Shape 330"/>
          <p:cNvSpPr/>
          <p:nvPr/>
        </p:nvSpPr>
        <p:spPr>
          <a:xfrm>
            <a:off x="365760" y="525246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438912" y="524141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365760" y="525246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335" name="Text 333"/>
          <p:cNvSpPr/>
          <p:nvPr/>
        </p:nvSpPr>
        <p:spPr>
          <a:xfrm>
            <a:off x="822960" y="525246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Backfilling works for the building</a:t>
            </a:r>
            <a:endParaRPr lang="en-US" sz="750" dirty="0"/>
          </a:p>
        </p:txBody>
      </p:sp>
      <p:sp>
        <p:nvSpPr>
          <p:cNvPr id="336" name="Text 334"/>
          <p:cNvSpPr/>
          <p:nvPr/>
        </p:nvSpPr>
        <p:spPr>
          <a:xfrm>
            <a:off x="3447288" y="525246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FS</a:t>
            </a:r>
            <a:endParaRPr lang="en-US" sz="700" dirty="0"/>
          </a:p>
        </p:txBody>
      </p:sp>
      <p:sp>
        <p:nvSpPr>
          <p:cNvPr id="337" name="Text 335"/>
          <p:cNvSpPr/>
          <p:nvPr/>
        </p:nvSpPr>
        <p:spPr>
          <a:xfrm>
            <a:off x="4224528" y="525246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38" name="Text 336"/>
          <p:cNvSpPr/>
          <p:nvPr/>
        </p:nvSpPr>
        <p:spPr>
          <a:xfrm>
            <a:off x="4727448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Nov</a:t>
            </a:r>
            <a:endParaRPr lang="en-US" sz="700" dirty="0"/>
          </a:p>
        </p:txBody>
      </p:sp>
      <p:sp>
        <p:nvSpPr>
          <p:cNvPr id="339" name="Text 337"/>
          <p:cNvSpPr/>
          <p:nvPr/>
        </p:nvSpPr>
        <p:spPr>
          <a:xfrm>
            <a:off x="5385816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Nov</a:t>
            </a:r>
            <a:endParaRPr lang="en-US" sz="700" dirty="0"/>
          </a:p>
        </p:txBody>
      </p:sp>
      <p:sp>
        <p:nvSpPr>
          <p:cNvPr id="340" name="Shape 338"/>
          <p:cNvSpPr/>
          <p:nvPr/>
        </p:nvSpPr>
        <p:spPr>
          <a:xfrm>
            <a:off x="10862310" y="5297752"/>
            <a:ext cx="722719" cy="125075"/>
          </a:xfrm>
          <a:prstGeom prst="roundRect">
            <a:avLst>
              <a:gd name="adj" fmla="val 29243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41" name="Text 339"/>
          <p:cNvSpPr/>
          <p:nvPr/>
        </p:nvSpPr>
        <p:spPr>
          <a:xfrm>
            <a:off x="10862310" y="5297752"/>
            <a:ext cx="72271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700" dirty="0"/>
          </a:p>
        </p:txBody>
      </p:sp>
      <p:sp>
        <p:nvSpPr>
          <p:cNvPr id="342" name="Shape 340"/>
          <p:cNvSpPr/>
          <p:nvPr/>
        </p:nvSpPr>
        <p:spPr>
          <a:xfrm>
            <a:off x="6460407" y="3266366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6460407" y="3419475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4" name="Shape 342"/>
          <p:cNvSpPr/>
          <p:nvPr/>
        </p:nvSpPr>
        <p:spPr>
          <a:xfrm>
            <a:off x="6580861" y="3482012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6580861" y="3635121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6" name="Shape 344"/>
          <p:cNvSpPr/>
          <p:nvPr/>
        </p:nvSpPr>
        <p:spPr>
          <a:xfrm>
            <a:off x="6701314" y="3697658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6701314" y="3850767"/>
            <a:ext cx="17689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8" name="Shape 346"/>
          <p:cNvSpPr/>
          <p:nvPr/>
        </p:nvSpPr>
        <p:spPr>
          <a:xfrm>
            <a:off x="6942220" y="3913304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6942220" y="4066413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0" name="Shape 348"/>
          <p:cNvSpPr/>
          <p:nvPr/>
        </p:nvSpPr>
        <p:spPr>
          <a:xfrm>
            <a:off x="6460407" y="3050720"/>
            <a:ext cx="0" cy="123133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6460407" y="4282059"/>
            <a:ext cx="77916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2" name="Shape 350"/>
          <p:cNvSpPr/>
          <p:nvPr/>
        </p:nvSpPr>
        <p:spPr>
          <a:xfrm>
            <a:off x="7202996" y="298818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7202996" y="2988183"/>
            <a:ext cx="0" cy="150952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7202996" y="449770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5" name="Shape 353"/>
          <p:cNvSpPr/>
          <p:nvPr/>
        </p:nvSpPr>
        <p:spPr>
          <a:xfrm>
            <a:off x="7805261" y="449770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7805261" y="4497705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7805261" y="471335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8" name="Shape 356"/>
          <p:cNvSpPr/>
          <p:nvPr/>
        </p:nvSpPr>
        <p:spPr>
          <a:xfrm>
            <a:off x="9130246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9130246" y="4713351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9130246" y="492899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1" name="Shape 359"/>
          <p:cNvSpPr/>
          <p:nvPr/>
        </p:nvSpPr>
        <p:spPr>
          <a:xfrm>
            <a:off x="9130246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9130246" y="4713351"/>
            <a:ext cx="0" cy="43129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9130246" y="514464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4" name="Shape 362"/>
          <p:cNvSpPr/>
          <p:nvPr/>
        </p:nvSpPr>
        <p:spPr>
          <a:xfrm>
            <a:off x="10816590" y="514464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10816590" y="5144643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10816590" y="536028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7" name="Shape 365"/>
          <p:cNvSpPr/>
          <p:nvPr/>
        </p:nvSpPr>
        <p:spPr>
          <a:xfrm>
            <a:off x="7429395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68" name="Shape 366"/>
          <p:cNvSpPr/>
          <p:nvPr/>
        </p:nvSpPr>
        <p:spPr>
          <a:xfrm>
            <a:off x="7383675" y="2240280"/>
            <a:ext cx="1143000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69" name="Text 367"/>
          <p:cNvSpPr/>
          <p:nvPr/>
        </p:nvSpPr>
        <p:spPr>
          <a:xfrm>
            <a:off x="7383675" y="2240280"/>
            <a:ext cx="1143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 · 21 Oct</a:t>
            </a:r>
            <a:endParaRPr lang="en-US" sz="650" dirty="0"/>
          </a:p>
        </p:txBody>
      </p:sp>
      <p:sp>
        <p:nvSpPr>
          <p:cNvPr id="370" name="Shape 368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2" name="Shape 370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73" name="Text 371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850" dirty="0"/>
          </a:p>
        </p:txBody>
      </p:sp>
      <p:sp>
        <p:nvSpPr>
          <p:cNvPr id="374" name="Text 372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1300" dirty="0"/>
          </a:p>
        </p:txBody>
      </p:sp>
      <p:sp>
        <p:nvSpPr>
          <p:cNvPr id="375" name="Text 373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 / 37</a:t>
            </a:r>
            <a:endParaRPr lang="en-US" sz="750" dirty="0"/>
          </a:p>
        </p:txBody>
      </p:sp>
      <p:sp>
        <p:nvSpPr>
          <p:cNvPr id="376" name="Shape 374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7" name="Shape 375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850" dirty="0"/>
          </a:p>
        </p:txBody>
      </p:sp>
      <p:sp>
        <p:nvSpPr>
          <p:cNvPr id="379" name="Text 377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1300" dirty="0"/>
          </a:p>
        </p:txBody>
      </p:sp>
      <p:sp>
        <p:nvSpPr>
          <p:cNvPr id="380" name="Text 378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6 / 37</a:t>
            </a:r>
            <a:endParaRPr lang="en-US" sz="750" dirty="0"/>
          </a:p>
        </p:txBody>
      </p:sp>
      <p:sp>
        <p:nvSpPr>
          <p:cNvPr id="381" name="Shape 379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2" name="Shape 380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83" name="Text 381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850" dirty="0"/>
          </a:p>
        </p:txBody>
      </p:sp>
      <p:sp>
        <p:nvSpPr>
          <p:cNvPr id="384" name="Text 382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11 Nov 2026</a:t>
            </a:r>
            <a:endParaRPr lang="en-US" sz="1300" dirty="0"/>
          </a:p>
        </p:txBody>
      </p:sp>
      <p:sp>
        <p:nvSpPr>
          <p:cNvPr id="385" name="Text 383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26 / 37</a:t>
            </a:r>
            <a:endParaRPr lang="en-US" sz="750" dirty="0"/>
          </a:p>
        </p:txBody>
      </p:sp>
      <p:sp>
        <p:nvSpPr>
          <p:cNvPr id="386" name="Shape 384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7" name="Shape 385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850" dirty="0"/>
          </a:p>
        </p:txBody>
      </p:sp>
      <p:sp>
        <p:nvSpPr>
          <p:cNvPr id="389" name="Text 387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18 Nov 2026</a:t>
            </a:r>
            <a:endParaRPr lang="en-US" sz="1300" dirty="0"/>
          </a:p>
        </p:txBody>
      </p:sp>
      <p:sp>
        <p:nvSpPr>
          <p:cNvPr id="390" name="Text 388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32 / 37</a:t>
            </a:r>
            <a:endParaRPr lang="en-US" sz="750" dirty="0"/>
          </a:p>
        </p:txBody>
      </p:sp>
      <p:sp>
        <p:nvSpPr>
          <p:cNvPr id="391" name="Shape 389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2" name="Shape 390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850" dirty="0"/>
          </a:p>
        </p:txBody>
      </p:sp>
      <p:sp>
        <p:nvSpPr>
          <p:cNvPr id="394" name="Text 392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24 Nov 2026</a:t>
            </a:r>
            <a:endParaRPr lang="en-US" sz="1300" dirty="0"/>
          </a:p>
        </p:txBody>
      </p:sp>
      <p:sp>
        <p:nvSpPr>
          <p:cNvPr id="395" name="Text 393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37 / 37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2026-10-21T13:21:59Z</dcterms:created>
  <dcterms:modified xsi:type="dcterms:W3CDTF">2026-10-21T13:21:59Z</dcterms:modified>
</cp:coreProperties>
</file>