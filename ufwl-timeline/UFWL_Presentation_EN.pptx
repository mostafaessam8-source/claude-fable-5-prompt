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4375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Site Suspension &amp; Remaining Works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Timeline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Timeline · Site Suspension and Shoring Works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005840"/>
            <a:ext cx="1706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43779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8686" y="1005840"/>
            <a:ext cx="22896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93208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04104" y="1005840"/>
            <a:ext cx="27669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225942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36838" y="1005840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405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2489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7573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2657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7740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28247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908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2992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8076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3159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8243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3327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4111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33494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98578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63662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287461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4059" y="3447288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3747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6374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4320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47472" y="2734056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31 Aug 2026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65760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Requested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24896" y="4050792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314584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31458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16098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89250" y="4233672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7538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28 Sep 2026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07538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Request Rejected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2175734" y="2624328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65422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96542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166936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1240088" y="191109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58376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 Oct 2026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258376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Activities Suspended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2826572" y="4050792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616260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61626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1817773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890925" y="505663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09213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3 Oct 2026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1909213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Site Visit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3477409" y="3447288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267097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326709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2468611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2541763" y="273405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560051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4 Oct 2026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560051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&amp; Mitigation Plan Submitted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4128247" y="4050792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917935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3917935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311944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3192601" y="423367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21088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5 Oct 2026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321088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Action Plan Requested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4779085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56877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456877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3770286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3843438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861726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 2026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3861726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Statement (MoS) Submitted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5429922" y="4050792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219610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521961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442112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4494276" y="505663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51256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 2026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451256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Meeting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6080760" y="3447288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87044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587044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5071962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5145114" y="273405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163402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8 Oct 2026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5163402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Stakeholders’ Clarifications Answered</a:t>
            </a:r>
            <a:endParaRPr lang="en-US" sz="650" dirty="0"/>
          </a:p>
        </p:txBody>
      </p:sp>
      <p:sp>
        <p:nvSpPr>
          <p:cNvPr id="93" name="Shape 91"/>
          <p:cNvSpPr/>
          <p:nvPr/>
        </p:nvSpPr>
        <p:spPr>
          <a:xfrm>
            <a:off x="6731598" y="4050792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21286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5" name="Text 93"/>
          <p:cNvSpPr/>
          <p:nvPr/>
        </p:nvSpPr>
        <p:spPr>
          <a:xfrm>
            <a:off x="652128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572279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7" name="Shape 95"/>
          <p:cNvSpPr/>
          <p:nvPr/>
        </p:nvSpPr>
        <p:spPr>
          <a:xfrm>
            <a:off x="5795951" y="423367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81423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11 Oct 2026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581423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Clarification Received</a:t>
            </a:r>
            <a:endParaRPr lang="en-US" sz="650" dirty="0"/>
          </a:p>
        </p:txBody>
      </p:sp>
      <p:sp>
        <p:nvSpPr>
          <p:cNvPr id="100" name="Shape 98"/>
          <p:cNvSpPr/>
          <p:nvPr/>
        </p:nvSpPr>
        <p:spPr>
          <a:xfrm>
            <a:off x="7382435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212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717212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103" name="Shape 101"/>
          <p:cNvSpPr/>
          <p:nvPr/>
        </p:nvSpPr>
        <p:spPr>
          <a:xfrm>
            <a:off x="6373637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4" name="Shape 102"/>
          <p:cNvSpPr/>
          <p:nvPr/>
        </p:nvSpPr>
        <p:spPr>
          <a:xfrm>
            <a:off x="6446789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465077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12 Oct 2026</a:t>
            </a:r>
            <a:endParaRPr lang="en-US" sz="950" dirty="0"/>
          </a:p>
        </p:txBody>
      </p:sp>
      <p:sp>
        <p:nvSpPr>
          <p:cNvPr id="106" name="Text 104"/>
          <p:cNvSpPr/>
          <p:nvPr/>
        </p:nvSpPr>
        <p:spPr>
          <a:xfrm>
            <a:off x="6465077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2 Submitted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8033273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822961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9" name="Text 107"/>
          <p:cNvSpPr/>
          <p:nvPr/>
        </p:nvSpPr>
        <p:spPr>
          <a:xfrm>
            <a:off x="782296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702447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1" name="Shape 109"/>
          <p:cNvSpPr/>
          <p:nvPr/>
        </p:nvSpPr>
        <p:spPr>
          <a:xfrm>
            <a:off x="7097627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711591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13 Oct 2026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711591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Department Contacted</a:t>
            </a:r>
            <a:endParaRPr lang="en-US" sz="650" dirty="0"/>
          </a:p>
        </p:txBody>
      </p:sp>
      <p:sp>
        <p:nvSpPr>
          <p:cNvPr id="114" name="Shape 112"/>
          <p:cNvSpPr/>
          <p:nvPr/>
        </p:nvSpPr>
        <p:spPr>
          <a:xfrm>
            <a:off x="8684111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473799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6" name="Text 114"/>
          <p:cNvSpPr/>
          <p:nvPr/>
        </p:nvSpPr>
        <p:spPr>
          <a:xfrm>
            <a:off x="847379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117" name="Shape 115"/>
          <p:cNvSpPr/>
          <p:nvPr/>
        </p:nvSpPr>
        <p:spPr>
          <a:xfrm>
            <a:off x="7675312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8" name="Shape 116"/>
          <p:cNvSpPr/>
          <p:nvPr/>
        </p:nvSpPr>
        <p:spPr>
          <a:xfrm>
            <a:off x="7748464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766752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14 Oct 2026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7766752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Circulated for Approvals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9334948" y="4050792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124636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3" name="Text 121"/>
          <p:cNvSpPr/>
          <p:nvPr/>
        </p:nvSpPr>
        <p:spPr>
          <a:xfrm>
            <a:off x="912463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124" name="Shape 122"/>
          <p:cNvSpPr/>
          <p:nvPr/>
        </p:nvSpPr>
        <p:spPr>
          <a:xfrm>
            <a:off x="832615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5" name="Shape 123"/>
          <p:cNvSpPr/>
          <p:nvPr/>
        </p:nvSpPr>
        <p:spPr>
          <a:xfrm>
            <a:off x="8399302" y="423367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841759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15 Oct 2026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841759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Department Comments</a:t>
            </a:r>
            <a:endParaRPr lang="en-US" sz="650" dirty="0"/>
          </a:p>
        </p:txBody>
      </p:sp>
      <p:sp>
        <p:nvSpPr>
          <p:cNvPr id="128" name="Shape 126"/>
          <p:cNvSpPr/>
          <p:nvPr/>
        </p:nvSpPr>
        <p:spPr>
          <a:xfrm>
            <a:off x="9985786" y="2624328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775474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977547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131" name="Shape 129"/>
          <p:cNvSpPr/>
          <p:nvPr/>
        </p:nvSpPr>
        <p:spPr>
          <a:xfrm>
            <a:off x="8976988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2" name="Shape 130"/>
          <p:cNvSpPr/>
          <p:nvPr/>
        </p:nvSpPr>
        <p:spPr>
          <a:xfrm>
            <a:off x="9050140" y="191109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068428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19 Oct 2026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9068428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3 Submitted</a:t>
            </a:r>
            <a:endParaRPr lang="en-US" sz="650" dirty="0"/>
          </a:p>
        </p:txBody>
      </p:sp>
      <p:sp>
        <p:nvSpPr>
          <p:cNvPr id="135" name="Shape 133"/>
          <p:cNvSpPr/>
          <p:nvPr/>
        </p:nvSpPr>
        <p:spPr>
          <a:xfrm>
            <a:off x="10636624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0426312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7" name="Text 135"/>
          <p:cNvSpPr/>
          <p:nvPr/>
        </p:nvSpPr>
        <p:spPr>
          <a:xfrm>
            <a:off x="1042631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138" name="Shape 136"/>
          <p:cNvSpPr/>
          <p:nvPr/>
        </p:nvSpPr>
        <p:spPr>
          <a:xfrm>
            <a:off x="962782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9" name="Shape 137"/>
          <p:cNvSpPr/>
          <p:nvPr/>
        </p:nvSpPr>
        <p:spPr>
          <a:xfrm>
            <a:off x="9700977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971926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20 Oct 2026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971926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Clarification Cleared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11287461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1077149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1107714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145" name="Shape 143"/>
          <p:cNvSpPr/>
          <p:nvPr/>
        </p:nvSpPr>
        <p:spPr>
          <a:xfrm>
            <a:off x="9899778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46" name="Shape 144"/>
          <p:cNvSpPr/>
          <p:nvPr/>
        </p:nvSpPr>
        <p:spPr>
          <a:xfrm>
            <a:off x="9972930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9991218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21 Oct 2026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9991218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Ready for Signature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Works – Shoring &amp; Pit Works Programme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RYDN-WLB pit works · Proposed by Gulf Development Company for Contracting · Rev 01 · 12 Oct 2026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005840"/>
            <a:ext cx="10552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695298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24482" y="1005840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(colour = work group)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926434" y="1060704"/>
            <a:ext cx="128016" cy="128016"/>
          </a:xfrm>
          <a:prstGeom prst="diamond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55618" y="1005840"/>
            <a:ext cx="8430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43830" y="1060704"/>
            <a:ext cx="182880" cy="128016"/>
          </a:xfrm>
          <a:prstGeom prst="rect">
            <a:avLst/>
          </a:prstGeom>
          <a:solidFill>
            <a:srgbClr val="CFD8DC"/>
          </a:solidFill>
          <a:ln w="12700">
            <a:solidFill>
              <a:srgbClr val="CFD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73014" y="1005840"/>
            <a:ext cx="1161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Non-working day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25158" y="1042416"/>
            <a:ext cx="0" cy="164592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808622" y="1005840"/>
            <a:ext cx="9491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date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702906" y="1097280"/>
            <a:ext cx="274320" cy="45720"/>
          </a:xfrm>
          <a:prstGeom prst="roundRect">
            <a:avLst>
              <a:gd name="adj" fmla="val 40000"/>
            </a:avLst>
          </a:prstGeom>
          <a:solidFill>
            <a:srgbClr val="8A959C"/>
          </a:solidFill>
          <a:ln w="12700">
            <a:solidFill>
              <a:srgbClr val="8A959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32090" y="1005840"/>
            <a:ext cx="23810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(contractor programme Rev 01)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358323" y="1005840"/>
            <a:ext cx="15325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Dependency (FS / SS)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" y="1325880"/>
            <a:ext cx="5678424" cy="64008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3258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13258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447288" y="13258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Predecessor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224528" y="13258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Dur. (wd)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4727448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385816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044184" y="1325880"/>
            <a:ext cx="2649969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44184" y="1325880"/>
            <a:ext cx="26499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2026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8694153" y="1325880"/>
            <a:ext cx="3131782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94153" y="1325880"/>
            <a:ext cx="31317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November 2026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044184" y="1508760"/>
            <a:ext cx="843172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44184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6887356" y="1508760"/>
            <a:ext cx="843172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87356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7730528" y="1508760"/>
            <a:ext cx="843172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0528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8573700" y="1508760"/>
            <a:ext cx="843172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73700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9416872" y="1508760"/>
            <a:ext cx="843172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16872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10260044" y="1508760"/>
            <a:ext cx="843172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260044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11103216" y="1508760"/>
            <a:ext cx="722719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103216" y="1508760"/>
            <a:ext cx="72271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6044184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44184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44" name="Text 42"/>
          <p:cNvSpPr/>
          <p:nvPr/>
        </p:nvSpPr>
        <p:spPr>
          <a:xfrm>
            <a:off x="6044184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550" dirty="0"/>
          </a:p>
        </p:txBody>
      </p:sp>
      <p:sp>
        <p:nvSpPr>
          <p:cNvPr id="45" name="Shape 43"/>
          <p:cNvSpPr/>
          <p:nvPr/>
        </p:nvSpPr>
        <p:spPr>
          <a:xfrm>
            <a:off x="6044184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164637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16463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48" name="Text 46"/>
          <p:cNvSpPr/>
          <p:nvPr/>
        </p:nvSpPr>
        <p:spPr>
          <a:xfrm>
            <a:off x="616463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550" dirty="0"/>
          </a:p>
        </p:txBody>
      </p:sp>
      <p:sp>
        <p:nvSpPr>
          <p:cNvPr id="49" name="Shape 47"/>
          <p:cNvSpPr/>
          <p:nvPr/>
        </p:nvSpPr>
        <p:spPr>
          <a:xfrm>
            <a:off x="628509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28509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51" name="Text 49"/>
          <p:cNvSpPr/>
          <p:nvPr/>
        </p:nvSpPr>
        <p:spPr>
          <a:xfrm>
            <a:off x="628509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6405543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0554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54" name="Text 52"/>
          <p:cNvSpPr/>
          <p:nvPr/>
        </p:nvSpPr>
        <p:spPr>
          <a:xfrm>
            <a:off x="640554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550" dirty="0"/>
          </a:p>
        </p:txBody>
      </p:sp>
      <p:sp>
        <p:nvSpPr>
          <p:cNvPr id="55" name="Shape 53"/>
          <p:cNvSpPr/>
          <p:nvPr/>
        </p:nvSpPr>
        <p:spPr>
          <a:xfrm>
            <a:off x="6525997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52599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57" name="Text 55"/>
          <p:cNvSpPr/>
          <p:nvPr/>
        </p:nvSpPr>
        <p:spPr>
          <a:xfrm>
            <a:off x="652599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664645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64645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60" name="Text 58"/>
          <p:cNvSpPr/>
          <p:nvPr/>
        </p:nvSpPr>
        <p:spPr>
          <a:xfrm>
            <a:off x="664645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550" dirty="0"/>
          </a:p>
        </p:txBody>
      </p:sp>
      <p:sp>
        <p:nvSpPr>
          <p:cNvPr id="61" name="Shape 59"/>
          <p:cNvSpPr/>
          <p:nvPr/>
        </p:nvSpPr>
        <p:spPr>
          <a:xfrm>
            <a:off x="6766903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6690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63" name="Text 61"/>
          <p:cNvSpPr/>
          <p:nvPr/>
        </p:nvSpPr>
        <p:spPr>
          <a:xfrm>
            <a:off x="676690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550" dirty="0"/>
          </a:p>
        </p:txBody>
      </p:sp>
      <p:sp>
        <p:nvSpPr>
          <p:cNvPr id="64" name="Shape 62"/>
          <p:cNvSpPr/>
          <p:nvPr/>
        </p:nvSpPr>
        <p:spPr>
          <a:xfrm>
            <a:off x="6766903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88735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88735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67" name="Text 65"/>
          <p:cNvSpPr/>
          <p:nvPr/>
        </p:nvSpPr>
        <p:spPr>
          <a:xfrm>
            <a:off x="688735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50" dirty="0"/>
          </a:p>
        </p:txBody>
      </p:sp>
      <p:sp>
        <p:nvSpPr>
          <p:cNvPr id="68" name="Shape 66"/>
          <p:cNvSpPr/>
          <p:nvPr/>
        </p:nvSpPr>
        <p:spPr>
          <a:xfrm>
            <a:off x="6887356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0780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00780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71" name="Text 69"/>
          <p:cNvSpPr/>
          <p:nvPr/>
        </p:nvSpPr>
        <p:spPr>
          <a:xfrm>
            <a:off x="700780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550" dirty="0"/>
          </a:p>
        </p:txBody>
      </p:sp>
      <p:sp>
        <p:nvSpPr>
          <p:cNvPr id="72" name="Shape 70"/>
          <p:cNvSpPr/>
          <p:nvPr/>
        </p:nvSpPr>
        <p:spPr>
          <a:xfrm>
            <a:off x="712826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12826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74" name="Text 72"/>
          <p:cNvSpPr/>
          <p:nvPr/>
        </p:nvSpPr>
        <p:spPr>
          <a:xfrm>
            <a:off x="712826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550" dirty="0"/>
          </a:p>
        </p:txBody>
      </p:sp>
      <p:sp>
        <p:nvSpPr>
          <p:cNvPr id="75" name="Shape 73"/>
          <p:cNvSpPr/>
          <p:nvPr/>
        </p:nvSpPr>
        <p:spPr>
          <a:xfrm>
            <a:off x="724871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24871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77" name="Text 75"/>
          <p:cNvSpPr/>
          <p:nvPr/>
        </p:nvSpPr>
        <p:spPr>
          <a:xfrm>
            <a:off x="724871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736916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36916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80" name="Text 78"/>
          <p:cNvSpPr/>
          <p:nvPr/>
        </p:nvSpPr>
        <p:spPr>
          <a:xfrm>
            <a:off x="736916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550" dirty="0"/>
          </a:p>
        </p:txBody>
      </p:sp>
      <p:sp>
        <p:nvSpPr>
          <p:cNvPr id="81" name="Shape 79"/>
          <p:cNvSpPr/>
          <p:nvPr/>
        </p:nvSpPr>
        <p:spPr>
          <a:xfrm>
            <a:off x="748962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48962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83" name="Text 81"/>
          <p:cNvSpPr/>
          <p:nvPr/>
        </p:nvSpPr>
        <p:spPr>
          <a:xfrm>
            <a:off x="748962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550" dirty="0"/>
          </a:p>
        </p:txBody>
      </p:sp>
      <p:sp>
        <p:nvSpPr>
          <p:cNvPr id="84" name="Shape 82"/>
          <p:cNvSpPr/>
          <p:nvPr/>
        </p:nvSpPr>
        <p:spPr>
          <a:xfrm>
            <a:off x="7610075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61007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86" name="Text 84"/>
          <p:cNvSpPr/>
          <p:nvPr/>
        </p:nvSpPr>
        <p:spPr>
          <a:xfrm>
            <a:off x="761007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550" dirty="0"/>
          </a:p>
        </p:txBody>
      </p:sp>
      <p:sp>
        <p:nvSpPr>
          <p:cNvPr id="87" name="Shape 85"/>
          <p:cNvSpPr/>
          <p:nvPr/>
        </p:nvSpPr>
        <p:spPr>
          <a:xfrm>
            <a:off x="7610075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730528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730528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90" name="Text 88"/>
          <p:cNvSpPr/>
          <p:nvPr/>
        </p:nvSpPr>
        <p:spPr>
          <a:xfrm>
            <a:off x="7730528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550" dirty="0"/>
          </a:p>
        </p:txBody>
      </p:sp>
      <p:sp>
        <p:nvSpPr>
          <p:cNvPr id="91" name="Shape 89"/>
          <p:cNvSpPr/>
          <p:nvPr/>
        </p:nvSpPr>
        <p:spPr>
          <a:xfrm>
            <a:off x="7730528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850981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850981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94" name="Text 92"/>
          <p:cNvSpPr/>
          <p:nvPr/>
        </p:nvSpPr>
        <p:spPr>
          <a:xfrm>
            <a:off x="7850981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550" dirty="0"/>
          </a:p>
        </p:txBody>
      </p:sp>
      <p:sp>
        <p:nvSpPr>
          <p:cNvPr id="95" name="Shape 93"/>
          <p:cNvSpPr/>
          <p:nvPr/>
        </p:nvSpPr>
        <p:spPr>
          <a:xfrm>
            <a:off x="7971434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971434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97" name="Text 95"/>
          <p:cNvSpPr/>
          <p:nvPr/>
        </p:nvSpPr>
        <p:spPr>
          <a:xfrm>
            <a:off x="7971434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550" dirty="0"/>
          </a:p>
        </p:txBody>
      </p:sp>
      <p:sp>
        <p:nvSpPr>
          <p:cNvPr id="98" name="Shape 96"/>
          <p:cNvSpPr/>
          <p:nvPr/>
        </p:nvSpPr>
        <p:spPr>
          <a:xfrm>
            <a:off x="8091888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8091888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00" name="Text 98"/>
          <p:cNvSpPr/>
          <p:nvPr/>
        </p:nvSpPr>
        <p:spPr>
          <a:xfrm>
            <a:off x="8091888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550" dirty="0"/>
          </a:p>
        </p:txBody>
      </p:sp>
      <p:sp>
        <p:nvSpPr>
          <p:cNvPr id="101" name="Shape 99"/>
          <p:cNvSpPr/>
          <p:nvPr/>
        </p:nvSpPr>
        <p:spPr>
          <a:xfrm>
            <a:off x="8212341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212341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03" name="Text 101"/>
          <p:cNvSpPr/>
          <p:nvPr/>
        </p:nvSpPr>
        <p:spPr>
          <a:xfrm>
            <a:off x="8212341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550" dirty="0"/>
          </a:p>
        </p:txBody>
      </p:sp>
      <p:sp>
        <p:nvSpPr>
          <p:cNvPr id="104" name="Shape 102"/>
          <p:cNvSpPr/>
          <p:nvPr/>
        </p:nvSpPr>
        <p:spPr>
          <a:xfrm>
            <a:off x="8332794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8332794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06" name="Text 104"/>
          <p:cNvSpPr/>
          <p:nvPr/>
        </p:nvSpPr>
        <p:spPr>
          <a:xfrm>
            <a:off x="8332794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550" dirty="0"/>
          </a:p>
        </p:txBody>
      </p:sp>
      <p:sp>
        <p:nvSpPr>
          <p:cNvPr id="107" name="Shape 105"/>
          <p:cNvSpPr/>
          <p:nvPr/>
        </p:nvSpPr>
        <p:spPr>
          <a:xfrm>
            <a:off x="8453247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45324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109" name="Text 107"/>
          <p:cNvSpPr/>
          <p:nvPr/>
        </p:nvSpPr>
        <p:spPr>
          <a:xfrm>
            <a:off x="845324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550" dirty="0"/>
          </a:p>
        </p:txBody>
      </p:sp>
      <p:sp>
        <p:nvSpPr>
          <p:cNvPr id="110" name="Shape 108"/>
          <p:cNvSpPr/>
          <p:nvPr/>
        </p:nvSpPr>
        <p:spPr>
          <a:xfrm>
            <a:off x="8453247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57370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57370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13" name="Text 111"/>
          <p:cNvSpPr/>
          <p:nvPr/>
        </p:nvSpPr>
        <p:spPr>
          <a:xfrm>
            <a:off x="857370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550" dirty="0"/>
          </a:p>
        </p:txBody>
      </p:sp>
      <p:sp>
        <p:nvSpPr>
          <p:cNvPr id="114" name="Shape 112"/>
          <p:cNvSpPr/>
          <p:nvPr/>
        </p:nvSpPr>
        <p:spPr>
          <a:xfrm>
            <a:off x="8573700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694153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69415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17" name="Text 115"/>
          <p:cNvSpPr/>
          <p:nvPr/>
        </p:nvSpPr>
        <p:spPr>
          <a:xfrm>
            <a:off x="869415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550" dirty="0"/>
          </a:p>
        </p:txBody>
      </p:sp>
      <p:sp>
        <p:nvSpPr>
          <p:cNvPr id="118" name="Shape 116"/>
          <p:cNvSpPr/>
          <p:nvPr/>
        </p:nvSpPr>
        <p:spPr>
          <a:xfrm>
            <a:off x="881460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881460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20" name="Text 118"/>
          <p:cNvSpPr/>
          <p:nvPr/>
        </p:nvSpPr>
        <p:spPr>
          <a:xfrm>
            <a:off x="881460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50" dirty="0"/>
          </a:p>
        </p:txBody>
      </p:sp>
      <p:sp>
        <p:nvSpPr>
          <p:cNvPr id="121" name="Shape 119"/>
          <p:cNvSpPr/>
          <p:nvPr/>
        </p:nvSpPr>
        <p:spPr>
          <a:xfrm>
            <a:off x="893506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93506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23" name="Text 121"/>
          <p:cNvSpPr/>
          <p:nvPr/>
        </p:nvSpPr>
        <p:spPr>
          <a:xfrm>
            <a:off x="893506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50" dirty="0"/>
          </a:p>
        </p:txBody>
      </p:sp>
      <p:sp>
        <p:nvSpPr>
          <p:cNvPr id="124" name="Shape 122"/>
          <p:cNvSpPr/>
          <p:nvPr/>
        </p:nvSpPr>
        <p:spPr>
          <a:xfrm>
            <a:off x="9055513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905551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26" name="Text 124"/>
          <p:cNvSpPr/>
          <p:nvPr/>
        </p:nvSpPr>
        <p:spPr>
          <a:xfrm>
            <a:off x="905551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550" dirty="0"/>
          </a:p>
        </p:txBody>
      </p:sp>
      <p:sp>
        <p:nvSpPr>
          <p:cNvPr id="127" name="Shape 125"/>
          <p:cNvSpPr/>
          <p:nvPr/>
        </p:nvSpPr>
        <p:spPr>
          <a:xfrm>
            <a:off x="917596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917596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29" name="Text 127"/>
          <p:cNvSpPr/>
          <p:nvPr/>
        </p:nvSpPr>
        <p:spPr>
          <a:xfrm>
            <a:off x="917596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550" dirty="0"/>
          </a:p>
        </p:txBody>
      </p:sp>
      <p:sp>
        <p:nvSpPr>
          <p:cNvPr id="130" name="Shape 128"/>
          <p:cNvSpPr/>
          <p:nvPr/>
        </p:nvSpPr>
        <p:spPr>
          <a:xfrm>
            <a:off x="9296419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929641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132" name="Text 130"/>
          <p:cNvSpPr/>
          <p:nvPr/>
        </p:nvSpPr>
        <p:spPr>
          <a:xfrm>
            <a:off x="929641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550" dirty="0"/>
          </a:p>
        </p:txBody>
      </p:sp>
      <p:sp>
        <p:nvSpPr>
          <p:cNvPr id="133" name="Shape 131"/>
          <p:cNvSpPr/>
          <p:nvPr/>
        </p:nvSpPr>
        <p:spPr>
          <a:xfrm>
            <a:off x="9296419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941687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941687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36" name="Text 134"/>
          <p:cNvSpPr/>
          <p:nvPr/>
        </p:nvSpPr>
        <p:spPr>
          <a:xfrm>
            <a:off x="941687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550" dirty="0"/>
          </a:p>
        </p:txBody>
      </p:sp>
      <p:sp>
        <p:nvSpPr>
          <p:cNvPr id="137" name="Shape 135"/>
          <p:cNvSpPr/>
          <p:nvPr/>
        </p:nvSpPr>
        <p:spPr>
          <a:xfrm>
            <a:off x="9416872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9537325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953732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40" name="Text 138"/>
          <p:cNvSpPr/>
          <p:nvPr/>
        </p:nvSpPr>
        <p:spPr>
          <a:xfrm>
            <a:off x="953732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550" dirty="0"/>
          </a:p>
        </p:txBody>
      </p:sp>
      <p:sp>
        <p:nvSpPr>
          <p:cNvPr id="141" name="Shape 139"/>
          <p:cNvSpPr/>
          <p:nvPr/>
        </p:nvSpPr>
        <p:spPr>
          <a:xfrm>
            <a:off x="965777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65777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43" name="Text 141"/>
          <p:cNvSpPr/>
          <p:nvPr/>
        </p:nvSpPr>
        <p:spPr>
          <a:xfrm>
            <a:off x="965777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550" dirty="0"/>
          </a:p>
        </p:txBody>
      </p:sp>
      <p:sp>
        <p:nvSpPr>
          <p:cNvPr id="144" name="Shape 142"/>
          <p:cNvSpPr/>
          <p:nvPr/>
        </p:nvSpPr>
        <p:spPr>
          <a:xfrm>
            <a:off x="977823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977823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46" name="Text 144"/>
          <p:cNvSpPr/>
          <p:nvPr/>
        </p:nvSpPr>
        <p:spPr>
          <a:xfrm>
            <a:off x="977823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550" dirty="0"/>
          </a:p>
        </p:txBody>
      </p:sp>
      <p:sp>
        <p:nvSpPr>
          <p:cNvPr id="147" name="Shape 145"/>
          <p:cNvSpPr/>
          <p:nvPr/>
        </p:nvSpPr>
        <p:spPr>
          <a:xfrm>
            <a:off x="9898685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89868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49" name="Text 147"/>
          <p:cNvSpPr/>
          <p:nvPr/>
        </p:nvSpPr>
        <p:spPr>
          <a:xfrm>
            <a:off x="989868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550" dirty="0"/>
          </a:p>
        </p:txBody>
      </p:sp>
      <p:sp>
        <p:nvSpPr>
          <p:cNvPr id="150" name="Shape 148"/>
          <p:cNvSpPr/>
          <p:nvPr/>
        </p:nvSpPr>
        <p:spPr>
          <a:xfrm>
            <a:off x="10019138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10019138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52" name="Text 150"/>
          <p:cNvSpPr/>
          <p:nvPr/>
        </p:nvSpPr>
        <p:spPr>
          <a:xfrm>
            <a:off x="10019138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550" dirty="0"/>
          </a:p>
        </p:txBody>
      </p:sp>
      <p:sp>
        <p:nvSpPr>
          <p:cNvPr id="153" name="Shape 151"/>
          <p:cNvSpPr/>
          <p:nvPr/>
        </p:nvSpPr>
        <p:spPr>
          <a:xfrm>
            <a:off x="10139591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10139591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155" name="Text 153"/>
          <p:cNvSpPr/>
          <p:nvPr/>
        </p:nvSpPr>
        <p:spPr>
          <a:xfrm>
            <a:off x="10139591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550" dirty="0"/>
          </a:p>
        </p:txBody>
      </p:sp>
      <p:sp>
        <p:nvSpPr>
          <p:cNvPr id="156" name="Shape 154"/>
          <p:cNvSpPr/>
          <p:nvPr/>
        </p:nvSpPr>
        <p:spPr>
          <a:xfrm>
            <a:off x="10139591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10260044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10260044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59" name="Text 157"/>
          <p:cNvSpPr/>
          <p:nvPr/>
        </p:nvSpPr>
        <p:spPr>
          <a:xfrm>
            <a:off x="10260044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550" dirty="0"/>
          </a:p>
        </p:txBody>
      </p:sp>
      <p:sp>
        <p:nvSpPr>
          <p:cNvPr id="160" name="Shape 158"/>
          <p:cNvSpPr/>
          <p:nvPr/>
        </p:nvSpPr>
        <p:spPr>
          <a:xfrm>
            <a:off x="10260044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10380497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1038049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63" name="Text 161"/>
          <p:cNvSpPr/>
          <p:nvPr/>
        </p:nvSpPr>
        <p:spPr>
          <a:xfrm>
            <a:off x="1038049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550" dirty="0"/>
          </a:p>
        </p:txBody>
      </p:sp>
      <p:sp>
        <p:nvSpPr>
          <p:cNvPr id="164" name="Shape 162"/>
          <p:cNvSpPr/>
          <p:nvPr/>
        </p:nvSpPr>
        <p:spPr>
          <a:xfrm>
            <a:off x="10500951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10500951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66" name="Text 164"/>
          <p:cNvSpPr/>
          <p:nvPr/>
        </p:nvSpPr>
        <p:spPr>
          <a:xfrm>
            <a:off x="10500951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550" dirty="0"/>
          </a:p>
        </p:txBody>
      </p:sp>
      <p:sp>
        <p:nvSpPr>
          <p:cNvPr id="167" name="Shape 165"/>
          <p:cNvSpPr/>
          <p:nvPr/>
        </p:nvSpPr>
        <p:spPr>
          <a:xfrm>
            <a:off x="10621404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10621404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69" name="Text 167"/>
          <p:cNvSpPr/>
          <p:nvPr/>
        </p:nvSpPr>
        <p:spPr>
          <a:xfrm>
            <a:off x="10621404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50" dirty="0"/>
          </a:p>
        </p:txBody>
      </p:sp>
      <p:sp>
        <p:nvSpPr>
          <p:cNvPr id="170" name="Shape 168"/>
          <p:cNvSpPr/>
          <p:nvPr/>
        </p:nvSpPr>
        <p:spPr>
          <a:xfrm>
            <a:off x="10741857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1074185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72" name="Text 170"/>
          <p:cNvSpPr/>
          <p:nvPr/>
        </p:nvSpPr>
        <p:spPr>
          <a:xfrm>
            <a:off x="1074185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550" dirty="0"/>
          </a:p>
        </p:txBody>
      </p:sp>
      <p:sp>
        <p:nvSpPr>
          <p:cNvPr id="173" name="Shape 171"/>
          <p:cNvSpPr/>
          <p:nvPr/>
        </p:nvSpPr>
        <p:spPr>
          <a:xfrm>
            <a:off x="1086231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1086231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75" name="Text 173"/>
          <p:cNvSpPr/>
          <p:nvPr/>
        </p:nvSpPr>
        <p:spPr>
          <a:xfrm>
            <a:off x="1086231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550" dirty="0"/>
          </a:p>
        </p:txBody>
      </p:sp>
      <p:sp>
        <p:nvSpPr>
          <p:cNvPr id="176" name="Shape 174"/>
          <p:cNvSpPr/>
          <p:nvPr/>
        </p:nvSpPr>
        <p:spPr>
          <a:xfrm>
            <a:off x="10982763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1098276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178" name="Text 176"/>
          <p:cNvSpPr/>
          <p:nvPr/>
        </p:nvSpPr>
        <p:spPr>
          <a:xfrm>
            <a:off x="1098276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550" dirty="0"/>
          </a:p>
        </p:txBody>
      </p:sp>
      <p:sp>
        <p:nvSpPr>
          <p:cNvPr id="179" name="Shape 177"/>
          <p:cNvSpPr/>
          <p:nvPr/>
        </p:nvSpPr>
        <p:spPr>
          <a:xfrm>
            <a:off x="10982763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1110321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1110321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82" name="Text 180"/>
          <p:cNvSpPr/>
          <p:nvPr/>
        </p:nvSpPr>
        <p:spPr>
          <a:xfrm>
            <a:off x="1110321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550" dirty="0"/>
          </a:p>
        </p:txBody>
      </p:sp>
      <p:sp>
        <p:nvSpPr>
          <p:cNvPr id="183" name="Shape 181"/>
          <p:cNvSpPr/>
          <p:nvPr/>
        </p:nvSpPr>
        <p:spPr>
          <a:xfrm>
            <a:off x="11103216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1122366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1122366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86" name="Text 184"/>
          <p:cNvSpPr/>
          <p:nvPr/>
        </p:nvSpPr>
        <p:spPr>
          <a:xfrm>
            <a:off x="1122366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550" dirty="0"/>
          </a:p>
        </p:txBody>
      </p:sp>
      <p:sp>
        <p:nvSpPr>
          <p:cNvPr id="187" name="Shape 185"/>
          <p:cNvSpPr/>
          <p:nvPr/>
        </p:nvSpPr>
        <p:spPr>
          <a:xfrm>
            <a:off x="11344123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1134412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89" name="Text 187"/>
          <p:cNvSpPr/>
          <p:nvPr/>
        </p:nvSpPr>
        <p:spPr>
          <a:xfrm>
            <a:off x="1134412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550" dirty="0"/>
          </a:p>
        </p:txBody>
      </p:sp>
      <p:sp>
        <p:nvSpPr>
          <p:cNvPr id="190" name="Shape 188"/>
          <p:cNvSpPr/>
          <p:nvPr/>
        </p:nvSpPr>
        <p:spPr>
          <a:xfrm>
            <a:off x="1146457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1146457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92" name="Text 190"/>
          <p:cNvSpPr/>
          <p:nvPr/>
        </p:nvSpPr>
        <p:spPr>
          <a:xfrm>
            <a:off x="1146457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550" dirty="0"/>
          </a:p>
        </p:txBody>
      </p:sp>
      <p:sp>
        <p:nvSpPr>
          <p:cNvPr id="193" name="Shape 191"/>
          <p:cNvSpPr/>
          <p:nvPr/>
        </p:nvSpPr>
        <p:spPr>
          <a:xfrm>
            <a:off x="1158502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1158502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95" name="Text 193"/>
          <p:cNvSpPr/>
          <p:nvPr/>
        </p:nvSpPr>
        <p:spPr>
          <a:xfrm>
            <a:off x="1158502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550" dirty="0"/>
          </a:p>
        </p:txBody>
      </p:sp>
      <p:sp>
        <p:nvSpPr>
          <p:cNvPr id="196" name="Shape 194"/>
          <p:cNvSpPr/>
          <p:nvPr/>
        </p:nvSpPr>
        <p:spPr>
          <a:xfrm>
            <a:off x="1170548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1170548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98" name="Text 196"/>
          <p:cNvSpPr/>
          <p:nvPr/>
        </p:nvSpPr>
        <p:spPr>
          <a:xfrm>
            <a:off x="1170548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550" dirty="0"/>
          </a:p>
        </p:txBody>
      </p:sp>
      <p:sp>
        <p:nvSpPr>
          <p:cNvPr id="199" name="Shape 197"/>
          <p:cNvSpPr/>
          <p:nvPr/>
        </p:nvSpPr>
        <p:spPr>
          <a:xfrm>
            <a:off x="365760" y="1965960"/>
            <a:ext cx="11460175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438912" y="1984248"/>
            <a:ext cx="237744" cy="237744"/>
          </a:xfrm>
          <a:prstGeom prst="ellipse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365760" y="1965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900" dirty="0"/>
          </a:p>
        </p:txBody>
      </p:sp>
      <p:sp>
        <p:nvSpPr>
          <p:cNvPr id="202" name="Text 200"/>
          <p:cNvSpPr/>
          <p:nvPr/>
        </p:nvSpPr>
        <p:spPr>
          <a:xfrm>
            <a:off x="822960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project duration</a:t>
            </a:r>
            <a:endParaRPr lang="en-US" sz="1000" dirty="0"/>
          </a:p>
        </p:txBody>
      </p:sp>
      <p:sp>
        <p:nvSpPr>
          <p:cNvPr id="203" name="Text 201"/>
          <p:cNvSpPr/>
          <p:nvPr/>
        </p:nvSpPr>
        <p:spPr>
          <a:xfrm>
            <a:off x="4224528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100" dirty="0"/>
          </a:p>
        </p:txBody>
      </p:sp>
      <p:sp>
        <p:nvSpPr>
          <p:cNvPr id="204" name="Text 202"/>
          <p:cNvSpPr/>
          <p:nvPr/>
        </p:nvSpPr>
        <p:spPr>
          <a:xfrm>
            <a:off x="4727448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Oct</a:t>
            </a:r>
            <a:endParaRPr lang="en-US" sz="850" dirty="0"/>
          </a:p>
        </p:txBody>
      </p:sp>
      <p:sp>
        <p:nvSpPr>
          <p:cNvPr id="205" name="Text 203"/>
          <p:cNvSpPr/>
          <p:nvPr/>
        </p:nvSpPr>
        <p:spPr>
          <a:xfrm>
            <a:off x="5385816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Nov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6405543" y="2011680"/>
            <a:ext cx="4577220" cy="182880"/>
          </a:xfrm>
          <a:prstGeom prst="roundRect">
            <a:avLst>
              <a:gd name="adj" fmla="val 25000"/>
            </a:avLst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6405543" y="2011680"/>
            <a:ext cx="4577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working days · 13 Oct → 19 Nov · baseline 37 (−4)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365760" y="2240280"/>
            <a:ext cx="5678424" cy="640080"/>
          </a:xfrm>
          <a:prstGeom prst="rect">
            <a:avLst/>
          </a:prstGeom>
          <a:solidFill>
            <a:srgbClr val="FBFDFD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457200" y="2240280"/>
            <a:ext cx="5495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Milestone</a:t>
            </a:r>
            <a:endParaRPr lang="en-US" sz="1000" dirty="0"/>
          </a:p>
        </p:txBody>
      </p:sp>
      <p:sp>
        <p:nvSpPr>
          <p:cNvPr id="210" name="Shape 208"/>
          <p:cNvSpPr/>
          <p:nvPr/>
        </p:nvSpPr>
        <p:spPr>
          <a:xfrm>
            <a:off x="6383474" y="247802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5642810" y="2651760"/>
            <a:ext cx="16459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altLang="en-US" sz="550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Commencement</a:t>
            </a:r>
            <a:endParaRPr lang="en-US" sz="550" dirty="0"/>
          </a:p>
        </p:txBody>
      </p:sp>
      <p:sp>
        <p:nvSpPr>
          <p:cNvPr id="212" name="Text 210"/>
          <p:cNvSpPr/>
          <p:nvPr/>
        </p:nvSpPr>
        <p:spPr>
          <a:xfrm>
            <a:off x="5642810" y="2743200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Oct</a:t>
            </a:r>
            <a:endParaRPr lang="en-US" sz="750" dirty="0"/>
          </a:p>
        </p:txBody>
      </p:sp>
      <p:sp>
        <p:nvSpPr>
          <p:cNvPr id="213" name="Shape 211"/>
          <p:cNvSpPr/>
          <p:nvPr/>
        </p:nvSpPr>
        <p:spPr>
          <a:xfrm>
            <a:off x="6865287" y="247802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6124623" y="2240280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algn="ctr" indent="0" marL="0">
              <a:buNone/>
            </a:pPr>
            <a:r>
              <a:rPr lang="en-US" altLang="en-US" sz="550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Shoring installation complete</a:t>
            </a:r>
            <a:endParaRPr lang="en-US" sz="550" dirty="0"/>
          </a:p>
        </p:txBody>
      </p:sp>
      <p:sp>
        <p:nvSpPr>
          <p:cNvPr id="215" name="Text 213"/>
          <p:cNvSpPr/>
          <p:nvPr/>
        </p:nvSpPr>
        <p:spPr>
          <a:xfrm>
            <a:off x="6124623" y="2350008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Oct</a:t>
            </a:r>
            <a:endParaRPr lang="en-US" sz="750" dirty="0"/>
          </a:p>
        </p:txBody>
      </p:sp>
      <p:sp>
        <p:nvSpPr>
          <p:cNvPr id="216" name="Shape 214"/>
          <p:cNvSpPr/>
          <p:nvPr/>
        </p:nvSpPr>
        <p:spPr>
          <a:xfrm>
            <a:off x="9153896" y="247802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7" name="Text 215"/>
          <p:cNvSpPr/>
          <p:nvPr/>
        </p:nvSpPr>
        <p:spPr>
          <a:xfrm>
            <a:off x="8413232" y="2651760"/>
            <a:ext cx="16459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altLang="en-US" sz="550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works complete (pit wall)</a:t>
            </a:r>
            <a:endParaRPr lang="en-US" sz="550" dirty="0"/>
          </a:p>
        </p:txBody>
      </p:sp>
      <p:sp>
        <p:nvSpPr>
          <p:cNvPr id="218" name="Text 216"/>
          <p:cNvSpPr/>
          <p:nvPr/>
        </p:nvSpPr>
        <p:spPr>
          <a:xfrm>
            <a:off x="8413232" y="2743200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Nov</a:t>
            </a:r>
            <a:endParaRPr lang="en-US" sz="750" dirty="0"/>
          </a:p>
        </p:txBody>
      </p:sp>
      <p:sp>
        <p:nvSpPr>
          <p:cNvPr id="219" name="Shape 217"/>
          <p:cNvSpPr/>
          <p:nvPr/>
        </p:nvSpPr>
        <p:spPr>
          <a:xfrm>
            <a:off x="10237975" y="247802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0" name="Text 218"/>
          <p:cNvSpPr/>
          <p:nvPr/>
        </p:nvSpPr>
        <p:spPr>
          <a:xfrm>
            <a:off x="9497311" y="2240280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algn="ctr" indent="0" marL="0">
              <a:buNone/>
            </a:pPr>
            <a:r>
              <a:rPr lang="en-US" altLang="en-US" sz="550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foundation complete</a:t>
            </a:r>
            <a:endParaRPr lang="en-US" sz="550" dirty="0"/>
          </a:p>
        </p:txBody>
      </p:sp>
      <p:sp>
        <p:nvSpPr>
          <p:cNvPr id="221" name="Text 219"/>
          <p:cNvSpPr/>
          <p:nvPr/>
        </p:nvSpPr>
        <p:spPr>
          <a:xfrm>
            <a:off x="9497311" y="2350008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Nov</a:t>
            </a:r>
            <a:endParaRPr lang="en-US" sz="750" dirty="0"/>
          </a:p>
        </p:txBody>
      </p:sp>
      <p:sp>
        <p:nvSpPr>
          <p:cNvPr id="222" name="Shape 220"/>
          <p:cNvSpPr/>
          <p:nvPr/>
        </p:nvSpPr>
        <p:spPr>
          <a:xfrm>
            <a:off x="10840241" y="247802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3" name="Text 221"/>
          <p:cNvSpPr/>
          <p:nvPr/>
        </p:nvSpPr>
        <p:spPr>
          <a:xfrm>
            <a:off x="10099577" y="2651760"/>
            <a:ext cx="16459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altLang="en-US" sz="550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completion</a:t>
            </a:r>
            <a:endParaRPr lang="en-US" sz="550" dirty="0"/>
          </a:p>
        </p:txBody>
      </p:sp>
      <p:sp>
        <p:nvSpPr>
          <p:cNvPr id="224" name="Text 222"/>
          <p:cNvSpPr/>
          <p:nvPr/>
        </p:nvSpPr>
        <p:spPr>
          <a:xfrm>
            <a:off x="10099577" y="2743200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Nov</a:t>
            </a:r>
            <a:endParaRPr lang="en-US" sz="750" dirty="0"/>
          </a:p>
        </p:txBody>
      </p:sp>
      <p:sp>
        <p:nvSpPr>
          <p:cNvPr id="225" name="Shape 223"/>
          <p:cNvSpPr/>
          <p:nvPr/>
        </p:nvSpPr>
        <p:spPr>
          <a:xfrm>
            <a:off x="365760" y="2880360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438912" y="2869311"/>
            <a:ext cx="237744" cy="237744"/>
          </a:xfrm>
          <a:prstGeom prst="ellipse">
            <a:avLst/>
          </a:prstGeom>
          <a:solidFill>
            <a:srgbClr val="C8503F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27" name="Text 225"/>
          <p:cNvSpPr/>
          <p:nvPr/>
        </p:nvSpPr>
        <p:spPr>
          <a:xfrm>
            <a:off x="365760" y="2880360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8" name="Text 226"/>
          <p:cNvSpPr/>
          <p:nvPr/>
        </p:nvSpPr>
        <p:spPr>
          <a:xfrm>
            <a:off x="822960" y="2880360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Shoring system installation</a:t>
            </a:r>
            <a:endParaRPr lang="en-US" sz="750" dirty="0"/>
          </a:p>
        </p:txBody>
      </p:sp>
      <p:sp>
        <p:nvSpPr>
          <p:cNvPr id="229" name="Text 227"/>
          <p:cNvSpPr/>
          <p:nvPr/>
        </p:nvSpPr>
        <p:spPr>
          <a:xfrm>
            <a:off x="3447288" y="2880360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230" name="Text 228"/>
          <p:cNvSpPr/>
          <p:nvPr/>
        </p:nvSpPr>
        <p:spPr>
          <a:xfrm>
            <a:off x="4224528" y="2880360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31" name="Text 229"/>
          <p:cNvSpPr/>
          <p:nvPr/>
        </p:nvSpPr>
        <p:spPr>
          <a:xfrm>
            <a:off x="4727448" y="288036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Oct</a:t>
            </a:r>
            <a:endParaRPr lang="en-US" sz="700" dirty="0"/>
          </a:p>
        </p:txBody>
      </p:sp>
      <p:sp>
        <p:nvSpPr>
          <p:cNvPr id="232" name="Text 230"/>
          <p:cNvSpPr/>
          <p:nvPr/>
        </p:nvSpPr>
        <p:spPr>
          <a:xfrm>
            <a:off x="5385816" y="288036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Oct</a:t>
            </a:r>
            <a:endParaRPr lang="en-US" sz="700" dirty="0"/>
          </a:p>
        </p:txBody>
      </p:sp>
      <p:sp>
        <p:nvSpPr>
          <p:cNvPr id="233" name="Shape 231"/>
          <p:cNvSpPr/>
          <p:nvPr/>
        </p:nvSpPr>
        <p:spPr>
          <a:xfrm>
            <a:off x="6405543" y="3041142"/>
            <a:ext cx="843172" cy="32004"/>
          </a:xfrm>
          <a:prstGeom prst="roundRect">
            <a:avLst>
              <a:gd name="adj" fmla="val 42857"/>
            </a:avLst>
          </a:prstGeom>
          <a:solidFill>
            <a:srgbClr val="8A959C"/>
          </a:solidFill>
          <a:ln w="12700">
            <a:solidFill>
              <a:srgbClr val="8A959C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6405543" y="2928747"/>
            <a:ext cx="602266" cy="64008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 flipV="1">
            <a:off x="6405543" y="299275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 flipV="1">
            <a:off x="6943801" y="299275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7053529" y="2880360"/>
            <a:ext cx="5486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</a:t>
            </a:r>
            <a:endParaRPr lang="en-US" sz="750" dirty="0"/>
          </a:p>
        </p:txBody>
      </p:sp>
      <p:sp>
        <p:nvSpPr>
          <p:cNvPr id="238" name="Shape 236"/>
          <p:cNvSpPr/>
          <p:nvPr/>
        </p:nvSpPr>
        <p:spPr>
          <a:xfrm>
            <a:off x="365760" y="3096006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420624" y="3126105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40" name="Text 238"/>
          <p:cNvSpPr/>
          <p:nvPr/>
        </p:nvSpPr>
        <p:spPr>
          <a:xfrm>
            <a:off x="393192" y="3096006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A.1</a:t>
            </a:r>
            <a:endParaRPr lang="en-US" sz="650" dirty="0"/>
          </a:p>
        </p:txBody>
      </p:sp>
      <p:sp>
        <p:nvSpPr>
          <p:cNvPr id="241" name="Text 239"/>
          <p:cNvSpPr/>
          <p:nvPr/>
        </p:nvSpPr>
        <p:spPr>
          <a:xfrm>
            <a:off x="987552" y="3096006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Excavation / digging for H-Beam</a:t>
            </a:r>
            <a:endParaRPr lang="en-US" sz="700" dirty="0"/>
          </a:p>
        </p:txBody>
      </p:sp>
      <p:sp>
        <p:nvSpPr>
          <p:cNvPr id="242" name="Text 240"/>
          <p:cNvSpPr/>
          <p:nvPr/>
        </p:nvSpPr>
        <p:spPr>
          <a:xfrm>
            <a:off x="3447288" y="3096006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243" name="Text 241"/>
          <p:cNvSpPr/>
          <p:nvPr/>
        </p:nvSpPr>
        <p:spPr>
          <a:xfrm>
            <a:off x="4224528" y="3096006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44" name="Text 242"/>
          <p:cNvSpPr/>
          <p:nvPr/>
        </p:nvSpPr>
        <p:spPr>
          <a:xfrm>
            <a:off x="4727448" y="309600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Oct</a:t>
            </a:r>
            <a:endParaRPr lang="en-US" sz="700" dirty="0"/>
          </a:p>
        </p:txBody>
      </p:sp>
      <p:sp>
        <p:nvSpPr>
          <p:cNvPr id="245" name="Text 243"/>
          <p:cNvSpPr/>
          <p:nvPr/>
        </p:nvSpPr>
        <p:spPr>
          <a:xfrm>
            <a:off x="5385816" y="309600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Oct</a:t>
            </a:r>
            <a:endParaRPr lang="en-US" sz="700" dirty="0"/>
          </a:p>
        </p:txBody>
      </p:sp>
      <p:sp>
        <p:nvSpPr>
          <p:cNvPr id="246" name="Shape 244"/>
          <p:cNvSpPr/>
          <p:nvPr/>
        </p:nvSpPr>
        <p:spPr>
          <a:xfrm>
            <a:off x="6405543" y="3141292"/>
            <a:ext cx="240906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47" name="Shape 245"/>
          <p:cNvSpPr/>
          <p:nvPr/>
        </p:nvSpPr>
        <p:spPr>
          <a:xfrm>
            <a:off x="365760" y="3311652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420624" y="3341751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49" name="Text 247"/>
          <p:cNvSpPr/>
          <p:nvPr/>
        </p:nvSpPr>
        <p:spPr>
          <a:xfrm>
            <a:off x="393192" y="3311652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A.2</a:t>
            </a:r>
            <a:endParaRPr lang="en-US" sz="650" dirty="0"/>
          </a:p>
        </p:txBody>
      </p:sp>
      <p:sp>
        <p:nvSpPr>
          <p:cNvPr id="250" name="Text 248"/>
          <p:cNvSpPr/>
          <p:nvPr/>
        </p:nvSpPr>
        <p:spPr>
          <a:xfrm>
            <a:off x="987552" y="3311652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of H-Beam</a:t>
            </a:r>
            <a:endParaRPr lang="en-US" sz="700" dirty="0"/>
          </a:p>
        </p:txBody>
      </p:sp>
      <p:sp>
        <p:nvSpPr>
          <p:cNvPr id="251" name="Text 249"/>
          <p:cNvSpPr/>
          <p:nvPr/>
        </p:nvSpPr>
        <p:spPr>
          <a:xfrm>
            <a:off x="3447288" y="3311652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SS +1</a:t>
            </a:r>
            <a:endParaRPr lang="en-US" sz="700" dirty="0"/>
          </a:p>
        </p:txBody>
      </p:sp>
      <p:sp>
        <p:nvSpPr>
          <p:cNvPr id="252" name="Text 250"/>
          <p:cNvSpPr/>
          <p:nvPr/>
        </p:nvSpPr>
        <p:spPr>
          <a:xfrm>
            <a:off x="4224528" y="3311652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53" name="Text 251"/>
          <p:cNvSpPr/>
          <p:nvPr/>
        </p:nvSpPr>
        <p:spPr>
          <a:xfrm>
            <a:off x="4727448" y="331165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Oct</a:t>
            </a:r>
            <a:endParaRPr lang="en-US" sz="700" dirty="0"/>
          </a:p>
        </p:txBody>
      </p:sp>
      <p:sp>
        <p:nvSpPr>
          <p:cNvPr id="254" name="Text 252"/>
          <p:cNvSpPr/>
          <p:nvPr/>
        </p:nvSpPr>
        <p:spPr>
          <a:xfrm>
            <a:off x="5385816" y="331165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Oct</a:t>
            </a:r>
            <a:endParaRPr lang="en-US" sz="700" dirty="0"/>
          </a:p>
        </p:txBody>
      </p:sp>
      <p:sp>
        <p:nvSpPr>
          <p:cNvPr id="255" name="Shape 253"/>
          <p:cNvSpPr/>
          <p:nvPr/>
        </p:nvSpPr>
        <p:spPr>
          <a:xfrm>
            <a:off x="6525997" y="3472434"/>
            <a:ext cx="481813" cy="32004"/>
          </a:xfrm>
          <a:prstGeom prst="roundRect">
            <a:avLst>
              <a:gd name="adj" fmla="val 42857"/>
            </a:avLst>
          </a:prstGeom>
          <a:solidFill>
            <a:srgbClr val="8A959C"/>
          </a:solidFill>
          <a:ln w="12700">
            <a:solidFill>
              <a:srgbClr val="8A959C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6525997" y="3356938"/>
            <a:ext cx="240906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57" name="Shape 255"/>
          <p:cNvSpPr/>
          <p:nvPr/>
        </p:nvSpPr>
        <p:spPr>
          <a:xfrm>
            <a:off x="365760" y="3527298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420624" y="3557397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59" name="Text 257"/>
          <p:cNvSpPr/>
          <p:nvPr/>
        </p:nvSpPr>
        <p:spPr>
          <a:xfrm>
            <a:off x="393192" y="3527298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A.3</a:t>
            </a:r>
            <a:endParaRPr lang="en-US" sz="650" dirty="0"/>
          </a:p>
        </p:txBody>
      </p:sp>
      <p:sp>
        <p:nvSpPr>
          <p:cNvPr id="260" name="Text 258"/>
          <p:cNvSpPr/>
          <p:nvPr/>
        </p:nvSpPr>
        <p:spPr>
          <a:xfrm>
            <a:off x="987552" y="3527298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work for H-Beam</a:t>
            </a:r>
            <a:endParaRPr lang="en-US" sz="700" dirty="0"/>
          </a:p>
        </p:txBody>
      </p:sp>
      <p:sp>
        <p:nvSpPr>
          <p:cNvPr id="261" name="Text 259"/>
          <p:cNvSpPr/>
          <p:nvPr/>
        </p:nvSpPr>
        <p:spPr>
          <a:xfrm>
            <a:off x="3447288" y="3527298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· SS +1</a:t>
            </a:r>
            <a:endParaRPr lang="en-US" sz="700" dirty="0"/>
          </a:p>
        </p:txBody>
      </p:sp>
      <p:sp>
        <p:nvSpPr>
          <p:cNvPr id="262" name="Text 260"/>
          <p:cNvSpPr/>
          <p:nvPr/>
        </p:nvSpPr>
        <p:spPr>
          <a:xfrm>
            <a:off x="4224528" y="3527298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63" name="Text 261"/>
          <p:cNvSpPr/>
          <p:nvPr/>
        </p:nvSpPr>
        <p:spPr>
          <a:xfrm>
            <a:off x="4727448" y="352729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Oct</a:t>
            </a:r>
            <a:endParaRPr lang="en-US" sz="700" dirty="0"/>
          </a:p>
        </p:txBody>
      </p:sp>
      <p:sp>
        <p:nvSpPr>
          <p:cNvPr id="264" name="Text 262"/>
          <p:cNvSpPr/>
          <p:nvPr/>
        </p:nvSpPr>
        <p:spPr>
          <a:xfrm>
            <a:off x="5385816" y="352729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Oct</a:t>
            </a:r>
            <a:endParaRPr lang="en-US" sz="700" dirty="0"/>
          </a:p>
        </p:txBody>
      </p:sp>
      <p:sp>
        <p:nvSpPr>
          <p:cNvPr id="265" name="Shape 263"/>
          <p:cNvSpPr/>
          <p:nvPr/>
        </p:nvSpPr>
        <p:spPr>
          <a:xfrm>
            <a:off x="6646450" y="3688080"/>
            <a:ext cx="481813" cy="32004"/>
          </a:xfrm>
          <a:prstGeom prst="roundRect">
            <a:avLst>
              <a:gd name="adj" fmla="val 42857"/>
            </a:avLst>
          </a:prstGeom>
          <a:solidFill>
            <a:srgbClr val="8A959C"/>
          </a:solidFill>
          <a:ln w="12700">
            <a:solidFill>
              <a:srgbClr val="8A959C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6646450" y="3572584"/>
            <a:ext cx="361359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67" name="Text 265"/>
          <p:cNvSpPr/>
          <p:nvPr/>
        </p:nvSpPr>
        <p:spPr>
          <a:xfrm>
            <a:off x="6646450" y="3572584"/>
            <a:ext cx="361359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</a:t>
            </a:r>
            <a:endParaRPr lang="en-US" sz="700" dirty="0"/>
          </a:p>
        </p:txBody>
      </p:sp>
      <p:sp>
        <p:nvSpPr>
          <p:cNvPr id="268" name="Shape 266"/>
          <p:cNvSpPr/>
          <p:nvPr/>
        </p:nvSpPr>
        <p:spPr>
          <a:xfrm>
            <a:off x="365760" y="3742944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420624" y="3773043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70" name="Text 268"/>
          <p:cNvSpPr/>
          <p:nvPr/>
        </p:nvSpPr>
        <p:spPr>
          <a:xfrm>
            <a:off x="393192" y="3742944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A.4</a:t>
            </a:r>
            <a:endParaRPr lang="en-US" sz="650" dirty="0"/>
          </a:p>
        </p:txBody>
      </p:sp>
      <p:sp>
        <p:nvSpPr>
          <p:cNvPr id="271" name="Text 269"/>
          <p:cNvSpPr/>
          <p:nvPr/>
        </p:nvSpPr>
        <p:spPr>
          <a:xfrm>
            <a:off x="987552" y="3742944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Bracing for shoring</a:t>
            </a:r>
            <a:endParaRPr lang="en-US" sz="700" dirty="0"/>
          </a:p>
        </p:txBody>
      </p:sp>
      <p:sp>
        <p:nvSpPr>
          <p:cNvPr id="272" name="Text 270"/>
          <p:cNvSpPr/>
          <p:nvPr/>
        </p:nvSpPr>
        <p:spPr>
          <a:xfrm>
            <a:off x="3447288" y="3742944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· SS +1</a:t>
            </a:r>
            <a:endParaRPr lang="en-US" sz="700" dirty="0"/>
          </a:p>
        </p:txBody>
      </p:sp>
      <p:sp>
        <p:nvSpPr>
          <p:cNvPr id="273" name="Text 271"/>
          <p:cNvSpPr/>
          <p:nvPr/>
        </p:nvSpPr>
        <p:spPr>
          <a:xfrm>
            <a:off x="4224528" y="3742944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74" name="Text 272"/>
          <p:cNvSpPr/>
          <p:nvPr/>
        </p:nvSpPr>
        <p:spPr>
          <a:xfrm>
            <a:off x="4727448" y="374294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Oct</a:t>
            </a:r>
            <a:endParaRPr lang="en-US" sz="700" dirty="0"/>
          </a:p>
        </p:txBody>
      </p:sp>
      <p:sp>
        <p:nvSpPr>
          <p:cNvPr id="275" name="Text 273"/>
          <p:cNvSpPr/>
          <p:nvPr/>
        </p:nvSpPr>
        <p:spPr>
          <a:xfrm>
            <a:off x="5385816" y="374294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Oct</a:t>
            </a:r>
            <a:endParaRPr lang="en-US" sz="700" dirty="0"/>
          </a:p>
        </p:txBody>
      </p:sp>
      <p:sp>
        <p:nvSpPr>
          <p:cNvPr id="276" name="Shape 274"/>
          <p:cNvSpPr/>
          <p:nvPr/>
        </p:nvSpPr>
        <p:spPr>
          <a:xfrm>
            <a:off x="6887356" y="3903726"/>
            <a:ext cx="361359" cy="32004"/>
          </a:xfrm>
          <a:prstGeom prst="roundRect">
            <a:avLst>
              <a:gd name="adj" fmla="val 42857"/>
            </a:avLst>
          </a:prstGeom>
          <a:solidFill>
            <a:srgbClr val="8A959C"/>
          </a:solidFill>
          <a:ln w="12700">
            <a:solidFill>
              <a:srgbClr val="8A959C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6887356" y="3788230"/>
            <a:ext cx="120453" cy="125075"/>
          </a:xfrm>
          <a:prstGeom prst="roundRect">
            <a:avLst>
              <a:gd name="adj" fmla="val 30365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78" name="Shape 276"/>
          <p:cNvSpPr/>
          <p:nvPr/>
        </p:nvSpPr>
        <p:spPr>
          <a:xfrm>
            <a:off x="365760" y="3958590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420624" y="3988689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80" name="Text 278"/>
          <p:cNvSpPr/>
          <p:nvPr/>
        </p:nvSpPr>
        <p:spPr>
          <a:xfrm>
            <a:off x="393192" y="3958590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A.5</a:t>
            </a:r>
            <a:endParaRPr lang="en-US" sz="650" dirty="0"/>
          </a:p>
        </p:txBody>
      </p:sp>
      <p:sp>
        <p:nvSpPr>
          <p:cNvPr id="281" name="Text 279"/>
          <p:cNvSpPr/>
          <p:nvPr/>
        </p:nvSpPr>
        <p:spPr>
          <a:xfrm>
            <a:off x="987552" y="3958590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Corrugated sheets installation / insertion</a:t>
            </a:r>
            <a:endParaRPr lang="en-US" sz="700" dirty="0"/>
          </a:p>
        </p:txBody>
      </p:sp>
      <p:sp>
        <p:nvSpPr>
          <p:cNvPr id="282" name="Text 280"/>
          <p:cNvSpPr/>
          <p:nvPr/>
        </p:nvSpPr>
        <p:spPr>
          <a:xfrm>
            <a:off x="3447288" y="3958590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 · SS +0</a:t>
            </a:r>
            <a:endParaRPr lang="en-US" sz="700" dirty="0"/>
          </a:p>
        </p:txBody>
      </p:sp>
      <p:sp>
        <p:nvSpPr>
          <p:cNvPr id="283" name="Text 281"/>
          <p:cNvSpPr/>
          <p:nvPr/>
        </p:nvSpPr>
        <p:spPr>
          <a:xfrm>
            <a:off x="4224528" y="3958590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84" name="Text 282"/>
          <p:cNvSpPr/>
          <p:nvPr/>
        </p:nvSpPr>
        <p:spPr>
          <a:xfrm>
            <a:off x="4727448" y="395859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Oct</a:t>
            </a:r>
            <a:endParaRPr lang="en-US" sz="700" dirty="0"/>
          </a:p>
        </p:txBody>
      </p:sp>
      <p:sp>
        <p:nvSpPr>
          <p:cNvPr id="285" name="Text 283"/>
          <p:cNvSpPr/>
          <p:nvPr/>
        </p:nvSpPr>
        <p:spPr>
          <a:xfrm>
            <a:off x="5385816" y="395859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Oct</a:t>
            </a:r>
            <a:endParaRPr lang="en-US" sz="700" dirty="0"/>
          </a:p>
        </p:txBody>
      </p:sp>
      <p:sp>
        <p:nvSpPr>
          <p:cNvPr id="286" name="Shape 284"/>
          <p:cNvSpPr/>
          <p:nvPr/>
        </p:nvSpPr>
        <p:spPr>
          <a:xfrm>
            <a:off x="7007809" y="4119372"/>
            <a:ext cx="240906" cy="32004"/>
          </a:xfrm>
          <a:prstGeom prst="roundRect">
            <a:avLst>
              <a:gd name="adj" fmla="val 42857"/>
            </a:avLst>
          </a:prstGeom>
          <a:solidFill>
            <a:srgbClr val="8A959C"/>
          </a:solidFill>
          <a:ln w="12700">
            <a:solidFill>
              <a:srgbClr val="8A959C"/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6887356" y="4003876"/>
            <a:ext cx="120453" cy="125075"/>
          </a:xfrm>
          <a:prstGeom prst="roundRect">
            <a:avLst>
              <a:gd name="adj" fmla="val 30365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88" name="Shape 286"/>
          <p:cNvSpPr/>
          <p:nvPr/>
        </p:nvSpPr>
        <p:spPr>
          <a:xfrm>
            <a:off x="365760" y="4174236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438912" y="4163187"/>
            <a:ext cx="237744" cy="237744"/>
          </a:xfrm>
          <a:prstGeom prst="ellipse">
            <a:avLst/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290" name="Text 288"/>
          <p:cNvSpPr/>
          <p:nvPr/>
        </p:nvSpPr>
        <p:spPr>
          <a:xfrm>
            <a:off x="365760" y="4174236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850" dirty="0"/>
          </a:p>
        </p:txBody>
      </p:sp>
      <p:sp>
        <p:nvSpPr>
          <p:cNvPr id="291" name="Text 289"/>
          <p:cNvSpPr/>
          <p:nvPr/>
        </p:nvSpPr>
        <p:spPr>
          <a:xfrm>
            <a:off x="822960" y="4174236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concrete</a:t>
            </a:r>
            <a:endParaRPr lang="en-US" sz="750" dirty="0"/>
          </a:p>
        </p:txBody>
      </p:sp>
      <p:sp>
        <p:nvSpPr>
          <p:cNvPr id="292" name="Text 290"/>
          <p:cNvSpPr/>
          <p:nvPr/>
        </p:nvSpPr>
        <p:spPr>
          <a:xfrm>
            <a:off x="3447288" y="4174236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SS +4</a:t>
            </a:r>
            <a:endParaRPr lang="en-US" sz="700" dirty="0"/>
          </a:p>
        </p:txBody>
      </p:sp>
      <p:sp>
        <p:nvSpPr>
          <p:cNvPr id="293" name="Text 291"/>
          <p:cNvSpPr/>
          <p:nvPr/>
        </p:nvSpPr>
        <p:spPr>
          <a:xfrm>
            <a:off x="4224528" y="4174236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94" name="Text 292"/>
          <p:cNvSpPr/>
          <p:nvPr/>
        </p:nvSpPr>
        <p:spPr>
          <a:xfrm>
            <a:off x="4727448" y="417423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Oct</a:t>
            </a:r>
            <a:endParaRPr lang="en-US" sz="700" dirty="0"/>
          </a:p>
        </p:txBody>
      </p:sp>
      <p:sp>
        <p:nvSpPr>
          <p:cNvPr id="295" name="Text 293"/>
          <p:cNvSpPr/>
          <p:nvPr/>
        </p:nvSpPr>
        <p:spPr>
          <a:xfrm>
            <a:off x="5385816" y="417423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Oct</a:t>
            </a:r>
            <a:endParaRPr lang="en-US" sz="700" dirty="0"/>
          </a:p>
        </p:txBody>
      </p:sp>
      <p:sp>
        <p:nvSpPr>
          <p:cNvPr id="296" name="Shape 294"/>
          <p:cNvSpPr/>
          <p:nvPr/>
        </p:nvSpPr>
        <p:spPr>
          <a:xfrm>
            <a:off x="7248716" y="4335018"/>
            <a:ext cx="240906" cy="32004"/>
          </a:xfrm>
          <a:prstGeom prst="roundRect">
            <a:avLst>
              <a:gd name="adj" fmla="val 42857"/>
            </a:avLst>
          </a:prstGeom>
          <a:solidFill>
            <a:srgbClr val="8A959C"/>
          </a:solidFill>
          <a:ln w="12700">
            <a:solidFill>
              <a:srgbClr val="8A959C"/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7007809" y="4219522"/>
            <a:ext cx="120453" cy="125075"/>
          </a:xfrm>
          <a:prstGeom prst="roundRect">
            <a:avLst>
              <a:gd name="adj" fmla="val 30365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98" name="Shape 296"/>
          <p:cNvSpPr/>
          <p:nvPr/>
        </p:nvSpPr>
        <p:spPr>
          <a:xfrm>
            <a:off x="365760" y="4389882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438912" y="4378833"/>
            <a:ext cx="237744" cy="237744"/>
          </a:xfrm>
          <a:prstGeom prst="ellipse">
            <a:avLst/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00" name="Text 298"/>
          <p:cNvSpPr/>
          <p:nvPr/>
        </p:nvSpPr>
        <p:spPr>
          <a:xfrm>
            <a:off x="365760" y="4389882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850" dirty="0"/>
          </a:p>
        </p:txBody>
      </p:sp>
      <p:sp>
        <p:nvSpPr>
          <p:cNvPr id="301" name="Text 299"/>
          <p:cNvSpPr/>
          <p:nvPr/>
        </p:nvSpPr>
        <p:spPr>
          <a:xfrm>
            <a:off x="822960" y="4389882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trench – reinforcement, formwork &amp; concrete</a:t>
            </a:r>
            <a:endParaRPr lang="en-US" sz="750" dirty="0"/>
          </a:p>
        </p:txBody>
      </p:sp>
      <p:sp>
        <p:nvSpPr>
          <p:cNvPr id="302" name="Text 300"/>
          <p:cNvSpPr/>
          <p:nvPr/>
        </p:nvSpPr>
        <p:spPr>
          <a:xfrm>
            <a:off x="3447288" y="4389882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FS</a:t>
            </a:r>
            <a:endParaRPr lang="en-US" sz="700" dirty="0"/>
          </a:p>
        </p:txBody>
      </p:sp>
      <p:sp>
        <p:nvSpPr>
          <p:cNvPr id="303" name="Text 301"/>
          <p:cNvSpPr/>
          <p:nvPr/>
        </p:nvSpPr>
        <p:spPr>
          <a:xfrm>
            <a:off x="4224528" y="4389882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04" name="Text 302"/>
          <p:cNvSpPr/>
          <p:nvPr/>
        </p:nvSpPr>
        <p:spPr>
          <a:xfrm>
            <a:off x="4727448" y="438988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Oct</a:t>
            </a:r>
            <a:endParaRPr lang="en-US" sz="700" dirty="0"/>
          </a:p>
        </p:txBody>
      </p:sp>
      <p:sp>
        <p:nvSpPr>
          <p:cNvPr id="305" name="Text 303"/>
          <p:cNvSpPr/>
          <p:nvPr/>
        </p:nvSpPr>
        <p:spPr>
          <a:xfrm>
            <a:off x="5385816" y="438988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Oct</a:t>
            </a:r>
            <a:endParaRPr lang="en-US" sz="700" dirty="0"/>
          </a:p>
        </p:txBody>
      </p:sp>
      <p:sp>
        <p:nvSpPr>
          <p:cNvPr id="306" name="Shape 304"/>
          <p:cNvSpPr/>
          <p:nvPr/>
        </p:nvSpPr>
        <p:spPr>
          <a:xfrm>
            <a:off x="7248716" y="4550664"/>
            <a:ext cx="602266" cy="32004"/>
          </a:xfrm>
          <a:prstGeom prst="roundRect">
            <a:avLst>
              <a:gd name="adj" fmla="val 42857"/>
            </a:avLst>
          </a:prstGeom>
          <a:solidFill>
            <a:srgbClr val="8A959C"/>
          </a:solidFill>
          <a:ln w="12700">
            <a:solidFill>
              <a:srgbClr val="8A959C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7007809" y="4435168"/>
            <a:ext cx="361359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08" name="Text 306"/>
          <p:cNvSpPr/>
          <p:nvPr/>
        </p:nvSpPr>
        <p:spPr>
          <a:xfrm>
            <a:off x="7007809" y="4435168"/>
            <a:ext cx="361359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</a:t>
            </a:r>
            <a:endParaRPr lang="en-US" sz="700" dirty="0"/>
          </a:p>
        </p:txBody>
      </p:sp>
      <p:sp>
        <p:nvSpPr>
          <p:cNvPr id="309" name="Shape 307"/>
          <p:cNvSpPr/>
          <p:nvPr/>
        </p:nvSpPr>
        <p:spPr>
          <a:xfrm>
            <a:off x="365760" y="4605528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438912" y="4594479"/>
            <a:ext cx="237744" cy="237744"/>
          </a:xfrm>
          <a:prstGeom prst="ellipse">
            <a:avLst/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11" name="Text 309"/>
          <p:cNvSpPr/>
          <p:nvPr/>
        </p:nvSpPr>
        <p:spPr>
          <a:xfrm>
            <a:off x="365760" y="4605528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850" dirty="0"/>
          </a:p>
        </p:txBody>
      </p:sp>
      <p:sp>
        <p:nvSpPr>
          <p:cNvPr id="312" name="Text 310"/>
          <p:cNvSpPr/>
          <p:nvPr/>
        </p:nvSpPr>
        <p:spPr>
          <a:xfrm>
            <a:off x="822960" y="4605528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slab / raft – reinforcement, formwork &amp; concrete</a:t>
            </a:r>
            <a:endParaRPr lang="en-US" sz="750" dirty="0"/>
          </a:p>
        </p:txBody>
      </p:sp>
      <p:sp>
        <p:nvSpPr>
          <p:cNvPr id="313" name="Text 311"/>
          <p:cNvSpPr/>
          <p:nvPr/>
        </p:nvSpPr>
        <p:spPr>
          <a:xfrm>
            <a:off x="3447288" y="4605528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FS</a:t>
            </a:r>
            <a:endParaRPr lang="en-US" sz="700" dirty="0"/>
          </a:p>
        </p:txBody>
      </p:sp>
      <p:sp>
        <p:nvSpPr>
          <p:cNvPr id="314" name="Text 312"/>
          <p:cNvSpPr/>
          <p:nvPr/>
        </p:nvSpPr>
        <p:spPr>
          <a:xfrm>
            <a:off x="4224528" y="4605528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315" name="Text 313"/>
          <p:cNvSpPr/>
          <p:nvPr/>
        </p:nvSpPr>
        <p:spPr>
          <a:xfrm>
            <a:off x="4727448" y="460552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Oct</a:t>
            </a:r>
            <a:endParaRPr lang="en-US" sz="700" dirty="0"/>
          </a:p>
        </p:txBody>
      </p:sp>
      <p:sp>
        <p:nvSpPr>
          <p:cNvPr id="316" name="Text 314"/>
          <p:cNvSpPr/>
          <p:nvPr/>
        </p:nvSpPr>
        <p:spPr>
          <a:xfrm>
            <a:off x="5385816" y="460552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Oct</a:t>
            </a:r>
            <a:endParaRPr lang="en-US" sz="700" dirty="0"/>
          </a:p>
        </p:txBody>
      </p:sp>
      <p:sp>
        <p:nvSpPr>
          <p:cNvPr id="317" name="Shape 315"/>
          <p:cNvSpPr/>
          <p:nvPr/>
        </p:nvSpPr>
        <p:spPr>
          <a:xfrm>
            <a:off x="7850981" y="4766310"/>
            <a:ext cx="1324985" cy="32004"/>
          </a:xfrm>
          <a:prstGeom prst="roundRect">
            <a:avLst>
              <a:gd name="adj" fmla="val 42857"/>
            </a:avLst>
          </a:prstGeom>
          <a:solidFill>
            <a:srgbClr val="8A959C"/>
          </a:solidFill>
          <a:ln w="12700">
            <a:solidFill>
              <a:srgbClr val="8A959C"/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7369169" y="4650814"/>
            <a:ext cx="1324985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19" name="Text 317"/>
          <p:cNvSpPr/>
          <p:nvPr/>
        </p:nvSpPr>
        <p:spPr>
          <a:xfrm>
            <a:off x="7369169" y="4650814"/>
            <a:ext cx="1324985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</a:t>
            </a:r>
            <a:endParaRPr lang="en-US" sz="700" dirty="0"/>
          </a:p>
        </p:txBody>
      </p:sp>
      <p:sp>
        <p:nvSpPr>
          <p:cNvPr id="320" name="Shape 318"/>
          <p:cNvSpPr/>
          <p:nvPr/>
        </p:nvSpPr>
        <p:spPr>
          <a:xfrm>
            <a:off x="365760" y="4821174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438912" y="4810125"/>
            <a:ext cx="237744" cy="237744"/>
          </a:xfrm>
          <a:prstGeom prst="ellipse">
            <a:avLst/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322" name="Text 320"/>
          <p:cNvSpPr/>
          <p:nvPr/>
        </p:nvSpPr>
        <p:spPr>
          <a:xfrm>
            <a:off x="365760" y="4821174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850" dirty="0"/>
          </a:p>
        </p:txBody>
      </p:sp>
      <p:sp>
        <p:nvSpPr>
          <p:cNvPr id="323" name="Text 321"/>
          <p:cNvSpPr/>
          <p:nvPr/>
        </p:nvSpPr>
        <p:spPr>
          <a:xfrm>
            <a:off x="822960" y="4821174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wall – reinforcement, formwork &amp; concrete</a:t>
            </a:r>
            <a:endParaRPr lang="en-US" sz="750" dirty="0"/>
          </a:p>
        </p:txBody>
      </p:sp>
      <p:sp>
        <p:nvSpPr>
          <p:cNvPr id="324" name="Text 322"/>
          <p:cNvSpPr/>
          <p:nvPr/>
        </p:nvSpPr>
        <p:spPr>
          <a:xfrm>
            <a:off x="3447288" y="4821174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FS</a:t>
            </a:r>
            <a:endParaRPr lang="en-US" sz="700" dirty="0"/>
          </a:p>
        </p:txBody>
      </p:sp>
      <p:sp>
        <p:nvSpPr>
          <p:cNvPr id="325" name="Text 323"/>
          <p:cNvSpPr/>
          <p:nvPr/>
        </p:nvSpPr>
        <p:spPr>
          <a:xfrm>
            <a:off x="4224528" y="4821174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26" name="Text 324"/>
          <p:cNvSpPr/>
          <p:nvPr/>
        </p:nvSpPr>
        <p:spPr>
          <a:xfrm>
            <a:off x="4727448" y="482117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Nov</a:t>
            </a:r>
            <a:endParaRPr lang="en-US" sz="700" dirty="0"/>
          </a:p>
        </p:txBody>
      </p:sp>
      <p:sp>
        <p:nvSpPr>
          <p:cNvPr id="327" name="Text 325"/>
          <p:cNvSpPr/>
          <p:nvPr/>
        </p:nvSpPr>
        <p:spPr>
          <a:xfrm>
            <a:off x="5385816" y="482117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Nov</a:t>
            </a:r>
            <a:endParaRPr lang="en-US" sz="700" dirty="0"/>
          </a:p>
        </p:txBody>
      </p:sp>
      <p:sp>
        <p:nvSpPr>
          <p:cNvPr id="328" name="Shape 326"/>
          <p:cNvSpPr/>
          <p:nvPr/>
        </p:nvSpPr>
        <p:spPr>
          <a:xfrm>
            <a:off x="9175966" y="4981956"/>
            <a:ext cx="843172" cy="32004"/>
          </a:xfrm>
          <a:prstGeom prst="roundRect">
            <a:avLst>
              <a:gd name="adj" fmla="val 42857"/>
            </a:avLst>
          </a:prstGeom>
          <a:solidFill>
            <a:srgbClr val="8A959C"/>
          </a:solidFill>
          <a:ln w="12700">
            <a:solidFill>
              <a:srgbClr val="8A959C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8694153" y="4866460"/>
            <a:ext cx="602266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30" name="Text 328"/>
          <p:cNvSpPr/>
          <p:nvPr/>
        </p:nvSpPr>
        <p:spPr>
          <a:xfrm>
            <a:off x="8694153" y="4866460"/>
            <a:ext cx="602266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</a:t>
            </a:r>
            <a:endParaRPr lang="en-US" sz="700" dirty="0"/>
          </a:p>
        </p:txBody>
      </p:sp>
      <p:sp>
        <p:nvSpPr>
          <p:cNvPr id="331" name="Shape 329"/>
          <p:cNvSpPr/>
          <p:nvPr/>
        </p:nvSpPr>
        <p:spPr>
          <a:xfrm>
            <a:off x="365760" y="5036820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438912" y="5025771"/>
            <a:ext cx="237744" cy="237744"/>
          </a:xfrm>
          <a:prstGeom prst="ellipse">
            <a:avLst/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365760" y="5036820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850" dirty="0"/>
          </a:p>
        </p:txBody>
      </p:sp>
      <p:sp>
        <p:nvSpPr>
          <p:cNvPr id="334" name="Text 332"/>
          <p:cNvSpPr/>
          <p:nvPr/>
        </p:nvSpPr>
        <p:spPr>
          <a:xfrm>
            <a:off x="822960" y="5036820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foundation – excavation, compaction / testing, reinforcement &amp; concrete</a:t>
            </a:r>
            <a:endParaRPr lang="en-US" sz="750" dirty="0"/>
          </a:p>
        </p:txBody>
      </p:sp>
      <p:sp>
        <p:nvSpPr>
          <p:cNvPr id="335" name="Text 333"/>
          <p:cNvSpPr/>
          <p:nvPr/>
        </p:nvSpPr>
        <p:spPr>
          <a:xfrm>
            <a:off x="3447288" y="5036820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FS</a:t>
            </a:r>
            <a:endParaRPr lang="en-US" sz="700" dirty="0"/>
          </a:p>
        </p:txBody>
      </p:sp>
      <p:sp>
        <p:nvSpPr>
          <p:cNvPr id="336" name="Text 334"/>
          <p:cNvSpPr/>
          <p:nvPr/>
        </p:nvSpPr>
        <p:spPr>
          <a:xfrm>
            <a:off x="4224528" y="5036820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337" name="Text 335"/>
          <p:cNvSpPr/>
          <p:nvPr/>
        </p:nvSpPr>
        <p:spPr>
          <a:xfrm>
            <a:off x="4727448" y="503682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Nov</a:t>
            </a:r>
            <a:endParaRPr lang="en-US" sz="700" dirty="0"/>
          </a:p>
        </p:txBody>
      </p:sp>
      <p:sp>
        <p:nvSpPr>
          <p:cNvPr id="338" name="Text 336"/>
          <p:cNvSpPr/>
          <p:nvPr/>
        </p:nvSpPr>
        <p:spPr>
          <a:xfrm>
            <a:off x="5385816" y="503682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Nov</a:t>
            </a:r>
            <a:endParaRPr lang="en-US" sz="700" dirty="0"/>
          </a:p>
        </p:txBody>
      </p:sp>
      <p:sp>
        <p:nvSpPr>
          <p:cNvPr id="339" name="Shape 337"/>
          <p:cNvSpPr/>
          <p:nvPr/>
        </p:nvSpPr>
        <p:spPr>
          <a:xfrm>
            <a:off x="9175966" y="5197602"/>
            <a:ext cx="1686344" cy="32004"/>
          </a:xfrm>
          <a:prstGeom prst="roundRect">
            <a:avLst>
              <a:gd name="adj" fmla="val 42857"/>
            </a:avLst>
          </a:prstGeom>
          <a:solidFill>
            <a:srgbClr val="8A959C"/>
          </a:solidFill>
          <a:ln w="12700">
            <a:solidFill>
              <a:srgbClr val="8A959C"/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8694153" y="5082106"/>
            <a:ext cx="1686344" cy="125075"/>
          </a:xfrm>
          <a:prstGeom prst="roundRect">
            <a:avLst>
              <a:gd name="adj" fmla="val 29243"/>
            </a:avLst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41" name="Text 339"/>
          <p:cNvSpPr/>
          <p:nvPr/>
        </p:nvSpPr>
        <p:spPr>
          <a:xfrm>
            <a:off x="8694153" y="5082106"/>
            <a:ext cx="1686344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d</a:t>
            </a:r>
            <a:endParaRPr lang="en-US" sz="700" dirty="0"/>
          </a:p>
        </p:txBody>
      </p:sp>
      <p:sp>
        <p:nvSpPr>
          <p:cNvPr id="342" name="Shape 340"/>
          <p:cNvSpPr/>
          <p:nvPr/>
        </p:nvSpPr>
        <p:spPr>
          <a:xfrm>
            <a:off x="365760" y="5252466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438912" y="5241417"/>
            <a:ext cx="237744" cy="237744"/>
          </a:xfrm>
          <a:prstGeom prst="ellipse">
            <a:avLst/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44" name="Text 342"/>
          <p:cNvSpPr/>
          <p:nvPr/>
        </p:nvSpPr>
        <p:spPr>
          <a:xfrm>
            <a:off x="365760" y="5252466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850" dirty="0"/>
          </a:p>
        </p:txBody>
      </p:sp>
      <p:sp>
        <p:nvSpPr>
          <p:cNvPr id="345" name="Text 343"/>
          <p:cNvSpPr/>
          <p:nvPr/>
        </p:nvSpPr>
        <p:spPr>
          <a:xfrm>
            <a:off x="822960" y="5252466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Backfilling works for the building</a:t>
            </a:r>
            <a:endParaRPr lang="en-US" sz="750" dirty="0"/>
          </a:p>
        </p:txBody>
      </p:sp>
      <p:sp>
        <p:nvSpPr>
          <p:cNvPr id="346" name="Text 344"/>
          <p:cNvSpPr/>
          <p:nvPr/>
        </p:nvSpPr>
        <p:spPr>
          <a:xfrm>
            <a:off x="3447288" y="5252466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· FS</a:t>
            </a:r>
            <a:endParaRPr lang="en-US" sz="700" dirty="0"/>
          </a:p>
        </p:txBody>
      </p:sp>
      <p:sp>
        <p:nvSpPr>
          <p:cNvPr id="347" name="Text 345"/>
          <p:cNvSpPr/>
          <p:nvPr/>
        </p:nvSpPr>
        <p:spPr>
          <a:xfrm>
            <a:off x="4224528" y="5252466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48" name="Text 346"/>
          <p:cNvSpPr/>
          <p:nvPr/>
        </p:nvSpPr>
        <p:spPr>
          <a:xfrm>
            <a:off x="4727448" y="525246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Nov</a:t>
            </a:r>
            <a:endParaRPr lang="en-US" sz="700" dirty="0"/>
          </a:p>
        </p:txBody>
      </p:sp>
      <p:sp>
        <p:nvSpPr>
          <p:cNvPr id="349" name="Text 347"/>
          <p:cNvSpPr/>
          <p:nvPr/>
        </p:nvSpPr>
        <p:spPr>
          <a:xfrm>
            <a:off x="5385816" y="525246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Nov</a:t>
            </a:r>
            <a:endParaRPr lang="en-US" sz="700" dirty="0"/>
          </a:p>
        </p:txBody>
      </p:sp>
      <p:sp>
        <p:nvSpPr>
          <p:cNvPr id="350" name="Shape 348"/>
          <p:cNvSpPr/>
          <p:nvPr/>
        </p:nvSpPr>
        <p:spPr>
          <a:xfrm>
            <a:off x="10862310" y="5413248"/>
            <a:ext cx="722719" cy="32004"/>
          </a:xfrm>
          <a:prstGeom prst="roundRect">
            <a:avLst>
              <a:gd name="adj" fmla="val 42857"/>
            </a:avLst>
          </a:prstGeom>
          <a:solidFill>
            <a:srgbClr val="8A959C"/>
          </a:solidFill>
          <a:ln w="12700">
            <a:solidFill>
              <a:srgbClr val="8A959C"/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10380497" y="5297752"/>
            <a:ext cx="602266" cy="125075"/>
          </a:xfrm>
          <a:prstGeom prst="roundRect">
            <a:avLst>
              <a:gd name="adj" fmla="val 29243"/>
            </a:avLst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52" name="Text 350"/>
          <p:cNvSpPr/>
          <p:nvPr/>
        </p:nvSpPr>
        <p:spPr>
          <a:xfrm>
            <a:off x="10380497" y="5297752"/>
            <a:ext cx="602266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</a:t>
            </a:r>
            <a:endParaRPr lang="en-US" sz="700" dirty="0"/>
          </a:p>
        </p:txBody>
      </p:sp>
      <p:sp>
        <p:nvSpPr>
          <p:cNvPr id="353" name="Shape 351"/>
          <p:cNvSpPr/>
          <p:nvPr/>
        </p:nvSpPr>
        <p:spPr>
          <a:xfrm>
            <a:off x="6460407" y="3266366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6460407" y="3419475"/>
            <a:ext cx="56445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5" name="Shape 353"/>
          <p:cNvSpPr/>
          <p:nvPr/>
        </p:nvSpPr>
        <p:spPr>
          <a:xfrm>
            <a:off x="6580861" y="3482012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6580861" y="3635121"/>
            <a:ext cx="56445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7" name="Shape 355"/>
          <p:cNvSpPr/>
          <p:nvPr/>
        </p:nvSpPr>
        <p:spPr>
          <a:xfrm>
            <a:off x="6701314" y="3697658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6701314" y="3850767"/>
            <a:ext cx="176898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9" name="Shape 357"/>
          <p:cNvSpPr/>
          <p:nvPr/>
        </p:nvSpPr>
        <p:spPr>
          <a:xfrm>
            <a:off x="6942220" y="3913304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6878212" y="4066413"/>
            <a:ext cx="64008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1" name="Shape 359"/>
          <p:cNvSpPr/>
          <p:nvPr/>
        </p:nvSpPr>
        <p:spPr>
          <a:xfrm>
            <a:off x="6460407" y="3050720"/>
            <a:ext cx="0" cy="123133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6460407" y="4282059"/>
            <a:ext cx="538258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3" name="Shape 361"/>
          <p:cNvSpPr/>
          <p:nvPr/>
        </p:nvSpPr>
        <p:spPr>
          <a:xfrm>
            <a:off x="6962089" y="298818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6962089" y="2988183"/>
            <a:ext cx="0" cy="150952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6962089" y="4497705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6" name="Shape 364"/>
          <p:cNvSpPr/>
          <p:nvPr/>
        </p:nvSpPr>
        <p:spPr>
          <a:xfrm>
            <a:off x="7323449" y="4497705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7323449" y="4497705"/>
            <a:ext cx="0" cy="21564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7323449" y="4713351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9" name="Shape 367"/>
          <p:cNvSpPr/>
          <p:nvPr/>
        </p:nvSpPr>
        <p:spPr>
          <a:xfrm>
            <a:off x="8648433" y="471335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8648433" y="4713351"/>
            <a:ext cx="0" cy="21564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8648433" y="4928997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72" name="Shape 370"/>
          <p:cNvSpPr/>
          <p:nvPr/>
        </p:nvSpPr>
        <p:spPr>
          <a:xfrm>
            <a:off x="8648433" y="471335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8648433" y="4713351"/>
            <a:ext cx="0" cy="43129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8648433" y="5144643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75" name="Shape 373"/>
          <p:cNvSpPr/>
          <p:nvPr/>
        </p:nvSpPr>
        <p:spPr>
          <a:xfrm>
            <a:off x="10334777" y="514464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10334777" y="5144643"/>
            <a:ext cx="0" cy="21564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10334777" y="5360289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78" name="Shape 376"/>
          <p:cNvSpPr/>
          <p:nvPr/>
        </p:nvSpPr>
        <p:spPr>
          <a:xfrm>
            <a:off x="7429395" y="1947672"/>
            <a:ext cx="0" cy="3520440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379" name="Shape 377"/>
          <p:cNvSpPr/>
          <p:nvPr/>
        </p:nvSpPr>
        <p:spPr>
          <a:xfrm>
            <a:off x="7383675" y="2240280"/>
            <a:ext cx="1143000" cy="155448"/>
          </a:xfrm>
          <a:prstGeom prst="roundRect">
            <a:avLst>
              <a:gd name="adj" fmla="val 47059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80" name="Text 378"/>
          <p:cNvSpPr/>
          <p:nvPr/>
        </p:nvSpPr>
        <p:spPr>
          <a:xfrm>
            <a:off x="7383675" y="2240280"/>
            <a:ext cx="1143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date · 21 Oct</a:t>
            </a:r>
            <a:endParaRPr lang="en-US" sz="650" dirty="0"/>
          </a:p>
        </p:txBody>
      </p:sp>
      <p:sp>
        <p:nvSpPr>
          <p:cNvPr id="381" name="Shape 379"/>
          <p:cNvSpPr/>
          <p:nvPr/>
        </p:nvSpPr>
        <p:spPr>
          <a:xfrm>
            <a:off x="365760" y="1325880"/>
            <a:ext cx="11460175" cy="4142232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9C6CC"/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365760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83" name="Shape 381"/>
          <p:cNvSpPr/>
          <p:nvPr/>
        </p:nvSpPr>
        <p:spPr>
          <a:xfrm>
            <a:off x="420624" y="5577840"/>
            <a:ext cx="2094525" cy="54864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384" name="Text 382"/>
          <p:cNvSpPr/>
          <p:nvPr/>
        </p:nvSpPr>
        <p:spPr>
          <a:xfrm>
            <a:off x="475488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Commencement</a:t>
            </a:r>
            <a:endParaRPr lang="en-US" sz="850" dirty="0"/>
          </a:p>
        </p:txBody>
      </p:sp>
      <p:sp>
        <p:nvSpPr>
          <p:cNvPr id="385" name="Text 383"/>
          <p:cNvSpPr/>
          <p:nvPr/>
        </p:nvSpPr>
        <p:spPr>
          <a:xfrm>
            <a:off x="475488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13 Oct 2026</a:t>
            </a:r>
            <a:endParaRPr lang="en-US" sz="1300" dirty="0"/>
          </a:p>
        </p:txBody>
      </p:sp>
      <p:sp>
        <p:nvSpPr>
          <p:cNvPr id="386" name="Text 384"/>
          <p:cNvSpPr/>
          <p:nvPr/>
        </p:nvSpPr>
        <p:spPr>
          <a:xfrm>
            <a:off x="475488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1 / 33</a:t>
            </a:r>
            <a:endParaRPr lang="en-US" sz="750" dirty="0"/>
          </a:p>
        </p:txBody>
      </p:sp>
      <p:sp>
        <p:nvSpPr>
          <p:cNvPr id="387" name="Shape 385"/>
          <p:cNvSpPr/>
          <p:nvPr/>
        </p:nvSpPr>
        <p:spPr>
          <a:xfrm>
            <a:off x="267974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88" name="Shape 386"/>
          <p:cNvSpPr/>
          <p:nvPr/>
        </p:nvSpPr>
        <p:spPr>
          <a:xfrm>
            <a:off x="2734605" y="5577840"/>
            <a:ext cx="2094525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89" name="Text 387"/>
          <p:cNvSpPr/>
          <p:nvPr/>
        </p:nvSpPr>
        <p:spPr>
          <a:xfrm>
            <a:off x="278946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Shoring installation complete</a:t>
            </a:r>
            <a:endParaRPr lang="en-US" sz="850" dirty="0"/>
          </a:p>
        </p:txBody>
      </p:sp>
      <p:sp>
        <p:nvSpPr>
          <p:cNvPr id="390" name="Text 388"/>
          <p:cNvSpPr/>
          <p:nvPr/>
        </p:nvSpPr>
        <p:spPr>
          <a:xfrm>
            <a:off x="278946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17 Oct 2026</a:t>
            </a:r>
            <a:endParaRPr lang="en-US" sz="1300" dirty="0"/>
          </a:p>
        </p:txBody>
      </p:sp>
      <p:sp>
        <p:nvSpPr>
          <p:cNvPr id="391" name="Text 389"/>
          <p:cNvSpPr/>
          <p:nvPr/>
        </p:nvSpPr>
        <p:spPr>
          <a:xfrm>
            <a:off x="278946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4 / 33</a:t>
            </a:r>
            <a:endParaRPr lang="en-US" sz="750" dirty="0"/>
          </a:p>
        </p:txBody>
      </p:sp>
      <p:sp>
        <p:nvSpPr>
          <p:cNvPr id="392" name="Shape 390"/>
          <p:cNvSpPr/>
          <p:nvPr/>
        </p:nvSpPr>
        <p:spPr>
          <a:xfrm>
            <a:off x="499372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93" name="Shape 391"/>
          <p:cNvSpPr/>
          <p:nvPr/>
        </p:nvSpPr>
        <p:spPr>
          <a:xfrm>
            <a:off x="5048585" y="5577840"/>
            <a:ext cx="2094525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94" name="Text 392"/>
          <p:cNvSpPr/>
          <p:nvPr/>
        </p:nvSpPr>
        <p:spPr>
          <a:xfrm>
            <a:off x="510344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works complete (pit wall)</a:t>
            </a:r>
            <a:endParaRPr lang="en-US" sz="850" dirty="0"/>
          </a:p>
        </p:txBody>
      </p:sp>
      <p:sp>
        <p:nvSpPr>
          <p:cNvPr id="395" name="Text 393"/>
          <p:cNvSpPr/>
          <p:nvPr/>
        </p:nvSpPr>
        <p:spPr>
          <a:xfrm>
            <a:off x="510344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5 Nov 2026</a:t>
            </a:r>
            <a:endParaRPr lang="en-US" sz="1300" dirty="0"/>
          </a:p>
        </p:txBody>
      </p:sp>
      <p:sp>
        <p:nvSpPr>
          <p:cNvPr id="396" name="Text 394"/>
          <p:cNvSpPr/>
          <p:nvPr/>
        </p:nvSpPr>
        <p:spPr>
          <a:xfrm>
            <a:off x="510344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21 / 33</a:t>
            </a:r>
            <a:endParaRPr lang="en-US" sz="750" dirty="0"/>
          </a:p>
        </p:txBody>
      </p:sp>
      <p:sp>
        <p:nvSpPr>
          <p:cNvPr id="397" name="Shape 395"/>
          <p:cNvSpPr/>
          <p:nvPr/>
        </p:nvSpPr>
        <p:spPr>
          <a:xfrm>
            <a:off x="7307702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98" name="Shape 396"/>
          <p:cNvSpPr/>
          <p:nvPr/>
        </p:nvSpPr>
        <p:spPr>
          <a:xfrm>
            <a:off x="7362566" y="5577840"/>
            <a:ext cx="2094525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99" name="Text 397"/>
          <p:cNvSpPr/>
          <p:nvPr/>
        </p:nvSpPr>
        <p:spPr>
          <a:xfrm>
            <a:off x="7417430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foundation complete</a:t>
            </a:r>
            <a:endParaRPr lang="en-US" sz="850" dirty="0"/>
          </a:p>
        </p:txBody>
      </p:sp>
      <p:sp>
        <p:nvSpPr>
          <p:cNvPr id="400" name="Text 398"/>
          <p:cNvSpPr/>
          <p:nvPr/>
        </p:nvSpPr>
        <p:spPr>
          <a:xfrm>
            <a:off x="7417430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14 Nov 2026</a:t>
            </a:r>
            <a:endParaRPr lang="en-US" sz="1300" dirty="0"/>
          </a:p>
        </p:txBody>
      </p:sp>
      <p:sp>
        <p:nvSpPr>
          <p:cNvPr id="401" name="Text 399"/>
          <p:cNvSpPr/>
          <p:nvPr/>
        </p:nvSpPr>
        <p:spPr>
          <a:xfrm>
            <a:off x="7417430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28 / 33</a:t>
            </a:r>
            <a:endParaRPr lang="en-US" sz="750" dirty="0"/>
          </a:p>
        </p:txBody>
      </p:sp>
      <p:sp>
        <p:nvSpPr>
          <p:cNvPr id="402" name="Shape 400"/>
          <p:cNvSpPr/>
          <p:nvPr/>
        </p:nvSpPr>
        <p:spPr>
          <a:xfrm>
            <a:off x="9621683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3D3935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403" name="Shape 401"/>
          <p:cNvSpPr/>
          <p:nvPr/>
        </p:nvSpPr>
        <p:spPr>
          <a:xfrm>
            <a:off x="9676547" y="5577840"/>
            <a:ext cx="2094525" cy="54864"/>
          </a:xfrm>
          <a:prstGeom prst="rect">
            <a:avLst/>
          </a:prstGeom>
          <a:solidFill>
            <a:srgbClr val="D68A00"/>
          </a:solidFill>
          <a:ln w="12700">
            <a:solidFill>
              <a:srgbClr val="D68A00"/>
            </a:solidFill>
            <a:prstDash val="solid"/>
          </a:ln>
        </p:spPr>
      </p:sp>
      <p:sp>
        <p:nvSpPr>
          <p:cNvPr id="404" name="Text 402"/>
          <p:cNvSpPr/>
          <p:nvPr/>
        </p:nvSpPr>
        <p:spPr>
          <a:xfrm>
            <a:off x="9731411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completion</a:t>
            </a:r>
            <a:endParaRPr lang="en-US" sz="850" dirty="0"/>
          </a:p>
        </p:txBody>
      </p:sp>
      <p:sp>
        <p:nvSpPr>
          <p:cNvPr id="405" name="Text 403"/>
          <p:cNvSpPr/>
          <p:nvPr/>
        </p:nvSpPr>
        <p:spPr>
          <a:xfrm>
            <a:off x="9731411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19 Nov 2026</a:t>
            </a:r>
            <a:endParaRPr lang="en-US" sz="1300" dirty="0"/>
          </a:p>
        </p:txBody>
      </p:sp>
      <p:sp>
        <p:nvSpPr>
          <p:cNvPr id="406" name="Text 404"/>
          <p:cNvSpPr/>
          <p:nvPr/>
        </p:nvSpPr>
        <p:spPr>
          <a:xfrm>
            <a:off x="9731411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33 / 33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UFWL Project – Gantt Chart</dc:title>
  <dc:subject>PptxGenJS Presentation</dc:subject>
  <dc:creator>UFWL Project</dc:creator>
  <cp:lastModifiedBy>UFWL Project</cp:lastModifiedBy>
  <cp:revision>1</cp:revision>
  <dcterms:created xsi:type="dcterms:W3CDTF">2026-10-21T13:40:25Z</dcterms:created>
  <dcterms:modified xsi:type="dcterms:W3CDTF">2026-10-21T13:40:25Z</dcterms:modified>
</cp:coreProperties>
</file>