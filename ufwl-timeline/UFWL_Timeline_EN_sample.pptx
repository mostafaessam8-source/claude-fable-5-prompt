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R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78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68680"/>
            <a:ext cx="2011680" cy="4572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142875"/>
            <a:ext cx="1051560" cy="5829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Activity Timeline · Site Suspension and Shoring Works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967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967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10134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UFWL Project – Timeline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0134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6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Activity Timeline · Site Suspension and Shoring Works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69848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005840"/>
            <a:ext cx="1706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– Permit Request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437790" y="1069848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8686" y="1005840"/>
            <a:ext cx="22896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– Suspension &amp; Site Assessment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93208" y="1069848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04104" y="1005840"/>
            <a:ext cx="27669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– Method Statement Preparation &amp; Review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5942" y="1069848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36838" y="100584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– Work Permit Issuance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803904"/>
            <a:ext cx="325419" cy="73152"/>
          </a:xfrm>
          <a:prstGeom prst="roundRect">
            <a:avLst>
              <a:gd name="adj" fmla="val 50000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4059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24896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75734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26572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7409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28247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9085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29922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31598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82435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33273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4111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34948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85786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36624" y="3803904"/>
            <a:ext cx="650838" cy="7315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287461" y="3803904"/>
            <a:ext cx="325419" cy="73152"/>
          </a:xfrm>
          <a:prstGeom prst="roundRect">
            <a:avLst>
              <a:gd name="adj" fmla="val 50000"/>
            </a:avLst>
          </a:prstGeom>
          <a:solidFill>
            <a:srgbClr val="C9D3D8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4059" y="3447288"/>
            <a:ext cx="0" cy="182880"/>
          </a:xfrm>
          <a:prstGeom prst="line">
            <a:avLst/>
          </a:prstGeom>
          <a:noFill/>
          <a:ln w="19050">
            <a:solidFill>
              <a:srgbClr val="7A8791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3747" y="3630168"/>
            <a:ext cx="420624" cy="420624"/>
          </a:xfrm>
          <a:prstGeom prst="ellipse">
            <a:avLst/>
          </a:prstGeom>
          <a:solidFill>
            <a:srgbClr val="7A8791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3747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2734056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" y="2734056"/>
            <a:ext cx="1871293" cy="54864"/>
          </a:xfrm>
          <a:prstGeom prst="rect">
            <a:avLst/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807208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31 Aug 2026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3054096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7A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– Permit Request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Permit Requested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524896" y="4050792"/>
            <a:ext cx="0" cy="182880"/>
          </a:xfrm>
          <a:prstGeom prst="line">
            <a:avLst/>
          </a:prstGeom>
          <a:noFill/>
          <a:ln w="19050">
            <a:solidFill>
              <a:srgbClr val="7A8791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14584" y="3630168"/>
            <a:ext cx="420624" cy="420624"/>
          </a:xfrm>
          <a:prstGeom prst="ellipse">
            <a:avLst/>
          </a:prstGeom>
          <a:solidFill>
            <a:srgbClr val="7A8791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314584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16098" y="4233672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89250" y="4233672"/>
            <a:ext cx="1871293" cy="54864"/>
          </a:xfrm>
          <a:prstGeom prst="rect">
            <a:avLst/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7538" y="4306824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28 Sep 2026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07538" y="4553712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7A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– Permit Request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Request Rejected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2175734" y="2624328"/>
            <a:ext cx="0" cy="1005840"/>
          </a:xfrm>
          <a:prstGeom prst="line">
            <a:avLst/>
          </a:prstGeom>
          <a:noFill/>
          <a:ln w="19050">
            <a:solidFill>
              <a:srgbClr val="C8503F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65422" y="3630168"/>
            <a:ext cx="420624" cy="420624"/>
          </a:xfrm>
          <a:prstGeom prst="ellipse">
            <a:avLst/>
          </a:prstGeom>
          <a:solidFill>
            <a:srgbClr val="C8503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965422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166936" y="1911096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240088" y="1911096"/>
            <a:ext cx="1871293" cy="54864"/>
          </a:xfrm>
          <a:prstGeom prst="rect">
            <a:avLst/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58376" y="1984248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1 Oct 2026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258376" y="2231136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C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– Suspension &amp; Site Assessment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Activities Suspended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2826572" y="4050792"/>
            <a:ext cx="0" cy="1005840"/>
          </a:xfrm>
          <a:prstGeom prst="line">
            <a:avLst/>
          </a:prstGeom>
          <a:noFill/>
          <a:ln w="19050">
            <a:solidFill>
              <a:srgbClr val="C8503F">
                <a:alpha val="6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16260" y="3630168"/>
            <a:ext cx="420624" cy="420624"/>
          </a:xfrm>
          <a:prstGeom prst="ellipse">
            <a:avLst/>
          </a:prstGeom>
          <a:solidFill>
            <a:srgbClr val="C8503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61626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817773" y="5056632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890925" y="5056632"/>
            <a:ext cx="1871293" cy="54864"/>
          </a:xfrm>
          <a:prstGeom prst="rect">
            <a:avLst/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09213" y="5129784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3 Oct 2026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909213" y="5376672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C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– Suspension &amp; Site Assessment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Site Visit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3477409" y="3447288"/>
            <a:ext cx="0" cy="182880"/>
          </a:xfrm>
          <a:prstGeom prst="line">
            <a:avLst/>
          </a:prstGeom>
          <a:noFill/>
          <a:ln w="19050">
            <a:solidFill>
              <a:srgbClr val="C8503F">
                <a:alpha val="6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67097" y="3630168"/>
            <a:ext cx="420624" cy="420624"/>
          </a:xfrm>
          <a:prstGeom prst="ellipse">
            <a:avLst/>
          </a:prstGeom>
          <a:solidFill>
            <a:srgbClr val="C8503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267097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468611" y="2734056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541763" y="2734056"/>
            <a:ext cx="1871293" cy="54864"/>
          </a:xfrm>
          <a:prstGeom prst="rect">
            <a:avLst/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0051" y="2807208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4 Oct 2026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2560051" y="3054096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C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– Suspension &amp; Site Assessment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&amp; Mitigation Plan Submitted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4128247" y="4050792"/>
            <a:ext cx="0" cy="182880"/>
          </a:xfrm>
          <a:prstGeom prst="line">
            <a:avLst/>
          </a:prstGeom>
          <a:noFill/>
          <a:ln w="19050">
            <a:solidFill>
              <a:srgbClr val="C8503F">
                <a:alpha val="6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917935" y="3630168"/>
            <a:ext cx="420624" cy="420624"/>
          </a:xfrm>
          <a:prstGeom prst="ellipse">
            <a:avLst/>
          </a:prstGeom>
          <a:solidFill>
            <a:srgbClr val="C8503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3917935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119449" y="4233672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192601" y="4233672"/>
            <a:ext cx="1871293" cy="54864"/>
          </a:xfrm>
          <a:prstGeom prst="rect">
            <a:avLst/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10889" y="4306824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5 Oct 2026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3210889" y="4553712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C8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– Suspension &amp; Site Assessment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Action Plan Requested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4779085" y="2624328"/>
            <a:ext cx="0" cy="1005840"/>
          </a:xfrm>
          <a:prstGeom prst="line">
            <a:avLst/>
          </a:prstGeom>
          <a:noFill/>
          <a:ln w="19050">
            <a:solidFill>
              <a:srgbClr val="00778B">
                <a:alpha val="6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68773" y="3630168"/>
            <a:ext cx="420624" cy="420624"/>
          </a:xfrm>
          <a:prstGeom prst="ellipse">
            <a:avLst/>
          </a:prstGeom>
          <a:solidFill>
            <a:srgbClr val="00778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4568773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770286" y="1911096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3843438" y="1911096"/>
            <a:ext cx="1871293" cy="54864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61726" y="1984248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7 Oct 2026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3861726" y="2231136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– Method Statement Preparation &amp; Review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Statement (MoS) Submitted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5429922" y="4050792"/>
            <a:ext cx="0" cy="1005840"/>
          </a:xfrm>
          <a:prstGeom prst="line">
            <a:avLst/>
          </a:prstGeom>
          <a:noFill/>
          <a:ln w="19050">
            <a:solidFill>
              <a:srgbClr val="00778B">
                <a:alpha val="6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19610" y="3630168"/>
            <a:ext cx="420624" cy="420624"/>
          </a:xfrm>
          <a:prstGeom prst="ellipse">
            <a:avLst/>
          </a:prstGeom>
          <a:solidFill>
            <a:srgbClr val="00778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521961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4421124" y="5056632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494276" y="5056632"/>
            <a:ext cx="1871293" cy="54864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12564" y="5129784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7 Oct 2026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4512564" y="5376672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– Method Statement Preparation &amp; Review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Meeting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6080760" y="3447288"/>
            <a:ext cx="0" cy="182880"/>
          </a:xfrm>
          <a:prstGeom prst="line">
            <a:avLst/>
          </a:prstGeom>
          <a:noFill/>
          <a:ln w="19050">
            <a:solidFill>
              <a:srgbClr val="00778B">
                <a:alpha val="65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70448" y="3630168"/>
            <a:ext cx="420624" cy="420624"/>
          </a:xfrm>
          <a:prstGeom prst="ellipse">
            <a:avLst/>
          </a:prstGeom>
          <a:solidFill>
            <a:srgbClr val="00778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5870448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071962" y="2734056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5145114" y="2734056"/>
            <a:ext cx="1871293" cy="54864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163402" y="2807208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8 Oct 2026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5163402" y="3054096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– Method Statement Preparation &amp; Review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Stakeholders’ Clarifications Answered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6731598" y="4050792"/>
            <a:ext cx="0" cy="182880"/>
          </a:xfrm>
          <a:prstGeom prst="line">
            <a:avLst/>
          </a:prstGeom>
          <a:noFill/>
          <a:ln w="19050">
            <a:solidFill>
              <a:srgbClr val="00778B">
                <a:alpha val="65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521286" y="3630168"/>
            <a:ext cx="420624" cy="420624"/>
          </a:xfrm>
          <a:prstGeom prst="ellipse">
            <a:avLst/>
          </a:prstGeom>
          <a:solidFill>
            <a:srgbClr val="00778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6521286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5722799" y="4233672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5795951" y="4233672"/>
            <a:ext cx="1871293" cy="54864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814239" y="4306824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11 Oct 2026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5814239" y="4553712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– Method Statement Preparation &amp; Review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Clarification Received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7382435" y="2624328"/>
            <a:ext cx="0" cy="1005840"/>
          </a:xfrm>
          <a:prstGeom prst="line">
            <a:avLst/>
          </a:prstGeom>
          <a:noFill/>
          <a:ln w="19050">
            <a:solidFill>
              <a:srgbClr val="00778B">
                <a:alpha val="65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172123" y="3630168"/>
            <a:ext cx="420624" cy="420624"/>
          </a:xfrm>
          <a:prstGeom prst="ellipse">
            <a:avLst/>
          </a:prstGeom>
          <a:solidFill>
            <a:srgbClr val="00778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7172123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6373637" y="1911096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6446789" y="1911096"/>
            <a:ext cx="1871293" cy="54864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65077" y="1984248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12 Oct 2026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6465077" y="2231136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007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– Method Statement Preparation &amp; Review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Revision 2 Submitted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8033273" y="4050792"/>
            <a:ext cx="0" cy="1005840"/>
          </a:xfrm>
          <a:prstGeom prst="line">
            <a:avLst/>
          </a:prstGeom>
          <a:noFill/>
          <a:ln w="19050">
            <a:solidFill>
              <a:srgbClr val="2E9E6B">
                <a:alpha val="65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822961" y="3630168"/>
            <a:ext cx="420624" cy="420624"/>
          </a:xfrm>
          <a:prstGeom prst="ellipse">
            <a:avLst/>
          </a:prstGeom>
          <a:solidFill>
            <a:srgbClr val="2E9E6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109" name="Text 107"/>
          <p:cNvSpPr/>
          <p:nvPr/>
        </p:nvSpPr>
        <p:spPr>
          <a:xfrm>
            <a:off x="7822961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7024475" y="5056632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7097627" y="5056632"/>
            <a:ext cx="1871293" cy="54864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115915" y="5129784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13 Oct 2026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7115915" y="5376672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– Work Permit Issuance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Department Contacted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8684111" y="3447288"/>
            <a:ext cx="0" cy="182880"/>
          </a:xfrm>
          <a:prstGeom prst="line">
            <a:avLst/>
          </a:prstGeom>
          <a:noFill/>
          <a:ln w="19050">
            <a:solidFill>
              <a:srgbClr val="2E9E6B">
                <a:alpha val="65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473799" y="3630168"/>
            <a:ext cx="420624" cy="420624"/>
          </a:xfrm>
          <a:prstGeom prst="ellipse">
            <a:avLst/>
          </a:prstGeom>
          <a:solidFill>
            <a:srgbClr val="2E9E6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116" name="Text 114"/>
          <p:cNvSpPr/>
          <p:nvPr/>
        </p:nvSpPr>
        <p:spPr>
          <a:xfrm>
            <a:off x="8473799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7675312" y="2734056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18" name="Shape 116"/>
          <p:cNvSpPr/>
          <p:nvPr/>
        </p:nvSpPr>
        <p:spPr>
          <a:xfrm>
            <a:off x="7748464" y="2734056"/>
            <a:ext cx="1871293" cy="54864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766752" y="2807208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14 Oct 2026</a:t>
            </a:r>
            <a:endParaRPr lang="en-US" sz="950" dirty="0"/>
          </a:p>
        </p:txBody>
      </p:sp>
      <p:sp>
        <p:nvSpPr>
          <p:cNvPr id="120" name="Text 118"/>
          <p:cNvSpPr/>
          <p:nvPr/>
        </p:nvSpPr>
        <p:spPr>
          <a:xfrm>
            <a:off x="7766752" y="3054096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– Work Permit Issuance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Circulated for Approvals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9334948" y="4050792"/>
            <a:ext cx="0" cy="182880"/>
          </a:xfrm>
          <a:prstGeom prst="line">
            <a:avLst/>
          </a:prstGeom>
          <a:noFill/>
          <a:ln w="19050">
            <a:solidFill>
              <a:srgbClr val="2E9E6B">
                <a:alpha val="65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124636" y="3630168"/>
            <a:ext cx="420624" cy="420624"/>
          </a:xfrm>
          <a:prstGeom prst="ellipse">
            <a:avLst/>
          </a:prstGeom>
          <a:solidFill>
            <a:srgbClr val="2E9E6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9124636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8326150" y="4233672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25" name="Shape 123"/>
          <p:cNvSpPr/>
          <p:nvPr/>
        </p:nvSpPr>
        <p:spPr>
          <a:xfrm>
            <a:off x="8399302" y="4233672"/>
            <a:ext cx="1871293" cy="54864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417590" y="4306824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15 Oct 2026</a:t>
            </a:r>
            <a:endParaRPr lang="en-US" sz="950" dirty="0"/>
          </a:p>
        </p:txBody>
      </p:sp>
      <p:sp>
        <p:nvSpPr>
          <p:cNvPr id="127" name="Text 125"/>
          <p:cNvSpPr/>
          <p:nvPr/>
        </p:nvSpPr>
        <p:spPr>
          <a:xfrm>
            <a:off x="8417590" y="4553712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– Work Permit Issuance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Department Comments</a:t>
            </a:r>
            <a:endParaRPr lang="en-US" sz="650" dirty="0"/>
          </a:p>
        </p:txBody>
      </p:sp>
      <p:sp>
        <p:nvSpPr>
          <p:cNvPr id="128" name="Shape 126"/>
          <p:cNvSpPr/>
          <p:nvPr/>
        </p:nvSpPr>
        <p:spPr>
          <a:xfrm>
            <a:off x="9985786" y="2624328"/>
            <a:ext cx="0" cy="1005840"/>
          </a:xfrm>
          <a:prstGeom prst="line">
            <a:avLst/>
          </a:prstGeom>
          <a:noFill/>
          <a:ln w="19050">
            <a:solidFill>
              <a:srgbClr val="2E9E6B">
                <a:alpha val="65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775474" y="3630168"/>
            <a:ext cx="420624" cy="420624"/>
          </a:xfrm>
          <a:prstGeom prst="ellipse">
            <a:avLst/>
          </a:prstGeom>
          <a:solidFill>
            <a:srgbClr val="2E9E6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130" name="Text 128"/>
          <p:cNvSpPr/>
          <p:nvPr/>
        </p:nvSpPr>
        <p:spPr>
          <a:xfrm>
            <a:off x="9775474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8976988" y="1911096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32" name="Shape 130"/>
          <p:cNvSpPr/>
          <p:nvPr/>
        </p:nvSpPr>
        <p:spPr>
          <a:xfrm>
            <a:off x="9050140" y="1911096"/>
            <a:ext cx="1871293" cy="54864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9068428" y="1984248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19 Oct 2026</a:t>
            </a:r>
            <a:endParaRPr lang="en-US" sz="950" dirty="0"/>
          </a:p>
        </p:txBody>
      </p:sp>
      <p:sp>
        <p:nvSpPr>
          <p:cNvPr id="134" name="Text 132"/>
          <p:cNvSpPr/>
          <p:nvPr/>
        </p:nvSpPr>
        <p:spPr>
          <a:xfrm>
            <a:off x="9068428" y="2231136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– Work Permit Issuance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Revision 3 Submitted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10636624" y="4050792"/>
            <a:ext cx="0" cy="1005840"/>
          </a:xfrm>
          <a:prstGeom prst="line">
            <a:avLst/>
          </a:prstGeom>
          <a:noFill/>
          <a:ln w="19050">
            <a:solidFill>
              <a:srgbClr val="2E9E6B">
                <a:alpha val="65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426312" y="3630168"/>
            <a:ext cx="420624" cy="420624"/>
          </a:xfrm>
          <a:prstGeom prst="ellipse">
            <a:avLst/>
          </a:prstGeom>
          <a:solidFill>
            <a:srgbClr val="2E9E6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137" name="Text 135"/>
          <p:cNvSpPr/>
          <p:nvPr/>
        </p:nvSpPr>
        <p:spPr>
          <a:xfrm>
            <a:off x="10426312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9627825" y="5056632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39" name="Shape 137"/>
          <p:cNvSpPr/>
          <p:nvPr/>
        </p:nvSpPr>
        <p:spPr>
          <a:xfrm>
            <a:off x="9700977" y="5056632"/>
            <a:ext cx="1871293" cy="54864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719265" y="5129784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20 Oct 2026</a:t>
            </a:r>
            <a:endParaRPr lang="en-US" sz="950" dirty="0"/>
          </a:p>
        </p:txBody>
      </p:sp>
      <p:sp>
        <p:nvSpPr>
          <p:cNvPr id="141" name="Text 139"/>
          <p:cNvSpPr/>
          <p:nvPr/>
        </p:nvSpPr>
        <p:spPr>
          <a:xfrm>
            <a:off x="9719265" y="5376672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– Work Permit Issuance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Clarification Cleared</a:t>
            </a:r>
            <a:endParaRPr lang="en-US" sz="650" dirty="0"/>
          </a:p>
        </p:txBody>
      </p:sp>
      <p:sp>
        <p:nvSpPr>
          <p:cNvPr id="142" name="Shape 140"/>
          <p:cNvSpPr/>
          <p:nvPr/>
        </p:nvSpPr>
        <p:spPr>
          <a:xfrm>
            <a:off x="11287461" y="3447288"/>
            <a:ext cx="0" cy="182880"/>
          </a:xfrm>
          <a:prstGeom prst="line">
            <a:avLst/>
          </a:prstGeom>
          <a:noFill/>
          <a:ln w="19050">
            <a:solidFill>
              <a:srgbClr val="2E9E6B">
                <a:alpha val="65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077149" y="3630168"/>
            <a:ext cx="420624" cy="420624"/>
          </a:xfrm>
          <a:prstGeom prst="ellipse">
            <a:avLst/>
          </a:prstGeom>
          <a:solidFill>
            <a:srgbClr val="2E9E6B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25000"/>
              </a:srgbClr>
            </a:outerShdw>
          </a:effectLst>
        </p:spPr>
      </p:sp>
      <p:sp>
        <p:nvSpPr>
          <p:cNvPr id="144" name="Text 142"/>
          <p:cNvSpPr/>
          <p:nvPr/>
        </p:nvSpPr>
        <p:spPr>
          <a:xfrm>
            <a:off x="11077149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>
            <a:off x="9899778" y="2734056"/>
            <a:ext cx="2017597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46" name="Shape 144"/>
          <p:cNvSpPr/>
          <p:nvPr/>
        </p:nvSpPr>
        <p:spPr>
          <a:xfrm>
            <a:off x="9972930" y="2734056"/>
            <a:ext cx="1871293" cy="54864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991218" y="2807208"/>
            <a:ext cx="1834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altLang="en-US" sz="95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21 Oct 2026</a:t>
            </a:r>
            <a:endParaRPr lang="en-US" sz="950" dirty="0"/>
          </a:p>
        </p:txBody>
      </p:sp>
      <p:sp>
        <p:nvSpPr>
          <p:cNvPr id="148" name="Text 146"/>
          <p:cNvSpPr/>
          <p:nvPr/>
        </p:nvSpPr>
        <p:spPr>
          <a:xfrm>
            <a:off x="9991218" y="3054096"/>
            <a:ext cx="183471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00"/>
              </a:spcAft>
              <a:buNone/>
            </a:pPr>
            <a:r>
              <a:rPr lang="en-US" altLang="en-US" sz="6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– Work Permit Issuance</a:t>
            </a:r>
            <a:endParaRPr lang="en-US" sz="6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altLang="en-US" sz="900" b="1" dirty="0">
                <a:solidFill>
                  <a:srgbClr val="3D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Permit Ready for Signature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967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UFWL Project – Gantt Chart</dc:title>
  <dc:subject>PptxGenJS Presentation</dc:subject>
  <dc:creator>UFWL Project</dc:creator>
  <cp:lastModifiedBy>UFWL Project</cp:lastModifiedBy>
  <cp:revision>1</cp:revision>
  <dcterms:created xsi:type="dcterms:W3CDTF">2026-10-21T12:24:17Z</dcterms:created>
  <dcterms:modified xsi:type="dcterms:W3CDTF">2026-10-21T12:24:17Z</dcterms:modified>
</cp:coreProperties>
</file>