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4375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Timeline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05840"/>
            <a:ext cx="1706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43779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8686" y="1005840"/>
            <a:ext cx="2289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93208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4104" y="1005840"/>
            <a:ext cx="27669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59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6838" y="1005840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405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89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757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65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74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282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90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299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07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315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824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332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411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349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9857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63662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87461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4059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374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6374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532888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472" y="2532888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450669" y="2624328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450669" y="2624328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1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365760" y="2606040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31 Aug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65760" y="2852928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Requested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requested to implement the foundation work that removes the soil-collapse risk.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524896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1458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31458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16098" y="4233672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589250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692447" y="4325112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92447" y="4325112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2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607538" y="4306824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28 Sep 2026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07538" y="4553712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 Rejected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Permits Department rejected the work permit request.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2175734" y="2423160"/>
            <a:ext cx="0" cy="1207008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65422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9654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166936" y="1508760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1240088" y="1508760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343284" y="1600200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343284" y="160020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3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1258376" y="1581912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 Oct 2026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258376" y="1828800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Activities Suspended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Permits and Safety Department suspended all project activities on site.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2826572" y="4050792"/>
            <a:ext cx="0" cy="1207008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616260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26162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1817773" y="5257800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1890925" y="5257800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994122" y="5349240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994122" y="534924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4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1909213" y="5330952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3 Oct 2026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1909213" y="5577840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Site Visit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visit with all concerned departments (Permits, …) to assess site conditions.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3477409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267097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32670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468611" y="2532888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2541763" y="2532888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644960" y="2624328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44960" y="2624328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5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2560051" y="2606040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4 Oct 2026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2560051" y="2852928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Mitigation Plan Submitted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to the Permits Department in order to resume the work.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4128247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917935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39179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3119449" y="4233672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3192601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295797" y="4325112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295797" y="4325112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6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3210889" y="4306824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5 Oct 2026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3210889" y="4553712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Action Plan Requested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Permits Department asked for a more detailed action plan.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4779085" y="2423160"/>
            <a:ext cx="0" cy="1207008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56877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6" name="Text 84"/>
          <p:cNvSpPr/>
          <p:nvPr/>
        </p:nvSpPr>
        <p:spPr>
          <a:xfrm>
            <a:off x="45687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3770286" y="1508760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8" name="Shape 86"/>
          <p:cNvSpPr/>
          <p:nvPr/>
        </p:nvSpPr>
        <p:spPr>
          <a:xfrm>
            <a:off x="3843438" y="1508760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946635" y="1600200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946635" y="160020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7</a:t>
            </a:r>
            <a:endParaRPr lang="en-US" sz="650" dirty="0"/>
          </a:p>
        </p:txBody>
      </p:sp>
      <p:sp>
        <p:nvSpPr>
          <p:cNvPr id="91" name="Text 89"/>
          <p:cNvSpPr/>
          <p:nvPr/>
        </p:nvSpPr>
        <p:spPr>
          <a:xfrm>
            <a:off x="3861726" y="1581912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3861726" y="1828800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 (MoS) Submitted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MoS and action plan sent to all departments for review and approval.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5429922" y="4050792"/>
            <a:ext cx="0" cy="1207008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19610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52196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4421124" y="5257800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4494276" y="5257800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597473" y="5349240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597473" y="534924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8</a:t>
            </a:r>
            <a:endParaRPr lang="en-US" sz="650" dirty="0"/>
          </a:p>
        </p:txBody>
      </p:sp>
      <p:sp>
        <p:nvSpPr>
          <p:cNvPr id="100" name="Text 98"/>
          <p:cNvSpPr/>
          <p:nvPr/>
        </p:nvSpPr>
        <p:spPr>
          <a:xfrm>
            <a:off x="4512564" y="5330952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4512564" y="5577840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Meeting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the way forward; departments asked to review and approve the measures.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6080760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8704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58704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105" name="Shape 103"/>
          <p:cNvSpPr/>
          <p:nvPr/>
        </p:nvSpPr>
        <p:spPr>
          <a:xfrm>
            <a:off x="5071962" y="2532888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6" name="Shape 104"/>
          <p:cNvSpPr/>
          <p:nvPr/>
        </p:nvSpPr>
        <p:spPr>
          <a:xfrm>
            <a:off x="5145114" y="2532888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248310" y="2624328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248310" y="2624328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9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5163402" y="2606040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8 Oct 2026</a:t>
            </a:r>
            <a:endParaRPr lang="en-US" sz="900" dirty="0"/>
          </a:p>
        </p:txBody>
      </p:sp>
      <p:sp>
        <p:nvSpPr>
          <p:cNvPr id="110" name="Text 108"/>
          <p:cNvSpPr/>
          <p:nvPr/>
        </p:nvSpPr>
        <p:spPr>
          <a:xfrm>
            <a:off x="5163402" y="2852928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Clarifications Answered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Replies given on all clarifications about the proposed work and safety measures.</a:t>
            </a:r>
            <a:endParaRPr lang="en-US" sz="650" dirty="0"/>
          </a:p>
        </p:txBody>
      </p:sp>
      <p:sp>
        <p:nvSpPr>
          <p:cNvPr id="111" name="Shape 109"/>
          <p:cNvSpPr/>
          <p:nvPr/>
        </p:nvSpPr>
        <p:spPr>
          <a:xfrm>
            <a:off x="67315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65212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3" name="Text 111"/>
          <p:cNvSpPr/>
          <p:nvPr/>
        </p:nvSpPr>
        <p:spPr>
          <a:xfrm>
            <a:off x="65212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5722799" y="4233672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5" name="Shape 113"/>
          <p:cNvSpPr/>
          <p:nvPr/>
        </p:nvSpPr>
        <p:spPr>
          <a:xfrm>
            <a:off x="57959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899148" y="4325112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899148" y="4325112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10</a:t>
            </a:r>
            <a:endParaRPr lang="en-US" sz="650" dirty="0"/>
          </a:p>
        </p:txBody>
      </p:sp>
      <p:sp>
        <p:nvSpPr>
          <p:cNvPr id="118" name="Text 116"/>
          <p:cNvSpPr/>
          <p:nvPr/>
        </p:nvSpPr>
        <p:spPr>
          <a:xfrm>
            <a:off x="5814239" y="4306824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11 Oct 2026</a:t>
            </a:r>
            <a:endParaRPr lang="en-US" sz="900" dirty="0"/>
          </a:p>
        </p:txBody>
      </p:sp>
      <p:sp>
        <p:nvSpPr>
          <p:cNvPr id="119" name="Text 117"/>
          <p:cNvSpPr/>
          <p:nvPr/>
        </p:nvSpPr>
        <p:spPr>
          <a:xfrm>
            <a:off x="5814239" y="4553712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Clarification Received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Department raised a clarification on the Method Statement.</a:t>
            </a:r>
            <a:endParaRPr lang="en-US" sz="650" dirty="0"/>
          </a:p>
        </p:txBody>
      </p:sp>
      <p:sp>
        <p:nvSpPr>
          <p:cNvPr id="120" name="Shape 118"/>
          <p:cNvSpPr/>
          <p:nvPr/>
        </p:nvSpPr>
        <p:spPr>
          <a:xfrm>
            <a:off x="7382435" y="2423160"/>
            <a:ext cx="0" cy="1207008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71721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2" name="Text 120"/>
          <p:cNvSpPr/>
          <p:nvPr/>
        </p:nvSpPr>
        <p:spPr>
          <a:xfrm>
            <a:off x="71721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123" name="Shape 121"/>
          <p:cNvSpPr/>
          <p:nvPr/>
        </p:nvSpPr>
        <p:spPr>
          <a:xfrm>
            <a:off x="6373637" y="1508760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4" name="Shape 122"/>
          <p:cNvSpPr/>
          <p:nvPr/>
        </p:nvSpPr>
        <p:spPr>
          <a:xfrm>
            <a:off x="6446789" y="1508760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549986" y="1600200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7549986" y="160020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11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6465077" y="1581912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12 Oct 2026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6465077" y="1828800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2 Submitted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revision of the MoS submitted to all concerned departments.</a:t>
            </a:r>
            <a:endParaRPr lang="en-US" sz="650" dirty="0"/>
          </a:p>
        </p:txBody>
      </p:sp>
      <p:sp>
        <p:nvSpPr>
          <p:cNvPr id="129" name="Shape 127"/>
          <p:cNvSpPr/>
          <p:nvPr/>
        </p:nvSpPr>
        <p:spPr>
          <a:xfrm>
            <a:off x="8033273" y="4050792"/>
            <a:ext cx="0" cy="1207008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822961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1" name="Text 129"/>
          <p:cNvSpPr/>
          <p:nvPr/>
        </p:nvSpPr>
        <p:spPr>
          <a:xfrm>
            <a:off x="78229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132" name="Shape 130"/>
          <p:cNvSpPr/>
          <p:nvPr/>
        </p:nvSpPr>
        <p:spPr>
          <a:xfrm>
            <a:off x="7024475" y="5257800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3" name="Shape 131"/>
          <p:cNvSpPr/>
          <p:nvPr/>
        </p:nvSpPr>
        <p:spPr>
          <a:xfrm>
            <a:off x="7097627" y="5257800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200823" y="5349240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8200823" y="534924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12</a:t>
            </a:r>
            <a:endParaRPr lang="en-US" sz="650" dirty="0"/>
          </a:p>
        </p:txBody>
      </p:sp>
      <p:sp>
        <p:nvSpPr>
          <p:cNvPr id="136" name="Text 134"/>
          <p:cNvSpPr/>
          <p:nvPr/>
        </p:nvSpPr>
        <p:spPr>
          <a:xfrm>
            <a:off x="7115915" y="5330952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13 Oct 2026</a:t>
            </a:r>
            <a:endParaRPr lang="en-US" sz="900" dirty="0"/>
          </a:p>
        </p:txBody>
      </p:sp>
      <p:sp>
        <p:nvSpPr>
          <p:cNvPr id="137" name="Text 135"/>
          <p:cNvSpPr/>
          <p:nvPr/>
        </p:nvSpPr>
        <p:spPr>
          <a:xfrm>
            <a:off x="7115915" y="5577840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Department Contacted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documents shared; Safety contacted to facilitate the permit issuance.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868411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47379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0" name="Text 138"/>
          <p:cNvSpPr/>
          <p:nvPr/>
        </p:nvSpPr>
        <p:spPr>
          <a:xfrm>
            <a:off x="847379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141" name="Shape 139"/>
          <p:cNvSpPr/>
          <p:nvPr/>
        </p:nvSpPr>
        <p:spPr>
          <a:xfrm>
            <a:off x="7675312" y="2532888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2" name="Shape 140"/>
          <p:cNvSpPr/>
          <p:nvPr/>
        </p:nvSpPr>
        <p:spPr>
          <a:xfrm>
            <a:off x="7748464" y="2532888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851661" y="2624328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51661" y="2624328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13</a:t>
            </a:r>
            <a:endParaRPr lang="en-US" sz="650" dirty="0"/>
          </a:p>
        </p:txBody>
      </p:sp>
      <p:sp>
        <p:nvSpPr>
          <p:cNvPr id="145" name="Text 143"/>
          <p:cNvSpPr/>
          <p:nvPr/>
        </p:nvSpPr>
        <p:spPr>
          <a:xfrm>
            <a:off x="7766752" y="2606040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14 Oct 2026</a:t>
            </a:r>
            <a:endParaRPr lang="en-US" sz="900" dirty="0"/>
          </a:p>
        </p:txBody>
      </p:sp>
      <p:sp>
        <p:nvSpPr>
          <p:cNvPr id="146" name="Text 144"/>
          <p:cNvSpPr/>
          <p:nvPr/>
        </p:nvSpPr>
        <p:spPr>
          <a:xfrm>
            <a:off x="7766752" y="2852928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Circulated for Approvals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Permit-to-work sent to the concerned departments for their approval.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9334948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124636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9" name="Text 147"/>
          <p:cNvSpPr/>
          <p:nvPr/>
        </p:nvSpPr>
        <p:spPr>
          <a:xfrm>
            <a:off x="91246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150" name="Shape 148"/>
          <p:cNvSpPr/>
          <p:nvPr/>
        </p:nvSpPr>
        <p:spPr>
          <a:xfrm>
            <a:off x="8326150" y="4233672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51" name="Shape 149"/>
          <p:cNvSpPr/>
          <p:nvPr/>
        </p:nvSpPr>
        <p:spPr>
          <a:xfrm>
            <a:off x="8399302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9502499" y="4325112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9502499" y="4325112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14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8417590" y="4306824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15 Oct 2026</a:t>
            </a:r>
            <a:endParaRPr lang="en-US" sz="900" dirty="0"/>
          </a:p>
        </p:txBody>
      </p:sp>
      <p:sp>
        <p:nvSpPr>
          <p:cNvPr id="155" name="Text 153"/>
          <p:cNvSpPr/>
          <p:nvPr/>
        </p:nvSpPr>
        <p:spPr>
          <a:xfrm>
            <a:off x="8417590" y="4553712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Department Comments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comments received from other departments.</a:t>
            </a:r>
            <a:endParaRPr lang="en-US" sz="650" dirty="0"/>
          </a:p>
        </p:txBody>
      </p:sp>
      <p:sp>
        <p:nvSpPr>
          <p:cNvPr id="156" name="Shape 154"/>
          <p:cNvSpPr/>
          <p:nvPr/>
        </p:nvSpPr>
        <p:spPr>
          <a:xfrm>
            <a:off x="9985786" y="2423160"/>
            <a:ext cx="0" cy="1207008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775474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58" name="Text 156"/>
          <p:cNvSpPr/>
          <p:nvPr/>
        </p:nvSpPr>
        <p:spPr>
          <a:xfrm>
            <a:off x="97754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159" name="Shape 157"/>
          <p:cNvSpPr/>
          <p:nvPr/>
        </p:nvSpPr>
        <p:spPr>
          <a:xfrm>
            <a:off x="8976988" y="1508760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60" name="Shape 158"/>
          <p:cNvSpPr/>
          <p:nvPr/>
        </p:nvSpPr>
        <p:spPr>
          <a:xfrm>
            <a:off x="9050140" y="1508760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10153336" y="1600200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10153336" y="160020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15</a:t>
            </a:r>
            <a:endParaRPr lang="en-US" sz="650" dirty="0"/>
          </a:p>
        </p:txBody>
      </p:sp>
      <p:sp>
        <p:nvSpPr>
          <p:cNvPr id="163" name="Text 161"/>
          <p:cNvSpPr/>
          <p:nvPr/>
        </p:nvSpPr>
        <p:spPr>
          <a:xfrm>
            <a:off x="9068428" y="1581912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19 Oct 2026</a:t>
            </a:r>
            <a:endParaRPr lang="en-US" sz="900" dirty="0"/>
          </a:p>
        </p:txBody>
      </p:sp>
      <p:sp>
        <p:nvSpPr>
          <p:cNvPr id="164" name="Text 162"/>
          <p:cNvSpPr/>
          <p:nvPr/>
        </p:nvSpPr>
        <p:spPr>
          <a:xfrm>
            <a:off x="9068428" y="1828800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3 Submitted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revision of the MoS submitted to all for approval.</a:t>
            </a:r>
            <a:endParaRPr lang="en-US" sz="650" dirty="0"/>
          </a:p>
        </p:txBody>
      </p:sp>
      <p:sp>
        <p:nvSpPr>
          <p:cNvPr id="165" name="Shape 163"/>
          <p:cNvSpPr/>
          <p:nvPr/>
        </p:nvSpPr>
        <p:spPr>
          <a:xfrm>
            <a:off x="10636624" y="4050792"/>
            <a:ext cx="0" cy="1207008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042631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67" name="Text 165"/>
          <p:cNvSpPr/>
          <p:nvPr/>
        </p:nvSpPr>
        <p:spPr>
          <a:xfrm>
            <a:off x="1042631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168" name="Shape 166"/>
          <p:cNvSpPr/>
          <p:nvPr/>
        </p:nvSpPr>
        <p:spPr>
          <a:xfrm>
            <a:off x="9627825" y="5257800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69" name="Shape 167"/>
          <p:cNvSpPr/>
          <p:nvPr/>
        </p:nvSpPr>
        <p:spPr>
          <a:xfrm>
            <a:off x="9700977" y="5257800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804174" y="5349240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0804174" y="5349240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16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719265" y="5330952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20 Oct 2026</a:t>
            </a:r>
            <a:endParaRPr lang="en-US" sz="900" dirty="0"/>
          </a:p>
        </p:txBody>
      </p:sp>
      <p:sp>
        <p:nvSpPr>
          <p:cNvPr id="173" name="Text 171"/>
          <p:cNvSpPr/>
          <p:nvPr/>
        </p:nvSpPr>
        <p:spPr>
          <a:xfrm>
            <a:off x="9719265" y="5577840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Clarification Cleared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clarification on the Method Statement was cleared.</a:t>
            </a:r>
            <a:endParaRPr lang="en-US" sz="650" dirty="0"/>
          </a:p>
        </p:txBody>
      </p:sp>
      <p:sp>
        <p:nvSpPr>
          <p:cNvPr id="174" name="Shape 172"/>
          <p:cNvSpPr/>
          <p:nvPr/>
        </p:nvSpPr>
        <p:spPr>
          <a:xfrm>
            <a:off x="1128746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1107714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76" name="Text 174"/>
          <p:cNvSpPr/>
          <p:nvPr/>
        </p:nvSpPr>
        <p:spPr>
          <a:xfrm>
            <a:off x="110771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177" name="Shape 175"/>
          <p:cNvSpPr/>
          <p:nvPr/>
        </p:nvSpPr>
        <p:spPr>
          <a:xfrm>
            <a:off x="9899778" y="2532888"/>
            <a:ext cx="201759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78" name="Shape 176"/>
          <p:cNvSpPr/>
          <p:nvPr/>
        </p:nvSpPr>
        <p:spPr>
          <a:xfrm>
            <a:off x="9972930" y="2532888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11076127" y="2624328"/>
            <a:ext cx="749808" cy="17373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11076127" y="2624328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No. 17</a:t>
            </a:r>
            <a:endParaRPr lang="en-US" sz="650" dirty="0"/>
          </a:p>
        </p:txBody>
      </p:sp>
      <p:sp>
        <p:nvSpPr>
          <p:cNvPr id="181" name="Text 179"/>
          <p:cNvSpPr/>
          <p:nvPr/>
        </p:nvSpPr>
        <p:spPr>
          <a:xfrm>
            <a:off x="9991218" y="2606040"/>
            <a:ext cx="10391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21 Oct 2026</a:t>
            </a:r>
            <a:endParaRPr lang="en-US" sz="900" dirty="0"/>
          </a:p>
        </p:txBody>
      </p:sp>
      <p:sp>
        <p:nvSpPr>
          <p:cNvPr id="182" name="Text 180"/>
          <p:cNvSpPr/>
          <p:nvPr/>
        </p:nvSpPr>
        <p:spPr>
          <a:xfrm>
            <a:off x="9991218" y="2852928"/>
            <a:ext cx="183471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Ready for Signature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700" dirty="0">
                <a:solidFill>
                  <a:srgbClr val="444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Permit is ready to be signed and issued.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UFWL Project – Gantt Chart</dc:title>
  <dc:subject>PptxGenJS Presentation</dc:subject>
  <dc:creator>UFWL Project</dc:creator>
  <cp:lastModifiedBy>UFWL Project</cp:lastModifiedBy>
  <cp:revision>1</cp:revision>
  <dcterms:created xsi:type="dcterms:W3CDTF">2026-10-21T12:01:39Z</dcterms:created>
  <dcterms:modified xsi:type="dcterms:W3CDTF">2026-10-21T12:01:39Z</dcterms:modified>
</cp:coreProperties>
</file>