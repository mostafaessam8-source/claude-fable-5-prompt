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R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778B"/>
          </a:solidFill>
          <a:ln/>
        </p:spPr>
      </p:sp>
      <p:sp>
        <p:nvSpPr>
          <p:cNvPr id="4" name="Shape 2"/>
          <p:cNvSpPr/>
          <p:nvPr/>
        </p:nvSpPr>
        <p:spPr>
          <a:xfrm>
            <a:off x="10180015" y="868680"/>
            <a:ext cx="2011680" cy="45720"/>
          </a:xfrm>
          <a:prstGeom prst="rect">
            <a:avLst/>
          </a:prstGeom>
          <a:solidFill>
            <a:srgbClr val="3D39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2875"/>
            <a:ext cx="1051560" cy="58293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3D3935"/>
          </a:solidFill>
          <a:ln/>
        </p:spPr>
      </p:sp>
      <p:sp>
        <p:nvSpPr>
          <p:cNvPr id="7" name="Text 4"/>
          <p:cNvSpPr/>
          <p:nvPr/>
        </p:nvSpPr>
        <p:spPr>
          <a:xfrm>
            <a:off x="2681935" y="6492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الزمني لأنشطة المشروع · إيقاف الموقع وأعمال الدعم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7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-427025" y="0"/>
            <a:ext cx="6035040" cy="6858000"/>
          </a:xfrm>
          <a:prstGeom prst="parallelogram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-609905" y="0"/>
            <a:ext cx="4023360" cy="6858000"/>
          </a:xfrm>
          <a:prstGeom prst="parallelogram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065215" y="0"/>
            <a:ext cx="1005840" cy="6858000"/>
          </a:xfrm>
          <a:prstGeom prst="parallelogram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74175" y="5486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7055" y="702200"/>
            <a:ext cx="1920240" cy="10644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44975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الزمني لأنشطة المشروع</a:t>
            </a:r>
            <a:endParaRPr lang="ar-SA" sz="1500" dirty="0"/>
          </a:p>
        </p:txBody>
      </p:sp>
      <p:sp>
        <p:nvSpPr>
          <p:cNvPr id="8" name="Text 5"/>
          <p:cNvSpPr/>
          <p:nvPr/>
        </p:nvSpPr>
        <p:spPr>
          <a:xfrm>
            <a:off x="3047695" y="28346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UFWL</a:t>
            </a:r>
            <a:endParaRPr lang="ar-SA" sz="5400" dirty="0"/>
          </a:p>
        </p:txBody>
      </p:sp>
      <p:sp>
        <p:nvSpPr>
          <p:cNvPr id="9" name="Shape 6"/>
          <p:cNvSpPr/>
          <p:nvPr/>
        </p:nvSpPr>
        <p:spPr>
          <a:xfrm>
            <a:off x="9997135" y="4297680"/>
            <a:ext cx="146304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47695" y="45262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إيقاف الموقع وأعمال الدعم</a:t>
            </a:r>
            <a:endParaRPr lang="ar-SA" sz="2400" dirty="0"/>
          </a:p>
        </p:txBody>
      </p:sp>
      <p:sp>
        <p:nvSpPr>
          <p:cNvPr id="11" name="Text 8"/>
          <p:cNvSpPr/>
          <p:nvPr/>
        </p:nvSpPr>
        <p:spPr>
          <a:xfrm>
            <a:off x="3230575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أغسطس 2026  →  21 أكتوبر 2026</a:t>
            </a:r>
            <a:endParaRPr lang="ar-SA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1640" y="109728"/>
            <a:ext cx="10134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 التنفيذي</a:t>
            </a:r>
            <a:endParaRPr lang="ar-SA" sz="2400" dirty="0"/>
          </a:p>
        </p:txBody>
      </p:sp>
      <p:sp>
        <p:nvSpPr>
          <p:cNvPr id="3" name="Text 1"/>
          <p:cNvSpPr/>
          <p:nvPr/>
        </p:nvSpPr>
        <p:spPr>
          <a:xfrm>
            <a:off x="1691640" y="548640"/>
            <a:ext cx="10134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UFWL – مخطط جانت</a:t>
            </a:r>
            <a:endParaRPr lang="ar-SA" sz="1200" dirty="0"/>
          </a:p>
        </p:txBody>
      </p:sp>
      <p:sp>
        <p:nvSpPr>
          <p:cNvPr id="4" name="Shape 2"/>
          <p:cNvSpPr/>
          <p:nvPr/>
        </p:nvSpPr>
        <p:spPr>
          <a:xfrm>
            <a:off x="9067648" y="12344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67648" y="2926080"/>
            <a:ext cx="2697480" cy="91440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50528" y="1325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ar-SA" sz="4800" dirty="0"/>
          </a:p>
        </p:txBody>
      </p:sp>
      <p:sp>
        <p:nvSpPr>
          <p:cNvPr id="7" name="Text 5"/>
          <p:cNvSpPr/>
          <p:nvPr/>
        </p:nvSpPr>
        <p:spPr>
          <a:xfrm>
            <a:off x="9250528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· من طلب التصريح حتى جاهزيته</a:t>
            </a:r>
            <a:endParaRPr lang="ar-SA" sz="1200" dirty="0"/>
          </a:p>
        </p:txBody>
      </p:sp>
      <p:sp>
        <p:nvSpPr>
          <p:cNvPr id="8" name="Shape 6"/>
          <p:cNvSpPr/>
          <p:nvPr/>
        </p:nvSpPr>
        <p:spPr>
          <a:xfrm>
            <a:off x="6187288" y="12344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87288" y="2926080"/>
            <a:ext cx="2697480" cy="91440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70168" y="1325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ar-SA" sz="4800" dirty="0"/>
          </a:p>
        </p:txBody>
      </p:sp>
      <p:sp>
        <p:nvSpPr>
          <p:cNvPr id="11" name="Text 9"/>
          <p:cNvSpPr/>
          <p:nvPr/>
        </p:nvSpPr>
        <p:spPr>
          <a:xfrm>
            <a:off x="6370168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· من الإيقاف حتى جاهزية التصريح</a:t>
            </a:r>
            <a:endParaRPr lang="ar-SA" sz="1200" dirty="0"/>
          </a:p>
        </p:txBody>
      </p:sp>
      <p:sp>
        <p:nvSpPr>
          <p:cNvPr id="12" name="Shape 10"/>
          <p:cNvSpPr/>
          <p:nvPr/>
        </p:nvSpPr>
        <p:spPr>
          <a:xfrm>
            <a:off x="3306928" y="12344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06928" y="2926080"/>
            <a:ext cx="2697480" cy="91440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89808" y="1325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ar-SA" sz="4800" dirty="0"/>
          </a:p>
        </p:txBody>
      </p:sp>
      <p:sp>
        <p:nvSpPr>
          <p:cNvPr id="15" name="Text 13"/>
          <p:cNvSpPr/>
          <p:nvPr/>
        </p:nvSpPr>
        <p:spPr>
          <a:xfrm>
            <a:off x="3489808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ميل ستون</a:t>
            </a:r>
            <a:endParaRPr lang="ar-SA" sz="1200" dirty="0"/>
          </a:p>
        </p:txBody>
      </p:sp>
      <p:sp>
        <p:nvSpPr>
          <p:cNvPr id="16" name="Shape 14"/>
          <p:cNvSpPr/>
          <p:nvPr/>
        </p:nvSpPr>
        <p:spPr>
          <a:xfrm>
            <a:off x="426568" y="1234440"/>
            <a:ext cx="26974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FE6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6568" y="2926080"/>
            <a:ext cx="2697480" cy="914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9448" y="1325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480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4800" dirty="0"/>
          </a:p>
        </p:txBody>
      </p:sp>
      <p:sp>
        <p:nvSpPr>
          <p:cNvPr id="19" name="Text 17"/>
          <p:cNvSpPr/>
          <p:nvPr/>
        </p:nvSpPr>
        <p:spPr>
          <a:xfrm>
            <a:off x="609448" y="2194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مراحل (مستوى WBS 1)</a:t>
            </a:r>
            <a:endParaRPr lang="ar-SA" sz="1200" dirty="0"/>
          </a:p>
        </p:txBody>
      </p:sp>
      <p:sp>
        <p:nvSpPr>
          <p:cNvPr id="20" name="Text 18"/>
          <p:cNvSpPr/>
          <p:nvPr/>
        </p:nvSpPr>
        <p:spPr>
          <a:xfrm>
            <a:off x="4449928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الأيام المنقضية لكل مرحلة</a:t>
            </a:r>
            <a:endParaRPr lang="ar-SA" sz="1600" dirty="0"/>
          </a:p>
        </p:txBody>
      </p:sp>
      <p:sp>
        <p:nvSpPr>
          <p:cNvPr id="21" name="Shape 19"/>
          <p:cNvSpPr/>
          <p:nvPr/>
        </p:nvSpPr>
        <p:spPr>
          <a:xfrm>
            <a:off x="4873062" y="3749040"/>
            <a:ext cx="6855490" cy="640080"/>
          </a:xfrm>
          <a:prstGeom prst="rect">
            <a:avLst/>
          </a:prstGeom>
          <a:solidFill>
            <a:srgbClr val="7A87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9638" y="3749040"/>
            <a:ext cx="685549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ar-SA" sz="2000" dirty="0"/>
          </a:p>
        </p:txBody>
      </p:sp>
      <p:sp>
        <p:nvSpPr>
          <p:cNvPr id="23" name="Text 21"/>
          <p:cNvSpPr/>
          <p:nvPr/>
        </p:nvSpPr>
        <p:spPr>
          <a:xfrm>
            <a:off x="4955358" y="4434840"/>
            <a:ext cx="6782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الخلفية – طلب التصريح</a:t>
            </a:r>
            <a:endParaRPr lang="ar-SA" sz="1050" dirty="0"/>
          </a:p>
        </p:txBody>
      </p:sp>
      <p:sp>
        <p:nvSpPr>
          <p:cNvPr id="24" name="Text 22"/>
          <p:cNvSpPr/>
          <p:nvPr/>
        </p:nvSpPr>
        <p:spPr>
          <a:xfrm>
            <a:off x="4955358" y="4937760"/>
            <a:ext cx="6782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يوم</a:t>
            </a:r>
            <a:endParaRPr lang="ar-SA" sz="1000" dirty="0"/>
          </a:p>
        </p:txBody>
      </p:sp>
      <p:sp>
        <p:nvSpPr>
          <p:cNvPr id="25" name="Shape 23"/>
          <p:cNvSpPr/>
          <p:nvPr/>
        </p:nvSpPr>
        <p:spPr>
          <a:xfrm>
            <a:off x="3539113" y="3749040"/>
            <a:ext cx="1297372" cy="640080"/>
          </a:xfrm>
          <a:prstGeom prst="rect">
            <a:avLst/>
          </a:prstGeom>
          <a:solidFill>
            <a:srgbClr val="C8503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5689" y="3749040"/>
            <a:ext cx="1297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2000" dirty="0"/>
          </a:p>
        </p:txBody>
      </p:sp>
      <p:sp>
        <p:nvSpPr>
          <p:cNvPr id="27" name="Text 25"/>
          <p:cNvSpPr/>
          <p:nvPr/>
        </p:nvSpPr>
        <p:spPr>
          <a:xfrm>
            <a:off x="3621409" y="4434840"/>
            <a:ext cx="1224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1 – الإيقاف وتقييم الموقع</a:t>
            </a:r>
            <a:endParaRPr lang="ar-SA" sz="1050" dirty="0"/>
          </a:p>
        </p:txBody>
      </p:sp>
      <p:sp>
        <p:nvSpPr>
          <p:cNvPr id="28" name="Text 26"/>
          <p:cNvSpPr/>
          <p:nvPr/>
        </p:nvSpPr>
        <p:spPr>
          <a:xfrm>
            <a:off x="3621409" y="4937760"/>
            <a:ext cx="122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يوم</a:t>
            </a:r>
            <a:endParaRPr lang="ar-SA" sz="1000" dirty="0"/>
          </a:p>
        </p:txBody>
      </p:sp>
      <p:sp>
        <p:nvSpPr>
          <p:cNvPr id="29" name="Shape 27"/>
          <p:cNvSpPr/>
          <p:nvPr/>
        </p:nvSpPr>
        <p:spPr>
          <a:xfrm>
            <a:off x="2205165" y="3749040"/>
            <a:ext cx="1297372" cy="640080"/>
          </a:xfrm>
          <a:prstGeom prst="rect">
            <a:avLst/>
          </a:prstGeom>
          <a:solidFill>
            <a:srgbClr val="0077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1741" y="3749040"/>
            <a:ext cx="1297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2000" dirty="0"/>
          </a:p>
        </p:txBody>
      </p:sp>
      <p:sp>
        <p:nvSpPr>
          <p:cNvPr id="31" name="Text 29"/>
          <p:cNvSpPr/>
          <p:nvPr/>
        </p:nvSpPr>
        <p:spPr>
          <a:xfrm>
            <a:off x="2287461" y="4434840"/>
            <a:ext cx="12242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2 – إعداد ومراجعة بيان طريقة العمل</a:t>
            </a:r>
            <a:endParaRPr lang="ar-SA" sz="1050" dirty="0"/>
          </a:p>
        </p:txBody>
      </p:sp>
      <p:sp>
        <p:nvSpPr>
          <p:cNvPr id="32" name="Text 30"/>
          <p:cNvSpPr/>
          <p:nvPr/>
        </p:nvSpPr>
        <p:spPr>
          <a:xfrm>
            <a:off x="2287461" y="4937760"/>
            <a:ext cx="1224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يوم</a:t>
            </a:r>
            <a:endParaRPr lang="ar-SA" sz="1000" dirty="0"/>
          </a:p>
        </p:txBody>
      </p:sp>
      <p:sp>
        <p:nvSpPr>
          <p:cNvPr id="33" name="Shape 31"/>
          <p:cNvSpPr/>
          <p:nvPr/>
        </p:nvSpPr>
        <p:spPr>
          <a:xfrm>
            <a:off x="426568" y="3749040"/>
            <a:ext cx="1742022" cy="640080"/>
          </a:xfrm>
          <a:prstGeom prst="rect">
            <a:avLst/>
          </a:prstGeom>
          <a:solidFill>
            <a:srgbClr val="2E9E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144" y="3749040"/>
            <a:ext cx="17420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ar-SA" sz="2000" dirty="0"/>
          </a:p>
        </p:txBody>
      </p:sp>
      <p:sp>
        <p:nvSpPr>
          <p:cNvPr id="35" name="Text 33"/>
          <p:cNvSpPr/>
          <p:nvPr/>
        </p:nvSpPr>
        <p:spPr>
          <a:xfrm>
            <a:off x="508864" y="4434840"/>
            <a:ext cx="16688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5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3 – إصدار تصريح العمل</a:t>
            </a:r>
            <a:endParaRPr lang="ar-SA" sz="1050" dirty="0"/>
          </a:p>
        </p:txBody>
      </p:sp>
      <p:sp>
        <p:nvSpPr>
          <p:cNvPr id="36" name="Text 34"/>
          <p:cNvSpPr/>
          <p:nvPr/>
        </p:nvSpPr>
        <p:spPr>
          <a:xfrm>
            <a:off x="508864" y="4937760"/>
            <a:ext cx="1668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يوم</a:t>
            </a:r>
            <a:endParaRPr lang="ar-SA" sz="1000" dirty="0"/>
          </a:p>
        </p:txBody>
      </p:sp>
      <p:sp>
        <p:nvSpPr>
          <p:cNvPr id="37" name="Shape 35"/>
          <p:cNvSpPr/>
          <p:nvPr/>
        </p:nvSpPr>
        <p:spPr>
          <a:xfrm>
            <a:off x="426568" y="5532120"/>
            <a:ext cx="11338560" cy="731520"/>
          </a:xfrm>
          <a:prstGeom prst="roundRect">
            <a:avLst>
              <a:gd name="adj" fmla="val 10000"/>
            </a:avLst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253064" y="5779008"/>
            <a:ext cx="237744" cy="237744"/>
          </a:xfrm>
          <a:prstGeom prst="ellipse">
            <a:avLst/>
          </a:prstGeom>
          <a:solidFill>
            <a:srgbClr val="2E9E6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448" y="55595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000" b="1" dirty="0">
                <a:solidFill>
                  <a:srgbClr val="B8C4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آخر ميل ستون</a:t>
            </a:r>
            <a:endParaRPr lang="ar-SA" sz="1000" dirty="0"/>
          </a:p>
        </p:txBody>
      </p:sp>
      <p:sp>
        <p:nvSpPr>
          <p:cNvPr id="40" name="Text 38"/>
          <p:cNvSpPr/>
          <p:nvPr/>
        </p:nvSpPr>
        <p:spPr>
          <a:xfrm>
            <a:off x="609448" y="581558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أكتوبر – تصريح العمل جاهز للتوقيع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1640" y="109728"/>
            <a:ext cx="10134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مخطط جانت</a:t>
            </a:r>
            <a:endParaRPr lang="ar-SA" sz="2400" dirty="0"/>
          </a:p>
        </p:txBody>
      </p:sp>
      <p:sp>
        <p:nvSpPr>
          <p:cNvPr id="3" name="Text 1"/>
          <p:cNvSpPr/>
          <p:nvPr/>
        </p:nvSpPr>
        <p:spPr>
          <a:xfrm>
            <a:off x="1691640" y="548640"/>
            <a:ext cx="10134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الجدول الزمني لأنشطة المشروع · إيقاف الموقع وأعمال الدعم</a:t>
            </a:r>
            <a:endParaRPr lang="ar-SA" sz="1200" dirty="0"/>
          </a:p>
        </p:txBody>
      </p:sp>
      <p:sp>
        <p:nvSpPr>
          <p:cNvPr id="4" name="Shape 2"/>
          <p:cNvSpPr/>
          <p:nvPr/>
        </p:nvSpPr>
        <p:spPr>
          <a:xfrm>
            <a:off x="11569903" y="109728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23499" y="1033272"/>
            <a:ext cx="891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الخلفية</a:t>
            </a:r>
            <a:endParaRPr lang="ar-SA" sz="950" dirty="0"/>
          </a:p>
        </p:txBody>
      </p:sp>
      <p:sp>
        <p:nvSpPr>
          <p:cNvPr id="6" name="Shape 4"/>
          <p:cNvSpPr/>
          <p:nvPr/>
        </p:nvSpPr>
        <p:spPr>
          <a:xfrm>
            <a:off x="10358323" y="109728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74759" y="1033272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1</a:t>
            </a:r>
            <a:endParaRPr lang="ar-SA" sz="950" dirty="0"/>
          </a:p>
        </p:txBody>
      </p:sp>
      <p:sp>
        <p:nvSpPr>
          <p:cNvPr id="8" name="Shape 6"/>
          <p:cNvSpPr/>
          <p:nvPr/>
        </p:nvSpPr>
        <p:spPr>
          <a:xfrm>
            <a:off x="9009583" y="109728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6019" y="1033272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2</a:t>
            </a:r>
            <a:endParaRPr lang="ar-SA" sz="950" dirty="0"/>
          </a:p>
        </p:txBody>
      </p:sp>
      <p:sp>
        <p:nvSpPr>
          <p:cNvPr id="10" name="Shape 8"/>
          <p:cNvSpPr/>
          <p:nvPr/>
        </p:nvSpPr>
        <p:spPr>
          <a:xfrm>
            <a:off x="7660843" y="109728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7279" y="1033272"/>
            <a:ext cx="1028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3</a:t>
            </a:r>
            <a:endParaRPr lang="ar-SA" sz="950" dirty="0"/>
          </a:p>
        </p:txBody>
      </p:sp>
      <p:sp>
        <p:nvSpPr>
          <p:cNvPr id="12" name="Shape 10"/>
          <p:cNvSpPr/>
          <p:nvPr/>
        </p:nvSpPr>
        <p:spPr>
          <a:xfrm>
            <a:off x="6440119" y="1088136"/>
            <a:ext cx="128016" cy="128016"/>
          </a:xfrm>
          <a:prstGeom prst="diamond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7975" y="10332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ميل ستون</a:t>
            </a:r>
            <a:endParaRPr lang="ar-SA" sz="950" dirty="0"/>
          </a:p>
        </p:txBody>
      </p:sp>
      <p:sp>
        <p:nvSpPr>
          <p:cNvPr id="14" name="Shape 12"/>
          <p:cNvSpPr/>
          <p:nvPr/>
        </p:nvSpPr>
        <p:spPr>
          <a:xfrm>
            <a:off x="7482535" y="1371600"/>
            <a:ext cx="4343400" cy="539496"/>
          </a:xfrm>
          <a:prstGeom prst="rect">
            <a:avLst/>
          </a:prstGeom>
          <a:solidFill>
            <a:srgbClr val="3D3935"/>
          </a:solidFill>
          <a:ln w="12700">
            <a:solidFill>
              <a:srgbClr val="3D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19695" y="1371600"/>
            <a:ext cx="4069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النشاط / الميل ستون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6879419" y="1371600"/>
            <a:ext cx="603117" cy="201168"/>
          </a:xfrm>
          <a:prstGeom prst="rect">
            <a:avLst/>
          </a:prstGeom>
          <a:solidFill>
            <a:srgbClr val="DCE8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9419" y="1371600"/>
            <a:ext cx="6031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أغسطس</a:t>
            </a:r>
            <a:endParaRPr lang="ar-SA" sz="900" dirty="0"/>
          </a:p>
        </p:txBody>
      </p:sp>
      <p:sp>
        <p:nvSpPr>
          <p:cNvPr id="18" name="Shape 16"/>
          <p:cNvSpPr/>
          <p:nvPr/>
        </p:nvSpPr>
        <p:spPr>
          <a:xfrm>
            <a:off x="3260719" y="1371600"/>
            <a:ext cx="3618699" cy="201168"/>
          </a:xfrm>
          <a:prstGeom prst="rect">
            <a:avLst/>
          </a:prstGeom>
          <a:solidFill>
            <a:srgbClr val="DCE8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0719" y="1371600"/>
            <a:ext cx="36186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سبتمبر 2026</a:t>
            </a:r>
            <a:endParaRPr lang="ar-SA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371600"/>
            <a:ext cx="2894959" cy="201168"/>
          </a:xfrm>
          <a:prstGeom prst="rect">
            <a:avLst/>
          </a:prstGeom>
          <a:solidFill>
            <a:srgbClr val="DCE8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371600"/>
            <a:ext cx="289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9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أكتوبر 2026</a:t>
            </a:r>
            <a:endParaRPr lang="ar-SA" sz="900" dirty="0"/>
          </a:p>
        </p:txBody>
      </p:sp>
      <p:sp>
        <p:nvSpPr>
          <p:cNvPr id="22" name="Shape 20"/>
          <p:cNvSpPr/>
          <p:nvPr/>
        </p:nvSpPr>
        <p:spPr>
          <a:xfrm>
            <a:off x="736191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191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24" name="Text 22"/>
          <p:cNvSpPr/>
          <p:nvPr/>
        </p:nvSpPr>
        <p:spPr>
          <a:xfrm>
            <a:off x="736191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ar-SA" sz="650" dirty="0"/>
          </a:p>
        </p:txBody>
      </p:sp>
      <p:sp>
        <p:nvSpPr>
          <p:cNvPr id="25" name="Shape 23"/>
          <p:cNvSpPr/>
          <p:nvPr/>
        </p:nvSpPr>
        <p:spPr>
          <a:xfrm>
            <a:off x="7241289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128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27" name="Text 25"/>
          <p:cNvSpPr/>
          <p:nvPr/>
        </p:nvSpPr>
        <p:spPr>
          <a:xfrm>
            <a:off x="724128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ar-SA" sz="650" dirty="0"/>
          </a:p>
        </p:txBody>
      </p:sp>
      <p:sp>
        <p:nvSpPr>
          <p:cNvPr id="28" name="Shape 26"/>
          <p:cNvSpPr/>
          <p:nvPr/>
        </p:nvSpPr>
        <p:spPr>
          <a:xfrm>
            <a:off x="7241289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20665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20665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31" name="Text 29"/>
          <p:cNvSpPr/>
          <p:nvPr/>
        </p:nvSpPr>
        <p:spPr>
          <a:xfrm>
            <a:off x="7120665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ar-SA" sz="650" dirty="0"/>
          </a:p>
        </p:txBody>
      </p:sp>
      <p:sp>
        <p:nvSpPr>
          <p:cNvPr id="32" name="Shape 30"/>
          <p:cNvSpPr/>
          <p:nvPr/>
        </p:nvSpPr>
        <p:spPr>
          <a:xfrm>
            <a:off x="7120665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0004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004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" dirty="0"/>
          </a:p>
        </p:txBody>
      </p:sp>
      <p:sp>
        <p:nvSpPr>
          <p:cNvPr id="35" name="Text 33"/>
          <p:cNvSpPr/>
          <p:nvPr/>
        </p:nvSpPr>
        <p:spPr>
          <a:xfrm>
            <a:off x="700004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ar-SA" sz="650" dirty="0"/>
          </a:p>
        </p:txBody>
      </p:sp>
      <p:sp>
        <p:nvSpPr>
          <p:cNvPr id="36" name="Shape 34"/>
          <p:cNvSpPr/>
          <p:nvPr/>
        </p:nvSpPr>
        <p:spPr>
          <a:xfrm>
            <a:off x="7120665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7941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941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" dirty="0"/>
          </a:p>
        </p:txBody>
      </p:sp>
      <p:sp>
        <p:nvSpPr>
          <p:cNvPr id="39" name="Text 37"/>
          <p:cNvSpPr/>
          <p:nvPr/>
        </p:nvSpPr>
        <p:spPr>
          <a:xfrm>
            <a:off x="687941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ar-SA" sz="650" dirty="0"/>
          </a:p>
        </p:txBody>
      </p:sp>
      <p:sp>
        <p:nvSpPr>
          <p:cNvPr id="40" name="Shape 38"/>
          <p:cNvSpPr/>
          <p:nvPr/>
        </p:nvSpPr>
        <p:spPr>
          <a:xfrm>
            <a:off x="6758795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58795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" dirty="0"/>
          </a:p>
        </p:txBody>
      </p:sp>
      <p:sp>
        <p:nvSpPr>
          <p:cNvPr id="42" name="Text 40"/>
          <p:cNvSpPr/>
          <p:nvPr/>
        </p:nvSpPr>
        <p:spPr>
          <a:xfrm>
            <a:off x="6758795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650" dirty="0"/>
          </a:p>
        </p:txBody>
      </p:sp>
      <p:sp>
        <p:nvSpPr>
          <p:cNvPr id="43" name="Shape 41"/>
          <p:cNvSpPr/>
          <p:nvPr/>
        </p:nvSpPr>
        <p:spPr>
          <a:xfrm>
            <a:off x="663817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3817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" dirty="0"/>
          </a:p>
        </p:txBody>
      </p:sp>
      <p:sp>
        <p:nvSpPr>
          <p:cNvPr id="45" name="Text 43"/>
          <p:cNvSpPr/>
          <p:nvPr/>
        </p:nvSpPr>
        <p:spPr>
          <a:xfrm>
            <a:off x="663817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650" dirty="0"/>
          </a:p>
        </p:txBody>
      </p:sp>
      <p:sp>
        <p:nvSpPr>
          <p:cNvPr id="46" name="Shape 44"/>
          <p:cNvSpPr/>
          <p:nvPr/>
        </p:nvSpPr>
        <p:spPr>
          <a:xfrm>
            <a:off x="651754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754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48" name="Text 46"/>
          <p:cNvSpPr/>
          <p:nvPr/>
        </p:nvSpPr>
        <p:spPr>
          <a:xfrm>
            <a:off x="651754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650" dirty="0"/>
          </a:p>
        </p:txBody>
      </p:sp>
      <p:sp>
        <p:nvSpPr>
          <p:cNvPr id="49" name="Shape 47"/>
          <p:cNvSpPr/>
          <p:nvPr/>
        </p:nvSpPr>
        <p:spPr>
          <a:xfrm>
            <a:off x="6396925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96925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51" name="Text 49"/>
          <p:cNvSpPr/>
          <p:nvPr/>
        </p:nvSpPr>
        <p:spPr>
          <a:xfrm>
            <a:off x="6396925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650" dirty="0"/>
          </a:p>
        </p:txBody>
      </p:sp>
      <p:sp>
        <p:nvSpPr>
          <p:cNvPr id="52" name="Shape 50"/>
          <p:cNvSpPr/>
          <p:nvPr/>
        </p:nvSpPr>
        <p:spPr>
          <a:xfrm>
            <a:off x="6396925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76302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7630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55" name="Text 53"/>
          <p:cNvSpPr/>
          <p:nvPr/>
        </p:nvSpPr>
        <p:spPr>
          <a:xfrm>
            <a:off x="627630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650" dirty="0"/>
          </a:p>
        </p:txBody>
      </p:sp>
      <p:sp>
        <p:nvSpPr>
          <p:cNvPr id="56" name="Shape 54"/>
          <p:cNvSpPr/>
          <p:nvPr/>
        </p:nvSpPr>
        <p:spPr>
          <a:xfrm>
            <a:off x="6276302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15567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5567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" dirty="0"/>
          </a:p>
        </p:txBody>
      </p:sp>
      <p:sp>
        <p:nvSpPr>
          <p:cNvPr id="59" name="Text 57"/>
          <p:cNvSpPr/>
          <p:nvPr/>
        </p:nvSpPr>
        <p:spPr>
          <a:xfrm>
            <a:off x="615567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650" dirty="0"/>
          </a:p>
        </p:txBody>
      </p:sp>
      <p:sp>
        <p:nvSpPr>
          <p:cNvPr id="60" name="Shape 58"/>
          <p:cNvSpPr/>
          <p:nvPr/>
        </p:nvSpPr>
        <p:spPr>
          <a:xfrm>
            <a:off x="6276302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35055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35055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" dirty="0"/>
          </a:p>
        </p:txBody>
      </p:sp>
      <p:sp>
        <p:nvSpPr>
          <p:cNvPr id="63" name="Text 61"/>
          <p:cNvSpPr/>
          <p:nvPr/>
        </p:nvSpPr>
        <p:spPr>
          <a:xfrm>
            <a:off x="6035055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ar-SA" sz="650" dirty="0"/>
          </a:p>
        </p:txBody>
      </p:sp>
      <p:sp>
        <p:nvSpPr>
          <p:cNvPr id="64" name="Shape 62"/>
          <p:cNvSpPr/>
          <p:nvPr/>
        </p:nvSpPr>
        <p:spPr>
          <a:xfrm>
            <a:off x="591443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1443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" dirty="0"/>
          </a:p>
        </p:txBody>
      </p:sp>
      <p:sp>
        <p:nvSpPr>
          <p:cNvPr id="66" name="Text 64"/>
          <p:cNvSpPr/>
          <p:nvPr/>
        </p:nvSpPr>
        <p:spPr>
          <a:xfrm>
            <a:off x="591443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ar-SA" sz="650" dirty="0"/>
          </a:p>
        </p:txBody>
      </p:sp>
      <p:sp>
        <p:nvSpPr>
          <p:cNvPr id="67" name="Shape 65"/>
          <p:cNvSpPr/>
          <p:nvPr/>
        </p:nvSpPr>
        <p:spPr>
          <a:xfrm>
            <a:off x="579380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9380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" dirty="0"/>
          </a:p>
        </p:txBody>
      </p:sp>
      <p:sp>
        <p:nvSpPr>
          <p:cNvPr id="69" name="Text 67"/>
          <p:cNvSpPr/>
          <p:nvPr/>
        </p:nvSpPr>
        <p:spPr>
          <a:xfrm>
            <a:off x="579380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ar-SA" sz="650" dirty="0"/>
          </a:p>
        </p:txBody>
      </p:sp>
      <p:sp>
        <p:nvSpPr>
          <p:cNvPr id="70" name="Shape 68"/>
          <p:cNvSpPr/>
          <p:nvPr/>
        </p:nvSpPr>
        <p:spPr>
          <a:xfrm>
            <a:off x="567318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7318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72" name="Text 70"/>
          <p:cNvSpPr/>
          <p:nvPr/>
        </p:nvSpPr>
        <p:spPr>
          <a:xfrm>
            <a:off x="567318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ar-SA" sz="650" dirty="0"/>
          </a:p>
        </p:txBody>
      </p:sp>
      <p:sp>
        <p:nvSpPr>
          <p:cNvPr id="73" name="Shape 71"/>
          <p:cNvSpPr/>
          <p:nvPr/>
        </p:nvSpPr>
        <p:spPr>
          <a:xfrm>
            <a:off x="5552562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55256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75" name="Text 73"/>
          <p:cNvSpPr/>
          <p:nvPr/>
        </p:nvSpPr>
        <p:spPr>
          <a:xfrm>
            <a:off x="555256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ar-SA" sz="650" dirty="0"/>
          </a:p>
        </p:txBody>
      </p:sp>
      <p:sp>
        <p:nvSpPr>
          <p:cNvPr id="76" name="Shape 74"/>
          <p:cNvSpPr/>
          <p:nvPr/>
        </p:nvSpPr>
        <p:spPr>
          <a:xfrm>
            <a:off x="5552562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431939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3193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79" name="Text 77"/>
          <p:cNvSpPr/>
          <p:nvPr/>
        </p:nvSpPr>
        <p:spPr>
          <a:xfrm>
            <a:off x="543193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ar-SA" sz="650" dirty="0"/>
          </a:p>
        </p:txBody>
      </p:sp>
      <p:sp>
        <p:nvSpPr>
          <p:cNvPr id="80" name="Shape 78"/>
          <p:cNvSpPr/>
          <p:nvPr/>
        </p:nvSpPr>
        <p:spPr>
          <a:xfrm>
            <a:off x="5431939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31131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1131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" dirty="0"/>
          </a:p>
        </p:txBody>
      </p:sp>
      <p:sp>
        <p:nvSpPr>
          <p:cNvPr id="83" name="Text 81"/>
          <p:cNvSpPr/>
          <p:nvPr/>
        </p:nvSpPr>
        <p:spPr>
          <a:xfrm>
            <a:off x="531131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ar-SA" sz="650" dirty="0"/>
          </a:p>
        </p:txBody>
      </p:sp>
      <p:sp>
        <p:nvSpPr>
          <p:cNvPr id="84" name="Shape 82"/>
          <p:cNvSpPr/>
          <p:nvPr/>
        </p:nvSpPr>
        <p:spPr>
          <a:xfrm>
            <a:off x="5431939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19069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9069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" dirty="0"/>
          </a:p>
        </p:txBody>
      </p:sp>
      <p:sp>
        <p:nvSpPr>
          <p:cNvPr id="87" name="Text 85"/>
          <p:cNvSpPr/>
          <p:nvPr/>
        </p:nvSpPr>
        <p:spPr>
          <a:xfrm>
            <a:off x="519069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ar-SA" sz="650" dirty="0"/>
          </a:p>
        </p:txBody>
      </p:sp>
      <p:sp>
        <p:nvSpPr>
          <p:cNvPr id="88" name="Shape 86"/>
          <p:cNvSpPr/>
          <p:nvPr/>
        </p:nvSpPr>
        <p:spPr>
          <a:xfrm>
            <a:off x="507006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07006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" dirty="0"/>
          </a:p>
        </p:txBody>
      </p:sp>
      <p:sp>
        <p:nvSpPr>
          <p:cNvPr id="90" name="Text 88"/>
          <p:cNvSpPr/>
          <p:nvPr/>
        </p:nvSpPr>
        <p:spPr>
          <a:xfrm>
            <a:off x="507006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ar-SA" sz="650" dirty="0"/>
          </a:p>
        </p:txBody>
      </p:sp>
      <p:sp>
        <p:nvSpPr>
          <p:cNvPr id="91" name="Shape 89"/>
          <p:cNvSpPr/>
          <p:nvPr/>
        </p:nvSpPr>
        <p:spPr>
          <a:xfrm>
            <a:off x="494944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4944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" dirty="0"/>
          </a:p>
        </p:txBody>
      </p:sp>
      <p:sp>
        <p:nvSpPr>
          <p:cNvPr id="93" name="Text 91"/>
          <p:cNvSpPr/>
          <p:nvPr/>
        </p:nvSpPr>
        <p:spPr>
          <a:xfrm>
            <a:off x="494944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ar-SA" sz="650" dirty="0"/>
          </a:p>
        </p:txBody>
      </p:sp>
      <p:sp>
        <p:nvSpPr>
          <p:cNvPr id="94" name="Shape 92"/>
          <p:cNvSpPr/>
          <p:nvPr/>
        </p:nvSpPr>
        <p:spPr>
          <a:xfrm>
            <a:off x="482882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82882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96" name="Text 94"/>
          <p:cNvSpPr/>
          <p:nvPr/>
        </p:nvSpPr>
        <p:spPr>
          <a:xfrm>
            <a:off x="482882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ar-SA" sz="650" dirty="0"/>
          </a:p>
        </p:txBody>
      </p:sp>
      <p:sp>
        <p:nvSpPr>
          <p:cNvPr id="97" name="Shape 95"/>
          <p:cNvSpPr/>
          <p:nvPr/>
        </p:nvSpPr>
        <p:spPr>
          <a:xfrm>
            <a:off x="4708199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70819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99" name="Text 97"/>
          <p:cNvSpPr/>
          <p:nvPr/>
        </p:nvSpPr>
        <p:spPr>
          <a:xfrm>
            <a:off x="470819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ar-SA" sz="650" dirty="0"/>
          </a:p>
        </p:txBody>
      </p:sp>
      <p:sp>
        <p:nvSpPr>
          <p:cNvPr id="100" name="Shape 98"/>
          <p:cNvSpPr/>
          <p:nvPr/>
        </p:nvSpPr>
        <p:spPr>
          <a:xfrm>
            <a:off x="4708199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587576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58757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103" name="Text 101"/>
          <p:cNvSpPr/>
          <p:nvPr/>
        </p:nvSpPr>
        <p:spPr>
          <a:xfrm>
            <a:off x="458757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ar-SA" sz="650" dirty="0"/>
          </a:p>
        </p:txBody>
      </p:sp>
      <p:sp>
        <p:nvSpPr>
          <p:cNvPr id="104" name="Shape 102"/>
          <p:cNvSpPr/>
          <p:nvPr/>
        </p:nvSpPr>
        <p:spPr>
          <a:xfrm>
            <a:off x="4587576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66952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466952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" dirty="0"/>
          </a:p>
        </p:txBody>
      </p:sp>
      <p:sp>
        <p:nvSpPr>
          <p:cNvPr id="107" name="Text 105"/>
          <p:cNvSpPr/>
          <p:nvPr/>
        </p:nvSpPr>
        <p:spPr>
          <a:xfrm>
            <a:off x="4466952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ar-SA" sz="650" dirty="0"/>
          </a:p>
        </p:txBody>
      </p:sp>
      <p:sp>
        <p:nvSpPr>
          <p:cNvPr id="108" name="Shape 106"/>
          <p:cNvSpPr/>
          <p:nvPr/>
        </p:nvSpPr>
        <p:spPr>
          <a:xfrm>
            <a:off x="4587576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34632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34632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" dirty="0"/>
          </a:p>
        </p:txBody>
      </p:sp>
      <p:sp>
        <p:nvSpPr>
          <p:cNvPr id="111" name="Text 109"/>
          <p:cNvSpPr/>
          <p:nvPr/>
        </p:nvSpPr>
        <p:spPr>
          <a:xfrm>
            <a:off x="434632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ar-SA" sz="650" dirty="0"/>
          </a:p>
        </p:txBody>
      </p:sp>
      <p:sp>
        <p:nvSpPr>
          <p:cNvPr id="112" name="Shape 110"/>
          <p:cNvSpPr/>
          <p:nvPr/>
        </p:nvSpPr>
        <p:spPr>
          <a:xfrm>
            <a:off x="422570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2570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" dirty="0"/>
          </a:p>
        </p:txBody>
      </p:sp>
      <p:sp>
        <p:nvSpPr>
          <p:cNvPr id="114" name="Text 112"/>
          <p:cNvSpPr/>
          <p:nvPr/>
        </p:nvSpPr>
        <p:spPr>
          <a:xfrm>
            <a:off x="422570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ar-SA" sz="650" dirty="0"/>
          </a:p>
        </p:txBody>
      </p:sp>
      <p:sp>
        <p:nvSpPr>
          <p:cNvPr id="115" name="Shape 113"/>
          <p:cNvSpPr/>
          <p:nvPr/>
        </p:nvSpPr>
        <p:spPr>
          <a:xfrm>
            <a:off x="410508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10508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" dirty="0"/>
          </a:p>
        </p:txBody>
      </p:sp>
      <p:sp>
        <p:nvSpPr>
          <p:cNvPr id="117" name="Text 115"/>
          <p:cNvSpPr/>
          <p:nvPr/>
        </p:nvSpPr>
        <p:spPr>
          <a:xfrm>
            <a:off x="410508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ar-SA" sz="650" dirty="0"/>
          </a:p>
        </p:txBody>
      </p:sp>
      <p:sp>
        <p:nvSpPr>
          <p:cNvPr id="118" name="Shape 116"/>
          <p:cNvSpPr/>
          <p:nvPr/>
        </p:nvSpPr>
        <p:spPr>
          <a:xfrm>
            <a:off x="398445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98445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120" name="Text 118"/>
          <p:cNvSpPr/>
          <p:nvPr/>
        </p:nvSpPr>
        <p:spPr>
          <a:xfrm>
            <a:off x="398445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ar-SA" sz="650" dirty="0"/>
          </a:p>
        </p:txBody>
      </p:sp>
      <p:sp>
        <p:nvSpPr>
          <p:cNvPr id="121" name="Shape 119"/>
          <p:cNvSpPr/>
          <p:nvPr/>
        </p:nvSpPr>
        <p:spPr>
          <a:xfrm>
            <a:off x="3863836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86383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123" name="Text 121"/>
          <p:cNvSpPr/>
          <p:nvPr/>
        </p:nvSpPr>
        <p:spPr>
          <a:xfrm>
            <a:off x="386383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ar-SA" sz="650" dirty="0"/>
          </a:p>
        </p:txBody>
      </p:sp>
      <p:sp>
        <p:nvSpPr>
          <p:cNvPr id="124" name="Shape 122"/>
          <p:cNvSpPr/>
          <p:nvPr/>
        </p:nvSpPr>
        <p:spPr>
          <a:xfrm>
            <a:off x="3863836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743213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74321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127" name="Text 125"/>
          <p:cNvSpPr/>
          <p:nvPr/>
        </p:nvSpPr>
        <p:spPr>
          <a:xfrm>
            <a:off x="374321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ar-SA" sz="650" dirty="0"/>
          </a:p>
        </p:txBody>
      </p:sp>
      <p:sp>
        <p:nvSpPr>
          <p:cNvPr id="128" name="Shape 126"/>
          <p:cNvSpPr/>
          <p:nvPr/>
        </p:nvSpPr>
        <p:spPr>
          <a:xfrm>
            <a:off x="3743213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62258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62258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" dirty="0"/>
          </a:p>
        </p:txBody>
      </p:sp>
      <p:sp>
        <p:nvSpPr>
          <p:cNvPr id="131" name="Text 129"/>
          <p:cNvSpPr/>
          <p:nvPr/>
        </p:nvSpPr>
        <p:spPr>
          <a:xfrm>
            <a:off x="362258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ar-SA" sz="650" dirty="0"/>
          </a:p>
        </p:txBody>
      </p:sp>
      <p:sp>
        <p:nvSpPr>
          <p:cNvPr id="132" name="Shape 130"/>
          <p:cNvSpPr/>
          <p:nvPr/>
        </p:nvSpPr>
        <p:spPr>
          <a:xfrm>
            <a:off x="3743213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50196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50196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" dirty="0"/>
          </a:p>
        </p:txBody>
      </p:sp>
      <p:sp>
        <p:nvSpPr>
          <p:cNvPr id="135" name="Text 133"/>
          <p:cNvSpPr/>
          <p:nvPr/>
        </p:nvSpPr>
        <p:spPr>
          <a:xfrm>
            <a:off x="350196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ar-SA" sz="650" dirty="0"/>
          </a:p>
        </p:txBody>
      </p:sp>
      <p:sp>
        <p:nvSpPr>
          <p:cNvPr id="136" name="Shape 134"/>
          <p:cNvSpPr/>
          <p:nvPr/>
        </p:nvSpPr>
        <p:spPr>
          <a:xfrm>
            <a:off x="338134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38134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" dirty="0"/>
          </a:p>
        </p:txBody>
      </p:sp>
      <p:sp>
        <p:nvSpPr>
          <p:cNvPr id="138" name="Text 136"/>
          <p:cNvSpPr/>
          <p:nvPr/>
        </p:nvSpPr>
        <p:spPr>
          <a:xfrm>
            <a:off x="338134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ar-SA" sz="650" dirty="0"/>
          </a:p>
        </p:txBody>
      </p:sp>
      <p:sp>
        <p:nvSpPr>
          <p:cNvPr id="139" name="Shape 137"/>
          <p:cNvSpPr/>
          <p:nvPr/>
        </p:nvSpPr>
        <p:spPr>
          <a:xfrm>
            <a:off x="3260719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26071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" dirty="0"/>
          </a:p>
        </p:txBody>
      </p:sp>
      <p:sp>
        <p:nvSpPr>
          <p:cNvPr id="141" name="Text 139"/>
          <p:cNvSpPr/>
          <p:nvPr/>
        </p:nvSpPr>
        <p:spPr>
          <a:xfrm>
            <a:off x="326071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ar-SA" sz="650" dirty="0"/>
          </a:p>
        </p:txBody>
      </p:sp>
      <p:sp>
        <p:nvSpPr>
          <p:cNvPr id="142" name="Shape 140"/>
          <p:cNvSpPr/>
          <p:nvPr/>
        </p:nvSpPr>
        <p:spPr>
          <a:xfrm>
            <a:off x="314009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314009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144" name="Text 142"/>
          <p:cNvSpPr/>
          <p:nvPr/>
        </p:nvSpPr>
        <p:spPr>
          <a:xfrm>
            <a:off x="314009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650" dirty="0"/>
          </a:p>
        </p:txBody>
      </p:sp>
      <p:sp>
        <p:nvSpPr>
          <p:cNvPr id="145" name="Shape 143"/>
          <p:cNvSpPr/>
          <p:nvPr/>
        </p:nvSpPr>
        <p:spPr>
          <a:xfrm>
            <a:off x="3019473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301947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147" name="Text 145"/>
          <p:cNvSpPr/>
          <p:nvPr/>
        </p:nvSpPr>
        <p:spPr>
          <a:xfrm>
            <a:off x="301947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650" dirty="0"/>
          </a:p>
        </p:txBody>
      </p:sp>
      <p:sp>
        <p:nvSpPr>
          <p:cNvPr id="148" name="Shape 146"/>
          <p:cNvSpPr/>
          <p:nvPr/>
        </p:nvSpPr>
        <p:spPr>
          <a:xfrm>
            <a:off x="3019473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898849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898849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151" name="Text 149"/>
          <p:cNvSpPr/>
          <p:nvPr/>
        </p:nvSpPr>
        <p:spPr>
          <a:xfrm>
            <a:off x="2898849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650" dirty="0"/>
          </a:p>
        </p:txBody>
      </p:sp>
      <p:sp>
        <p:nvSpPr>
          <p:cNvPr id="152" name="Shape 150"/>
          <p:cNvSpPr/>
          <p:nvPr/>
        </p:nvSpPr>
        <p:spPr>
          <a:xfrm>
            <a:off x="2898849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77822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77822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" dirty="0"/>
          </a:p>
        </p:txBody>
      </p:sp>
      <p:sp>
        <p:nvSpPr>
          <p:cNvPr id="155" name="Text 153"/>
          <p:cNvSpPr/>
          <p:nvPr/>
        </p:nvSpPr>
        <p:spPr>
          <a:xfrm>
            <a:off x="277822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650" dirty="0"/>
          </a:p>
        </p:txBody>
      </p:sp>
      <p:sp>
        <p:nvSpPr>
          <p:cNvPr id="156" name="Shape 154"/>
          <p:cNvSpPr/>
          <p:nvPr/>
        </p:nvSpPr>
        <p:spPr>
          <a:xfrm>
            <a:off x="2898849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65760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65760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" dirty="0"/>
          </a:p>
        </p:txBody>
      </p:sp>
      <p:sp>
        <p:nvSpPr>
          <p:cNvPr id="159" name="Text 157"/>
          <p:cNvSpPr/>
          <p:nvPr/>
        </p:nvSpPr>
        <p:spPr>
          <a:xfrm>
            <a:off x="265760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650" dirty="0"/>
          </a:p>
        </p:txBody>
      </p:sp>
      <p:sp>
        <p:nvSpPr>
          <p:cNvPr id="160" name="Shape 158"/>
          <p:cNvSpPr/>
          <p:nvPr/>
        </p:nvSpPr>
        <p:spPr>
          <a:xfrm>
            <a:off x="253698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253698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" dirty="0"/>
          </a:p>
        </p:txBody>
      </p:sp>
      <p:sp>
        <p:nvSpPr>
          <p:cNvPr id="162" name="Text 160"/>
          <p:cNvSpPr/>
          <p:nvPr/>
        </p:nvSpPr>
        <p:spPr>
          <a:xfrm>
            <a:off x="253698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650" dirty="0"/>
          </a:p>
        </p:txBody>
      </p:sp>
      <p:sp>
        <p:nvSpPr>
          <p:cNvPr id="163" name="Shape 161"/>
          <p:cNvSpPr/>
          <p:nvPr/>
        </p:nvSpPr>
        <p:spPr>
          <a:xfrm>
            <a:off x="241635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241635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" dirty="0"/>
          </a:p>
        </p:txBody>
      </p:sp>
      <p:sp>
        <p:nvSpPr>
          <p:cNvPr id="165" name="Text 163"/>
          <p:cNvSpPr/>
          <p:nvPr/>
        </p:nvSpPr>
        <p:spPr>
          <a:xfrm>
            <a:off x="241635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ar-SA" sz="650" dirty="0"/>
          </a:p>
        </p:txBody>
      </p:sp>
      <p:sp>
        <p:nvSpPr>
          <p:cNvPr id="166" name="Shape 164"/>
          <p:cNvSpPr/>
          <p:nvPr/>
        </p:nvSpPr>
        <p:spPr>
          <a:xfrm>
            <a:off x="229573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29573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168" name="Text 166"/>
          <p:cNvSpPr/>
          <p:nvPr/>
        </p:nvSpPr>
        <p:spPr>
          <a:xfrm>
            <a:off x="229573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ar-SA" sz="650" dirty="0"/>
          </a:p>
        </p:txBody>
      </p:sp>
      <p:sp>
        <p:nvSpPr>
          <p:cNvPr id="169" name="Shape 167"/>
          <p:cNvSpPr/>
          <p:nvPr/>
        </p:nvSpPr>
        <p:spPr>
          <a:xfrm>
            <a:off x="2175110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217511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171" name="Text 169"/>
          <p:cNvSpPr/>
          <p:nvPr/>
        </p:nvSpPr>
        <p:spPr>
          <a:xfrm>
            <a:off x="217511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ar-SA" sz="650" dirty="0"/>
          </a:p>
        </p:txBody>
      </p:sp>
      <p:sp>
        <p:nvSpPr>
          <p:cNvPr id="172" name="Shape 170"/>
          <p:cNvSpPr/>
          <p:nvPr/>
        </p:nvSpPr>
        <p:spPr>
          <a:xfrm>
            <a:off x="2175110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054486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05448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175" name="Text 173"/>
          <p:cNvSpPr/>
          <p:nvPr/>
        </p:nvSpPr>
        <p:spPr>
          <a:xfrm>
            <a:off x="205448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ar-SA" sz="650" dirty="0"/>
          </a:p>
        </p:txBody>
      </p:sp>
      <p:sp>
        <p:nvSpPr>
          <p:cNvPr id="176" name="Shape 174"/>
          <p:cNvSpPr/>
          <p:nvPr/>
        </p:nvSpPr>
        <p:spPr>
          <a:xfrm>
            <a:off x="2054486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93386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93386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" dirty="0"/>
          </a:p>
        </p:txBody>
      </p:sp>
      <p:sp>
        <p:nvSpPr>
          <p:cNvPr id="179" name="Text 177"/>
          <p:cNvSpPr/>
          <p:nvPr/>
        </p:nvSpPr>
        <p:spPr>
          <a:xfrm>
            <a:off x="193386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ar-SA" sz="650" dirty="0"/>
          </a:p>
        </p:txBody>
      </p:sp>
      <p:sp>
        <p:nvSpPr>
          <p:cNvPr id="180" name="Shape 178"/>
          <p:cNvSpPr/>
          <p:nvPr/>
        </p:nvSpPr>
        <p:spPr>
          <a:xfrm>
            <a:off x="2054486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81324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81324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" dirty="0"/>
          </a:p>
        </p:txBody>
      </p:sp>
      <p:sp>
        <p:nvSpPr>
          <p:cNvPr id="183" name="Text 181"/>
          <p:cNvSpPr/>
          <p:nvPr/>
        </p:nvSpPr>
        <p:spPr>
          <a:xfrm>
            <a:off x="181324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ar-SA" sz="650" dirty="0"/>
          </a:p>
        </p:txBody>
      </p:sp>
      <p:sp>
        <p:nvSpPr>
          <p:cNvPr id="184" name="Shape 182"/>
          <p:cNvSpPr/>
          <p:nvPr/>
        </p:nvSpPr>
        <p:spPr>
          <a:xfrm>
            <a:off x="1692616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69261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" dirty="0"/>
          </a:p>
        </p:txBody>
      </p:sp>
      <p:sp>
        <p:nvSpPr>
          <p:cNvPr id="186" name="Text 184"/>
          <p:cNvSpPr/>
          <p:nvPr/>
        </p:nvSpPr>
        <p:spPr>
          <a:xfrm>
            <a:off x="169261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ar-SA" sz="650" dirty="0"/>
          </a:p>
        </p:txBody>
      </p:sp>
      <p:sp>
        <p:nvSpPr>
          <p:cNvPr id="187" name="Shape 185"/>
          <p:cNvSpPr/>
          <p:nvPr/>
        </p:nvSpPr>
        <p:spPr>
          <a:xfrm>
            <a:off x="157199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57199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" dirty="0"/>
          </a:p>
        </p:txBody>
      </p:sp>
      <p:sp>
        <p:nvSpPr>
          <p:cNvPr id="189" name="Text 187"/>
          <p:cNvSpPr/>
          <p:nvPr/>
        </p:nvSpPr>
        <p:spPr>
          <a:xfrm>
            <a:off x="157199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ar-SA" sz="650" dirty="0"/>
          </a:p>
        </p:txBody>
      </p:sp>
      <p:sp>
        <p:nvSpPr>
          <p:cNvPr id="190" name="Shape 188"/>
          <p:cNvSpPr/>
          <p:nvPr/>
        </p:nvSpPr>
        <p:spPr>
          <a:xfrm>
            <a:off x="145137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145137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192" name="Text 190"/>
          <p:cNvSpPr/>
          <p:nvPr/>
        </p:nvSpPr>
        <p:spPr>
          <a:xfrm>
            <a:off x="145137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ar-SA" sz="650" dirty="0"/>
          </a:p>
        </p:txBody>
      </p:sp>
      <p:sp>
        <p:nvSpPr>
          <p:cNvPr id="193" name="Shape 191"/>
          <p:cNvSpPr/>
          <p:nvPr/>
        </p:nvSpPr>
        <p:spPr>
          <a:xfrm>
            <a:off x="1330746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1330746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195" name="Text 193"/>
          <p:cNvSpPr/>
          <p:nvPr/>
        </p:nvSpPr>
        <p:spPr>
          <a:xfrm>
            <a:off x="1330746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ar-SA" sz="650" dirty="0"/>
          </a:p>
        </p:txBody>
      </p:sp>
      <p:sp>
        <p:nvSpPr>
          <p:cNvPr id="196" name="Shape 194"/>
          <p:cNvSpPr/>
          <p:nvPr/>
        </p:nvSpPr>
        <p:spPr>
          <a:xfrm>
            <a:off x="1330746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210123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21012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199" name="Text 197"/>
          <p:cNvSpPr/>
          <p:nvPr/>
        </p:nvSpPr>
        <p:spPr>
          <a:xfrm>
            <a:off x="121012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ar-SA" sz="650" dirty="0"/>
          </a:p>
        </p:txBody>
      </p:sp>
      <p:sp>
        <p:nvSpPr>
          <p:cNvPr id="200" name="Shape 198"/>
          <p:cNvSpPr/>
          <p:nvPr/>
        </p:nvSpPr>
        <p:spPr>
          <a:xfrm>
            <a:off x="1210123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08950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108950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00" dirty="0"/>
          </a:p>
        </p:txBody>
      </p:sp>
      <p:sp>
        <p:nvSpPr>
          <p:cNvPr id="203" name="Text 201"/>
          <p:cNvSpPr/>
          <p:nvPr/>
        </p:nvSpPr>
        <p:spPr>
          <a:xfrm>
            <a:off x="108950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ar-SA" sz="650" dirty="0"/>
          </a:p>
        </p:txBody>
      </p:sp>
      <p:sp>
        <p:nvSpPr>
          <p:cNvPr id="204" name="Shape 202"/>
          <p:cNvSpPr/>
          <p:nvPr/>
        </p:nvSpPr>
        <p:spPr>
          <a:xfrm>
            <a:off x="1210123" y="1911096"/>
            <a:ext cx="0" cy="4489704"/>
          </a:xfrm>
          <a:prstGeom prst="line">
            <a:avLst/>
          </a:prstGeom>
          <a:noFill/>
          <a:ln w="9525">
            <a:solidFill>
              <a:srgbClr val="9DB2BB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968877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968877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00" dirty="0"/>
          </a:p>
        </p:txBody>
      </p:sp>
      <p:sp>
        <p:nvSpPr>
          <p:cNvPr id="207" name="Text 205"/>
          <p:cNvSpPr/>
          <p:nvPr/>
        </p:nvSpPr>
        <p:spPr>
          <a:xfrm>
            <a:off x="968877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ar-SA" sz="650" dirty="0"/>
          </a:p>
        </p:txBody>
      </p:sp>
      <p:sp>
        <p:nvSpPr>
          <p:cNvPr id="208" name="Shape 206"/>
          <p:cNvSpPr/>
          <p:nvPr/>
        </p:nvSpPr>
        <p:spPr>
          <a:xfrm>
            <a:off x="848253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84825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" dirty="0"/>
          </a:p>
        </p:txBody>
      </p:sp>
      <p:sp>
        <p:nvSpPr>
          <p:cNvPr id="210" name="Text 208"/>
          <p:cNvSpPr/>
          <p:nvPr/>
        </p:nvSpPr>
        <p:spPr>
          <a:xfrm>
            <a:off x="84825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ar-SA" sz="650" dirty="0"/>
          </a:p>
        </p:txBody>
      </p:sp>
      <p:sp>
        <p:nvSpPr>
          <p:cNvPr id="211" name="Shape 209"/>
          <p:cNvSpPr/>
          <p:nvPr/>
        </p:nvSpPr>
        <p:spPr>
          <a:xfrm>
            <a:off x="727630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2763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" dirty="0"/>
          </a:p>
        </p:txBody>
      </p:sp>
      <p:sp>
        <p:nvSpPr>
          <p:cNvPr id="213" name="Text 211"/>
          <p:cNvSpPr/>
          <p:nvPr/>
        </p:nvSpPr>
        <p:spPr>
          <a:xfrm>
            <a:off x="72763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ar-SA" sz="650" dirty="0"/>
          </a:p>
        </p:txBody>
      </p:sp>
      <p:sp>
        <p:nvSpPr>
          <p:cNvPr id="214" name="Shape 212"/>
          <p:cNvSpPr/>
          <p:nvPr/>
        </p:nvSpPr>
        <p:spPr>
          <a:xfrm>
            <a:off x="607007" y="1572768"/>
            <a:ext cx="120623" cy="338328"/>
          </a:xfrm>
          <a:prstGeom prst="rect">
            <a:avLst/>
          </a:prstGeom>
          <a:solidFill>
            <a:srgbClr val="EEF3F5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607007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5A6A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00" dirty="0"/>
          </a:p>
        </p:txBody>
      </p:sp>
      <p:sp>
        <p:nvSpPr>
          <p:cNvPr id="216" name="Text 214"/>
          <p:cNvSpPr/>
          <p:nvPr/>
        </p:nvSpPr>
        <p:spPr>
          <a:xfrm>
            <a:off x="607007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ar-SA" sz="650" dirty="0"/>
          </a:p>
        </p:txBody>
      </p:sp>
      <p:sp>
        <p:nvSpPr>
          <p:cNvPr id="217" name="Shape 215"/>
          <p:cNvSpPr/>
          <p:nvPr/>
        </p:nvSpPr>
        <p:spPr>
          <a:xfrm>
            <a:off x="486383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86383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00" dirty="0"/>
          </a:p>
        </p:txBody>
      </p:sp>
      <p:sp>
        <p:nvSpPr>
          <p:cNvPr id="219" name="Text 217"/>
          <p:cNvSpPr/>
          <p:nvPr/>
        </p:nvSpPr>
        <p:spPr>
          <a:xfrm>
            <a:off x="486383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ar-SA" sz="650" dirty="0"/>
          </a:p>
        </p:txBody>
      </p:sp>
      <p:sp>
        <p:nvSpPr>
          <p:cNvPr id="220" name="Shape 218"/>
          <p:cNvSpPr/>
          <p:nvPr/>
        </p:nvSpPr>
        <p:spPr>
          <a:xfrm>
            <a:off x="486383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65760" y="1572768"/>
            <a:ext cx="120623" cy="338328"/>
          </a:xfrm>
          <a:prstGeom prst="rect">
            <a:avLst/>
          </a:prstGeom>
          <a:solidFill>
            <a:srgbClr val="D5DEE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365760" y="1572768"/>
            <a:ext cx="12062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00" dirty="0"/>
          </a:p>
        </p:txBody>
      </p:sp>
      <p:sp>
        <p:nvSpPr>
          <p:cNvPr id="223" name="Text 221"/>
          <p:cNvSpPr/>
          <p:nvPr/>
        </p:nvSpPr>
        <p:spPr>
          <a:xfrm>
            <a:off x="365760" y="1728216"/>
            <a:ext cx="12062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8A95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ar-SA" sz="650" dirty="0"/>
          </a:p>
        </p:txBody>
      </p:sp>
      <p:sp>
        <p:nvSpPr>
          <p:cNvPr id="224" name="Shape 222"/>
          <p:cNvSpPr/>
          <p:nvPr/>
        </p:nvSpPr>
        <p:spPr>
          <a:xfrm>
            <a:off x="365760" y="1911096"/>
            <a:ext cx="120623" cy="448970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482535" y="1911096"/>
            <a:ext cx="4343400" cy="213795"/>
          </a:xfrm>
          <a:prstGeom prst="rect">
            <a:avLst/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65760" y="1911096"/>
            <a:ext cx="7116775" cy="213795"/>
          </a:xfrm>
          <a:prstGeom prst="rect">
            <a:avLst/>
          </a:prstGeom>
          <a:solidFill>
            <a:srgbClr val="7A8791">
              <a:alpha val="14000"/>
            </a:srgbClr>
          </a:solidFill>
          <a:ln w="12700">
            <a:solidFill>
              <a:srgbClr val="7A8791">
                <a:alpha val="0"/>
              </a:srgbClr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7573975" y="1911096"/>
            <a:ext cx="416052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 الخلفية – طلب التصريح</a:t>
            </a:r>
            <a:endParaRPr lang="ar-SA" sz="900" dirty="0"/>
          </a:p>
        </p:txBody>
      </p:sp>
      <p:sp>
        <p:nvSpPr>
          <p:cNvPr id="228" name="Shape 226"/>
          <p:cNvSpPr/>
          <p:nvPr/>
        </p:nvSpPr>
        <p:spPr>
          <a:xfrm>
            <a:off x="3501966" y="1970959"/>
            <a:ext cx="3498076" cy="94070"/>
          </a:xfrm>
          <a:prstGeom prst="roundRect">
            <a:avLst>
              <a:gd name="adj" fmla="val 38882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482535" y="2124891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65760" y="2124891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295583" y="2159099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295583" y="2159099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ar-SA" sz="650" dirty="0"/>
          </a:p>
        </p:txBody>
      </p:sp>
      <p:sp>
        <p:nvSpPr>
          <p:cNvPr id="233" name="Text 231"/>
          <p:cNvSpPr/>
          <p:nvPr/>
        </p:nvSpPr>
        <p:spPr>
          <a:xfrm>
            <a:off x="10591495" y="2124891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أغسطس</a:t>
            </a:r>
            <a:endParaRPr lang="ar-SA" sz="800" dirty="0"/>
          </a:p>
        </p:txBody>
      </p:sp>
      <p:sp>
        <p:nvSpPr>
          <p:cNvPr id="234" name="Text 232"/>
          <p:cNvSpPr/>
          <p:nvPr/>
        </p:nvSpPr>
        <p:spPr>
          <a:xfrm>
            <a:off x="7665415" y="2124891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تصريح العمل</a:t>
            </a:r>
            <a:endParaRPr lang="ar-SA" sz="800" dirty="0"/>
          </a:p>
        </p:txBody>
      </p:sp>
      <p:sp>
        <p:nvSpPr>
          <p:cNvPr id="235" name="Shape 233"/>
          <p:cNvSpPr/>
          <p:nvPr/>
        </p:nvSpPr>
        <p:spPr>
          <a:xfrm>
            <a:off x="6939730" y="2231789"/>
            <a:ext cx="542805" cy="0"/>
          </a:xfrm>
          <a:prstGeom prst="line">
            <a:avLst/>
          </a:prstGeom>
          <a:noFill/>
          <a:ln w="9525">
            <a:solidFill>
              <a:srgbClr val="7A8791">
                <a:alpha val="60000"/>
              </a:srgbClr>
            </a:solidFill>
            <a:prstDash val="sysDot"/>
          </a:ln>
        </p:spPr>
      </p:sp>
      <p:sp>
        <p:nvSpPr>
          <p:cNvPr id="236" name="Shape 234"/>
          <p:cNvSpPr/>
          <p:nvPr/>
        </p:nvSpPr>
        <p:spPr>
          <a:xfrm>
            <a:off x="3562278" y="2178340"/>
            <a:ext cx="3377453" cy="106898"/>
          </a:xfrm>
          <a:prstGeom prst="roundRect">
            <a:avLst>
              <a:gd name="adj" fmla="val 34216"/>
            </a:avLst>
          </a:prstGeom>
          <a:solidFill>
            <a:srgbClr val="7A8791">
              <a:alpha val="85000"/>
            </a:srgbClr>
          </a:solidFill>
          <a:ln w="12700">
            <a:solidFill>
              <a:srgbClr val="7A8791">
                <a:alpha val="0"/>
              </a:srgbClr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3562278" y="2178340"/>
            <a:ext cx="3377453" cy="10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يوم</a:t>
            </a:r>
            <a:endParaRPr lang="ar-SA" sz="650" dirty="0"/>
          </a:p>
        </p:txBody>
      </p:sp>
      <p:sp>
        <p:nvSpPr>
          <p:cNvPr id="238" name="Shape 236"/>
          <p:cNvSpPr/>
          <p:nvPr/>
        </p:nvSpPr>
        <p:spPr>
          <a:xfrm>
            <a:off x="6873454" y="2165513"/>
            <a:ext cx="132553" cy="132553"/>
          </a:xfrm>
          <a:prstGeom prst="diamond">
            <a:avLst/>
          </a:prstGeom>
          <a:solidFill>
            <a:srgbClr val="7A879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482535" y="2338687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65760" y="2338687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295583" y="2372894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7A8791"/>
          </a:solidFill>
          <a:ln w="12700">
            <a:solidFill>
              <a:srgbClr val="7A8791"/>
            </a:solidFill>
            <a:prstDash val="solid"/>
          </a:ln>
        </p:spPr>
      </p:sp>
      <p:sp>
        <p:nvSpPr>
          <p:cNvPr id="242" name="Text 240"/>
          <p:cNvSpPr/>
          <p:nvPr/>
        </p:nvSpPr>
        <p:spPr>
          <a:xfrm>
            <a:off x="11295583" y="2372894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ar-SA" sz="650" dirty="0"/>
          </a:p>
        </p:txBody>
      </p:sp>
      <p:sp>
        <p:nvSpPr>
          <p:cNvPr id="243" name="Text 241"/>
          <p:cNvSpPr/>
          <p:nvPr/>
        </p:nvSpPr>
        <p:spPr>
          <a:xfrm>
            <a:off x="10591495" y="2338687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سبتمبر</a:t>
            </a:r>
            <a:endParaRPr lang="ar-SA" sz="800" dirty="0"/>
          </a:p>
        </p:txBody>
      </p:sp>
      <p:sp>
        <p:nvSpPr>
          <p:cNvPr id="244" name="Text 242"/>
          <p:cNvSpPr/>
          <p:nvPr/>
        </p:nvSpPr>
        <p:spPr>
          <a:xfrm>
            <a:off x="7665415" y="2338687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رفض طلب التصريح</a:t>
            </a:r>
            <a:endParaRPr lang="ar-SA" sz="800" dirty="0"/>
          </a:p>
        </p:txBody>
      </p:sp>
      <p:sp>
        <p:nvSpPr>
          <p:cNvPr id="245" name="Shape 243"/>
          <p:cNvSpPr/>
          <p:nvPr/>
        </p:nvSpPr>
        <p:spPr>
          <a:xfrm>
            <a:off x="3562278" y="2445585"/>
            <a:ext cx="3920258" cy="0"/>
          </a:xfrm>
          <a:prstGeom prst="line">
            <a:avLst/>
          </a:prstGeom>
          <a:noFill/>
          <a:ln w="9525">
            <a:solidFill>
              <a:srgbClr val="7A8791">
                <a:alpha val="60000"/>
              </a:srgbClr>
            </a:solidFill>
            <a:prstDash val="sysDot"/>
          </a:ln>
        </p:spPr>
      </p:sp>
      <p:sp>
        <p:nvSpPr>
          <p:cNvPr id="246" name="Shape 244"/>
          <p:cNvSpPr/>
          <p:nvPr/>
        </p:nvSpPr>
        <p:spPr>
          <a:xfrm>
            <a:off x="3200408" y="2392136"/>
            <a:ext cx="361870" cy="106898"/>
          </a:xfrm>
          <a:prstGeom prst="roundRect">
            <a:avLst>
              <a:gd name="adj" fmla="val 34216"/>
            </a:avLst>
          </a:prstGeom>
          <a:solidFill>
            <a:srgbClr val="7A8791">
              <a:alpha val="85000"/>
            </a:srgbClr>
          </a:solidFill>
          <a:ln w="12700">
            <a:solidFill>
              <a:srgbClr val="7A8791">
                <a:alpha val="0"/>
              </a:srgbClr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2304296" y="2338687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87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يوم</a:t>
            </a:r>
            <a:endParaRPr lang="ar-SA" sz="700" dirty="0"/>
          </a:p>
        </p:txBody>
      </p:sp>
      <p:sp>
        <p:nvSpPr>
          <p:cNvPr id="248" name="Shape 246"/>
          <p:cNvSpPr/>
          <p:nvPr/>
        </p:nvSpPr>
        <p:spPr>
          <a:xfrm>
            <a:off x="3496001" y="2379308"/>
            <a:ext cx="132553" cy="132553"/>
          </a:xfrm>
          <a:prstGeom prst="diamond">
            <a:avLst/>
          </a:prstGeom>
          <a:solidFill>
            <a:srgbClr val="7A8791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482535" y="2552482"/>
            <a:ext cx="4343400" cy="213795"/>
          </a:xfrm>
          <a:prstGeom prst="rect">
            <a:avLst/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65760" y="2552482"/>
            <a:ext cx="7116775" cy="213795"/>
          </a:xfrm>
          <a:prstGeom prst="rect">
            <a:avLst/>
          </a:prstGeom>
          <a:solidFill>
            <a:srgbClr val="C8503F">
              <a:alpha val="14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7573975" y="2552482"/>
            <a:ext cx="416052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 المرحلة 1 – الإيقاف وتقييم الموقع</a:t>
            </a:r>
            <a:endParaRPr lang="ar-SA" sz="900" dirty="0"/>
          </a:p>
        </p:txBody>
      </p:sp>
      <p:sp>
        <p:nvSpPr>
          <p:cNvPr id="252" name="Shape 250"/>
          <p:cNvSpPr/>
          <p:nvPr/>
        </p:nvSpPr>
        <p:spPr>
          <a:xfrm>
            <a:off x="2657603" y="2612345"/>
            <a:ext cx="603117" cy="94070"/>
          </a:xfrm>
          <a:prstGeom prst="roundRect">
            <a:avLst>
              <a:gd name="adj" fmla="val 38882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7482535" y="2766278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65760" y="2766278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1295583" y="2800485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11295583" y="2800485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ar-SA" sz="650" dirty="0"/>
          </a:p>
        </p:txBody>
      </p:sp>
      <p:sp>
        <p:nvSpPr>
          <p:cNvPr id="257" name="Text 255"/>
          <p:cNvSpPr/>
          <p:nvPr/>
        </p:nvSpPr>
        <p:spPr>
          <a:xfrm>
            <a:off x="10591495" y="2766278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أكتوبر</a:t>
            </a:r>
            <a:endParaRPr lang="ar-SA" sz="800" dirty="0"/>
          </a:p>
        </p:txBody>
      </p:sp>
      <p:sp>
        <p:nvSpPr>
          <p:cNvPr id="258" name="Text 256"/>
          <p:cNvSpPr/>
          <p:nvPr/>
        </p:nvSpPr>
        <p:spPr>
          <a:xfrm>
            <a:off x="7665415" y="2766278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إيقاف أنشطة المشروع</a:t>
            </a:r>
            <a:endParaRPr lang="ar-SA" sz="800" dirty="0"/>
          </a:p>
        </p:txBody>
      </p:sp>
      <p:sp>
        <p:nvSpPr>
          <p:cNvPr id="259" name="Shape 257"/>
          <p:cNvSpPr/>
          <p:nvPr/>
        </p:nvSpPr>
        <p:spPr>
          <a:xfrm>
            <a:off x="3200408" y="2873175"/>
            <a:ext cx="4282127" cy="0"/>
          </a:xfrm>
          <a:prstGeom prst="line">
            <a:avLst/>
          </a:prstGeom>
          <a:noFill/>
          <a:ln w="9525">
            <a:solidFill>
              <a:srgbClr val="C8503F">
                <a:alpha val="60000"/>
              </a:srgbClr>
            </a:solidFill>
            <a:prstDash val="sysDot"/>
          </a:ln>
        </p:spPr>
      </p:sp>
      <p:sp>
        <p:nvSpPr>
          <p:cNvPr id="260" name="Shape 258"/>
          <p:cNvSpPr/>
          <p:nvPr/>
        </p:nvSpPr>
        <p:spPr>
          <a:xfrm>
            <a:off x="2959161" y="2819727"/>
            <a:ext cx="241247" cy="106898"/>
          </a:xfrm>
          <a:prstGeom prst="roundRect">
            <a:avLst>
              <a:gd name="adj" fmla="val 34216"/>
            </a:avLst>
          </a:prstGeom>
          <a:solidFill>
            <a:srgbClr val="C8503F">
              <a:alpha val="85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2063049" y="2766278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يوم</a:t>
            </a:r>
            <a:endParaRPr lang="ar-SA" sz="700" dirty="0"/>
          </a:p>
        </p:txBody>
      </p:sp>
      <p:sp>
        <p:nvSpPr>
          <p:cNvPr id="262" name="Shape 260"/>
          <p:cNvSpPr/>
          <p:nvPr/>
        </p:nvSpPr>
        <p:spPr>
          <a:xfrm>
            <a:off x="3134131" y="2806899"/>
            <a:ext cx="132553" cy="132553"/>
          </a:xfrm>
          <a:prstGeom prst="diamond">
            <a:avLst/>
          </a:prstGeom>
          <a:solidFill>
            <a:srgbClr val="C850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482535" y="2980073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365760" y="2980073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11295583" y="3014280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1295583" y="3014280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ar-SA" sz="650" dirty="0"/>
          </a:p>
        </p:txBody>
      </p:sp>
      <p:sp>
        <p:nvSpPr>
          <p:cNvPr id="267" name="Text 265"/>
          <p:cNvSpPr/>
          <p:nvPr/>
        </p:nvSpPr>
        <p:spPr>
          <a:xfrm>
            <a:off x="10591495" y="2980073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أكتوبر</a:t>
            </a:r>
            <a:endParaRPr lang="ar-SA" sz="800" dirty="0"/>
          </a:p>
        </p:txBody>
      </p:sp>
      <p:sp>
        <p:nvSpPr>
          <p:cNvPr id="268" name="Text 266"/>
          <p:cNvSpPr/>
          <p:nvPr/>
        </p:nvSpPr>
        <p:spPr>
          <a:xfrm>
            <a:off x="7665415" y="2980073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زيارة ميدانية مشتركة</a:t>
            </a:r>
            <a:endParaRPr lang="ar-SA" sz="800" dirty="0"/>
          </a:p>
        </p:txBody>
      </p:sp>
      <p:sp>
        <p:nvSpPr>
          <p:cNvPr id="269" name="Shape 267"/>
          <p:cNvSpPr/>
          <p:nvPr/>
        </p:nvSpPr>
        <p:spPr>
          <a:xfrm>
            <a:off x="2959161" y="3086971"/>
            <a:ext cx="4523374" cy="0"/>
          </a:xfrm>
          <a:prstGeom prst="line">
            <a:avLst/>
          </a:prstGeom>
          <a:noFill/>
          <a:ln w="9525">
            <a:solidFill>
              <a:srgbClr val="C8503F">
                <a:alpha val="60000"/>
              </a:srgbClr>
            </a:solidFill>
            <a:prstDash val="sysDot"/>
          </a:ln>
        </p:spPr>
      </p:sp>
      <p:sp>
        <p:nvSpPr>
          <p:cNvPr id="270" name="Shape 268"/>
          <p:cNvSpPr/>
          <p:nvPr/>
        </p:nvSpPr>
        <p:spPr>
          <a:xfrm>
            <a:off x="2838538" y="3033522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C8503F">
              <a:alpha val="85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71" name="Text 269"/>
          <p:cNvSpPr/>
          <p:nvPr/>
        </p:nvSpPr>
        <p:spPr>
          <a:xfrm>
            <a:off x="1942426" y="2980073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272" name="Shape 270"/>
          <p:cNvSpPr/>
          <p:nvPr/>
        </p:nvSpPr>
        <p:spPr>
          <a:xfrm>
            <a:off x="2892885" y="3020694"/>
            <a:ext cx="132553" cy="132553"/>
          </a:xfrm>
          <a:prstGeom prst="diamond">
            <a:avLst/>
          </a:prstGeom>
          <a:solidFill>
            <a:srgbClr val="C850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482535" y="3193869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65760" y="3193869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11295583" y="3228076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1295583" y="3228076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ar-SA" sz="650" dirty="0"/>
          </a:p>
        </p:txBody>
      </p:sp>
      <p:sp>
        <p:nvSpPr>
          <p:cNvPr id="277" name="Text 275"/>
          <p:cNvSpPr/>
          <p:nvPr/>
        </p:nvSpPr>
        <p:spPr>
          <a:xfrm>
            <a:off x="10591495" y="3193869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أكتوبر</a:t>
            </a:r>
            <a:endParaRPr lang="ar-SA" sz="800" dirty="0"/>
          </a:p>
        </p:txBody>
      </p:sp>
      <p:sp>
        <p:nvSpPr>
          <p:cNvPr id="278" name="Text 276"/>
          <p:cNvSpPr/>
          <p:nvPr/>
        </p:nvSpPr>
        <p:spPr>
          <a:xfrm>
            <a:off x="7665415" y="3193869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تقييم المخاطر وخطة التخفيف</a:t>
            </a:r>
            <a:endParaRPr lang="ar-SA" sz="800" dirty="0"/>
          </a:p>
        </p:txBody>
      </p:sp>
      <p:sp>
        <p:nvSpPr>
          <p:cNvPr id="279" name="Shape 277"/>
          <p:cNvSpPr/>
          <p:nvPr/>
        </p:nvSpPr>
        <p:spPr>
          <a:xfrm>
            <a:off x="2838538" y="3300766"/>
            <a:ext cx="4643997" cy="0"/>
          </a:xfrm>
          <a:prstGeom prst="line">
            <a:avLst/>
          </a:prstGeom>
          <a:noFill/>
          <a:ln w="9525">
            <a:solidFill>
              <a:srgbClr val="C8503F">
                <a:alpha val="60000"/>
              </a:srgbClr>
            </a:solidFill>
            <a:prstDash val="sysDot"/>
          </a:ln>
        </p:spPr>
      </p:sp>
      <p:sp>
        <p:nvSpPr>
          <p:cNvPr id="280" name="Shape 278"/>
          <p:cNvSpPr/>
          <p:nvPr/>
        </p:nvSpPr>
        <p:spPr>
          <a:xfrm>
            <a:off x="2717915" y="3247317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C8503F">
              <a:alpha val="85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1821803" y="3193869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282" name="Shape 280"/>
          <p:cNvSpPr/>
          <p:nvPr/>
        </p:nvSpPr>
        <p:spPr>
          <a:xfrm>
            <a:off x="2772261" y="3234490"/>
            <a:ext cx="132553" cy="132553"/>
          </a:xfrm>
          <a:prstGeom prst="diamond">
            <a:avLst/>
          </a:prstGeom>
          <a:solidFill>
            <a:srgbClr val="C850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7482535" y="3407664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65760" y="3407664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1295583" y="3441871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C8503F"/>
          </a:solidFill>
          <a:ln w="12700">
            <a:solidFill>
              <a:srgbClr val="C8503F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11295583" y="3441871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ar-SA" sz="650" dirty="0"/>
          </a:p>
        </p:txBody>
      </p:sp>
      <p:sp>
        <p:nvSpPr>
          <p:cNvPr id="287" name="Text 285"/>
          <p:cNvSpPr/>
          <p:nvPr/>
        </p:nvSpPr>
        <p:spPr>
          <a:xfrm>
            <a:off x="10591495" y="3407664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أكتوبر</a:t>
            </a:r>
            <a:endParaRPr lang="ar-SA" sz="800" dirty="0"/>
          </a:p>
        </p:txBody>
      </p:sp>
      <p:sp>
        <p:nvSpPr>
          <p:cNvPr id="288" name="Text 286"/>
          <p:cNvSpPr/>
          <p:nvPr/>
        </p:nvSpPr>
        <p:spPr>
          <a:xfrm>
            <a:off x="7665415" y="3407664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 خطة عمل تفصيلية</a:t>
            </a:r>
            <a:endParaRPr lang="ar-SA" sz="800" dirty="0"/>
          </a:p>
        </p:txBody>
      </p:sp>
      <p:sp>
        <p:nvSpPr>
          <p:cNvPr id="289" name="Shape 287"/>
          <p:cNvSpPr/>
          <p:nvPr/>
        </p:nvSpPr>
        <p:spPr>
          <a:xfrm>
            <a:off x="2717915" y="3514562"/>
            <a:ext cx="4764621" cy="0"/>
          </a:xfrm>
          <a:prstGeom prst="line">
            <a:avLst/>
          </a:prstGeom>
          <a:noFill/>
          <a:ln w="9525">
            <a:solidFill>
              <a:srgbClr val="C8503F">
                <a:alpha val="60000"/>
              </a:srgbClr>
            </a:solidFill>
            <a:prstDash val="sysDot"/>
          </a:ln>
        </p:spPr>
      </p:sp>
      <p:sp>
        <p:nvSpPr>
          <p:cNvPr id="290" name="Shape 288"/>
          <p:cNvSpPr/>
          <p:nvPr/>
        </p:nvSpPr>
        <p:spPr>
          <a:xfrm>
            <a:off x="2476668" y="3461113"/>
            <a:ext cx="241247" cy="106898"/>
          </a:xfrm>
          <a:prstGeom prst="roundRect">
            <a:avLst>
              <a:gd name="adj" fmla="val 34216"/>
            </a:avLst>
          </a:prstGeom>
          <a:solidFill>
            <a:srgbClr val="C8503F">
              <a:alpha val="85000"/>
            </a:srgbClr>
          </a:solidFill>
          <a:ln w="12700">
            <a:solidFill>
              <a:srgbClr val="C8503F">
                <a:alpha val="0"/>
              </a:srgbClr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1580556" y="3407664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C85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 يوم</a:t>
            </a:r>
            <a:endParaRPr lang="ar-SA" sz="700" dirty="0"/>
          </a:p>
        </p:txBody>
      </p:sp>
      <p:sp>
        <p:nvSpPr>
          <p:cNvPr id="292" name="Shape 290"/>
          <p:cNvSpPr/>
          <p:nvPr/>
        </p:nvSpPr>
        <p:spPr>
          <a:xfrm>
            <a:off x="2651638" y="3448285"/>
            <a:ext cx="132553" cy="132553"/>
          </a:xfrm>
          <a:prstGeom prst="diamond">
            <a:avLst/>
          </a:prstGeom>
          <a:solidFill>
            <a:srgbClr val="C8503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7482535" y="3621459"/>
            <a:ext cx="4343400" cy="213795"/>
          </a:xfrm>
          <a:prstGeom prst="rect">
            <a:avLst/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365760" y="3621459"/>
            <a:ext cx="7116775" cy="213795"/>
          </a:xfrm>
          <a:prstGeom prst="rect">
            <a:avLst/>
          </a:prstGeom>
          <a:solidFill>
            <a:srgbClr val="00778B">
              <a:alpha val="14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7573975" y="3621459"/>
            <a:ext cx="416052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 المرحلة 2 – إعداد ومراجعة بيان طريقة العمل</a:t>
            </a:r>
            <a:endParaRPr lang="ar-SA" sz="900" dirty="0"/>
          </a:p>
        </p:txBody>
      </p:sp>
      <p:sp>
        <p:nvSpPr>
          <p:cNvPr id="296" name="Shape 294"/>
          <p:cNvSpPr/>
          <p:nvPr/>
        </p:nvSpPr>
        <p:spPr>
          <a:xfrm>
            <a:off x="1813240" y="3681322"/>
            <a:ext cx="723740" cy="94070"/>
          </a:xfrm>
          <a:prstGeom prst="roundRect">
            <a:avLst>
              <a:gd name="adj" fmla="val 38882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7482535" y="3835255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65760" y="3835255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11295583" y="3869462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00" name="Text 298"/>
          <p:cNvSpPr/>
          <p:nvPr/>
        </p:nvSpPr>
        <p:spPr>
          <a:xfrm>
            <a:off x="11295583" y="3869462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ar-SA" sz="650" dirty="0"/>
          </a:p>
        </p:txBody>
      </p:sp>
      <p:sp>
        <p:nvSpPr>
          <p:cNvPr id="301" name="Text 299"/>
          <p:cNvSpPr/>
          <p:nvPr/>
        </p:nvSpPr>
        <p:spPr>
          <a:xfrm>
            <a:off x="10591495" y="3835255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أكتوبر</a:t>
            </a:r>
            <a:endParaRPr lang="ar-SA" sz="800" dirty="0"/>
          </a:p>
        </p:txBody>
      </p:sp>
      <p:sp>
        <p:nvSpPr>
          <p:cNvPr id="302" name="Text 300"/>
          <p:cNvSpPr/>
          <p:nvPr/>
        </p:nvSpPr>
        <p:spPr>
          <a:xfrm>
            <a:off x="7665415" y="3835255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بيان طريقة العمل (MoS)</a:t>
            </a:r>
            <a:endParaRPr lang="ar-SA" sz="800" dirty="0"/>
          </a:p>
        </p:txBody>
      </p:sp>
      <p:sp>
        <p:nvSpPr>
          <p:cNvPr id="303" name="Shape 301"/>
          <p:cNvSpPr/>
          <p:nvPr/>
        </p:nvSpPr>
        <p:spPr>
          <a:xfrm>
            <a:off x="2476668" y="3942153"/>
            <a:ext cx="5005867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04" name="Shape 302"/>
          <p:cNvSpPr/>
          <p:nvPr/>
        </p:nvSpPr>
        <p:spPr>
          <a:xfrm>
            <a:off x="2410391" y="3875876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7482535" y="4049050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365760" y="4049050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1295583" y="4083258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11295583" y="4083258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ar-SA" sz="650" dirty="0"/>
          </a:p>
        </p:txBody>
      </p:sp>
      <p:sp>
        <p:nvSpPr>
          <p:cNvPr id="309" name="Text 307"/>
          <p:cNvSpPr/>
          <p:nvPr/>
        </p:nvSpPr>
        <p:spPr>
          <a:xfrm>
            <a:off x="10591495" y="4049050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أكتوبر</a:t>
            </a:r>
            <a:endParaRPr lang="ar-SA" sz="800" dirty="0"/>
          </a:p>
        </p:txBody>
      </p:sp>
      <p:sp>
        <p:nvSpPr>
          <p:cNvPr id="310" name="Text 308"/>
          <p:cNvSpPr/>
          <p:nvPr/>
        </p:nvSpPr>
        <p:spPr>
          <a:xfrm>
            <a:off x="7665415" y="4049050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اجتماع أصحاب المصلحة</a:t>
            </a:r>
            <a:endParaRPr lang="ar-SA" sz="800" dirty="0"/>
          </a:p>
        </p:txBody>
      </p:sp>
      <p:sp>
        <p:nvSpPr>
          <p:cNvPr id="311" name="Shape 309"/>
          <p:cNvSpPr/>
          <p:nvPr/>
        </p:nvSpPr>
        <p:spPr>
          <a:xfrm>
            <a:off x="2476668" y="4155948"/>
            <a:ext cx="5005867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12" name="Shape 310"/>
          <p:cNvSpPr/>
          <p:nvPr/>
        </p:nvSpPr>
        <p:spPr>
          <a:xfrm>
            <a:off x="2356045" y="4102499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00778B">
              <a:alpha val="85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1459933" y="4049050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314" name="Shape 312"/>
          <p:cNvSpPr/>
          <p:nvPr/>
        </p:nvSpPr>
        <p:spPr>
          <a:xfrm>
            <a:off x="2410391" y="4089671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7482535" y="4262846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365760" y="4262846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1295583" y="4297053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11295583" y="4297053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ar-SA" sz="650" dirty="0"/>
          </a:p>
        </p:txBody>
      </p:sp>
      <p:sp>
        <p:nvSpPr>
          <p:cNvPr id="319" name="Text 317"/>
          <p:cNvSpPr/>
          <p:nvPr/>
        </p:nvSpPr>
        <p:spPr>
          <a:xfrm>
            <a:off x="10591495" y="4262846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أكتوبر</a:t>
            </a:r>
            <a:endParaRPr lang="ar-SA" sz="800" dirty="0"/>
          </a:p>
        </p:txBody>
      </p:sp>
      <p:sp>
        <p:nvSpPr>
          <p:cNvPr id="320" name="Text 318"/>
          <p:cNvSpPr/>
          <p:nvPr/>
        </p:nvSpPr>
        <p:spPr>
          <a:xfrm>
            <a:off x="7665415" y="4262846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الرد على استفسارات أصحاب المصلحة</a:t>
            </a:r>
            <a:endParaRPr lang="ar-SA" sz="800" dirty="0"/>
          </a:p>
        </p:txBody>
      </p:sp>
      <p:sp>
        <p:nvSpPr>
          <p:cNvPr id="321" name="Shape 319"/>
          <p:cNvSpPr/>
          <p:nvPr/>
        </p:nvSpPr>
        <p:spPr>
          <a:xfrm>
            <a:off x="2356045" y="4369743"/>
            <a:ext cx="5126491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22" name="Shape 320"/>
          <p:cNvSpPr/>
          <p:nvPr/>
        </p:nvSpPr>
        <p:spPr>
          <a:xfrm>
            <a:off x="1994175" y="4316295"/>
            <a:ext cx="361870" cy="106898"/>
          </a:xfrm>
          <a:prstGeom prst="roundRect">
            <a:avLst>
              <a:gd name="adj" fmla="val 34216"/>
            </a:avLst>
          </a:prstGeom>
          <a:solidFill>
            <a:srgbClr val="00778B">
              <a:alpha val="85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323" name="Text 321"/>
          <p:cNvSpPr/>
          <p:nvPr/>
        </p:nvSpPr>
        <p:spPr>
          <a:xfrm>
            <a:off x="1098063" y="4262846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يوم</a:t>
            </a:r>
            <a:endParaRPr lang="ar-SA" sz="700" dirty="0"/>
          </a:p>
        </p:txBody>
      </p:sp>
      <p:sp>
        <p:nvSpPr>
          <p:cNvPr id="324" name="Shape 322"/>
          <p:cNvSpPr/>
          <p:nvPr/>
        </p:nvSpPr>
        <p:spPr>
          <a:xfrm>
            <a:off x="2289768" y="4303467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7482535" y="4476641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365760" y="4476641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11295583" y="4510848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11295583" y="4510848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ar-SA" sz="650" dirty="0"/>
          </a:p>
        </p:txBody>
      </p:sp>
      <p:sp>
        <p:nvSpPr>
          <p:cNvPr id="329" name="Text 327"/>
          <p:cNvSpPr/>
          <p:nvPr/>
        </p:nvSpPr>
        <p:spPr>
          <a:xfrm>
            <a:off x="10591495" y="4476641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أكتوبر</a:t>
            </a:r>
            <a:endParaRPr lang="ar-SA" sz="800" dirty="0"/>
          </a:p>
        </p:txBody>
      </p:sp>
      <p:sp>
        <p:nvSpPr>
          <p:cNvPr id="330" name="Text 328"/>
          <p:cNvSpPr/>
          <p:nvPr/>
        </p:nvSpPr>
        <p:spPr>
          <a:xfrm>
            <a:off x="7665415" y="4476641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استلام توضيح من إدارة الهندسة</a:t>
            </a:r>
            <a:endParaRPr lang="ar-SA" sz="800" dirty="0"/>
          </a:p>
        </p:txBody>
      </p:sp>
      <p:sp>
        <p:nvSpPr>
          <p:cNvPr id="331" name="Shape 329"/>
          <p:cNvSpPr/>
          <p:nvPr/>
        </p:nvSpPr>
        <p:spPr>
          <a:xfrm>
            <a:off x="1994175" y="4583539"/>
            <a:ext cx="5488361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32" name="Shape 330"/>
          <p:cNvSpPr/>
          <p:nvPr/>
        </p:nvSpPr>
        <p:spPr>
          <a:xfrm>
            <a:off x="1873551" y="4530090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00778B">
              <a:alpha val="85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333" name="Text 331"/>
          <p:cNvSpPr/>
          <p:nvPr/>
        </p:nvSpPr>
        <p:spPr>
          <a:xfrm>
            <a:off x="977439" y="4476641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334" name="Shape 332"/>
          <p:cNvSpPr/>
          <p:nvPr/>
        </p:nvSpPr>
        <p:spPr>
          <a:xfrm>
            <a:off x="1927898" y="4517262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7482535" y="4690437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365760" y="4690437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11295583" y="4724644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00778B"/>
          </a:solidFill>
          <a:ln w="12700">
            <a:solidFill>
              <a:srgbClr val="00778B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11295583" y="4724644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ar-SA" sz="650" dirty="0"/>
          </a:p>
        </p:txBody>
      </p:sp>
      <p:sp>
        <p:nvSpPr>
          <p:cNvPr id="339" name="Text 337"/>
          <p:cNvSpPr/>
          <p:nvPr/>
        </p:nvSpPr>
        <p:spPr>
          <a:xfrm>
            <a:off x="10591495" y="4690437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أكتوبر</a:t>
            </a:r>
            <a:endParaRPr lang="ar-SA" sz="800" dirty="0"/>
          </a:p>
        </p:txBody>
      </p:sp>
      <p:sp>
        <p:nvSpPr>
          <p:cNvPr id="340" name="Text 338"/>
          <p:cNvSpPr/>
          <p:nvPr/>
        </p:nvSpPr>
        <p:spPr>
          <a:xfrm>
            <a:off x="7665415" y="4690437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المراجعة الثانية (MoS)</a:t>
            </a:r>
            <a:endParaRPr lang="ar-SA" sz="800" dirty="0"/>
          </a:p>
        </p:txBody>
      </p:sp>
      <p:sp>
        <p:nvSpPr>
          <p:cNvPr id="341" name="Shape 339"/>
          <p:cNvSpPr/>
          <p:nvPr/>
        </p:nvSpPr>
        <p:spPr>
          <a:xfrm>
            <a:off x="1873551" y="4797334"/>
            <a:ext cx="5608984" cy="0"/>
          </a:xfrm>
          <a:prstGeom prst="line">
            <a:avLst/>
          </a:prstGeom>
          <a:noFill/>
          <a:ln w="9525">
            <a:solidFill>
              <a:srgbClr val="00778B">
                <a:alpha val="60000"/>
              </a:srgbClr>
            </a:solidFill>
            <a:prstDash val="sysDot"/>
          </a:ln>
        </p:spPr>
      </p:sp>
      <p:sp>
        <p:nvSpPr>
          <p:cNvPr id="342" name="Shape 340"/>
          <p:cNvSpPr/>
          <p:nvPr/>
        </p:nvSpPr>
        <p:spPr>
          <a:xfrm>
            <a:off x="1752928" y="4743885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00778B">
              <a:alpha val="85000"/>
            </a:srgbClr>
          </a:solidFill>
          <a:ln w="12700">
            <a:solidFill>
              <a:srgbClr val="00778B">
                <a:alpha val="0"/>
              </a:srgbClr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856816" y="4690437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0077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344" name="Shape 342"/>
          <p:cNvSpPr/>
          <p:nvPr/>
        </p:nvSpPr>
        <p:spPr>
          <a:xfrm>
            <a:off x="1807275" y="4731058"/>
            <a:ext cx="132553" cy="132553"/>
          </a:xfrm>
          <a:prstGeom prst="diamond">
            <a:avLst/>
          </a:prstGeom>
          <a:solidFill>
            <a:srgbClr val="0077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7482535" y="4904232"/>
            <a:ext cx="4343400" cy="213795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365760" y="4904232"/>
            <a:ext cx="7116775" cy="213795"/>
          </a:xfrm>
          <a:prstGeom prst="rect">
            <a:avLst/>
          </a:prstGeom>
          <a:solidFill>
            <a:srgbClr val="2E9E6B">
              <a:alpha val="14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47" name="Text 345"/>
          <p:cNvSpPr/>
          <p:nvPr/>
        </p:nvSpPr>
        <p:spPr>
          <a:xfrm>
            <a:off x="7573975" y="4904232"/>
            <a:ext cx="416052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 المرحلة 3 – إصدار تصريح العمل</a:t>
            </a:r>
            <a:endParaRPr lang="ar-SA" sz="900" dirty="0"/>
          </a:p>
        </p:txBody>
      </p:sp>
      <p:sp>
        <p:nvSpPr>
          <p:cNvPr id="348" name="Shape 346"/>
          <p:cNvSpPr/>
          <p:nvPr/>
        </p:nvSpPr>
        <p:spPr>
          <a:xfrm>
            <a:off x="727630" y="4964095"/>
            <a:ext cx="1085610" cy="94070"/>
          </a:xfrm>
          <a:prstGeom prst="roundRect">
            <a:avLst>
              <a:gd name="adj" fmla="val 38882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7482535" y="5118027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365760" y="5118027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11295583" y="5152235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11295583" y="5152235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ar-SA" sz="650" dirty="0"/>
          </a:p>
        </p:txBody>
      </p:sp>
      <p:sp>
        <p:nvSpPr>
          <p:cNvPr id="353" name="Text 351"/>
          <p:cNvSpPr/>
          <p:nvPr/>
        </p:nvSpPr>
        <p:spPr>
          <a:xfrm>
            <a:off x="10591495" y="5118027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أكتوبر</a:t>
            </a:r>
            <a:endParaRPr lang="ar-SA" sz="800" dirty="0"/>
          </a:p>
        </p:txBody>
      </p:sp>
      <p:sp>
        <p:nvSpPr>
          <p:cNvPr id="354" name="Text 352"/>
          <p:cNvSpPr/>
          <p:nvPr/>
        </p:nvSpPr>
        <p:spPr>
          <a:xfrm>
            <a:off x="7665415" y="5118027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التواصل مع إدارة السلامة</a:t>
            </a:r>
            <a:endParaRPr lang="ar-SA" sz="800" dirty="0"/>
          </a:p>
        </p:txBody>
      </p:sp>
      <p:sp>
        <p:nvSpPr>
          <p:cNvPr id="355" name="Shape 353"/>
          <p:cNvSpPr/>
          <p:nvPr/>
        </p:nvSpPr>
        <p:spPr>
          <a:xfrm>
            <a:off x="1752928" y="5224925"/>
            <a:ext cx="5729607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56" name="Shape 354"/>
          <p:cNvSpPr/>
          <p:nvPr/>
        </p:nvSpPr>
        <p:spPr>
          <a:xfrm>
            <a:off x="1632305" y="5171476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736193" y="5118027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358" name="Shape 356"/>
          <p:cNvSpPr/>
          <p:nvPr/>
        </p:nvSpPr>
        <p:spPr>
          <a:xfrm>
            <a:off x="1686651" y="5158649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7482535" y="5331823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365760" y="5331823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11295583" y="5366030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11295583" y="5366030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ar-SA" sz="650" dirty="0"/>
          </a:p>
        </p:txBody>
      </p:sp>
      <p:sp>
        <p:nvSpPr>
          <p:cNvPr id="363" name="Text 361"/>
          <p:cNvSpPr/>
          <p:nvPr/>
        </p:nvSpPr>
        <p:spPr>
          <a:xfrm>
            <a:off x="10591495" y="5331823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أكتوبر</a:t>
            </a:r>
            <a:endParaRPr lang="ar-SA" sz="800" dirty="0"/>
          </a:p>
        </p:txBody>
      </p:sp>
      <p:sp>
        <p:nvSpPr>
          <p:cNvPr id="364" name="Text 362"/>
          <p:cNvSpPr/>
          <p:nvPr/>
        </p:nvSpPr>
        <p:spPr>
          <a:xfrm>
            <a:off x="7665415" y="5331823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تعميم التصريح للموافقات</a:t>
            </a:r>
            <a:endParaRPr lang="ar-SA" sz="800" dirty="0"/>
          </a:p>
        </p:txBody>
      </p:sp>
      <p:sp>
        <p:nvSpPr>
          <p:cNvPr id="365" name="Shape 363"/>
          <p:cNvSpPr/>
          <p:nvPr/>
        </p:nvSpPr>
        <p:spPr>
          <a:xfrm>
            <a:off x="1632305" y="5438721"/>
            <a:ext cx="5850230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66" name="Shape 364"/>
          <p:cNvSpPr/>
          <p:nvPr/>
        </p:nvSpPr>
        <p:spPr>
          <a:xfrm>
            <a:off x="1511681" y="5385272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67" name="Text 365"/>
          <p:cNvSpPr/>
          <p:nvPr/>
        </p:nvSpPr>
        <p:spPr>
          <a:xfrm>
            <a:off x="615569" y="5331823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368" name="Shape 366"/>
          <p:cNvSpPr/>
          <p:nvPr/>
        </p:nvSpPr>
        <p:spPr>
          <a:xfrm>
            <a:off x="1566028" y="5372444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7482535" y="5545618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365760" y="5545618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11295583" y="5579826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72" name="Text 370"/>
          <p:cNvSpPr/>
          <p:nvPr/>
        </p:nvSpPr>
        <p:spPr>
          <a:xfrm>
            <a:off x="11295583" y="5579826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ar-SA" sz="650" dirty="0"/>
          </a:p>
        </p:txBody>
      </p:sp>
      <p:sp>
        <p:nvSpPr>
          <p:cNvPr id="373" name="Text 371"/>
          <p:cNvSpPr/>
          <p:nvPr/>
        </p:nvSpPr>
        <p:spPr>
          <a:xfrm>
            <a:off x="10591495" y="5545618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أكتوبر</a:t>
            </a:r>
            <a:endParaRPr lang="ar-SA" sz="800" dirty="0"/>
          </a:p>
        </p:txBody>
      </p:sp>
      <p:sp>
        <p:nvSpPr>
          <p:cNvPr id="374" name="Text 372"/>
          <p:cNvSpPr/>
          <p:nvPr/>
        </p:nvSpPr>
        <p:spPr>
          <a:xfrm>
            <a:off x="7665415" y="5545618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ملاحظات إضافية من الإدارات</a:t>
            </a:r>
            <a:endParaRPr lang="ar-SA" sz="800" dirty="0"/>
          </a:p>
        </p:txBody>
      </p:sp>
      <p:sp>
        <p:nvSpPr>
          <p:cNvPr id="375" name="Shape 373"/>
          <p:cNvSpPr/>
          <p:nvPr/>
        </p:nvSpPr>
        <p:spPr>
          <a:xfrm>
            <a:off x="1511681" y="5652516"/>
            <a:ext cx="5970854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76" name="Shape 374"/>
          <p:cNvSpPr/>
          <p:nvPr/>
        </p:nvSpPr>
        <p:spPr>
          <a:xfrm>
            <a:off x="1029188" y="5599067"/>
            <a:ext cx="48249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77" name="Text 375"/>
          <p:cNvSpPr/>
          <p:nvPr/>
        </p:nvSpPr>
        <p:spPr>
          <a:xfrm>
            <a:off x="133076" y="5545618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 يوم</a:t>
            </a:r>
            <a:endParaRPr lang="ar-SA" sz="700" dirty="0"/>
          </a:p>
        </p:txBody>
      </p:sp>
      <p:sp>
        <p:nvSpPr>
          <p:cNvPr id="378" name="Shape 376"/>
          <p:cNvSpPr/>
          <p:nvPr/>
        </p:nvSpPr>
        <p:spPr>
          <a:xfrm>
            <a:off x="1445405" y="5586239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7482535" y="5759414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365760" y="5759414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11295583" y="5793621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11295583" y="5793621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ar-SA" sz="650" dirty="0"/>
          </a:p>
        </p:txBody>
      </p:sp>
      <p:sp>
        <p:nvSpPr>
          <p:cNvPr id="383" name="Text 381"/>
          <p:cNvSpPr/>
          <p:nvPr/>
        </p:nvSpPr>
        <p:spPr>
          <a:xfrm>
            <a:off x="10591495" y="5759414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أكتوبر</a:t>
            </a:r>
            <a:endParaRPr lang="ar-SA" sz="800" dirty="0"/>
          </a:p>
        </p:txBody>
      </p:sp>
      <p:sp>
        <p:nvSpPr>
          <p:cNvPr id="384" name="Text 382"/>
          <p:cNvSpPr/>
          <p:nvPr/>
        </p:nvSpPr>
        <p:spPr>
          <a:xfrm>
            <a:off x="7665415" y="5759414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تقديم المراجعة الثالثة (MoS)</a:t>
            </a:r>
            <a:endParaRPr lang="ar-SA" sz="800" dirty="0"/>
          </a:p>
        </p:txBody>
      </p:sp>
      <p:sp>
        <p:nvSpPr>
          <p:cNvPr id="385" name="Shape 383"/>
          <p:cNvSpPr/>
          <p:nvPr/>
        </p:nvSpPr>
        <p:spPr>
          <a:xfrm>
            <a:off x="1029188" y="5866311"/>
            <a:ext cx="6453347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86" name="Shape 384"/>
          <p:cNvSpPr/>
          <p:nvPr/>
        </p:nvSpPr>
        <p:spPr>
          <a:xfrm>
            <a:off x="908565" y="5812863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12453" y="5759414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388" name="Shape 386"/>
          <p:cNvSpPr/>
          <p:nvPr/>
        </p:nvSpPr>
        <p:spPr>
          <a:xfrm>
            <a:off x="962912" y="5800035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7482535" y="5973209"/>
            <a:ext cx="4343400" cy="213795"/>
          </a:xfrm>
          <a:prstGeom prst="rect">
            <a:avLst/>
          </a:prstGeom>
          <a:solidFill>
            <a:srgbClr val="F6F9FA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65760" y="5973209"/>
            <a:ext cx="7116775" cy="213795"/>
          </a:xfrm>
          <a:prstGeom prst="rect">
            <a:avLst/>
          </a:prstGeom>
          <a:solidFill>
            <a:srgbClr val="F6F9FA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11295583" y="6007416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392" name="Text 390"/>
          <p:cNvSpPr/>
          <p:nvPr/>
        </p:nvSpPr>
        <p:spPr>
          <a:xfrm>
            <a:off x="11295583" y="6007416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ar-SA" sz="650" dirty="0"/>
          </a:p>
        </p:txBody>
      </p:sp>
      <p:sp>
        <p:nvSpPr>
          <p:cNvPr id="393" name="Text 391"/>
          <p:cNvSpPr/>
          <p:nvPr/>
        </p:nvSpPr>
        <p:spPr>
          <a:xfrm>
            <a:off x="10591495" y="5973209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أكتوبر</a:t>
            </a:r>
            <a:endParaRPr lang="ar-SA" sz="800" dirty="0"/>
          </a:p>
        </p:txBody>
      </p:sp>
      <p:sp>
        <p:nvSpPr>
          <p:cNvPr id="394" name="Text 392"/>
          <p:cNvSpPr/>
          <p:nvPr/>
        </p:nvSpPr>
        <p:spPr>
          <a:xfrm>
            <a:off x="7665415" y="5973209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إغلاق الاستفسار الأخير</a:t>
            </a:r>
            <a:endParaRPr lang="ar-SA" sz="800" dirty="0"/>
          </a:p>
        </p:txBody>
      </p:sp>
      <p:sp>
        <p:nvSpPr>
          <p:cNvPr id="395" name="Shape 393"/>
          <p:cNvSpPr/>
          <p:nvPr/>
        </p:nvSpPr>
        <p:spPr>
          <a:xfrm>
            <a:off x="908565" y="6080107"/>
            <a:ext cx="6573970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396" name="Shape 394"/>
          <p:cNvSpPr/>
          <p:nvPr/>
        </p:nvSpPr>
        <p:spPr>
          <a:xfrm>
            <a:off x="787942" y="6026658"/>
            <a:ext cx="120623" cy="106898"/>
          </a:xfrm>
          <a:prstGeom prst="roundRect">
            <a:avLst>
              <a:gd name="adj" fmla="val 34216"/>
            </a:avLst>
          </a:prstGeom>
          <a:solidFill>
            <a:srgbClr val="2E9E6B">
              <a:alpha val="85000"/>
            </a:srgbClr>
          </a:solidFill>
          <a:ln w="12700">
            <a:solidFill>
              <a:srgbClr val="2E9E6B">
                <a:alpha val="0"/>
              </a:srgbClr>
            </a:solidFill>
            <a:prstDash val="solid"/>
          </a:ln>
        </p:spPr>
      </p:sp>
      <p:sp>
        <p:nvSpPr>
          <p:cNvPr id="397" name="Text 395"/>
          <p:cNvSpPr/>
          <p:nvPr/>
        </p:nvSpPr>
        <p:spPr>
          <a:xfrm>
            <a:off x="-108170" y="5973209"/>
            <a:ext cx="8229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2E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يوم</a:t>
            </a:r>
            <a:endParaRPr lang="ar-SA" sz="700" dirty="0"/>
          </a:p>
        </p:txBody>
      </p:sp>
      <p:sp>
        <p:nvSpPr>
          <p:cNvPr id="398" name="Shape 396"/>
          <p:cNvSpPr/>
          <p:nvPr/>
        </p:nvSpPr>
        <p:spPr>
          <a:xfrm>
            <a:off x="842288" y="6013830"/>
            <a:ext cx="132553" cy="132553"/>
          </a:xfrm>
          <a:prstGeom prst="diamond">
            <a:avLst/>
          </a:prstGeom>
          <a:solidFill>
            <a:srgbClr val="2E9E6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7482535" y="6187005"/>
            <a:ext cx="4343400" cy="213795"/>
          </a:xfrm>
          <a:prstGeom prst="rect">
            <a:avLst/>
          </a:prstGeom>
          <a:solidFill>
            <a:srgbClr val="FFFFFF"/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365760" y="6187005"/>
            <a:ext cx="7116775" cy="213795"/>
          </a:xfrm>
          <a:prstGeom prst="rect">
            <a:avLst/>
          </a:prstGeom>
          <a:solidFill>
            <a:srgbClr val="FFFFFF">
              <a:alpha val="0"/>
            </a:srgbClr>
          </a:solidFill>
          <a:ln w="6350">
            <a:solidFill>
              <a:srgbClr val="DFE6EA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11295583" y="6221212"/>
            <a:ext cx="457200" cy="145381"/>
          </a:xfrm>
          <a:prstGeom prst="roundRect">
            <a:avLst>
              <a:gd name="adj" fmla="val 50317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402" name="Text 400"/>
          <p:cNvSpPr/>
          <p:nvPr/>
        </p:nvSpPr>
        <p:spPr>
          <a:xfrm>
            <a:off x="11295583" y="6221212"/>
            <a:ext cx="457200" cy="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ar-SA" sz="650" dirty="0"/>
          </a:p>
        </p:txBody>
      </p:sp>
      <p:sp>
        <p:nvSpPr>
          <p:cNvPr id="403" name="Text 401"/>
          <p:cNvSpPr/>
          <p:nvPr/>
        </p:nvSpPr>
        <p:spPr>
          <a:xfrm>
            <a:off x="10591495" y="6187005"/>
            <a:ext cx="64008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أكتوبر</a:t>
            </a:r>
            <a:endParaRPr lang="ar-SA" sz="800" dirty="0"/>
          </a:p>
        </p:txBody>
      </p:sp>
      <p:sp>
        <p:nvSpPr>
          <p:cNvPr id="404" name="Text 402"/>
          <p:cNvSpPr/>
          <p:nvPr/>
        </p:nvSpPr>
        <p:spPr>
          <a:xfrm>
            <a:off x="7665415" y="6187005"/>
            <a:ext cx="2880360" cy="2137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800" b="1" dirty="0">
                <a:solidFill>
                  <a:srgbClr val="1D22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تصريح العمل جاهز للتوقيع</a:t>
            </a:r>
            <a:endParaRPr lang="ar-SA" sz="800" dirty="0"/>
          </a:p>
        </p:txBody>
      </p:sp>
      <p:sp>
        <p:nvSpPr>
          <p:cNvPr id="405" name="Shape 403"/>
          <p:cNvSpPr/>
          <p:nvPr/>
        </p:nvSpPr>
        <p:spPr>
          <a:xfrm>
            <a:off x="787942" y="6293902"/>
            <a:ext cx="6694594" cy="0"/>
          </a:xfrm>
          <a:prstGeom prst="line">
            <a:avLst/>
          </a:prstGeom>
          <a:noFill/>
          <a:ln w="9525">
            <a:solidFill>
              <a:srgbClr val="2E9E6B">
                <a:alpha val="60000"/>
              </a:srgbClr>
            </a:solidFill>
            <a:prstDash val="sysDot"/>
          </a:ln>
        </p:spPr>
      </p:sp>
      <p:sp>
        <p:nvSpPr>
          <p:cNvPr id="406" name="Shape 404"/>
          <p:cNvSpPr/>
          <p:nvPr/>
        </p:nvSpPr>
        <p:spPr>
          <a:xfrm>
            <a:off x="721665" y="6227626"/>
            <a:ext cx="132553" cy="132553"/>
          </a:xfrm>
          <a:prstGeom prst="diamond">
            <a:avLst/>
          </a:prstGeom>
          <a:solidFill>
            <a:srgbClr val="FFFFFF"/>
          </a:solidFill>
          <a:ln w="22225">
            <a:solidFill>
              <a:srgbClr val="2E9E6B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65760" y="1371600"/>
            <a:ext cx="11460175" cy="5029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B9C6C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1640" y="109728"/>
            <a:ext cx="10134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الأنشطة (1/2)</a:t>
            </a:r>
            <a:endParaRPr lang="ar-SA" sz="2400" dirty="0"/>
          </a:p>
        </p:txBody>
      </p:sp>
      <p:sp>
        <p:nvSpPr>
          <p:cNvPr id="3" name="Text 1"/>
          <p:cNvSpPr/>
          <p:nvPr/>
        </p:nvSpPr>
        <p:spPr>
          <a:xfrm>
            <a:off x="1691640" y="548640"/>
            <a:ext cx="10134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· التواريخ · الوصف</a:t>
            </a:r>
            <a:endParaRPr lang="ar-SA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60175" cy="914400"/>
        </p:xfrm>
        <a:graphic>
          <a:graphicData uri="http://schemas.openxmlformats.org/drawingml/2006/table">
            <a:tbl>
              <a:tblPr/>
              <a:tblGrid>
                <a:gridCol w="5513832"/>
                <a:gridCol w="3291840"/>
                <a:gridCol w="1737360"/>
                <a:gridCol w="731520"/>
              </a:tblGrid>
              <a:tr h="29260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الوصف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النشاط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التواريخ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WBS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935"/>
                    </a:solidFill>
                  </a:tcPr>
                </a:tc>
              </a:tr>
              <a:tr h="292608">
                <a:tc grid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  الخلفية – طلب التصريح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79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طلب تصريح لتنفيذ أعمال الأساسات لإزالة خطر انهيار التربة.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طلب تصريح العمل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 أغسطس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7A87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رفضت إدارة التصاريح طلب تصريح العمل.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رفض طلب التصريح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سبتمبر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7A87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292608">
                <a:tc grid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  المرحلة 1 – الإيقاف وتقييم الموقع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503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أوقفت إدارة التصاريح والسلامة جميع أنشطة المشروع بالموقع.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إيقاف أنشطة المشروع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C8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زيارة مشتركة مع الإدارات المعنية (التصاريح وغيرها) لتقييم حالة الموقع.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زيارة ميدانية مشتركة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C8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أُرسلت إلى إدارة التصاريح بهدف استئناف العمل.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تقديم تقييم المخاطر وخطة التخفيف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C8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طلبت إدارة التصاريح خطة عمل أكثر تفصيلاً.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طلب خطة عمل تفصيلية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C850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292608">
                <a:tc grid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  المرحلة 2 – إعداد ومراجعة بيان طريقة العمل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بيان طريقة العمل وخطة العمل التفصيلية لجميع الإدارات للمراجعة والاعتماد.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تقديم بيان طريقة العمل (MoS)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0077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الاتفاق على المضي قدماً وطلب مراجعة الإجراءات واعتمادها من الإدارات.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اجتماع أصحاب المصلحة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0077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1640" y="109728"/>
            <a:ext cx="10134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rgbClr val="3D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تفاصيل الأنشطة (2/2)</a:t>
            </a:r>
            <a:endParaRPr lang="ar-SA" sz="2400" dirty="0"/>
          </a:p>
        </p:txBody>
      </p:sp>
      <p:sp>
        <p:nvSpPr>
          <p:cNvPr id="3" name="Text 1"/>
          <p:cNvSpPr/>
          <p:nvPr/>
        </p:nvSpPr>
        <p:spPr>
          <a:xfrm>
            <a:off x="1691640" y="548640"/>
            <a:ext cx="10134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rgbClr val="66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WBS · التواريخ · الوصف</a:t>
            </a:r>
            <a:endParaRPr lang="ar-SA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60175" cy="914400"/>
        </p:xfrm>
        <a:graphic>
          <a:graphicData uri="http://schemas.openxmlformats.org/drawingml/2006/table">
            <a:tbl>
              <a:tblPr/>
              <a:tblGrid>
                <a:gridCol w="5513832"/>
                <a:gridCol w="3291840"/>
                <a:gridCol w="1737360"/>
                <a:gridCol w="731520"/>
              </a:tblGrid>
              <a:tr h="29260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الوصف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النشاط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التواريخ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93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WBS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3935"/>
                    </a:solidFill>
                  </a:tcPr>
                </a:tc>
              </a:tr>
              <a:tr h="292608">
                <a:tc grid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  المرحلة 2 – إعداد ومراجعة بيان طريقة العمل (تابع)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8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تم الرد على كل الاستفسارات بشأن الأعمال وإجراءات السلامة.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الرد على استفسارات أصحاب المصلحة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0077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أثارت إدارة الهندسة استيضاحاً على بيان طريقة العمل.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استلام توضيح من إدارة الهندسة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0077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قُدّمت المراجعة الثانية للبيان إلى جميع الإدارات المعنية.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تقديم المراجعة الثانية (MoS)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0077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 grid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  المرحلة 3 – إصدار تصريح العمل</a:t>
                      </a:r>
                      <a:endParaRPr lang="ar-SA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6B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بعد مشاركة المستندات تم التواصل مع السلامة لتسهيل إصدار التصريح.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التواصل مع إدارة السلامة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E9E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أُرسل تصريح العمل للإدارات المعنية للموافقة عليه.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تعميم التصريح للموافقات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E9E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وردت ملاحظات إضافية من إدارات أخرى.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ملاحظات إضافية من الإدارات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E9E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قُدّمت المراجعة الثالثة للبيان للجميع للاعتماد.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تقديم المراجعة الثالثة (MoS)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E9E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تم إغلاق الاستفسار المتبقي بشأن بيان طريقة العمل.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إغلاق الاستفسار الأخير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E9E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50" dirty="0">
                          <a:solidFill>
                            <a:srgbClr val="4A55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أصبح تصريح العمل جاهزاً للتوقيع والإصدار.</a:t>
                      </a:r>
                      <a:endParaRPr lang="ar-SA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تصريح العمل جاهز للتوقيع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222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 أكتوبر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ar-SA" altLang="en-US" sz="1000" b="1" dirty="0">
                          <a:solidFill>
                            <a:srgbClr val="2E9E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ar-SA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27432" marB="27432" anchor="ctr">
                    <a:lnL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320040" y="6519672"/>
            <a:ext cx="548640" cy="31089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77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-427025" y="0"/>
            <a:ext cx="6035040" cy="6858000"/>
          </a:xfrm>
          <a:prstGeom prst="parallelogram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-609905" y="0"/>
            <a:ext cx="4023360" cy="6858000"/>
          </a:xfrm>
          <a:prstGeom prst="parallelogram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37744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</a:t>
            </a:r>
            <a:endParaRPr lang="ar-SA" sz="60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ar-SA" altLang="en-US" sz="2000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 UFWL – مخطط جانت</a:t>
            </a:r>
            <a:endParaRPr lang="ar-SA" sz="2000" dirty="0"/>
          </a:p>
        </p:txBody>
      </p:sp>
      <p:sp>
        <p:nvSpPr>
          <p:cNvPr id="6" name="Shape 4"/>
          <p:cNvSpPr/>
          <p:nvPr/>
        </p:nvSpPr>
        <p:spPr>
          <a:xfrm>
            <a:off x="4952848" y="466344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5728" y="4817000"/>
            <a:ext cx="1920240" cy="10644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مشروع UFWL – مخطط جانت</dc:title>
  <dc:subject>PptxGenJS Presentation</dc:subject>
  <dc:creator>UFWL Project</dc:creator>
  <cp:lastModifiedBy>UFWL Project</cp:lastModifiedBy>
  <cp:revision>1</cp:revision>
  <dcterms:created xsi:type="dcterms:W3CDTF">2026-10-21T10:49:26Z</dcterms:created>
  <dcterms:modified xsi:type="dcterms:W3CDTF">2026-10-21T10:49:26Z</dcterms:modified>
</cp:coreProperties>
</file>