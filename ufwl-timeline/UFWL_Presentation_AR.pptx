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10180015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2681935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إيقاف الموقع والأعمال المتبقية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الخط الزمني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69903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26980" y="1005840"/>
            <a:ext cx="13880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98160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36738" y="1005840"/>
            <a:ext cx="2024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74258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9180" y="1005840"/>
            <a:ext cx="25017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45582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1079" y="1005840"/>
            <a:ext cx="181234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11317636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6679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1596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6512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142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34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1261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17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109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600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92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584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075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67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059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550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42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8815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317636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10732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10732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1100" dirty="0"/>
          </a:p>
        </p:txBody>
      </p:sp>
      <p:sp>
        <p:nvSpPr>
          <p:cNvPr id="33" name="Shape 31"/>
          <p:cNvSpPr/>
          <p:nvPr/>
        </p:nvSpPr>
        <p:spPr>
          <a:xfrm>
            <a:off x="9899778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972930" y="2734056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91218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31 أغسطس 2026</a:t>
            </a:r>
            <a:endParaRPr lang="ar-SA" sz="950" dirty="0"/>
          </a:p>
        </p:txBody>
      </p:sp>
      <p:sp>
        <p:nvSpPr>
          <p:cNvPr id="36" name="Text 34"/>
          <p:cNvSpPr/>
          <p:nvPr/>
        </p:nvSpPr>
        <p:spPr>
          <a:xfrm>
            <a:off x="9991218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تصريح العمل</a:t>
            </a:r>
            <a:endParaRPr lang="ar-SA" sz="650" dirty="0"/>
          </a:p>
        </p:txBody>
      </p:sp>
      <p:sp>
        <p:nvSpPr>
          <p:cNvPr id="37" name="Shape 35"/>
          <p:cNvSpPr/>
          <p:nvPr/>
        </p:nvSpPr>
        <p:spPr>
          <a:xfrm>
            <a:off x="10666799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45648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045648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100" dirty="0"/>
          </a:p>
        </p:txBody>
      </p:sp>
      <p:sp>
        <p:nvSpPr>
          <p:cNvPr id="40" name="Shape 38"/>
          <p:cNvSpPr/>
          <p:nvPr/>
        </p:nvSpPr>
        <p:spPr>
          <a:xfrm>
            <a:off x="965800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731152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4944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28 سبتمبر 2026</a:t>
            </a:r>
            <a:endParaRPr lang="ar-SA" sz="950" dirty="0"/>
          </a:p>
        </p:txBody>
      </p:sp>
      <p:sp>
        <p:nvSpPr>
          <p:cNvPr id="43" name="Text 41"/>
          <p:cNvSpPr/>
          <p:nvPr/>
        </p:nvSpPr>
        <p:spPr>
          <a:xfrm>
            <a:off x="974944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 طلب التصريح</a:t>
            </a:r>
            <a:endParaRPr lang="ar-SA" sz="650" dirty="0"/>
          </a:p>
        </p:txBody>
      </p:sp>
      <p:sp>
        <p:nvSpPr>
          <p:cNvPr id="44" name="Shape 42"/>
          <p:cNvSpPr/>
          <p:nvPr/>
        </p:nvSpPr>
        <p:spPr>
          <a:xfrm>
            <a:off x="10015961" y="2624328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805649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98056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100" dirty="0"/>
          </a:p>
        </p:txBody>
      </p:sp>
      <p:sp>
        <p:nvSpPr>
          <p:cNvPr id="47" name="Shape 45"/>
          <p:cNvSpPr/>
          <p:nvPr/>
        </p:nvSpPr>
        <p:spPr>
          <a:xfrm>
            <a:off x="9007163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080315" y="191109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098603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 أكتوبر 2026</a:t>
            </a:r>
            <a:endParaRPr lang="ar-SA" sz="950" dirty="0"/>
          </a:p>
        </p:txBody>
      </p:sp>
      <p:sp>
        <p:nvSpPr>
          <p:cNvPr id="50" name="Text 48"/>
          <p:cNvSpPr/>
          <p:nvPr/>
        </p:nvSpPr>
        <p:spPr>
          <a:xfrm>
            <a:off x="9098603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إيقاف أنشطة المشروع</a:t>
            </a:r>
            <a:endParaRPr lang="ar-SA" sz="650" dirty="0"/>
          </a:p>
        </p:txBody>
      </p:sp>
      <p:sp>
        <p:nvSpPr>
          <p:cNvPr id="51" name="Shape 49"/>
          <p:cNvSpPr/>
          <p:nvPr/>
        </p:nvSpPr>
        <p:spPr>
          <a:xfrm>
            <a:off x="9365123" y="4050792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154811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15481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100" dirty="0"/>
          </a:p>
        </p:txBody>
      </p:sp>
      <p:sp>
        <p:nvSpPr>
          <p:cNvPr id="54" name="Shape 52"/>
          <p:cNvSpPr/>
          <p:nvPr/>
        </p:nvSpPr>
        <p:spPr>
          <a:xfrm>
            <a:off x="835632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8429477" y="505663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4776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3 أكتوبر 2026</a:t>
            </a:r>
            <a:endParaRPr lang="ar-SA" sz="950" dirty="0"/>
          </a:p>
        </p:txBody>
      </p:sp>
      <p:sp>
        <p:nvSpPr>
          <p:cNvPr id="57" name="Text 55"/>
          <p:cNvSpPr/>
          <p:nvPr/>
        </p:nvSpPr>
        <p:spPr>
          <a:xfrm>
            <a:off x="844776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ميدانية مشتركة</a:t>
            </a:r>
            <a:endParaRPr lang="ar-SA" sz="650" dirty="0"/>
          </a:p>
        </p:txBody>
      </p:sp>
      <p:sp>
        <p:nvSpPr>
          <p:cNvPr id="58" name="Shape 56"/>
          <p:cNvSpPr/>
          <p:nvPr/>
        </p:nvSpPr>
        <p:spPr>
          <a:xfrm>
            <a:off x="8714286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03974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85039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1100" dirty="0"/>
          </a:p>
        </p:txBody>
      </p:sp>
      <p:sp>
        <p:nvSpPr>
          <p:cNvPr id="61" name="Shape 59"/>
          <p:cNvSpPr/>
          <p:nvPr/>
        </p:nvSpPr>
        <p:spPr>
          <a:xfrm>
            <a:off x="770548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778639" y="273405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9692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4 أكتوبر 2026</a:t>
            </a:r>
            <a:endParaRPr lang="ar-SA" sz="950" dirty="0"/>
          </a:p>
        </p:txBody>
      </p:sp>
      <p:sp>
        <p:nvSpPr>
          <p:cNvPr id="64" name="Text 62"/>
          <p:cNvSpPr/>
          <p:nvPr/>
        </p:nvSpPr>
        <p:spPr>
          <a:xfrm>
            <a:off x="779692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تقييم المخاطر وخطة التخفيف</a:t>
            </a:r>
            <a:endParaRPr lang="ar-SA" sz="650" dirty="0"/>
          </a:p>
        </p:txBody>
      </p:sp>
      <p:sp>
        <p:nvSpPr>
          <p:cNvPr id="65" name="Shape 63"/>
          <p:cNvSpPr/>
          <p:nvPr/>
        </p:nvSpPr>
        <p:spPr>
          <a:xfrm>
            <a:off x="8063448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853136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78531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1100" dirty="0"/>
          </a:p>
        </p:txBody>
      </p:sp>
      <p:sp>
        <p:nvSpPr>
          <p:cNvPr id="68" name="Shape 66"/>
          <p:cNvSpPr/>
          <p:nvPr/>
        </p:nvSpPr>
        <p:spPr>
          <a:xfrm>
            <a:off x="705465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7127802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4609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5 أكتوبر 2026</a:t>
            </a:r>
            <a:endParaRPr lang="ar-SA" sz="950" dirty="0"/>
          </a:p>
        </p:txBody>
      </p:sp>
      <p:sp>
        <p:nvSpPr>
          <p:cNvPr id="71" name="Text 69"/>
          <p:cNvSpPr/>
          <p:nvPr/>
        </p:nvSpPr>
        <p:spPr>
          <a:xfrm>
            <a:off x="714609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خطة عمل تفصيلية</a:t>
            </a:r>
            <a:endParaRPr lang="ar-SA" sz="650" dirty="0"/>
          </a:p>
        </p:txBody>
      </p:sp>
      <p:sp>
        <p:nvSpPr>
          <p:cNvPr id="72" name="Shape 70"/>
          <p:cNvSpPr/>
          <p:nvPr/>
        </p:nvSpPr>
        <p:spPr>
          <a:xfrm>
            <a:off x="741261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20229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720229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1100" dirty="0"/>
          </a:p>
        </p:txBody>
      </p:sp>
      <p:sp>
        <p:nvSpPr>
          <p:cNvPr id="75" name="Shape 73"/>
          <p:cNvSpPr/>
          <p:nvPr/>
        </p:nvSpPr>
        <p:spPr>
          <a:xfrm>
            <a:off x="640381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647696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9525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78" name="Text 76"/>
          <p:cNvSpPr/>
          <p:nvPr/>
        </p:nvSpPr>
        <p:spPr>
          <a:xfrm>
            <a:off x="649525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بيان طريقة العمل (MoS)</a:t>
            </a:r>
            <a:endParaRPr lang="ar-SA" sz="650" dirty="0"/>
          </a:p>
        </p:txBody>
      </p:sp>
      <p:sp>
        <p:nvSpPr>
          <p:cNvPr id="79" name="Shape 77"/>
          <p:cNvSpPr/>
          <p:nvPr/>
        </p:nvSpPr>
        <p:spPr>
          <a:xfrm>
            <a:off x="6761773" y="4050792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551461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65514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1100" dirty="0"/>
          </a:p>
        </p:txBody>
      </p:sp>
      <p:sp>
        <p:nvSpPr>
          <p:cNvPr id="82" name="Shape 80"/>
          <p:cNvSpPr/>
          <p:nvPr/>
        </p:nvSpPr>
        <p:spPr>
          <a:xfrm>
            <a:off x="575297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5826126" y="505663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84441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85" name="Text 83"/>
          <p:cNvSpPr/>
          <p:nvPr/>
        </p:nvSpPr>
        <p:spPr>
          <a:xfrm>
            <a:off x="584441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اجتماع أصحاب المصلحة</a:t>
            </a:r>
            <a:endParaRPr lang="ar-SA" sz="650" dirty="0"/>
          </a:p>
        </p:txBody>
      </p:sp>
      <p:sp>
        <p:nvSpPr>
          <p:cNvPr id="86" name="Shape 84"/>
          <p:cNvSpPr/>
          <p:nvPr/>
        </p:nvSpPr>
        <p:spPr>
          <a:xfrm>
            <a:off x="6110935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9006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9006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1100" dirty="0"/>
          </a:p>
        </p:txBody>
      </p:sp>
      <p:sp>
        <p:nvSpPr>
          <p:cNvPr id="89" name="Shape 87"/>
          <p:cNvSpPr/>
          <p:nvPr/>
        </p:nvSpPr>
        <p:spPr>
          <a:xfrm>
            <a:off x="510213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5175289" y="273405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19357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8 أكتوبر 2026</a:t>
            </a:r>
            <a:endParaRPr lang="ar-SA" sz="950" dirty="0"/>
          </a:p>
        </p:txBody>
      </p:sp>
      <p:sp>
        <p:nvSpPr>
          <p:cNvPr id="92" name="Text 90"/>
          <p:cNvSpPr/>
          <p:nvPr/>
        </p:nvSpPr>
        <p:spPr>
          <a:xfrm>
            <a:off x="519357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 على استفسارات أصحاب المصلحة</a:t>
            </a:r>
            <a:endParaRPr lang="ar-SA" sz="650" dirty="0"/>
          </a:p>
        </p:txBody>
      </p:sp>
      <p:sp>
        <p:nvSpPr>
          <p:cNvPr id="93" name="Shape 91"/>
          <p:cNvSpPr/>
          <p:nvPr/>
        </p:nvSpPr>
        <p:spPr>
          <a:xfrm>
            <a:off x="54600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2497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52497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1100" dirty="0"/>
          </a:p>
        </p:txBody>
      </p:sp>
      <p:sp>
        <p:nvSpPr>
          <p:cNvPr id="96" name="Shape 94"/>
          <p:cNvSpPr/>
          <p:nvPr/>
        </p:nvSpPr>
        <p:spPr>
          <a:xfrm>
            <a:off x="445129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45244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54273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11 أكتوبر 2026</a:t>
            </a:r>
            <a:endParaRPr lang="ar-SA" sz="950" dirty="0"/>
          </a:p>
        </p:txBody>
      </p:sp>
      <p:sp>
        <p:nvSpPr>
          <p:cNvPr id="99" name="Text 97"/>
          <p:cNvSpPr/>
          <p:nvPr/>
        </p:nvSpPr>
        <p:spPr>
          <a:xfrm>
            <a:off x="454273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استلام توضيح من إدارة الهندسة</a:t>
            </a:r>
            <a:endParaRPr lang="ar-SA" sz="650" dirty="0"/>
          </a:p>
        </p:txBody>
      </p:sp>
      <p:sp>
        <p:nvSpPr>
          <p:cNvPr id="100" name="Shape 98"/>
          <p:cNvSpPr/>
          <p:nvPr/>
        </p:nvSpPr>
        <p:spPr>
          <a:xfrm>
            <a:off x="480926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989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45989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1100" dirty="0"/>
          </a:p>
        </p:txBody>
      </p:sp>
      <p:sp>
        <p:nvSpPr>
          <p:cNvPr id="103" name="Shape 101"/>
          <p:cNvSpPr/>
          <p:nvPr/>
        </p:nvSpPr>
        <p:spPr>
          <a:xfrm>
            <a:off x="380046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387361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9190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12 أكتوبر 2026</a:t>
            </a:r>
            <a:endParaRPr lang="ar-SA" sz="950" dirty="0"/>
          </a:p>
        </p:txBody>
      </p:sp>
      <p:sp>
        <p:nvSpPr>
          <p:cNvPr id="106" name="Text 104"/>
          <p:cNvSpPr/>
          <p:nvPr/>
        </p:nvSpPr>
        <p:spPr>
          <a:xfrm>
            <a:off x="389190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الثانية (MoS)</a:t>
            </a:r>
            <a:endParaRPr lang="ar-SA" sz="650" dirty="0"/>
          </a:p>
        </p:txBody>
      </p:sp>
      <p:sp>
        <p:nvSpPr>
          <p:cNvPr id="107" name="Shape 105"/>
          <p:cNvSpPr/>
          <p:nvPr/>
        </p:nvSpPr>
        <p:spPr>
          <a:xfrm>
            <a:off x="415842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94811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39481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1100" dirty="0"/>
          </a:p>
        </p:txBody>
      </p:sp>
      <p:sp>
        <p:nvSpPr>
          <p:cNvPr id="110" name="Shape 108"/>
          <p:cNvSpPr/>
          <p:nvPr/>
        </p:nvSpPr>
        <p:spPr>
          <a:xfrm>
            <a:off x="314962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1" name="Shape 109"/>
          <p:cNvSpPr/>
          <p:nvPr/>
        </p:nvSpPr>
        <p:spPr>
          <a:xfrm>
            <a:off x="3222776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4106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13 أكتوبر 2026</a:t>
            </a:r>
            <a:endParaRPr lang="ar-SA" sz="950" dirty="0"/>
          </a:p>
        </p:txBody>
      </p:sp>
      <p:sp>
        <p:nvSpPr>
          <p:cNvPr id="113" name="Text 111"/>
          <p:cNvSpPr/>
          <p:nvPr/>
        </p:nvSpPr>
        <p:spPr>
          <a:xfrm>
            <a:off x="324106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إدارة السلامة</a:t>
            </a:r>
            <a:endParaRPr lang="ar-SA" sz="650" dirty="0"/>
          </a:p>
        </p:txBody>
      </p:sp>
      <p:sp>
        <p:nvSpPr>
          <p:cNvPr id="114" name="Shape 112"/>
          <p:cNvSpPr/>
          <p:nvPr/>
        </p:nvSpPr>
        <p:spPr>
          <a:xfrm>
            <a:off x="3507585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297273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32972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1100" dirty="0"/>
          </a:p>
        </p:txBody>
      </p:sp>
      <p:sp>
        <p:nvSpPr>
          <p:cNvPr id="117" name="Shape 115"/>
          <p:cNvSpPr/>
          <p:nvPr/>
        </p:nvSpPr>
        <p:spPr>
          <a:xfrm>
            <a:off x="2498786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2571938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590226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14 أكتوبر 2026</a:t>
            </a:r>
            <a:endParaRPr lang="ar-SA" sz="950" dirty="0"/>
          </a:p>
        </p:txBody>
      </p:sp>
      <p:sp>
        <p:nvSpPr>
          <p:cNvPr id="120" name="Text 118"/>
          <p:cNvSpPr/>
          <p:nvPr/>
        </p:nvSpPr>
        <p:spPr>
          <a:xfrm>
            <a:off x="2590226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تعميم التصريح للموافقات</a:t>
            </a:r>
            <a:endParaRPr lang="ar-SA" sz="650" dirty="0"/>
          </a:p>
        </p:txBody>
      </p:sp>
      <p:sp>
        <p:nvSpPr>
          <p:cNvPr id="121" name="Shape 119"/>
          <p:cNvSpPr/>
          <p:nvPr/>
        </p:nvSpPr>
        <p:spPr>
          <a:xfrm>
            <a:off x="2856747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646435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26464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1100" dirty="0"/>
          </a:p>
        </p:txBody>
      </p:sp>
      <p:sp>
        <p:nvSpPr>
          <p:cNvPr id="124" name="Shape 122"/>
          <p:cNvSpPr/>
          <p:nvPr/>
        </p:nvSpPr>
        <p:spPr>
          <a:xfrm>
            <a:off x="184794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5" name="Shape 123"/>
          <p:cNvSpPr/>
          <p:nvPr/>
        </p:nvSpPr>
        <p:spPr>
          <a:xfrm>
            <a:off x="1921101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3938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15 أكتوبر 2026</a:t>
            </a:r>
            <a:endParaRPr lang="ar-SA" sz="950" dirty="0"/>
          </a:p>
        </p:txBody>
      </p:sp>
      <p:sp>
        <p:nvSpPr>
          <p:cNvPr id="127" name="Text 125"/>
          <p:cNvSpPr/>
          <p:nvPr/>
        </p:nvSpPr>
        <p:spPr>
          <a:xfrm>
            <a:off x="193938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ملاحظات إضافية من الإدارات</a:t>
            </a:r>
            <a:endParaRPr lang="ar-SA" sz="650" dirty="0"/>
          </a:p>
        </p:txBody>
      </p:sp>
      <p:sp>
        <p:nvSpPr>
          <p:cNvPr id="128" name="Shape 126"/>
          <p:cNvSpPr/>
          <p:nvPr/>
        </p:nvSpPr>
        <p:spPr>
          <a:xfrm>
            <a:off x="2205909" y="2624328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995597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19955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1100" dirty="0"/>
          </a:p>
        </p:txBody>
      </p:sp>
      <p:sp>
        <p:nvSpPr>
          <p:cNvPr id="131" name="Shape 129"/>
          <p:cNvSpPr/>
          <p:nvPr/>
        </p:nvSpPr>
        <p:spPr>
          <a:xfrm>
            <a:off x="1197111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1270263" y="191109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288551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19 أكتوبر 2026</a:t>
            </a:r>
            <a:endParaRPr lang="ar-SA" sz="950" dirty="0"/>
          </a:p>
        </p:txBody>
      </p:sp>
      <p:sp>
        <p:nvSpPr>
          <p:cNvPr id="134" name="Text 132"/>
          <p:cNvSpPr/>
          <p:nvPr/>
        </p:nvSpPr>
        <p:spPr>
          <a:xfrm>
            <a:off x="1288551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الثالثة (MoS)</a:t>
            </a:r>
            <a:endParaRPr lang="ar-SA" sz="650" dirty="0"/>
          </a:p>
        </p:txBody>
      </p:sp>
      <p:sp>
        <p:nvSpPr>
          <p:cNvPr id="135" name="Shape 133"/>
          <p:cNvSpPr/>
          <p:nvPr/>
        </p:nvSpPr>
        <p:spPr>
          <a:xfrm>
            <a:off x="155507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34476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3447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1100" dirty="0"/>
          </a:p>
        </p:txBody>
      </p:sp>
      <p:sp>
        <p:nvSpPr>
          <p:cNvPr id="138" name="Shape 136"/>
          <p:cNvSpPr/>
          <p:nvPr/>
        </p:nvSpPr>
        <p:spPr>
          <a:xfrm>
            <a:off x="546273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9" name="Shape 137"/>
          <p:cNvSpPr/>
          <p:nvPr/>
        </p:nvSpPr>
        <p:spPr>
          <a:xfrm>
            <a:off x="619425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637713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20 أكتوبر 2026</a:t>
            </a:r>
            <a:endParaRPr lang="ar-SA" sz="950" dirty="0"/>
          </a:p>
        </p:txBody>
      </p:sp>
      <p:sp>
        <p:nvSpPr>
          <p:cNvPr id="141" name="Text 139"/>
          <p:cNvSpPr/>
          <p:nvPr/>
        </p:nvSpPr>
        <p:spPr>
          <a:xfrm>
            <a:off x="637713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إغلاق الاستفسار الأخير</a:t>
            </a:r>
            <a:endParaRPr lang="ar-SA" sz="650" dirty="0"/>
          </a:p>
        </p:txBody>
      </p:sp>
      <p:sp>
        <p:nvSpPr>
          <p:cNvPr id="142" name="Shape 140"/>
          <p:cNvSpPr/>
          <p:nvPr/>
        </p:nvSpPr>
        <p:spPr>
          <a:xfrm>
            <a:off x="904234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9392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6939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1100" dirty="0"/>
          </a:p>
        </p:txBody>
      </p:sp>
      <p:sp>
        <p:nvSpPr>
          <p:cNvPr id="145" name="Shape 143"/>
          <p:cNvSpPr/>
          <p:nvPr/>
        </p:nvSpPr>
        <p:spPr>
          <a:xfrm>
            <a:off x="274320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347472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365760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21 أكتوبر 2026</a:t>
            </a:r>
            <a:endParaRPr lang="ar-SA" sz="950" dirty="0"/>
          </a:p>
        </p:txBody>
      </p:sp>
      <p:sp>
        <p:nvSpPr>
          <p:cNvPr id="148" name="Text 146"/>
          <p:cNvSpPr/>
          <p:nvPr/>
        </p:nvSpPr>
        <p:spPr>
          <a:xfrm>
            <a:off x="365760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تصريح العمل جاهز للتوقيع</a:t>
            </a:r>
            <a:endParaRPr lang="ar-SA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خطة التخفيف – جدول الشورينج والخرسانة والردم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حفرة RYDN-WLB · التصور الأولي المعاد تخطيطه بناءً على برنامج المقاول (Rev 01) · البدء 22 أكتوبر 2026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51615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94569" y="1005840"/>
            <a:ext cx="1002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المسار الحرج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10275113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22538" y="1005840"/>
            <a:ext cx="17977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 (اللون = مجموعة العمل)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8349386" y="1060704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58177" y="1005840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ميل ستون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7230161" y="1060704"/>
            <a:ext cx="182880" cy="128016"/>
          </a:xfrm>
          <a:prstGeom prst="rect">
            <a:avLst/>
          </a:prstGeom>
          <a:solidFill>
            <a:srgbClr val="CFD8DC"/>
          </a:solidFill>
          <a:ln w="12700">
            <a:solidFill>
              <a:srgbClr val="CFD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34710" y="1005840"/>
            <a:ext cx="9491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غير 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6143854" y="1042416"/>
            <a:ext cx="0" cy="164592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858207" y="1005840"/>
            <a:ext cx="1002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الموقف</a:t>
            </a:r>
            <a:endParaRPr lang="ar-SA" sz="900" dirty="0"/>
          </a:p>
        </p:txBody>
      </p:sp>
      <p:sp>
        <p:nvSpPr>
          <p:cNvPr id="14" name="Text 12"/>
          <p:cNvSpPr/>
          <p:nvPr/>
        </p:nvSpPr>
        <p:spPr>
          <a:xfrm>
            <a:off x="3274466" y="1005840"/>
            <a:ext cx="163860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علاقة ارتباط (FS / SS)</a:t>
            </a:r>
            <a:endParaRPr lang="ar-SA" sz="900" dirty="0"/>
          </a:p>
        </p:txBody>
      </p:sp>
      <p:sp>
        <p:nvSpPr>
          <p:cNvPr id="15" name="Shape 13"/>
          <p:cNvSpPr/>
          <p:nvPr/>
        </p:nvSpPr>
        <p:spPr>
          <a:xfrm>
            <a:off x="6147511" y="1325880"/>
            <a:ext cx="5678424" cy="64008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41887" y="13258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" dirty="0"/>
          </a:p>
        </p:txBody>
      </p:sp>
      <p:sp>
        <p:nvSpPr>
          <p:cNvPr id="17" name="Text 15"/>
          <p:cNvSpPr/>
          <p:nvPr/>
        </p:nvSpPr>
        <p:spPr>
          <a:xfrm>
            <a:off x="8762695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النشاط</a:t>
            </a:r>
            <a:endParaRPr lang="ar-SA" sz="900" dirty="0"/>
          </a:p>
        </p:txBody>
      </p:sp>
      <p:sp>
        <p:nvSpPr>
          <p:cNvPr id="18" name="Text 16"/>
          <p:cNvSpPr/>
          <p:nvPr/>
        </p:nvSpPr>
        <p:spPr>
          <a:xfrm>
            <a:off x="7967167" y="13258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السابق</a:t>
            </a:r>
            <a:endParaRPr lang="ar-SA" sz="900" dirty="0"/>
          </a:p>
        </p:txBody>
      </p:sp>
      <p:sp>
        <p:nvSpPr>
          <p:cNvPr id="19" name="Text 17"/>
          <p:cNvSpPr/>
          <p:nvPr/>
        </p:nvSpPr>
        <p:spPr>
          <a:xfrm>
            <a:off x="7464247" y="13258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المدة (أيام عمل)</a:t>
            </a:r>
            <a:endParaRPr lang="ar-SA" sz="750" dirty="0"/>
          </a:p>
        </p:txBody>
      </p:sp>
      <p:sp>
        <p:nvSpPr>
          <p:cNvPr id="20" name="Text 18"/>
          <p:cNvSpPr/>
          <p:nvPr/>
        </p:nvSpPr>
        <p:spPr>
          <a:xfrm>
            <a:off x="6805879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البداية</a:t>
            </a:r>
            <a:endParaRPr lang="ar-SA" sz="900" dirty="0"/>
          </a:p>
        </p:txBody>
      </p:sp>
      <p:sp>
        <p:nvSpPr>
          <p:cNvPr id="21" name="Text 19"/>
          <p:cNvSpPr/>
          <p:nvPr/>
        </p:nvSpPr>
        <p:spPr>
          <a:xfrm>
            <a:off x="6147511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النهاية</a:t>
            </a:r>
            <a:endParaRPr lang="ar-SA" sz="900" dirty="0"/>
          </a:p>
        </p:txBody>
      </p:sp>
      <p:sp>
        <p:nvSpPr>
          <p:cNvPr id="22" name="Shape 20"/>
          <p:cNvSpPr/>
          <p:nvPr/>
        </p:nvSpPr>
        <p:spPr>
          <a:xfrm>
            <a:off x="3086584" y="1325880"/>
            <a:ext cx="3060927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86584" y="1325880"/>
            <a:ext cx="30609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أكتوبر 2026</a:t>
            </a:r>
            <a:endParaRPr lang="ar-SA" sz="850" dirty="0"/>
          </a:p>
        </p:txBody>
      </p:sp>
      <p:sp>
        <p:nvSpPr>
          <p:cNvPr id="24" name="Shape 22"/>
          <p:cNvSpPr/>
          <p:nvPr/>
        </p:nvSpPr>
        <p:spPr>
          <a:xfrm>
            <a:off x="365760" y="1325880"/>
            <a:ext cx="2720824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1325880"/>
            <a:ext cx="27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نوفمبر 2026</a:t>
            </a:r>
            <a:endParaRPr lang="ar-SA" sz="850" dirty="0"/>
          </a:p>
        </p:txBody>
      </p:sp>
      <p:sp>
        <p:nvSpPr>
          <p:cNvPr id="26" name="Shape 24"/>
          <p:cNvSpPr/>
          <p:nvPr/>
        </p:nvSpPr>
        <p:spPr>
          <a:xfrm>
            <a:off x="5637357" y="1508760"/>
            <a:ext cx="510155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37357" y="1508760"/>
            <a:ext cx="51015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1</a:t>
            </a:r>
            <a:endParaRPr lang="ar-SA" sz="650" dirty="0"/>
          </a:p>
        </p:txBody>
      </p:sp>
      <p:sp>
        <p:nvSpPr>
          <p:cNvPr id="28" name="Shape 26"/>
          <p:cNvSpPr/>
          <p:nvPr/>
        </p:nvSpPr>
        <p:spPr>
          <a:xfrm>
            <a:off x="4446996" y="1508760"/>
            <a:ext cx="1190361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46996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2</a:t>
            </a:r>
            <a:endParaRPr lang="ar-SA" sz="650" dirty="0"/>
          </a:p>
        </p:txBody>
      </p:sp>
      <p:sp>
        <p:nvSpPr>
          <p:cNvPr id="30" name="Shape 28"/>
          <p:cNvSpPr/>
          <p:nvPr/>
        </p:nvSpPr>
        <p:spPr>
          <a:xfrm>
            <a:off x="3256636" y="1508760"/>
            <a:ext cx="1190361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56636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3</a:t>
            </a:r>
            <a:endParaRPr lang="ar-SA" sz="650" dirty="0"/>
          </a:p>
        </p:txBody>
      </p:sp>
      <p:sp>
        <p:nvSpPr>
          <p:cNvPr id="32" name="Shape 30"/>
          <p:cNvSpPr/>
          <p:nvPr/>
        </p:nvSpPr>
        <p:spPr>
          <a:xfrm>
            <a:off x="2066275" y="1508760"/>
            <a:ext cx="1190361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066275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4</a:t>
            </a:r>
            <a:endParaRPr lang="ar-SA" sz="650" dirty="0"/>
          </a:p>
        </p:txBody>
      </p:sp>
      <p:sp>
        <p:nvSpPr>
          <p:cNvPr id="34" name="Shape 32"/>
          <p:cNvSpPr/>
          <p:nvPr/>
        </p:nvSpPr>
        <p:spPr>
          <a:xfrm>
            <a:off x="875915" y="1508760"/>
            <a:ext cx="1190361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5915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5</a:t>
            </a:r>
            <a:endParaRPr lang="ar-SA" sz="650" dirty="0"/>
          </a:p>
        </p:txBody>
      </p:sp>
      <p:sp>
        <p:nvSpPr>
          <p:cNvPr id="36" name="Shape 34"/>
          <p:cNvSpPr/>
          <p:nvPr/>
        </p:nvSpPr>
        <p:spPr>
          <a:xfrm>
            <a:off x="365760" y="1508760"/>
            <a:ext cx="510155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1508760"/>
            <a:ext cx="51015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6</a:t>
            </a:r>
            <a:endParaRPr lang="ar-SA" sz="650" dirty="0"/>
          </a:p>
        </p:txBody>
      </p:sp>
      <p:sp>
        <p:nvSpPr>
          <p:cNvPr id="38" name="Shape 36"/>
          <p:cNvSpPr/>
          <p:nvPr/>
        </p:nvSpPr>
        <p:spPr>
          <a:xfrm>
            <a:off x="597746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7746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40" name="Text 38"/>
          <p:cNvSpPr/>
          <p:nvPr/>
        </p:nvSpPr>
        <p:spPr>
          <a:xfrm>
            <a:off x="597746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550" dirty="0"/>
          </a:p>
        </p:txBody>
      </p:sp>
      <p:sp>
        <p:nvSpPr>
          <p:cNvPr id="41" name="Shape 39"/>
          <p:cNvSpPr/>
          <p:nvPr/>
        </p:nvSpPr>
        <p:spPr>
          <a:xfrm>
            <a:off x="580740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0740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43" name="Text 41"/>
          <p:cNvSpPr/>
          <p:nvPr/>
        </p:nvSpPr>
        <p:spPr>
          <a:xfrm>
            <a:off x="580740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550" dirty="0"/>
          </a:p>
        </p:txBody>
      </p:sp>
      <p:sp>
        <p:nvSpPr>
          <p:cNvPr id="44" name="Shape 42"/>
          <p:cNvSpPr/>
          <p:nvPr/>
        </p:nvSpPr>
        <p:spPr>
          <a:xfrm>
            <a:off x="5637357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3735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46" name="Text 44"/>
          <p:cNvSpPr/>
          <p:nvPr/>
        </p:nvSpPr>
        <p:spPr>
          <a:xfrm>
            <a:off x="563735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550" dirty="0"/>
          </a:p>
        </p:txBody>
      </p:sp>
      <p:sp>
        <p:nvSpPr>
          <p:cNvPr id="47" name="Shape 45"/>
          <p:cNvSpPr/>
          <p:nvPr/>
        </p:nvSpPr>
        <p:spPr>
          <a:xfrm>
            <a:off x="5637357" y="1965960"/>
            <a:ext cx="170052" cy="2194560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6730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6730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50" name="Text 48"/>
          <p:cNvSpPr/>
          <p:nvPr/>
        </p:nvSpPr>
        <p:spPr>
          <a:xfrm>
            <a:off x="546730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550" dirty="0"/>
          </a:p>
        </p:txBody>
      </p:sp>
      <p:sp>
        <p:nvSpPr>
          <p:cNvPr id="51" name="Shape 49"/>
          <p:cNvSpPr/>
          <p:nvPr/>
        </p:nvSpPr>
        <p:spPr>
          <a:xfrm>
            <a:off x="5637357" y="1965960"/>
            <a:ext cx="0" cy="2194560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29725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9725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54" name="Text 52"/>
          <p:cNvSpPr/>
          <p:nvPr/>
        </p:nvSpPr>
        <p:spPr>
          <a:xfrm>
            <a:off x="529725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ar-SA" sz="550" dirty="0"/>
          </a:p>
        </p:txBody>
      </p:sp>
      <p:sp>
        <p:nvSpPr>
          <p:cNvPr id="55" name="Shape 53"/>
          <p:cNvSpPr/>
          <p:nvPr/>
        </p:nvSpPr>
        <p:spPr>
          <a:xfrm>
            <a:off x="512720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2720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57" name="Text 55"/>
          <p:cNvSpPr/>
          <p:nvPr/>
        </p:nvSpPr>
        <p:spPr>
          <a:xfrm>
            <a:off x="512720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ar-SA" sz="550" dirty="0"/>
          </a:p>
        </p:txBody>
      </p:sp>
      <p:sp>
        <p:nvSpPr>
          <p:cNvPr id="58" name="Shape 56"/>
          <p:cNvSpPr/>
          <p:nvPr/>
        </p:nvSpPr>
        <p:spPr>
          <a:xfrm>
            <a:off x="495715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5715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60" name="Text 58"/>
          <p:cNvSpPr/>
          <p:nvPr/>
        </p:nvSpPr>
        <p:spPr>
          <a:xfrm>
            <a:off x="495715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550" dirty="0"/>
          </a:p>
        </p:txBody>
      </p:sp>
      <p:sp>
        <p:nvSpPr>
          <p:cNvPr id="61" name="Shape 59"/>
          <p:cNvSpPr/>
          <p:nvPr/>
        </p:nvSpPr>
        <p:spPr>
          <a:xfrm>
            <a:off x="478709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8709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63" name="Text 61"/>
          <p:cNvSpPr/>
          <p:nvPr/>
        </p:nvSpPr>
        <p:spPr>
          <a:xfrm>
            <a:off x="478709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ar-SA" sz="550" dirty="0"/>
          </a:p>
        </p:txBody>
      </p:sp>
      <p:sp>
        <p:nvSpPr>
          <p:cNvPr id="64" name="Shape 62"/>
          <p:cNvSpPr/>
          <p:nvPr/>
        </p:nvSpPr>
        <p:spPr>
          <a:xfrm>
            <a:off x="461704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61704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66" name="Text 64"/>
          <p:cNvSpPr/>
          <p:nvPr/>
        </p:nvSpPr>
        <p:spPr>
          <a:xfrm>
            <a:off x="461704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ar-SA" sz="550" dirty="0"/>
          </a:p>
        </p:txBody>
      </p:sp>
      <p:sp>
        <p:nvSpPr>
          <p:cNvPr id="67" name="Shape 65"/>
          <p:cNvSpPr/>
          <p:nvPr/>
        </p:nvSpPr>
        <p:spPr>
          <a:xfrm>
            <a:off x="4446996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4699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69" name="Text 67"/>
          <p:cNvSpPr/>
          <p:nvPr/>
        </p:nvSpPr>
        <p:spPr>
          <a:xfrm>
            <a:off x="444699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ar-SA" sz="550" dirty="0"/>
          </a:p>
        </p:txBody>
      </p:sp>
      <p:sp>
        <p:nvSpPr>
          <p:cNvPr id="70" name="Shape 68"/>
          <p:cNvSpPr/>
          <p:nvPr/>
        </p:nvSpPr>
        <p:spPr>
          <a:xfrm>
            <a:off x="4446996" y="1965960"/>
            <a:ext cx="170052" cy="2194560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27694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27694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73" name="Text 71"/>
          <p:cNvSpPr/>
          <p:nvPr/>
        </p:nvSpPr>
        <p:spPr>
          <a:xfrm>
            <a:off x="427694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ar-SA" sz="550" dirty="0"/>
          </a:p>
        </p:txBody>
      </p:sp>
      <p:sp>
        <p:nvSpPr>
          <p:cNvPr id="74" name="Shape 72"/>
          <p:cNvSpPr/>
          <p:nvPr/>
        </p:nvSpPr>
        <p:spPr>
          <a:xfrm>
            <a:off x="4446996" y="1965960"/>
            <a:ext cx="0" cy="2194560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10689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0689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77" name="Text 75"/>
          <p:cNvSpPr/>
          <p:nvPr/>
        </p:nvSpPr>
        <p:spPr>
          <a:xfrm>
            <a:off x="410689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ar-SA" sz="550" dirty="0"/>
          </a:p>
        </p:txBody>
      </p:sp>
      <p:sp>
        <p:nvSpPr>
          <p:cNvPr id="78" name="Shape 76"/>
          <p:cNvSpPr/>
          <p:nvPr/>
        </p:nvSpPr>
        <p:spPr>
          <a:xfrm>
            <a:off x="393684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3684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80" name="Text 78"/>
          <p:cNvSpPr/>
          <p:nvPr/>
        </p:nvSpPr>
        <p:spPr>
          <a:xfrm>
            <a:off x="393684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ar-SA" sz="550" dirty="0"/>
          </a:p>
        </p:txBody>
      </p:sp>
      <p:sp>
        <p:nvSpPr>
          <p:cNvPr id="81" name="Shape 79"/>
          <p:cNvSpPr/>
          <p:nvPr/>
        </p:nvSpPr>
        <p:spPr>
          <a:xfrm>
            <a:off x="376679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76679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83" name="Text 81"/>
          <p:cNvSpPr/>
          <p:nvPr/>
        </p:nvSpPr>
        <p:spPr>
          <a:xfrm>
            <a:off x="376679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ar-SA" sz="550" dirty="0"/>
          </a:p>
        </p:txBody>
      </p:sp>
      <p:sp>
        <p:nvSpPr>
          <p:cNvPr id="84" name="Shape 82"/>
          <p:cNvSpPr/>
          <p:nvPr/>
        </p:nvSpPr>
        <p:spPr>
          <a:xfrm>
            <a:off x="359673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59673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86" name="Text 84"/>
          <p:cNvSpPr/>
          <p:nvPr/>
        </p:nvSpPr>
        <p:spPr>
          <a:xfrm>
            <a:off x="359673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ar-SA" sz="550" dirty="0"/>
          </a:p>
        </p:txBody>
      </p:sp>
      <p:sp>
        <p:nvSpPr>
          <p:cNvPr id="87" name="Shape 85"/>
          <p:cNvSpPr/>
          <p:nvPr/>
        </p:nvSpPr>
        <p:spPr>
          <a:xfrm>
            <a:off x="3426687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42668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89" name="Text 87"/>
          <p:cNvSpPr/>
          <p:nvPr/>
        </p:nvSpPr>
        <p:spPr>
          <a:xfrm>
            <a:off x="342668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ar-SA" sz="550" dirty="0"/>
          </a:p>
        </p:txBody>
      </p:sp>
      <p:sp>
        <p:nvSpPr>
          <p:cNvPr id="90" name="Shape 88"/>
          <p:cNvSpPr/>
          <p:nvPr/>
        </p:nvSpPr>
        <p:spPr>
          <a:xfrm>
            <a:off x="3256636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25663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92" name="Text 90"/>
          <p:cNvSpPr/>
          <p:nvPr/>
        </p:nvSpPr>
        <p:spPr>
          <a:xfrm>
            <a:off x="325663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ar-SA" sz="550" dirty="0"/>
          </a:p>
        </p:txBody>
      </p:sp>
      <p:sp>
        <p:nvSpPr>
          <p:cNvPr id="93" name="Shape 91"/>
          <p:cNvSpPr/>
          <p:nvPr/>
        </p:nvSpPr>
        <p:spPr>
          <a:xfrm>
            <a:off x="3256636" y="1965960"/>
            <a:ext cx="170052" cy="2194560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08658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08658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96" name="Text 94"/>
          <p:cNvSpPr/>
          <p:nvPr/>
        </p:nvSpPr>
        <p:spPr>
          <a:xfrm>
            <a:off x="308658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ar-SA" sz="550" dirty="0"/>
          </a:p>
        </p:txBody>
      </p:sp>
      <p:sp>
        <p:nvSpPr>
          <p:cNvPr id="97" name="Shape 95"/>
          <p:cNvSpPr/>
          <p:nvPr/>
        </p:nvSpPr>
        <p:spPr>
          <a:xfrm>
            <a:off x="3256636" y="1965960"/>
            <a:ext cx="0" cy="2194560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91653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91653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00" name="Text 98"/>
          <p:cNvSpPr/>
          <p:nvPr/>
        </p:nvSpPr>
        <p:spPr>
          <a:xfrm>
            <a:off x="291653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550" dirty="0"/>
          </a:p>
        </p:txBody>
      </p:sp>
      <p:sp>
        <p:nvSpPr>
          <p:cNvPr id="101" name="Shape 99"/>
          <p:cNvSpPr/>
          <p:nvPr/>
        </p:nvSpPr>
        <p:spPr>
          <a:xfrm>
            <a:off x="274648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74648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03" name="Text 101"/>
          <p:cNvSpPr/>
          <p:nvPr/>
        </p:nvSpPr>
        <p:spPr>
          <a:xfrm>
            <a:off x="274648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550" dirty="0"/>
          </a:p>
        </p:txBody>
      </p:sp>
      <p:sp>
        <p:nvSpPr>
          <p:cNvPr id="104" name="Shape 102"/>
          <p:cNvSpPr/>
          <p:nvPr/>
        </p:nvSpPr>
        <p:spPr>
          <a:xfrm>
            <a:off x="257643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7643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06" name="Text 104"/>
          <p:cNvSpPr/>
          <p:nvPr/>
        </p:nvSpPr>
        <p:spPr>
          <a:xfrm>
            <a:off x="257643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550" dirty="0"/>
          </a:p>
        </p:txBody>
      </p:sp>
      <p:sp>
        <p:nvSpPr>
          <p:cNvPr id="107" name="Shape 105"/>
          <p:cNvSpPr/>
          <p:nvPr/>
        </p:nvSpPr>
        <p:spPr>
          <a:xfrm>
            <a:off x="240637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240637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09" name="Text 107"/>
          <p:cNvSpPr/>
          <p:nvPr/>
        </p:nvSpPr>
        <p:spPr>
          <a:xfrm>
            <a:off x="240637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550" dirty="0"/>
          </a:p>
        </p:txBody>
      </p:sp>
      <p:sp>
        <p:nvSpPr>
          <p:cNvPr id="110" name="Shape 108"/>
          <p:cNvSpPr/>
          <p:nvPr/>
        </p:nvSpPr>
        <p:spPr>
          <a:xfrm>
            <a:off x="2236327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23632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12" name="Text 110"/>
          <p:cNvSpPr/>
          <p:nvPr/>
        </p:nvSpPr>
        <p:spPr>
          <a:xfrm>
            <a:off x="223632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550" dirty="0"/>
          </a:p>
        </p:txBody>
      </p:sp>
      <p:sp>
        <p:nvSpPr>
          <p:cNvPr id="113" name="Shape 111"/>
          <p:cNvSpPr/>
          <p:nvPr/>
        </p:nvSpPr>
        <p:spPr>
          <a:xfrm>
            <a:off x="2066275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206627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15" name="Text 113"/>
          <p:cNvSpPr/>
          <p:nvPr/>
        </p:nvSpPr>
        <p:spPr>
          <a:xfrm>
            <a:off x="206627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550" dirty="0"/>
          </a:p>
        </p:txBody>
      </p:sp>
      <p:sp>
        <p:nvSpPr>
          <p:cNvPr id="116" name="Shape 114"/>
          <p:cNvSpPr/>
          <p:nvPr/>
        </p:nvSpPr>
        <p:spPr>
          <a:xfrm>
            <a:off x="2066275" y="1965960"/>
            <a:ext cx="170052" cy="2194560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89622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89622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19" name="Text 117"/>
          <p:cNvSpPr/>
          <p:nvPr/>
        </p:nvSpPr>
        <p:spPr>
          <a:xfrm>
            <a:off x="189622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550" dirty="0"/>
          </a:p>
        </p:txBody>
      </p:sp>
      <p:sp>
        <p:nvSpPr>
          <p:cNvPr id="120" name="Shape 118"/>
          <p:cNvSpPr/>
          <p:nvPr/>
        </p:nvSpPr>
        <p:spPr>
          <a:xfrm>
            <a:off x="2066275" y="1965960"/>
            <a:ext cx="0" cy="2194560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72617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72617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23" name="Text 121"/>
          <p:cNvSpPr/>
          <p:nvPr/>
        </p:nvSpPr>
        <p:spPr>
          <a:xfrm>
            <a:off x="172617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550" dirty="0"/>
          </a:p>
        </p:txBody>
      </p:sp>
      <p:sp>
        <p:nvSpPr>
          <p:cNvPr id="124" name="Shape 122"/>
          <p:cNvSpPr/>
          <p:nvPr/>
        </p:nvSpPr>
        <p:spPr>
          <a:xfrm>
            <a:off x="155612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55612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26" name="Text 124"/>
          <p:cNvSpPr/>
          <p:nvPr/>
        </p:nvSpPr>
        <p:spPr>
          <a:xfrm>
            <a:off x="155612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550" dirty="0"/>
          </a:p>
        </p:txBody>
      </p:sp>
      <p:sp>
        <p:nvSpPr>
          <p:cNvPr id="127" name="Shape 125"/>
          <p:cNvSpPr/>
          <p:nvPr/>
        </p:nvSpPr>
        <p:spPr>
          <a:xfrm>
            <a:off x="138606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38606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29" name="Text 127"/>
          <p:cNvSpPr/>
          <p:nvPr/>
        </p:nvSpPr>
        <p:spPr>
          <a:xfrm>
            <a:off x="138606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550" dirty="0"/>
          </a:p>
        </p:txBody>
      </p:sp>
      <p:sp>
        <p:nvSpPr>
          <p:cNvPr id="130" name="Shape 128"/>
          <p:cNvSpPr/>
          <p:nvPr/>
        </p:nvSpPr>
        <p:spPr>
          <a:xfrm>
            <a:off x="121601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21601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32" name="Text 130"/>
          <p:cNvSpPr/>
          <p:nvPr/>
        </p:nvSpPr>
        <p:spPr>
          <a:xfrm>
            <a:off x="121601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550" dirty="0"/>
          </a:p>
        </p:txBody>
      </p:sp>
      <p:sp>
        <p:nvSpPr>
          <p:cNvPr id="133" name="Shape 131"/>
          <p:cNvSpPr/>
          <p:nvPr/>
        </p:nvSpPr>
        <p:spPr>
          <a:xfrm>
            <a:off x="104596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104596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35" name="Text 133"/>
          <p:cNvSpPr/>
          <p:nvPr/>
        </p:nvSpPr>
        <p:spPr>
          <a:xfrm>
            <a:off x="104596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550" dirty="0"/>
          </a:p>
        </p:txBody>
      </p:sp>
      <p:sp>
        <p:nvSpPr>
          <p:cNvPr id="136" name="Shape 134"/>
          <p:cNvSpPr/>
          <p:nvPr/>
        </p:nvSpPr>
        <p:spPr>
          <a:xfrm>
            <a:off x="875915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7591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38" name="Text 136"/>
          <p:cNvSpPr/>
          <p:nvPr/>
        </p:nvSpPr>
        <p:spPr>
          <a:xfrm>
            <a:off x="87591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550" dirty="0"/>
          </a:p>
        </p:txBody>
      </p:sp>
      <p:sp>
        <p:nvSpPr>
          <p:cNvPr id="139" name="Shape 137"/>
          <p:cNvSpPr/>
          <p:nvPr/>
        </p:nvSpPr>
        <p:spPr>
          <a:xfrm>
            <a:off x="875915" y="1965960"/>
            <a:ext cx="170052" cy="2194560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70586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70586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42" name="Text 140"/>
          <p:cNvSpPr/>
          <p:nvPr/>
        </p:nvSpPr>
        <p:spPr>
          <a:xfrm>
            <a:off x="70586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550" dirty="0"/>
          </a:p>
        </p:txBody>
      </p:sp>
      <p:sp>
        <p:nvSpPr>
          <p:cNvPr id="143" name="Shape 141"/>
          <p:cNvSpPr/>
          <p:nvPr/>
        </p:nvSpPr>
        <p:spPr>
          <a:xfrm>
            <a:off x="875915" y="1965960"/>
            <a:ext cx="0" cy="2194560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53581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3581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46" name="Text 144"/>
          <p:cNvSpPr/>
          <p:nvPr/>
        </p:nvSpPr>
        <p:spPr>
          <a:xfrm>
            <a:off x="53581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550" dirty="0"/>
          </a:p>
        </p:txBody>
      </p:sp>
      <p:sp>
        <p:nvSpPr>
          <p:cNvPr id="147" name="Shape 145"/>
          <p:cNvSpPr/>
          <p:nvPr/>
        </p:nvSpPr>
        <p:spPr>
          <a:xfrm>
            <a:off x="36576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36576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49" name="Text 147"/>
          <p:cNvSpPr/>
          <p:nvPr/>
        </p:nvSpPr>
        <p:spPr>
          <a:xfrm>
            <a:off x="36576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550" dirty="0"/>
          </a:p>
        </p:txBody>
      </p:sp>
      <p:sp>
        <p:nvSpPr>
          <p:cNvPr id="150" name="Shape 148"/>
          <p:cNvSpPr/>
          <p:nvPr/>
        </p:nvSpPr>
        <p:spPr>
          <a:xfrm>
            <a:off x="365760" y="196596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1515039" y="1984248"/>
            <a:ext cx="237744" cy="237744"/>
          </a:xfrm>
          <a:prstGeom prst="ellipse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11441887" y="1965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ar-SA" sz="900" dirty="0"/>
          </a:p>
        </p:txBody>
      </p:sp>
      <p:sp>
        <p:nvSpPr>
          <p:cNvPr id="153" name="Text 151"/>
          <p:cNvSpPr/>
          <p:nvPr/>
        </p:nvSpPr>
        <p:spPr>
          <a:xfrm>
            <a:off x="8762695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0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المدة الإجمالية للمشروع</a:t>
            </a:r>
            <a:endParaRPr lang="ar-SA" sz="1000" dirty="0"/>
          </a:p>
        </p:txBody>
      </p:sp>
      <p:sp>
        <p:nvSpPr>
          <p:cNvPr id="154" name="Text 152"/>
          <p:cNvSpPr/>
          <p:nvPr/>
        </p:nvSpPr>
        <p:spPr>
          <a:xfrm>
            <a:off x="7464247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1100" dirty="0"/>
          </a:p>
        </p:txBody>
      </p:sp>
      <p:sp>
        <p:nvSpPr>
          <p:cNvPr id="155" name="Text 153"/>
          <p:cNvSpPr/>
          <p:nvPr/>
        </p:nvSpPr>
        <p:spPr>
          <a:xfrm>
            <a:off x="6805879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أكتوبر</a:t>
            </a:r>
            <a:endParaRPr lang="ar-SA" sz="850" dirty="0"/>
          </a:p>
        </p:txBody>
      </p:sp>
      <p:sp>
        <p:nvSpPr>
          <p:cNvPr id="156" name="Text 154"/>
          <p:cNvSpPr/>
          <p:nvPr/>
        </p:nvSpPr>
        <p:spPr>
          <a:xfrm>
            <a:off x="6147511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نوفمبر</a:t>
            </a:r>
            <a:endParaRPr lang="ar-SA" sz="850" dirty="0"/>
          </a:p>
        </p:txBody>
      </p:sp>
      <p:sp>
        <p:nvSpPr>
          <p:cNvPr id="157" name="Shape 155"/>
          <p:cNvSpPr/>
          <p:nvPr/>
        </p:nvSpPr>
        <p:spPr>
          <a:xfrm>
            <a:off x="705863" y="2011680"/>
            <a:ext cx="4081236" cy="182880"/>
          </a:xfrm>
          <a:prstGeom prst="roundRect">
            <a:avLst>
              <a:gd name="adj" fmla="val 25000"/>
            </a:avLst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705863" y="2011680"/>
            <a:ext cx="40812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يوم عمل · 22 أكتوبر → 14 نوفمبر</a:t>
            </a:r>
            <a:endParaRPr lang="ar-SA" sz="850" dirty="0"/>
          </a:p>
        </p:txBody>
      </p:sp>
      <p:sp>
        <p:nvSpPr>
          <p:cNvPr id="159" name="Shape 157"/>
          <p:cNvSpPr/>
          <p:nvPr/>
        </p:nvSpPr>
        <p:spPr>
          <a:xfrm>
            <a:off x="365760" y="2240280"/>
            <a:ext cx="11460175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11515039" y="2441448"/>
            <a:ext cx="237744" cy="237744"/>
          </a:xfrm>
          <a:prstGeom prst="ellipse">
            <a:avLst/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11441887" y="22402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ar-SA" sz="850" dirty="0"/>
          </a:p>
        </p:txBody>
      </p:sp>
      <p:sp>
        <p:nvSpPr>
          <p:cNvPr id="162" name="Text 160"/>
          <p:cNvSpPr/>
          <p:nvPr/>
        </p:nvSpPr>
        <p:spPr>
          <a:xfrm>
            <a:off x="8762695" y="22402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نظام الدعم (Shoring)</a:t>
            </a:r>
            <a:endParaRPr lang="ar-SA" sz="900" dirty="0"/>
          </a:p>
        </p:txBody>
      </p:sp>
      <p:sp>
        <p:nvSpPr>
          <p:cNvPr id="163" name="Text 161"/>
          <p:cNvSpPr/>
          <p:nvPr/>
        </p:nvSpPr>
        <p:spPr>
          <a:xfrm>
            <a:off x="7967167" y="22402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ar-SA" sz="850" dirty="0"/>
          </a:p>
        </p:txBody>
      </p:sp>
      <p:sp>
        <p:nvSpPr>
          <p:cNvPr id="164" name="Text 162"/>
          <p:cNvSpPr/>
          <p:nvPr/>
        </p:nvSpPr>
        <p:spPr>
          <a:xfrm>
            <a:off x="7464247" y="22402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050" dirty="0"/>
          </a:p>
        </p:txBody>
      </p:sp>
      <p:sp>
        <p:nvSpPr>
          <p:cNvPr id="165" name="Text 163"/>
          <p:cNvSpPr/>
          <p:nvPr/>
        </p:nvSpPr>
        <p:spPr>
          <a:xfrm>
            <a:off x="6805879" y="22402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أكتوبر</a:t>
            </a:r>
            <a:endParaRPr lang="ar-SA" sz="850" dirty="0"/>
          </a:p>
        </p:txBody>
      </p:sp>
      <p:sp>
        <p:nvSpPr>
          <p:cNvPr id="166" name="Text 164"/>
          <p:cNvSpPr/>
          <p:nvPr/>
        </p:nvSpPr>
        <p:spPr>
          <a:xfrm>
            <a:off x="6147511" y="22402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850" dirty="0"/>
          </a:p>
        </p:txBody>
      </p:sp>
      <p:sp>
        <p:nvSpPr>
          <p:cNvPr id="167" name="Shape 165"/>
          <p:cNvSpPr/>
          <p:nvPr/>
        </p:nvSpPr>
        <p:spPr>
          <a:xfrm>
            <a:off x="3936842" y="2404872"/>
            <a:ext cx="850258" cy="310896"/>
          </a:xfrm>
          <a:prstGeom prst="roundRect">
            <a:avLst>
              <a:gd name="adj" fmla="val 11765"/>
            </a:avLst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168" name="Text 166"/>
          <p:cNvSpPr/>
          <p:nvPr/>
        </p:nvSpPr>
        <p:spPr>
          <a:xfrm>
            <a:off x="3936842" y="2404872"/>
            <a:ext cx="8502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يوم</a:t>
            </a:r>
            <a:endParaRPr lang="ar-SA" sz="700" dirty="0"/>
          </a:p>
        </p:txBody>
      </p:sp>
      <p:sp>
        <p:nvSpPr>
          <p:cNvPr id="169" name="Shape 167"/>
          <p:cNvSpPr/>
          <p:nvPr/>
        </p:nvSpPr>
        <p:spPr>
          <a:xfrm>
            <a:off x="365760" y="2880360"/>
            <a:ext cx="11460175" cy="640080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1515039" y="3081528"/>
            <a:ext cx="237744" cy="237744"/>
          </a:xfrm>
          <a:prstGeom prst="ellipse">
            <a:avLst/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1441887" y="288036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ar-SA" sz="850" dirty="0"/>
          </a:p>
        </p:txBody>
      </p:sp>
      <p:sp>
        <p:nvSpPr>
          <p:cNvPr id="172" name="Text 170"/>
          <p:cNvSpPr/>
          <p:nvPr/>
        </p:nvSpPr>
        <p:spPr>
          <a:xfrm>
            <a:off x="8762695" y="288036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أساسات المبنى – حفر ودمك / اختبار وحديد تسليح وخرسانة</a:t>
            </a:r>
            <a:endParaRPr lang="ar-SA" sz="900" dirty="0"/>
          </a:p>
        </p:txBody>
      </p:sp>
      <p:sp>
        <p:nvSpPr>
          <p:cNvPr id="173" name="Text 171"/>
          <p:cNvSpPr/>
          <p:nvPr/>
        </p:nvSpPr>
        <p:spPr>
          <a:xfrm>
            <a:off x="7967167" y="28803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FS</a:t>
            </a:r>
            <a:endParaRPr lang="ar-SA" sz="850" dirty="0"/>
          </a:p>
        </p:txBody>
      </p:sp>
      <p:sp>
        <p:nvSpPr>
          <p:cNvPr id="174" name="Text 172"/>
          <p:cNvSpPr/>
          <p:nvPr/>
        </p:nvSpPr>
        <p:spPr>
          <a:xfrm>
            <a:off x="7464247" y="28803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1050" dirty="0"/>
          </a:p>
        </p:txBody>
      </p:sp>
      <p:sp>
        <p:nvSpPr>
          <p:cNvPr id="175" name="Text 173"/>
          <p:cNvSpPr/>
          <p:nvPr/>
        </p:nvSpPr>
        <p:spPr>
          <a:xfrm>
            <a:off x="6805879" y="288036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أكتوبر</a:t>
            </a:r>
            <a:endParaRPr lang="ar-SA" sz="850" dirty="0"/>
          </a:p>
        </p:txBody>
      </p:sp>
      <p:sp>
        <p:nvSpPr>
          <p:cNvPr id="176" name="Text 174"/>
          <p:cNvSpPr/>
          <p:nvPr/>
        </p:nvSpPr>
        <p:spPr>
          <a:xfrm>
            <a:off x="6147511" y="288036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نوفمبر</a:t>
            </a:r>
            <a:endParaRPr lang="ar-SA" sz="850" dirty="0"/>
          </a:p>
        </p:txBody>
      </p:sp>
      <p:sp>
        <p:nvSpPr>
          <p:cNvPr id="177" name="Shape 175"/>
          <p:cNvSpPr/>
          <p:nvPr/>
        </p:nvSpPr>
        <p:spPr>
          <a:xfrm>
            <a:off x="1216018" y="3044952"/>
            <a:ext cx="2720824" cy="310896"/>
          </a:xfrm>
          <a:prstGeom prst="roundRect">
            <a:avLst>
              <a:gd name="adj" fmla="val 11765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1216018" y="3044952"/>
            <a:ext cx="2720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يوم</a:t>
            </a:r>
            <a:endParaRPr lang="ar-SA" sz="700" dirty="0"/>
          </a:p>
        </p:txBody>
      </p:sp>
      <p:sp>
        <p:nvSpPr>
          <p:cNvPr id="179" name="Shape 177"/>
          <p:cNvSpPr/>
          <p:nvPr/>
        </p:nvSpPr>
        <p:spPr>
          <a:xfrm>
            <a:off x="365760" y="3520440"/>
            <a:ext cx="11460175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11515039" y="3721608"/>
            <a:ext cx="237744" cy="237744"/>
          </a:xfrm>
          <a:prstGeom prst="ellipse">
            <a:avLst/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11441887" y="352044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ar-SA" sz="850" dirty="0"/>
          </a:p>
        </p:txBody>
      </p:sp>
      <p:sp>
        <p:nvSpPr>
          <p:cNvPr id="182" name="Text 180"/>
          <p:cNvSpPr/>
          <p:nvPr/>
        </p:nvSpPr>
        <p:spPr>
          <a:xfrm>
            <a:off x="8762695" y="35204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الردم للمبنى</a:t>
            </a:r>
            <a:endParaRPr lang="ar-SA" sz="900" dirty="0"/>
          </a:p>
        </p:txBody>
      </p:sp>
      <p:sp>
        <p:nvSpPr>
          <p:cNvPr id="183" name="Text 181"/>
          <p:cNvSpPr/>
          <p:nvPr/>
        </p:nvSpPr>
        <p:spPr>
          <a:xfrm>
            <a:off x="7967167" y="352044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· FS</a:t>
            </a:r>
            <a:endParaRPr lang="ar-SA" sz="850" dirty="0"/>
          </a:p>
        </p:txBody>
      </p:sp>
      <p:sp>
        <p:nvSpPr>
          <p:cNvPr id="184" name="Text 182"/>
          <p:cNvSpPr/>
          <p:nvPr/>
        </p:nvSpPr>
        <p:spPr>
          <a:xfrm>
            <a:off x="7464247" y="35204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050" dirty="0"/>
          </a:p>
        </p:txBody>
      </p:sp>
      <p:sp>
        <p:nvSpPr>
          <p:cNvPr id="185" name="Text 183"/>
          <p:cNvSpPr/>
          <p:nvPr/>
        </p:nvSpPr>
        <p:spPr>
          <a:xfrm>
            <a:off x="6805879" y="352044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نوفمبر</a:t>
            </a:r>
            <a:endParaRPr lang="ar-SA" sz="850" dirty="0"/>
          </a:p>
        </p:txBody>
      </p:sp>
      <p:sp>
        <p:nvSpPr>
          <p:cNvPr id="186" name="Text 184"/>
          <p:cNvSpPr/>
          <p:nvPr/>
        </p:nvSpPr>
        <p:spPr>
          <a:xfrm>
            <a:off x="6147511" y="352044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نوفمبر</a:t>
            </a:r>
            <a:endParaRPr lang="ar-SA" sz="850" dirty="0"/>
          </a:p>
        </p:txBody>
      </p:sp>
      <p:sp>
        <p:nvSpPr>
          <p:cNvPr id="187" name="Shape 185"/>
          <p:cNvSpPr/>
          <p:nvPr/>
        </p:nvSpPr>
        <p:spPr>
          <a:xfrm>
            <a:off x="705863" y="3685032"/>
            <a:ext cx="510155" cy="310896"/>
          </a:xfrm>
          <a:prstGeom prst="roundRect">
            <a:avLst>
              <a:gd name="adj" fmla="val 11765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188" name="Text 186"/>
          <p:cNvSpPr/>
          <p:nvPr/>
        </p:nvSpPr>
        <p:spPr>
          <a:xfrm>
            <a:off x="705863" y="3685032"/>
            <a:ext cx="5101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يوم</a:t>
            </a:r>
            <a:endParaRPr lang="ar-SA" sz="700" dirty="0"/>
          </a:p>
        </p:txBody>
      </p:sp>
      <p:sp>
        <p:nvSpPr>
          <p:cNvPr id="189" name="Shape 187"/>
          <p:cNvSpPr/>
          <p:nvPr/>
        </p:nvSpPr>
        <p:spPr>
          <a:xfrm>
            <a:off x="3936842" y="2560320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3982562" y="2560320"/>
            <a:ext cx="0" cy="64008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H="1">
            <a:off x="3945986" y="3200400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192" name="Shape 190"/>
          <p:cNvSpPr/>
          <p:nvPr/>
        </p:nvSpPr>
        <p:spPr>
          <a:xfrm>
            <a:off x="1216018" y="3200400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1261738" y="3200400"/>
            <a:ext cx="0" cy="64008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H="1">
            <a:off x="1225162" y="3840480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195" name="Shape 193"/>
          <p:cNvSpPr/>
          <p:nvPr/>
        </p:nvSpPr>
        <p:spPr>
          <a:xfrm>
            <a:off x="4872125" y="1947672"/>
            <a:ext cx="0" cy="2212848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4899557" y="2020824"/>
            <a:ext cx="841248" cy="155448"/>
          </a:xfrm>
          <a:prstGeom prst="roundRect">
            <a:avLst>
              <a:gd name="adj" fmla="val 47059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4899557" y="2020824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الموقف · 21 أكتوبر</a:t>
            </a:r>
            <a:endParaRPr lang="ar-SA" sz="650" dirty="0"/>
          </a:p>
        </p:txBody>
      </p:sp>
      <p:sp>
        <p:nvSpPr>
          <p:cNvPr id="198" name="Shape 196"/>
          <p:cNvSpPr/>
          <p:nvPr/>
        </p:nvSpPr>
        <p:spPr>
          <a:xfrm>
            <a:off x="365760" y="1325880"/>
            <a:ext cx="11460175" cy="28346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9043187" y="5486400"/>
            <a:ext cx="2782748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00" name="Shape 198"/>
          <p:cNvSpPr/>
          <p:nvPr/>
        </p:nvSpPr>
        <p:spPr>
          <a:xfrm>
            <a:off x="9098051" y="5486400"/>
            <a:ext cx="2673020" cy="5486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9152915" y="5577840"/>
            <a:ext cx="2563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بدء الأعمال</a:t>
            </a:r>
            <a:endParaRPr lang="ar-SA" sz="850" dirty="0"/>
          </a:p>
        </p:txBody>
      </p:sp>
      <p:sp>
        <p:nvSpPr>
          <p:cNvPr id="202" name="Text 200"/>
          <p:cNvSpPr/>
          <p:nvPr/>
        </p:nvSpPr>
        <p:spPr>
          <a:xfrm>
            <a:off x="9152915" y="5779008"/>
            <a:ext cx="256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22 أكتوبر 2026</a:t>
            </a:r>
            <a:endParaRPr lang="ar-SA" sz="1300" dirty="0"/>
          </a:p>
        </p:txBody>
      </p:sp>
      <p:sp>
        <p:nvSpPr>
          <p:cNvPr id="203" name="Text 201"/>
          <p:cNvSpPr/>
          <p:nvPr/>
        </p:nvSpPr>
        <p:spPr>
          <a:xfrm>
            <a:off x="9152915" y="6071616"/>
            <a:ext cx="25632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1 / 20</a:t>
            </a:r>
            <a:endParaRPr lang="ar-SA" sz="750" dirty="0"/>
          </a:p>
        </p:txBody>
      </p:sp>
      <p:sp>
        <p:nvSpPr>
          <p:cNvPr id="204" name="Shape 202"/>
          <p:cNvSpPr/>
          <p:nvPr/>
        </p:nvSpPr>
        <p:spPr>
          <a:xfrm>
            <a:off x="6150712" y="5486400"/>
            <a:ext cx="2782748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05" name="Shape 203"/>
          <p:cNvSpPr/>
          <p:nvPr/>
        </p:nvSpPr>
        <p:spPr>
          <a:xfrm>
            <a:off x="6205576" y="5486400"/>
            <a:ext cx="2673020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6260440" y="5577840"/>
            <a:ext cx="2563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تركيب نظام الدعم</a:t>
            </a:r>
            <a:endParaRPr lang="ar-SA" sz="850" dirty="0"/>
          </a:p>
        </p:txBody>
      </p:sp>
      <p:sp>
        <p:nvSpPr>
          <p:cNvPr id="207" name="Text 205"/>
          <p:cNvSpPr/>
          <p:nvPr/>
        </p:nvSpPr>
        <p:spPr>
          <a:xfrm>
            <a:off x="6260440" y="5779008"/>
            <a:ext cx="256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26 أكتوبر 2026</a:t>
            </a:r>
            <a:endParaRPr lang="ar-SA" sz="1300" dirty="0"/>
          </a:p>
        </p:txBody>
      </p:sp>
      <p:sp>
        <p:nvSpPr>
          <p:cNvPr id="208" name="Text 206"/>
          <p:cNvSpPr/>
          <p:nvPr/>
        </p:nvSpPr>
        <p:spPr>
          <a:xfrm>
            <a:off x="6260440" y="6071616"/>
            <a:ext cx="25632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4 / 20</a:t>
            </a:r>
            <a:endParaRPr lang="ar-SA" sz="750" dirty="0"/>
          </a:p>
        </p:txBody>
      </p:sp>
      <p:sp>
        <p:nvSpPr>
          <p:cNvPr id="209" name="Shape 207"/>
          <p:cNvSpPr/>
          <p:nvPr/>
        </p:nvSpPr>
        <p:spPr>
          <a:xfrm>
            <a:off x="3258236" y="5486400"/>
            <a:ext cx="2782748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10" name="Shape 208"/>
          <p:cNvSpPr/>
          <p:nvPr/>
        </p:nvSpPr>
        <p:spPr>
          <a:xfrm>
            <a:off x="3313100" y="5486400"/>
            <a:ext cx="2673020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3367964" y="5577840"/>
            <a:ext cx="2563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أساسات المبنى</a:t>
            </a:r>
            <a:endParaRPr lang="ar-SA" sz="850" dirty="0"/>
          </a:p>
        </p:txBody>
      </p:sp>
      <p:sp>
        <p:nvSpPr>
          <p:cNvPr id="212" name="Text 210"/>
          <p:cNvSpPr/>
          <p:nvPr/>
        </p:nvSpPr>
        <p:spPr>
          <a:xfrm>
            <a:off x="3367964" y="5779008"/>
            <a:ext cx="256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11 نوفمبر 2026</a:t>
            </a:r>
            <a:endParaRPr lang="ar-SA" sz="1300" dirty="0"/>
          </a:p>
        </p:txBody>
      </p:sp>
      <p:sp>
        <p:nvSpPr>
          <p:cNvPr id="213" name="Text 211"/>
          <p:cNvSpPr/>
          <p:nvPr/>
        </p:nvSpPr>
        <p:spPr>
          <a:xfrm>
            <a:off x="3367964" y="6071616"/>
            <a:ext cx="25632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18 / 20</a:t>
            </a:r>
            <a:endParaRPr lang="ar-SA" sz="750" dirty="0"/>
          </a:p>
        </p:txBody>
      </p:sp>
      <p:sp>
        <p:nvSpPr>
          <p:cNvPr id="214" name="Shape 212"/>
          <p:cNvSpPr/>
          <p:nvPr/>
        </p:nvSpPr>
        <p:spPr>
          <a:xfrm>
            <a:off x="365760" y="5486400"/>
            <a:ext cx="2782748" cy="822960"/>
          </a:xfrm>
          <a:prstGeom prst="roundRect">
            <a:avLst>
              <a:gd name="adj" fmla="val 7778"/>
            </a:avLst>
          </a:prstGeom>
          <a:solidFill>
            <a:srgbClr val="3D3935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15" name="Shape 213"/>
          <p:cNvSpPr/>
          <p:nvPr/>
        </p:nvSpPr>
        <p:spPr>
          <a:xfrm>
            <a:off x="420624" y="5486400"/>
            <a:ext cx="267302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475488" y="5577840"/>
            <a:ext cx="2563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CF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الإنجاز الكلي</a:t>
            </a:r>
            <a:endParaRPr lang="ar-SA" sz="850" dirty="0"/>
          </a:p>
        </p:txBody>
      </p:sp>
      <p:sp>
        <p:nvSpPr>
          <p:cNvPr id="217" name="Text 215"/>
          <p:cNvSpPr/>
          <p:nvPr/>
        </p:nvSpPr>
        <p:spPr>
          <a:xfrm>
            <a:off x="475488" y="5779008"/>
            <a:ext cx="256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14 نوفمبر 2026</a:t>
            </a:r>
            <a:endParaRPr lang="ar-SA" sz="1300" dirty="0"/>
          </a:p>
        </p:txBody>
      </p:sp>
      <p:sp>
        <p:nvSpPr>
          <p:cNvPr id="218" name="Text 216"/>
          <p:cNvSpPr/>
          <p:nvPr/>
        </p:nvSpPr>
        <p:spPr>
          <a:xfrm>
            <a:off x="475488" y="6071616"/>
            <a:ext cx="25632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CF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20 / 20</a:t>
            </a:r>
            <a:endParaRPr lang="ar-SA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مشروع UFWL – مخطط جانت</dc:title>
  <dc:subject>PptxGenJS Presentation</dc:subject>
  <dc:creator>UFWL Project</dc:creator>
  <cp:lastModifiedBy>UFWL Project</cp:lastModifiedBy>
  <cp:revision>1</cp:revision>
  <dcterms:created xsi:type="dcterms:W3CDTF">2026-10-21T14:20:35Z</dcterms:created>
  <dcterms:modified xsi:type="dcterms:W3CDTF">2026-10-21T14:20:35Z</dcterms:modified>
</cp:coreProperties>
</file>