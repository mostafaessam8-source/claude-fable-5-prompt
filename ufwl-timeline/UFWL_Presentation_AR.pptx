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إيقاف الموقع والأعمال المتبقية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0732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0732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33" name="Shape 31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 2026</a:t>
            </a:r>
            <a:endParaRPr lang="ar-SA" sz="950" dirty="0"/>
          </a:p>
        </p:txBody>
      </p:sp>
      <p:sp>
        <p:nvSpPr>
          <p:cNvPr id="36" name="Text 34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650" dirty="0"/>
          </a:p>
        </p:txBody>
      </p:sp>
      <p:sp>
        <p:nvSpPr>
          <p:cNvPr id="37" name="Shape 35"/>
          <p:cNvSpPr/>
          <p:nvPr/>
        </p:nvSpPr>
        <p:spPr>
          <a:xfrm>
            <a:off x="10666799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5648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45648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40" name="Shape 38"/>
          <p:cNvSpPr/>
          <p:nvPr/>
        </p:nvSpPr>
        <p:spPr>
          <a:xfrm>
            <a:off x="965800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731152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4944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 2026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974944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650" dirty="0"/>
          </a:p>
        </p:txBody>
      </p:sp>
      <p:sp>
        <p:nvSpPr>
          <p:cNvPr id="44" name="Shape 42"/>
          <p:cNvSpPr/>
          <p:nvPr/>
        </p:nvSpPr>
        <p:spPr>
          <a:xfrm>
            <a:off x="10015961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05649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8056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47" name="Shape 45"/>
          <p:cNvSpPr/>
          <p:nvPr/>
        </p:nvSpPr>
        <p:spPr>
          <a:xfrm>
            <a:off x="9007163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080315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603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 2026</a:t>
            </a:r>
            <a:endParaRPr lang="ar-SA" sz="950" dirty="0"/>
          </a:p>
        </p:txBody>
      </p:sp>
      <p:sp>
        <p:nvSpPr>
          <p:cNvPr id="50" name="Text 48"/>
          <p:cNvSpPr/>
          <p:nvPr/>
        </p:nvSpPr>
        <p:spPr>
          <a:xfrm>
            <a:off x="9098603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650" dirty="0"/>
          </a:p>
        </p:txBody>
      </p:sp>
      <p:sp>
        <p:nvSpPr>
          <p:cNvPr id="51" name="Shape 49"/>
          <p:cNvSpPr/>
          <p:nvPr/>
        </p:nvSpPr>
        <p:spPr>
          <a:xfrm>
            <a:off x="9365123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54811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5481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54" name="Shape 52"/>
          <p:cNvSpPr/>
          <p:nvPr/>
        </p:nvSpPr>
        <p:spPr>
          <a:xfrm>
            <a:off x="83563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429477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477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 2026</a:t>
            </a:r>
            <a:endParaRPr lang="ar-SA" sz="950" dirty="0"/>
          </a:p>
        </p:txBody>
      </p:sp>
      <p:sp>
        <p:nvSpPr>
          <p:cNvPr id="57" name="Text 55"/>
          <p:cNvSpPr/>
          <p:nvPr/>
        </p:nvSpPr>
        <p:spPr>
          <a:xfrm>
            <a:off x="84477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650" dirty="0"/>
          </a:p>
        </p:txBody>
      </p:sp>
      <p:sp>
        <p:nvSpPr>
          <p:cNvPr id="58" name="Shape 56"/>
          <p:cNvSpPr/>
          <p:nvPr/>
        </p:nvSpPr>
        <p:spPr>
          <a:xfrm>
            <a:off x="8714286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3974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5039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100" dirty="0"/>
          </a:p>
        </p:txBody>
      </p:sp>
      <p:sp>
        <p:nvSpPr>
          <p:cNvPr id="61" name="Shape 59"/>
          <p:cNvSpPr/>
          <p:nvPr/>
        </p:nvSpPr>
        <p:spPr>
          <a:xfrm>
            <a:off x="770548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778639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9692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 2026</a:t>
            </a:r>
            <a:endParaRPr lang="ar-SA" sz="950" dirty="0"/>
          </a:p>
        </p:txBody>
      </p:sp>
      <p:sp>
        <p:nvSpPr>
          <p:cNvPr id="64" name="Text 62"/>
          <p:cNvSpPr/>
          <p:nvPr/>
        </p:nvSpPr>
        <p:spPr>
          <a:xfrm>
            <a:off x="779692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650" dirty="0"/>
          </a:p>
        </p:txBody>
      </p:sp>
      <p:sp>
        <p:nvSpPr>
          <p:cNvPr id="65" name="Shape 63"/>
          <p:cNvSpPr/>
          <p:nvPr/>
        </p:nvSpPr>
        <p:spPr>
          <a:xfrm>
            <a:off x="8063448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853136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8531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100" dirty="0"/>
          </a:p>
        </p:txBody>
      </p:sp>
      <p:sp>
        <p:nvSpPr>
          <p:cNvPr id="68" name="Shape 66"/>
          <p:cNvSpPr/>
          <p:nvPr/>
        </p:nvSpPr>
        <p:spPr>
          <a:xfrm>
            <a:off x="70546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7127802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460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 2026</a:t>
            </a:r>
            <a:endParaRPr lang="ar-SA" sz="950" dirty="0"/>
          </a:p>
        </p:txBody>
      </p:sp>
      <p:sp>
        <p:nvSpPr>
          <p:cNvPr id="71" name="Text 69"/>
          <p:cNvSpPr/>
          <p:nvPr/>
        </p:nvSpPr>
        <p:spPr>
          <a:xfrm>
            <a:off x="71460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650" dirty="0"/>
          </a:p>
        </p:txBody>
      </p:sp>
      <p:sp>
        <p:nvSpPr>
          <p:cNvPr id="72" name="Shape 70"/>
          <p:cNvSpPr/>
          <p:nvPr/>
        </p:nvSpPr>
        <p:spPr>
          <a:xfrm>
            <a:off x="741261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20229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720229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100" dirty="0"/>
          </a:p>
        </p:txBody>
      </p:sp>
      <p:sp>
        <p:nvSpPr>
          <p:cNvPr id="75" name="Shape 73"/>
          <p:cNvSpPr/>
          <p:nvPr/>
        </p:nvSpPr>
        <p:spPr>
          <a:xfrm>
            <a:off x="640381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47696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9525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78" name="Text 76"/>
          <p:cNvSpPr/>
          <p:nvPr/>
        </p:nvSpPr>
        <p:spPr>
          <a:xfrm>
            <a:off x="649525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650" dirty="0"/>
          </a:p>
        </p:txBody>
      </p:sp>
      <p:sp>
        <p:nvSpPr>
          <p:cNvPr id="79" name="Shape 77"/>
          <p:cNvSpPr/>
          <p:nvPr/>
        </p:nvSpPr>
        <p:spPr>
          <a:xfrm>
            <a:off x="6761773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51461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5514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100" dirty="0"/>
          </a:p>
        </p:txBody>
      </p:sp>
      <p:sp>
        <p:nvSpPr>
          <p:cNvPr id="82" name="Shape 80"/>
          <p:cNvSpPr/>
          <p:nvPr/>
        </p:nvSpPr>
        <p:spPr>
          <a:xfrm>
            <a:off x="575297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582612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4441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85" name="Text 83"/>
          <p:cNvSpPr/>
          <p:nvPr/>
        </p:nvSpPr>
        <p:spPr>
          <a:xfrm>
            <a:off x="584441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650" dirty="0"/>
          </a:p>
        </p:txBody>
      </p:sp>
      <p:sp>
        <p:nvSpPr>
          <p:cNvPr id="86" name="Shape 84"/>
          <p:cNvSpPr/>
          <p:nvPr/>
        </p:nvSpPr>
        <p:spPr>
          <a:xfrm>
            <a:off x="6110935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006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006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100" dirty="0"/>
          </a:p>
        </p:txBody>
      </p:sp>
      <p:sp>
        <p:nvSpPr>
          <p:cNvPr id="89" name="Shape 87"/>
          <p:cNvSpPr/>
          <p:nvPr/>
        </p:nvSpPr>
        <p:spPr>
          <a:xfrm>
            <a:off x="510213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75289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9357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 2026</a:t>
            </a:r>
            <a:endParaRPr lang="ar-SA" sz="950" dirty="0"/>
          </a:p>
        </p:txBody>
      </p:sp>
      <p:sp>
        <p:nvSpPr>
          <p:cNvPr id="92" name="Text 90"/>
          <p:cNvSpPr/>
          <p:nvPr/>
        </p:nvSpPr>
        <p:spPr>
          <a:xfrm>
            <a:off x="519357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650" dirty="0"/>
          </a:p>
        </p:txBody>
      </p:sp>
      <p:sp>
        <p:nvSpPr>
          <p:cNvPr id="93" name="Shape 91"/>
          <p:cNvSpPr/>
          <p:nvPr/>
        </p:nvSpPr>
        <p:spPr>
          <a:xfrm>
            <a:off x="54600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97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52497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1100" dirty="0"/>
          </a:p>
        </p:txBody>
      </p:sp>
      <p:sp>
        <p:nvSpPr>
          <p:cNvPr id="96" name="Shape 94"/>
          <p:cNvSpPr/>
          <p:nvPr/>
        </p:nvSpPr>
        <p:spPr>
          <a:xfrm>
            <a:off x="44512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45244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427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 2026</a:t>
            </a:r>
            <a:endParaRPr lang="ar-SA" sz="950" dirty="0"/>
          </a:p>
        </p:txBody>
      </p:sp>
      <p:sp>
        <p:nvSpPr>
          <p:cNvPr id="99" name="Text 97"/>
          <p:cNvSpPr/>
          <p:nvPr/>
        </p:nvSpPr>
        <p:spPr>
          <a:xfrm>
            <a:off x="45427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80926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989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45989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1100" dirty="0"/>
          </a:p>
        </p:txBody>
      </p:sp>
      <p:sp>
        <p:nvSpPr>
          <p:cNvPr id="103" name="Shape 101"/>
          <p:cNvSpPr/>
          <p:nvPr/>
        </p:nvSpPr>
        <p:spPr>
          <a:xfrm>
            <a:off x="380046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387361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9190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 2026</a:t>
            </a:r>
            <a:endParaRPr lang="ar-SA" sz="950" dirty="0"/>
          </a:p>
        </p:txBody>
      </p:sp>
      <p:sp>
        <p:nvSpPr>
          <p:cNvPr id="106" name="Text 104"/>
          <p:cNvSpPr/>
          <p:nvPr/>
        </p:nvSpPr>
        <p:spPr>
          <a:xfrm>
            <a:off x="389190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650" dirty="0"/>
          </a:p>
        </p:txBody>
      </p:sp>
      <p:sp>
        <p:nvSpPr>
          <p:cNvPr id="107" name="Shape 105"/>
          <p:cNvSpPr/>
          <p:nvPr/>
        </p:nvSpPr>
        <p:spPr>
          <a:xfrm>
            <a:off x="415842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94811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39481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1100" dirty="0"/>
          </a:p>
        </p:txBody>
      </p:sp>
      <p:sp>
        <p:nvSpPr>
          <p:cNvPr id="110" name="Shape 108"/>
          <p:cNvSpPr/>
          <p:nvPr/>
        </p:nvSpPr>
        <p:spPr>
          <a:xfrm>
            <a:off x="31496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3222776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410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950" dirty="0"/>
          </a:p>
        </p:txBody>
      </p:sp>
      <p:sp>
        <p:nvSpPr>
          <p:cNvPr id="113" name="Text 111"/>
          <p:cNvSpPr/>
          <p:nvPr/>
        </p:nvSpPr>
        <p:spPr>
          <a:xfrm>
            <a:off x="32410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650" dirty="0"/>
          </a:p>
        </p:txBody>
      </p:sp>
      <p:sp>
        <p:nvSpPr>
          <p:cNvPr id="114" name="Shape 112"/>
          <p:cNvSpPr/>
          <p:nvPr/>
        </p:nvSpPr>
        <p:spPr>
          <a:xfrm>
            <a:off x="3507585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97273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32972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1100" dirty="0"/>
          </a:p>
        </p:txBody>
      </p:sp>
      <p:sp>
        <p:nvSpPr>
          <p:cNvPr id="117" name="Shape 115"/>
          <p:cNvSpPr/>
          <p:nvPr/>
        </p:nvSpPr>
        <p:spPr>
          <a:xfrm>
            <a:off x="2498786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2571938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590226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 2026</a:t>
            </a:r>
            <a:endParaRPr lang="ar-SA" sz="950" dirty="0"/>
          </a:p>
        </p:txBody>
      </p:sp>
      <p:sp>
        <p:nvSpPr>
          <p:cNvPr id="120" name="Text 118"/>
          <p:cNvSpPr/>
          <p:nvPr/>
        </p:nvSpPr>
        <p:spPr>
          <a:xfrm>
            <a:off x="2590226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2856747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646435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26464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100" dirty="0"/>
          </a:p>
        </p:txBody>
      </p:sp>
      <p:sp>
        <p:nvSpPr>
          <p:cNvPr id="124" name="Shape 122"/>
          <p:cNvSpPr/>
          <p:nvPr/>
        </p:nvSpPr>
        <p:spPr>
          <a:xfrm>
            <a:off x="18479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1921101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393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 2026</a:t>
            </a:r>
            <a:endParaRPr lang="ar-SA" sz="950" dirty="0"/>
          </a:p>
        </p:txBody>
      </p:sp>
      <p:sp>
        <p:nvSpPr>
          <p:cNvPr id="127" name="Text 125"/>
          <p:cNvSpPr/>
          <p:nvPr/>
        </p:nvSpPr>
        <p:spPr>
          <a:xfrm>
            <a:off x="19393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2205909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995597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19955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1100" dirty="0"/>
          </a:p>
        </p:txBody>
      </p:sp>
      <p:sp>
        <p:nvSpPr>
          <p:cNvPr id="131" name="Shape 129"/>
          <p:cNvSpPr/>
          <p:nvPr/>
        </p:nvSpPr>
        <p:spPr>
          <a:xfrm>
            <a:off x="1197111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1270263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288551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950" dirty="0"/>
          </a:p>
        </p:txBody>
      </p:sp>
      <p:sp>
        <p:nvSpPr>
          <p:cNvPr id="134" name="Text 132"/>
          <p:cNvSpPr/>
          <p:nvPr/>
        </p:nvSpPr>
        <p:spPr>
          <a:xfrm>
            <a:off x="1288551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650" dirty="0"/>
          </a:p>
        </p:txBody>
      </p:sp>
      <p:sp>
        <p:nvSpPr>
          <p:cNvPr id="135" name="Shape 133"/>
          <p:cNvSpPr/>
          <p:nvPr/>
        </p:nvSpPr>
        <p:spPr>
          <a:xfrm>
            <a:off x="155507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34476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3447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38" name="Shape 136"/>
          <p:cNvSpPr/>
          <p:nvPr/>
        </p:nvSpPr>
        <p:spPr>
          <a:xfrm>
            <a:off x="5462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619425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377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 2026</a:t>
            </a:r>
            <a:endParaRPr lang="ar-SA" sz="950" dirty="0"/>
          </a:p>
        </p:txBody>
      </p:sp>
      <p:sp>
        <p:nvSpPr>
          <p:cNvPr id="141" name="Text 139"/>
          <p:cNvSpPr/>
          <p:nvPr/>
        </p:nvSpPr>
        <p:spPr>
          <a:xfrm>
            <a:off x="6377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904234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9392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6939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1100" dirty="0"/>
          </a:p>
        </p:txBody>
      </p:sp>
      <p:sp>
        <p:nvSpPr>
          <p:cNvPr id="145" name="Shape 143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 2026</a:t>
            </a:r>
            <a:endParaRPr lang="ar-SA" sz="950" dirty="0"/>
          </a:p>
        </p:txBody>
      </p:sp>
      <p:sp>
        <p:nvSpPr>
          <p:cNvPr id="148" name="Text 146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الأعمال المتبقية – برنامج أعمال الدعم والحفرة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حفرة RYDN-WLB · التصور الأولي المعاد تخطيطه بناءً على برنامج المقاول (Rev 01) · البدء 22 أكتوبر 2026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51615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94569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الحرج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10275113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22538" y="1005840"/>
            <a:ext cx="17977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(اللون = مجموعة العمل)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8349386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58177" y="1005840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ميل ستون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7230161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34710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غير 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6143854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858207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</a:t>
            </a:r>
            <a:endParaRPr lang="ar-SA" sz="900" dirty="0"/>
          </a:p>
        </p:txBody>
      </p:sp>
      <p:sp>
        <p:nvSpPr>
          <p:cNvPr id="14" name="Text 12"/>
          <p:cNvSpPr/>
          <p:nvPr/>
        </p:nvSpPr>
        <p:spPr>
          <a:xfrm>
            <a:off x="3274466" y="1005840"/>
            <a:ext cx="163860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علاقة ارتباط (FS / SS)</a:t>
            </a:r>
            <a:endParaRPr lang="ar-SA" sz="900" dirty="0"/>
          </a:p>
        </p:txBody>
      </p:sp>
      <p:sp>
        <p:nvSpPr>
          <p:cNvPr id="15" name="Shape 13"/>
          <p:cNvSpPr/>
          <p:nvPr/>
        </p:nvSpPr>
        <p:spPr>
          <a:xfrm>
            <a:off x="6147511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41887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" dirty="0"/>
          </a:p>
        </p:txBody>
      </p:sp>
      <p:sp>
        <p:nvSpPr>
          <p:cNvPr id="17" name="Text 15"/>
          <p:cNvSpPr/>
          <p:nvPr/>
        </p:nvSpPr>
        <p:spPr>
          <a:xfrm>
            <a:off x="8762695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</a:t>
            </a:r>
            <a:endParaRPr lang="ar-SA" sz="900" dirty="0"/>
          </a:p>
        </p:txBody>
      </p:sp>
      <p:sp>
        <p:nvSpPr>
          <p:cNvPr id="18" name="Text 16"/>
          <p:cNvSpPr/>
          <p:nvPr/>
        </p:nvSpPr>
        <p:spPr>
          <a:xfrm>
            <a:off x="7967167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السابق</a:t>
            </a:r>
            <a:endParaRPr lang="ar-SA" sz="900" dirty="0"/>
          </a:p>
        </p:txBody>
      </p:sp>
      <p:sp>
        <p:nvSpPr>
          <p:cNvPr id="19" name="Text 17"/>
          <p:cNvSpPr/>
          <p:nvPr/>
        </p:nvSpPr>
        <p:spPr>
          <a:xfrm>
            <a:off x="7464247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(أيام عمل)</a:t>
            </a:r>
            <a:endParaRPr lang="ar-SA" sz="750" dirty="0"/>
          </a:p>
        </p:txBody>
      </p:sp>
      <p:sp>
        <p:nvSpPr>
          <p:cNvPr id="20" name="Text 18"/>
          <p:cNvSpPr/>
          <p:nvPr/>
        </p:nvSpPr>
        <p:spPr>
          <a:xfrm>
            <a:off x="6805879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البداية</a:t>
            </a:r>
            <a:endParaRPr lang="ar-SA" sz="900" dirty="0"/>
          </a:p>
        </p:txBody>
      </p:sp>
      <p:sp>
        <p:nvSpPr>
          <p:cNvPr id="21" name="Text 19"/>
          <p:cNvSpPr/>
          <p:nvPr/>
        </p:nvSpPr>
        <p:spPr>
          <a:xfrm>
            <a:off x="6147511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النهاية</a:t>
            </a:r>
            <a:endParaRPr lang="ar-SA" sz="900" dirty="0"/>
          </a:p>
        </p:txBody>
      </p:sp>
      <p:sp>
        <p:nvSpPr>
          <p:cNvPr id="22" name="Shape 20"/>
          <p:cNvSpPr/>
          <p:nvPr/>
        </p:nvSpPr>
        <p:spPr>
          <a:xfrm>
            <a:off x="3086584" y="1325880"/>
            <a:ext cx="3060927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86584" y="1325880"/>
            <a:ext cx="30609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1325880"/>
            <a:ext cx="2720824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1325880"/>
            <a:ext cx="27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نوفمبر 2026</a:t>
            </a:r>
            <a:endParaRPr lang="ar-SA" sz="850" dirty="0"/>
          </a:p>
        </p:txBody>
      </p:sp>
      <p:sp>
        <p:nvSpPr>
          <p:cNvPr id="26" name="Shape 24"/>
          <p:cNvSpPr/>
          <p:nvPr/>
        </p:nvSpPr>
        <p:spPr>
          <a:xfrm>
            <a:off x="5637357" y="1508760"/>
            <a:ext cx="51015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37357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</a:t>
            </a:r>
            <a:endParaRPr lang="ar-SA" sz="650" dirty="0"/>
          </a:p>
        </p:txBody>
      </p:sp>
      <p:sp>
        <p:nvSpPr>
          <p:cNvPr id="28" name="Shape 26"/>
          <p:cNvSpPr/>
          <p:nvPr/>
        </p:nvSpPr>
        <p:spPr>
          <a:xfrm>
            <a:off x="4446996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6996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2</a:t>
            </a:r>
            <a:endParaRPr lang="ar-SA" sz="650" dirty="0"/>
          </a:p>
        </p:txBody>
      </p:sp>
      <p:sp>
        <p:nvSpPr>
          <p:cNvPr id="30" name="Shape 28"/>
          <p:cNvSpPr/>
          <p:nvPr/>
        </p:nvSpPr>
        <p:spPr>
          <a:xfrm>
            <a:off x="3256636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56636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3</a:t>
            </a:r>
            <a:endParaRPr lang="ar-SA" sz="650" dirty="0"/>
          </a:p>
        </p:txBody>
      </p:sp>
      <p:sp>
        <p:nvSpPr>
          <p:cNvPr id="32" name="Shape 30"/>
          <p:cNvSpPr/>
          <p:nvPr/>
        </p:nvSpPr>
        <p:spPr>
          <a:xfrm>
            <a:off x="2066275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66275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4</a:t>
            </a:r>
            <a:endParaRPr lang="ar-SA" sz="650" dirty="0"/>
          </a:p>
        </p:txBody>
      </p:sp>
      <p:sp>
        <p:nvSpPr>
          <p:cNvPr id="34" name="Shape 32"/>
          <p:cNvSpPr/>
          <p:nvPr/>
        </p:nvSpPr>
        <p:spPr>
          <a:xfrm>
            <a:off x="875915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5915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5</a:t>
            </a:r>
            <a:endParaRPr lang="ar-SA" sz="650" dirty="0"/>
          </a:p>
        </p:txBody>
      </p:sp>
      <p:sp>
        <p:nvSpPr>
          <p:cNvPr id="36" name="Shape 34"/>
          <p:cNvSpPr/>
          <p:nvPr/>
        </p:nvSpPr>
        <p:spPr>
          <a:xfrm>
            <a:off x="365760" y="1508760"/>
            <a:ext cx="51015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6</a:t>
            </a:r>
            <a:endParaRPr lang="ar-SA" sz="650" dirty="0"/>
          </a:p>
        </p:txBody>
      </p:sp>
      <p:sp>
        <p:nvSpPr>
          <p:cNvPr id="38" name="Shape 36"/>
          <p:cNvSpPr/>
          <p:nvPr/>
        </p:nvSpPr>
        <p:spPr>
          <a:xfrm>
            <a:off x="59774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774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40" name="Text 38"/>
          <p:cNvSpPr/>
          <p:nvPr/>
        </p:nvSpPr>
        <p:spPr>
          <a:xfrm>
            <a:off x="59774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41" name="Shape 39"/>
          <p:cNvSpPr/>
          <p:nvPr/>
        </p:nvSpPr>
        <p:spPr>
          <a:xfrm>
            <a:off x="580740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0740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43" name="Text 41"/>
          <p:cNvSpPr/>
          <p:nvPr/>
        </p:nvSpPr>
        <p:spPr>
          <a:xfrm>
            <a:off x="580740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44" name="Shape 42"/>
          <p:cNvSpPr/>
          <p:nvPr/>
        </p:nvSpPr>
        <p:spPr>
          <a:xfrm>
            <a:off x="5637357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3735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46" name="Text 44"/>
          <p:cNvSpPr/>
          <p:nvPr/>
        </p:nvSpPr>
        <p:spPr>
          <a:xfrm>
            <a:off x="563735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47" name="Shape 45"/>
          <p:cNvSpPr/>
          <p:nvPr/>
        </p:nvSpPr>
        <p:spPr>
          <a:xfrm>
            <a:off x="5637357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6730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6730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50" name="Text 48"/>
          <p:cNvSpPr/>
          <p:nvPr/>
        </p:nvSpPr>
        <p:spPr>
          <a:xfrm>
            <a:off x="546730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51" name="Shape 49"/>
          <p:cNvSpPr/>
          <p:nvPr/>
        </p:nvSpPr>
        <p:spPr>
          <a:xfrm>
            <a:off x="5637357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29725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9725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54" name="Text 52"/>
          <p:cNvSpPr/>
          <p:nvPr/>
        </p:nvSpPr>
        <p:spPr>
          <a:xfrm>
            <a:off x="529725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55" name="Shape 53"/>
          <p:cNvSpPr/>
          <p:nvPr/>
        </p:nvSpPr>
        <p:spPr>
          <a:xfrm>
            <a:off x="512720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2720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57" name="Text 55"/>
          <p:cNvSpPr/>
          <p:nvPr/>
        </p:nvSpPr>
        <p:spPr>
          <a:xfrm>
            <a:off x="512720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58" name="Shape 56"/>
          <p:cNvSpPr/>
          <p:nvPr/>
        </p:nvSpPr>
        <p:spPr>
          <a:xfrm>
            <a:off x="495715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5715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60" name="Text 58"/>
          <p:cNvSpPr/>
          <p:nvPr/>
        </p:nvSpPr>
        <p:spPr>
          <a:xfrm>
            <a:off x="495715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61" name="Shape 59"/>
          <p:cNvSpPr/>
          <p:nvPr/>
        </p:nvSpPr>
        <p:spPr>
          <a:xfrm>
            <a:off x="478709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8709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63" name="Text 61"/>
          <p:cNvSpPr/>
          <p:nvPr/>
        </p:nvSpPr>
        <p:spPr>
          <a:xfrm>
            <a:off x="478709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64" name="Shape 62"/>
          <p:cNvSpPr/>
          <p:nvPr/>
        </p:nvSpPr>
        <p:spPr>
          <a:xfrm>
            <a:off x="461704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61704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66" name="Text 64"/>
          <p:cNvSpPr/>
          <p:nvPr/>
        </p:nvSpPr>
        <p:spPr>
          <a:xfrm>
            <a:off x="461704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67" name="Shape 65"/>
          <p:cNvSpPr/>
          <p:nvPr/>
        </p:nvSpPr>
        <p:spPr>
          <a:xfrm>
            <a:off x="4446996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4699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69" name="Text 67"/>
          <p:cNvSpPr/>
          <p:nvPr/>
        </p:nvSpPr>
        <p:spPr>
          <a:xfrm>
            <a:off x="444699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70" name="Shape 68"/>
          <p:cNvSpPr/>
          <p:nvPr/>
        </p:nvSpPr>
        <p:spPr>
          <a:xfrm>
            <a:off x="4446996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27694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27694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73" name="Text 71"/>
          <p:cNvSpPr/>
          <p:nvPr/>
        </p:nvSpPr>
        <p:spPr>
          <a:xfrm>
            <a:off x="427694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74" name="Shape 72"/>
          <p:cNvSpPr/>
          <p:nvPr/>
        </p:nvSpPr>
        <p:spPr>
          <a:xfrm>
            <a:off x="444699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10689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0689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77" name="Text 75"/>
          <p:cNvSpPr/>
          <p:nvPr/>
        </p:nvSpPr>
        <p:spPr>
          <a:xfrm>
            <a:off x="410689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78" name="Shape 76"/>
          <p:cNvSpPr/>
          <p:nvPr/>
        </p:nvSpPr>
        <p:spPr>
          <a:xfrm>
            <a:off x="393684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3684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80" name="Text 78"/>
          <p:cNvSpPr/>
          <p:nvPr/>
        </p:nvSpPr>
        <p:spPr>
          <a:xfrm>
            <a:off x="393684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81" name="Shape 79"/>
          <p:cNvSpPr/>
          <p:nvPr/>
        </p:nvSpPr>
        <p:spPr>
          <a:xfrm>
            <a:off x="376679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76679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83" name="Text 81"/>
          <p:cNvSpPr/>
          <p:nvPr/>
        </p:nvSpPr>
        <p:spPr>
          <a:xfrm>
            <a:off x="376679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550" dirty="0"/>
          </a:p>
        </p:txBody>
      </p:sp>
      <p:sp>
        <p:nvSpPr>
          <p:cNvPr id="84" name="Shape 82"/>
          <p:cNvSpPr/>
          <p:nvPr/>
        </p:nvSpPr>
        <p:spPr>
          <a:xfrm>
            <a:off x="359673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59673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86" name="Text 84"/>
          <p:cNvSpPr/>
          <p:nvPr/>
        </p:nvSpPr>
        <p:spPr>
          <a:xfrm>
            <a:off x="359673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550" dirty="0"/>
          </a:p>
        </p:txBody>
      </p:sp>
      <p:sp>
        <p:nvSpPr>
          <p:cNvPr id="87" name="Shape 85"/>
          <p:cNvSpPr/>
          <p:nvPr/>
        </p:nvSpPr>
        <p:spPr>
          <a:xfrm>
            <a:off x="342668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42668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89" name="Text 87"/>
          <p:cNvSpPr/>
          <p:nvPr/>
        </p:nvSpPr>
        <p:spPr>
          <a:xfrm>
            <a:off x="342668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550" dirty="0"/>
          </a:p>
        </p:txBody>
      </p:sp>
      <p:sp>
        <p:nvSpPr>
          <p:cNvPr id="90" name="Shape 88"/>
          <p:cNvSpPr/>
          <p:nvPr/>
        </p:nvSpPr>
        <p:spPr>
          <a:xfrm>
            <a:off x="3256636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5663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92" name="Text 90"/>
          <p:cNvSpPr/>
          <p:nvPr/>
        </p:nvSpPr>
        <p:spPr>
          <a:xfrm>
            <a:off x="325663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550" dirty="0"/>
          </a:p>
        </p:txBody>
      </p:sp>
      <p:sp>
        <p:nvSpPr>
          <p:cNvPr id="93" name="Shape 91"/>
          <p:cNvSpPr/>
          <p:nvPr/>
        </p:nvSpPr>
        <p:spPr>
          <a:xfrm>
            <a:off x="3256636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0865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0865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96" name="Text 94"/>
          <p:cNvSpPr/>
          <p:nvPr/>
        </p:nvSpPr>
        <p:spPr>
          <a:xfrm>
            <a:off x="30865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ar-SA" sz="550" dirty="0"/>
          </a:p>
        </p:txBody>
      </p:sp>
      <p:sp>
        <p:nvSpPr>
          <p:cNvPr id="97" name="Shape 95"/>
          <p:cNvSpPr/>
          <p:nvPr/>
        </p:nvSpPr>
        <p:spPr>
          <a:xfrm>
            <a:off x="325663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91653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53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00" name="Text 98"/>
          <p:cNvSpPr/>
          <p:nvPr/>
        </p:nvSpPr>
        <p:spPr>
          <a:xfrm>
            <a:off x="291653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550" dirty="0"/>
          </a:p>
        </p:txBody>
      </p:sp>
      <p:sp>
        <p:nvSpPr>
          <p:cNvPr id="101" name="Shape 99"/>
          <p:cNvSpPr/>
          <p:nvPr/>
        </p:nvSpPr>
        <p:spPr>
          <a:xfrm>
            <a:off x="274648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74648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03" name="Text 101"/>
          <p:cNvSpPr/>
          <p:nvPr/>
        </p:nvSpPr>
        <p:spPr>
          <a:xfrm>
            <a:off x="274648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550" dirty="0"/>
          </a:p>
        </p:txBody>
      </p:sp>
      <p:sp>
        <p:nvSpPr>
          <p:cNvPr id="104" name="Shape 102"/>
          <p:cNvSpPr/>
          <p:nvPr/>
        </p:nvSpPr>
        <p:spPr>
          <a:xfrm>
            <a:off x="257643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7643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06" name="Text 104"/>
          <p:cNvSpPr/>
          <p:nvPr/>
        </p:nvSpPr>
        <p:spPr>
          <a:xfrm>
            <a:off x="257643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550" dirty="0"/>
          </a:p>
        </p:txBody>
      </p:sp>
      <p:sp>
        <p:nvSpPr>
          <p:cNvPr id="107" name="Shape 105"/>
          <p:cNvSpPr/>
          <p:nvPr/>
        </p:nvSpPr>
        <p:spPr>
          <a:xfrm>
            <a:off x="240637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40637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09" name="Text 107"/>
          <p:cNvSpPr/>
          <p:nvPr/>
        </p:nvSpPr>
        <p:spPr>
          <a:xfrm>
            <a:off x="240637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550" dirty="0"/>
          </a:p>
        </p:txBody>
      </p:sp>
      <p:sp>
        <p:nvSpPr>
          <p:cNvPr id="110" name="Shape 108"/>
          <p:cNvSpPr/>
          <p:nvPr/>
        </p:nvSpPr>
        <p:spPr>
          <a:xfrm>
            <a:off x="223632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23632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12" name="Text 110"/>
          <p:cNvSpPr/>
          <p:nvPr/>
        </p:nvSpPr>
        <p:spPr>
          <a:xfrm>
            <a:off x="223632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550" dirty="0"/>
          </a:p>
        </p:txBody>
      </p:sp>
      <p:sp>
        <p:nvSpPr>
          <p:cNvPr id="113" name="Shape 111"/>
          <p:cNvSpPr/>
          <p:nvPr/>
        </p:nvSpPr>
        <p:spPr>
          <a:xfrm>
            <a:off x="2066275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06627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15" name="Text 113"/>
          <p:cNvSpPr/>
          <p:nvPr/>
        </p:nvSpPr>
        <p:spPr>
          <a:xfrm>
            <a:off x="206627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550" dirty="0"/>
          </a:p>
        </p:txBody>
      </p:sp>
      <p:sp>
        <p:nvSpPr>
          <p:cNvPr id="116" name="Shape 114"/>
          <p:cNvSpPr/>
          <p:nvPr/>
        </p:nvSpPr>
        <p:spPr>
          <a:xfrm>
            <a:off x="2066275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89622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89622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19" name="Text 117"/>
          <p:cNvSpPr/>
          <p:nvPr/>
        </p:nvSpPr>
        <p:spPr>
          <a:xfrm>
            <a:off x="189622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550" dirty="0"/>
          </a:p>
        </p:txBody>
      </p:sp>
      <p:sp>
        <p:nvSpPr>
          <p:cNvPr id="120" name="Shape 118"/>
          <p:cNvSpPr/>
          <p:nvPr/>
        </p:nvSpPr>
        <p:spPr>
          <a:xfrm>
            <a:off x="2066275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72617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72617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23" name="Text 121"/>
          <p:cNvSpPr/>
          <p:nvPr/>
        </p:nvSpPr>
        <p:spPr>
          <a:xfrm>
            <a:off x="172617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550" dirty="0"/>
          </a:p>
        </p:txBody>
      </p:sp>
      <p:sp>
        <p:nvSpPr>
          <p:cNvPr id="124" name="Shape 122"/>
          <p:cNvSpPr/>
          <p:nvPr/>
        </p:nvSpPr>
        <p:spPr>
          <a:xfrm>
            <a:off x="155612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55612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26" name="Text 124"/>
          <p:cNvSpPr/>
          <p:nvPr/>
        </p:nvSpPr>
        <p:spPr>
          <a:xfrm>
            <a:off x="155612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550" dirty="0"/>
          </a:p>
        </p:txBody>
      </p:sp>
      <p:sp>
        <p:nvSpPr>
          <p:cNvPr id="127" name="Shape 125"/>
          <p:cNvSpPr/>
          <p:nvPr/>
        </p:nvSpPr>
        <p:spPr>
          <a:xfrm>
            <a:off x="138606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38606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29" name="Text 127"/>
          <p:cNvSpPr/>
          <p:nvPr/>
        </p:nvSpPr>
        <p:spPr>
          <a:xfrm>
            <a:off x="138606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130" name="Shape 128"/>
          <p:cNvSpPr/>
          <p:nvPr/>
        </p:nvSpPr>
        <p:spPr>
          <a:xfrm>
            <a:off x="121601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21601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32" name="Text 130"/>
          <p:cNvSpPr/>
          <p:nvPr/>
        </p:nvSpPr>
        <p:spPr>
          <a:xfrm>
            <a:off x="121601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133" name="Shape 131"/>
          <p:cNvSpPr/>
          <p:nvPr/>
        </p:nvSpPr>
        <p:spPr>
          <a:xfrm>
            <a:off x="104596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04596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35" name="Text 133"/>
          <p:cNvSpPr/>
          <p:nvPr/>
        </p:nvSpPr>
        <p:spPr>
          <a:xfrm>
            <a:off x="104596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136" name="Shape 134"/>
          <p:cNvSpPr/>
          <p:nvPr/>
        </p:nvSpPr>
        <p:spPr>
          <a:xfrm>
            <a:off x="875915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7591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38" name="Text 136"/>
          <p:cNvSpPr/>
          <p:nvPr/>
        </p:nvSpPr>
        <p:spPr>
          <a:xfrm>
            <a:off x="87591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550" dirty="0"/>
          </a:p>
        </p:txBody>
      </p:sp>
      <p:sp>
        <p:nvSpPr>
          <p:cNvPr id="139" name="Shape 137"/>
          <p:cNvSpPr/>
          <p:nvPr/>
        </p:nvSpPr>
        <p:spPr>
          <a:xfrm>
            <a:off x="875915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70586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70586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42" name="Text 140"/>
          <p:cNvSpPr/>
          <p:nvPr/>
        </p:nvSpPr>
        <p:spPr>
          <a:xfrm>
            <a:off x="70586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143" name="Shape 141"/>
          <p:cNvSpPr/>
          <p:nvPr/>
        </p:nvSpPr>
        <p:spPr>
          <a:xfrm>
            <a:off x="875915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3581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3581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46" name="Text 144"/>
          <p:cNvSpPr/>
          <p:nvPr/>
        </p:nvSpPr>
        <p:spPr>
          <a:xfrm>
            <a:off x="53581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147" name="Shape 145"/>
          <p:cNvSpPr/>
          <p:nvPr/>
        </p:nvSpPr>
        <p:spPr>
          <a:xfrm>
            <a:off x="3657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3657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49" name="Text 147"/>
          <p:cNvSpPr/>
          <p:nvPr/>
        </p:nvSpPr>
        <p:spPr>
          <a:xfrm>
            <a:off x="3657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150" name="Shape 148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1515039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1441887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ar-SA" sz="900" dirty="0"/>
          </a:p>
        </p:txBody>
      </p:sp>
      <p:sp>
        <p:nvSpPr>
          <p:cNvPr id="153" name="Text 151"/>
          <p:cNvSpPr/>
          <p:nvPr/>
        </p:nvSpPr>
        <p:spPr>
          <a:xfrm>
            <a:off x="8762695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الإجمالية للمشروع</a:t>
            </a:r>
            <a:endParaRPr lang="ar-SA" sz="1000" dirty="0"/>
          </a:p>
        </p:txBody>
      </p:sp>
      <p:sp>
        <p:nvSpPr>
          <p:cNvPr id="154" name="Text 152"/>
          <p:cNvSpPr/>
          <p:nvPr/>
        </p:nvSpPr>
        <p:spPr>
          <a:xfrm>
            <a:off x="7464247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1100" dirty="0"/>
          </a:p>
        </p:txBody>
      </p:sp>
      <p:sp>
        <p:nvSpPr>
          <p:cNvPr id="155" name="Text 153"/>
          <p:cNvSpPr/>
          <p:nvPr/>
        </p:nvSpPr>
        <p:spPr>
          <a:xfrm>
            <a:off x="6805879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850" dirty="0"/>
          </a:p>
        </p:txBody>
      </p:sp>
      <p:sp>
        <p:nvSpPr>
          <p:cNvPr id="156" name="Text 154"/>
          <p:cNvSpPr/>
          <p:nvPr/>
        </p:nvSpPr>
        <p:spPr>
          <a:xfrm>
            <a:off x="6147511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850" dirty="0"/>
          </a:p>
        </p:txBody>
      </p:sp>
      <p:sp>
        <p:nvSpPr>
          <p:cNvPr id="157" name="Shape 155"/>
          <p:cNvSpPr/>
          <p:nvPr/>
        </p:nvSpPr>
        <p:spPr>
          <a:xfrm>
            <a:off x="705863" y="2011680"/>
            <a:ext cx="4081236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05863" y="2011680"/>
            <a:ext cx="40812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يوم عمل · 22 أكتوبر → 14 نوفمبر</a:t>
            </a:r>
            <a:endParaRPr lang="ar-SA" sz="850" dirty="0"/>
          </a:p>
        </p:txBody>
      </p:sp>
      <p:sp>
        <p:nvSpPr>
          <p:cNvPr id="159" name="Shape 157"/>
          <p:cNvSpPr/>
          <p:nvPr/>
        </p:nvSpPr>
        <p:spPr>
          <a:xfrm>
            <a:off x="365760" y="2240280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1515039" y="225590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1441887" y="2240280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ar-SA" sz="850" dirty="0"/>
          </a:p>
        </p:txBody>
      </p:sp>
      <p:sp>
        <p:nvSpPr>
          <p:cNvPr id="162" name="Text 160"/>
          <p:cNvSpPr/>
          <p:nvPr/>
        </p:nvSpPr>
        <p:spPr>
          <a:xfrm>
            <a:off x="8762695" y="2240280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نظام الدعم (Shoring)</a:t>
            </a:r>
            <a:endParaRPr lang="ar-SA" sz="750" dirty="0"/>
          </a:p>
        </p:txBody>
      </p:sp>
      <p:sp>
        <p:nvSpPr>
          <p:cNvPr id="163" name="Text 161"/>
          <p:cNvSpPr/>
          <p:nvPr/>
        </p:nvSpPr>
        <p:spPr>
          <a:xfrm>
            <a:off x="7967167" y="2240280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164" name="Text 162"/>
          <p:cNvSpPr/>
          <p:nvPr/>
        </p:nvSpPr>
        <p:spPr>
          <a:xfrm>
            <a:off x="7464247" y="2240280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900" dirty="0"/>
          </a:p>
        </p:txBody>
      </p:sp>
      <p:sp>
        <p:nvSpPr>
          <p:cNvPr id="165" name="Text 163"/>
          <p:cNvSpPr/>
          <p:nvPr/>
        </p:nvSpPr>
        <p:spPr>
          <a:xfrm>
            <a:off x="6805879" y="224028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700" dirty="0"/>
          </a:p>
        </p:txBody>
      </p:sp>
      <p:sp>
        <p:nvSpPr>
          <p:cNvPr id="166" name="Text 164"/>
          <p:cNvSpPr/>
          <p:nvPr/>
        </p:nvSpPr>
        <p:spPr>
          <a:xfrm>
            <a:off x="6147511" y="224028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167" name="Shape 165"/>
          <p:cNvSpPr/>
          <p:nvPr/>
        </p:nvSpPr>
        <p:spPr>
          <a:xfrm>
            <a:off x="3936842" y="2315337"/>
            <a:ext cx="850258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4723091" y="237934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3936842" y="237934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3342482" y="2240280"/>
            <a:ext cx="5486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يوم</a:t>
            </a:r>
            <a:endParaRPr lang="ar-SA" sz="750" dirty="0"/>
          </a:p>
        </p:txBody>
      </p:sp>
      <p:sp>
        <p:nvSpPr>
          <p:cNvPr id="171" name="Shape 169"/>
          <p:cNvSpPr/>
          <p:nvPr/>
        </p:nvSpPr>
        <p:spPr>
          <a:xfrm>
            <a:off x="365760" y="2509266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1441887" y="256603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1414455" y="2509266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A.1</a:t>
            </a:r>
            <a:endParaRPr lang="ar-SA" sz="650" dirty="0"/>
          </a:p>
        </p:txBody>
      </p:sp>
      <p:sp>
        <p:nvSpPr>
          <p:cNvPr id="174" name="Text 172"/>
          <p:cNvSpPr/>
          <p:nvPr/>
        </p:nvSpPr>
        <p:spPr>
          <a:xfrm>
            <a:off x="8762695" y="2509266"/>
            <a:ext cx="24414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الحفر لأعمدة H-Beam</a:t>
            </a:r>
            <a:endParaRPr lang="ar-SA" sz="700" dirty="0"/>
          </a:p>
        </p:txBody>
      </p:sp>
      <p:sp>
        <p:nvSpPr>
          <p:cNvPr id="175" name="Text 173"/>
          <p:cNvSpPr/>
          <p:nvPr/>
        </p:nvSpPr>
        <p:spPr>
          <a:xfrm>
            <a:off x="7967167" y="2509266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176" name="Text 174"/>
          <p:cNvSpPr/>
          <p:nvPr/>
        </p:nvSpPr>
        <p:spPr>
          <a:xfrm>
            <a:off x="7464247" y="2509266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177" name="Text 175"/>
          <p:cNvSpPr/>
          <p:nvPr/>
        </p:nvSpPr>
        <p:spPr>
          <a:xfrm>
            <a:off x="6805879" y="250926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700" dirty="0"/>
          </a:p>
        </p:txBody>
      </p:sp>
      <p:sp>
        <p:nvSpPr>
          <p:cNvPr id="178" name="Text 176"/>
          <p:cNvSpPr/>
          <p:nvPr/>
        </p:nvSpPr>
        <p:spPr>
          <a:xfrm>
            <a:off x="6147511" y="250926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أكتوبر</a:t>
            </a:r>
            <a:endParaRPr lang="ar-SA" sz="700" dirty="0"/>
          </a:p>
        </p:txBody>
      </p:sp>
      <p:sp>
        <p:nvSpPr>
          <p:cNvPr id="179" name="Shape 177"/>
          <p:cNvSpPr/>
          <p:nvPr/>
        </p:nvSpPr>
        <p:spPr>
          <a:xfrm>
            <a:off x="4276945" y="2565753"/>
            <a:ext cx="510155" cy="156012"/>
          </a:xfrm>
          <a:prstGeom prst="roundRect">
            <a:avLst>
              <a:gd name="adj" fmla="val 23444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80" name="Text 178"/>
          <p:cNvSpPr/>
          <p:nvPr/>
        </p:nvSpPr>
        <p:spPr>
          <a:xfrm>
            <a:off x="4276945" y="2565753"/>
            <a:ext cx="510155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181" name="Shape 179"/>
          <p:cNvSpPr/>
          <p:nvPr/>
        </p:nvSpPr>
        <p:spPr>
          <a:xfrm>
            <a:off x="365760" y="2778252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11441887" y="283502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11414455" y="2778252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A.2</a:t>
            </a:r>
            <a:endParaRPr lang="ar-SA" sz="650" dirty="0"/>
          </a:p>
        </p:txBody>
      </p:sp>
      <p:sp>
        <p:nvSpPr>
          <p:cNvPr id="184" name="Text 182"/>
          <p:cNvSpPr/>
          <p:nvPr/>
        </p:nvSpPr>
        <p:spPr>
          <a:xfrm>
            <a:off x="8762695" y="2778252"/>
            <a:ext cx="24414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أعمدة H-Beam</a:t>
            </a:r>
            <a:endParaRPr lang="ar-SA" sz="700" dirty="0"/>
          </a:p>
        </p:txBody>
      </p:sp>
      <p:sp>
        <p:nvSpPr>
          <p:cNvPr id="185" name="Text 183"/>
          <p:cNvSpPr/>
          <p:nvPr/>
        </p:nvSpPr>
        <p:spPr>
          <a:xfrm>
            <a:off x="7967167" y="2778252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· SS +1</a:t>
            </a:r>
            <a:endParaRPr lang="ar-SA" sz="700" dirty="0"/>
          </a:p>
        </p:txBody>
      </p:sp>
      <p:sp>
        <p:nvSpPr>
          <p:cNvPr id="186" name="Text 184"/>
          <p:cNvSpPr/>
          <p:nvPr/>
        </p:nvSpPr>
        <p:spPr>
          <a:xfrm>
            <a:off x="7464247" y="2778252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187" name="Text 185"/>
          <p:cNvSpPr/>
          <p:nvPr/>
        </p:nvSpPr>
        <p:spPr>
          <a:xfrm>
            <a:off x="6805879" y="2778252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أكتوبر</a:t>
            </a:r>
            <a:endParaRPr lang="ar-SA" sz="700" dirty="0"/>
          </a:p>
        </p:txBody>
      </p:sp>
      <p:sp>
        <p:nvSpPr>
          <p:cNvPr id="188" name="Text 186"/>
          <p:cNvSpPr/>
          <p:nvPr/>
        </p:nvSpPr>
        <p:spPr>
          <a:xfrm>
            <a:off x="6147511" y="2778252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أكتوبر</a:t>
            </a:r>
            <a:endParaRPr lang="ar-SA" sz="700" dirty="0"/>
          </a:p>
        </p:txBody>
      </p:sp>
      <p:sp>
        <p:nvSpPr>
          <p:cNvPr id="189" name="Shape 187"/>
          <p:cNvSpPr/>
          <p:nvPr/>
        </p:nvSpPr>
        <p:spPr>
          <a:xfrm>
            <a:off x="4106893" y="2834739"/>
            <a:ext cx="340103" cy="156012"/>
          </a:xfrm>
          <a:prstGeom prst="roundRect">
            <a:avLst>
              <a:gd name="adj" fmla="val 23444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4106893" y="2834739"/>
            <a:ext cx="340103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191" name="Shape 189"/>
          <p:cNvSpPr/>
          <p:nvPr/>
        </p:nvSpPr>
        <p:spPr>
          <a:xfrm>
            <a:off x="365760" y="3047238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11441887" y="310400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11414455" y="3047238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A.3</a:t>
            </a:r>
            <a:endParaRPr lang="ar-SA" sz="650" dirty="0"/>
          </a:p>
        </p:txBody>
      </p:sp>
      <p:sp>
        <p:nvSpPr>
          <p:cNvPr id="194" name="Text 192"/>
          <p:cNvSpPr/>
          <p:nvPr/>
        </p:nvSpPr>
        <p:spPr>
          <a:xfrm>
            <a:off x="8762695" y="3047238"/>
            <a:ext cx="24414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الخرسانة لأعمدة H-Beam</a:t>
            </a:r>
            <a:endParaRPr lang="ar-SA" sz="700" dirty="0"/>
          </a:p>
        </p:txBody>
      </p:sp>
      <p:sp>
        <p:nvSpPr>
          <p:cNvPr id="195" name="Text 193"/>
          <p:cNvSpPr/>
          <p:nvPr/>
        </p:nvSpPr>
        <p:spPr>
          <a:xfrm>
            <a:off x="7967167" y="3047238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· SS +1</a:t>
            </a:r>
            <a:endParaRPr lang="ar-SA" sz="700" dirty="0"/>
          </a:p>
        </p:txBody>
      </p:sp>
      <p:sp>
        <p:nvSpPr>
          <p:cNvPr id="196" name="Text 194"/>
          <p:cNvSpPr/>
          <p:nvPr/>
        </p:nvSpPr>
        <p:spPr>
          <a:xfrm>
            <a:off x="7464247" y="3047238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197" name="Text 195"/>
          <p:cNvSpPr/>
          <p:nvPr/>
        </p:nvSpPr>
        <p:spPr>
          <a:xfrm>
            <a:off x="6805879" y="3047238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أكتوبر</a:t>
            </a:r>
            <a:endParaRPr lang="ar-SA" sz="700" dirty="0"/>
          </a:p>
        </p:txBody>
      </p:sp>
      <p:sp>
        <p:nvSpPr>
          <p:cNvPr id="198" name="Text 196"/>
          <p:cNvSpPr/>
          <p:nvPr/>
        </p:nvSpPr>
        <p:spPr>
          <a:xfrm>
            <a:off x="6147511" y="3047238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199" name="Shape 197"/>
          <p:cNvSpPr/>
          <p:nvPr/>
        </p:nvSpPr>
        <p:spPr>
          <a:xfrm>
            <a:off x="3936842" y="3103725"/>
            <a:ext cx="340103" cy="156012"/>
          </a:xfrm>
          <a:prstGeom prst="roundRect">
            <a:avLst>
              <a:gd name="adj" fmla="val 23444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00" name="Text 198"/>
          <p:cNvSpPr/>
          <p:nvPr/>
        </p:nvSpPr>
        <p:spPr>
          <a:xfrm>
            <a:off x="3936842" y="3103725"/>
            <a:ext cx="340103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201" name="Shape 199"/>
          <p:cNvSpPr/>
          <p:nvPr/>
        </p:nvSpPr>
        <p:spPr>
          <a:xfrm>
            <a:off x="365760" y="3316224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11441887" y="337299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11414455" y="3316224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A.4</a:t>
            </a:r>
            <a:endParaRPr lang="ar-SA" sz="650" dirty="0"/>
          </a:p>
        </p:txBody>
      </p:sp>
      <p:sp>
        <p:nvSpPr>
          <p:cNvPr id="204" name="Text 202"/>
          <p:cNvSpPr/>
          <p:nvPr/>
        </p:nvSpPr>
        <p:spPr>
          <a:xfrm>
            <a:off x="8762695" y="3316224"/>
            <a:ext cx="24414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التدعيم (Bracing) لنظام الدعم</a:t>
            </a:r>
            <a:endParaRPr lang="ar-SA" sz="700" dirty="0"/>
          </a:p>
        </p:txBody>
      </p:sp>
      <p:sp>
        <p:nvSpPr>
          <p:cNvPr id="205" name="Text 203"/>
          <p:cNvSpPr/>
          <p:nvPr/>
        </p:nvSpPr>
        <p:spPr>
          <a:xfrm>
            <a:off x="7967167" y="3316224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· SS +1</a:t>
            </a:r>
            <a:endParaRPr lang="ar-SA" sz="700" dirty="0"/>
          </a:p>
        </p:txBody>
      </p:sp>
      <p:sp>
        <p:nvSpPr>
          <p:cNvPr id="206" name="Text 204"/>
          <p:cNvSpPr/>
          <p:nvPr/>
        </p:nvSpPr>
        <p:spPr>
          <a:xfrm>
            <a:off x="7464247" y="3316224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07" name="Text 205"/>
          <p:cNvSpPr/>
          <p:nvPr/>
        </p:nvSpPr>
        <p:spPr>
          <a:xfrm>
            <a:off x="6805879" y="3316224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08" name="Text 206"/>
          <p:cNvSpPr/>
          <p:nvPr/>
        </p:nvSpPr>
        <p:spPr>
          <a:xfrm>
            <a:off x="6147511" y="3316224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09" name="Shape 207"/>
          <p:cNvSpPr/>
          <p:nvPr/>
        </p:nvSpPr>
        <p:spPr>
          <a:xfrm>
            <a:off x="3936842" y="3372711"/>
            <a:ext cx="170052" cy="156012"/>
          </a:xfrm>
          <a:prstGeom prst="roundRect">
            <a:avLst>
              <a:gd name="adj" fmla="val 23444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10" name="Shape 208"/>
          <p:cNvSpPr/>
          <p:nvPr/>
        </p:nvSpPr>
        <p:spPr>
          <a:xfrm>
            <a:off x="365760" y="3585210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11441887" y="364197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11414455" y="3585210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A.5</a:t>
            </a:r>
            <a:endParaRPr lang="ar-SA" sz="650" dirty="0"/>
          </a:p>
        </p:txBody>
      </p:sp>
      <p:sp>
        <p:nvSpPr>
          <p:cNvPr id="213" name="Text 211"/>
          <p:cNvSpPr/>
          <p:nvPr/>
        </p:nvSpPr>
        <p:spPr>
          <a:xfrm>
            <a:off x="8762695" y="3585210"/>
            <a:ext cx="24414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/ إدخال الألواح المضلعة (Corrugated sheets)</a:t>
            </a:r>
            <a:endParaRPr lang="ar-SA" sz="700" dirty="0"/>
          </a:p>
        </p:txBody>
      </p:sp>
      <p:sp>
        <p:nvSpPr>
          <p:cNvPr id="214" name="Text 212"/>
          <p:cNvSpPr/>
          <p:nvPr/>
        </p:nvSpPr>
        <p:spPr>
          <a:xfrm>
            <a:off x="7967167" y="3585210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· SS +0</a:t>
            </a:r>
            <a:endParaRPr lang="ar-SA" sz="700" dirty="0"/>
          </a:p>
        </p:txBody>
      </p:sp>
      <p:sp>
        <p:nvSpPr>
          <p:cNvPr id="215" name="Text 213"/>
          <p:cNvSpPr/>
          <p:nvPr/>
        </p:nvSpPr>
        <p:spPr>
          <a:xfrm>
            <a:off x="7464247" y="3585210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16" name="Text 214"/>
          <p:cNvSpPr/>
          <p:nvPr/>
        </p:nvSpPr>
        <p:spPr>
          <a:xfrm>
            <a:off x="6805879" y="358521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17" name="Text 215"/>
          <p:cNvSpPr/>
          <p:nvPr/>
        </p:nvSpPr>
        <p:spPr>
          <a:xfrm>
            <a:off x="6147511" y="358521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18" name="Shape 216"/>
          <p:cNvSpPr/>
          <p:nvPr/>
        </p:nvSpPr>
        <p:spPr>
          <a:xfrm>
            <a:off x="3936842" y="3641697"/>
            <a:ext cx="170052" cy="156012"/>
          </a:xfrm>
          <a:prstGeom prst="roundRect">
            <a:avLst>
              <a:gd name="adj" fmla="val 23444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19" name="Shape 217"/>
          <p:cNvSpPr/>
          <p:nvPr/>
        </p:nvSpPr>
        <p:spPr>
          <a:xfrm>
            <a:off x="365760" y="3854196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11515039" y="386981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11441887" y="3854196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ar-SA" sz="850" dirty="0"/>
          </a:p>
        </p:txBody>
      </p:sp>
      <p:sp>
        <p:nvSpPr>
          <p:cNvPr id="222" name="Text 220"/>
          <p:cNvSpPr/>
          <p:nvPr/>
        </p:nvSpPr>
        <p:spPr>
          <a:xfrm>
            <a:off x="8762695" y="3854196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الخرسانة العادية (Lean concrete)</a:t>
            </a:r>
            <a:endParaRPr lang="ar-SA" sz="750" dirty="0"/>
          </a:p>
        </p:txBody>
      </p:sp>
      <p:sp>
        <p:nvSpPr>
          <p:cNvPr id="223" name="Text 221"/>
          <p:cNvSpPr/>
          <p:nvPr/>
        </p:nvSpPr>
        <p:spPr>
          <a:xfrm>
            <a:off x="7967167" y="3854196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SS +4</a:t>
            </a:r>
            <a:endParaRPr lang="ar-SA" sz="700" dirty="0"/>
          </a:p>
        </p:txBody>
      </p:sp>
      <p:sp>
        <p:nvSpPr>
          <p:cNvPr id="224" name="Text 222"/>
          <p:cNvSpPr/>
          <p:nvPr/>
        </p:nvSpPr>
        <p:spPr>
          <a:xfrm>
            <a:off x="7464247" y="3854196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25" name="Text 223"/>
          <p:cNvSpPr/>
          <p:nvPr/>
        </p:nvSpPr>
        <p:spPr>
          <a:xfrm>
            <a:off x="6805879" y="385419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226" name="Text 224"/>
          <p:cNvSpPr/>
          <p:nvPr/>
        </p:nvSpPr>
        <p:spPr>
          <a:xfrm>
            <a:off x="6147511" y="385419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227" name="Shape 225"/>
          <p:cNvSpPr/>
          <p:nvPr/>
        </p:nvSpPr>
        <p:spPr>
          <a:xfrm>
            <a:off x="3766790" y="3910683"/>
            <a:ext cx="170052" cy="156012"/>
          </a:xfrm>
          <a:prstGeom prst="roundRect">
            <a:avLst>
              <a:gd name="adj" fmla="val 23444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28" name="Shape 226"/>
          <p:cNvSpPr/>
          <p:nvPr/>
        </p:nvSpPr>
        <p:spPr>
          <a:xfrm>
            <a:off x="365760" y="4123182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1515039" y="413880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11441887" y="4123182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ar-SA" sz="850" dirty="0"/>
          </a:p>
        </p:txBody>
      </p:sp>
      <p:sp>
        <p:nvSpPr>
          <p:cNvPr id="231" name="Text 229"/>
          <p:cNvSpPr/>
          <p:nvPr/>
        </p:nvSpPr>
        <p:spPr>
          <a:xfrm>
            <a:off x="8762695" y="4123182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خندق الحفرة – حديد التسليح والشدات والخرسانة</a:t>
            </a:r>
            <a:endParaRPr lang="ar-SA" sz="750" dirty="0"/>
          </a:p>
        </p:txBody>
      </p:sp>
      <p:sp>
        <p:nvSpPr>
          <p:cNvPr id="232" name="Text 230"/>
          <p:cNvSpPr/>
          <p:nvPr/>
        </p:nvSpPr>
        <p:spPr>
          <a:xfrm>
            <a:off x="7967167" y="4123182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FS</a:t>
            </a:r>
            <a:endParaRPr lang="ar-SA" sz="700" dirty="0"/>
          </a:p>
        </p:txBody>
      </p:sp>
      <p:sp>
        <p:nvSpPr>
          <p:cNvPr id="233" name="Text 231"/>
          <p:cNvSpPr/>
          <p:nvPr/>
        </p:nvSpPr>
        <p:spPr>
          <a:xfrm>
            <a:off x="7464247" y="4123182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34" name="Text 232"/>
          <p:cNvSpPr/>
          <p:nvPr/>
        </p:nvSpPr>
        <p:spPr>
          <a:xfrm>
            <a:off x="6805879" y="4123182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235" name="Text 233"/>
          <p:cNvSpPr/>
          <p:nvPr/>
        </p:nvSpPr>
        <p:spPr>
          <a:xfrm>
            <a:off x="6147511" y="4123182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أكتوبر</a:t>
            </a:r>
            <a:endParaRPr lang="ar-SA" sz="700" dirty="0"/>
          </a:p>
        </p:txBody>
      </p:sp>
      <p:sp>
        <p:nvSpPr>
          <p:cNvPr id="236" name="Shape 234"/>
          <p:cNvSpPr/>
          <p:nvPr/>
        </p:nvSpPr>
        <p:spPr>
          <a:xfrm>
            <a:off x="3596739" y="4179669"/>
            <a:ext cx="340103" cy="156012"/>
          </a:xfrm>
          <a:prstGeom prst="roundRect">
            <a:avLst>
              <a:gd name="adj" fmla="val 23444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37" name="Text 235"/>
          <p:cNvSpPr/>
          <p:nvPr/>
        </p:nvSpPr>
        <p:spPr>
          <a:xfrm>
            <a:off x="3596739" y="4179669"/>
            <a:ext cx="340103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238" name="Shape 236"/>
          <p:cNvSpPr/>
          <p:nvPr/>
        </p:nvSpPr>
        <p:spPr>
          <a:xfrm>
            <a:off x="365760" y="4392168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1515039" y="440778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11441887" y="4392168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ar-SA" sz="850" dirty="0"/>
          </a:p>
        </p:txBody>
      </p:sp>
      <p:sp>
        <p:nvSpPr>
          <p:cNvPr id="241" name="Text 239"/>
          <p:cNvSpPr/>
          <p:nvPr/>
        </p:nvSpPr>
        <p:spPr>
          <a:xfrm>
            <a:off x="8762695" y="4392168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بلاطة / لبشة الحفرة – حديد التسليح والشدات والخرسانة</a:t>
            </a:r>
            <a:endParaRPr lang="ar-SA" sz="750" dirty="0"/>
          </a:p>
        </p:txBody>
      </p:sp>
      <p:sp>
        <p:nvSpPr>
          <p:cNvPr id="242" name="Text 240"/>
          <p:cNvSpPr/>
          <p:nvPr/>
        </p:nvSpPr>
        <p:spPr>
          <a:xfrm>
            <a:off x="7967167" y="4392168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FS</a:t>
            </a:r>
            <a:endParaRPr lang="ar-SA" sz="700" dirty="0"/>
          </a:p>
        </p:txBody>
      </p:sp>
      <p:sp>
        <p:nvSpPr>
          <p:cNvPr id="243" name="Text 241"/>
          <p:cNvSpPr/>
          <p:nvPr/>
        </p:nvSpPr>
        <p:spPr>
          <a:xfrm>
            <a:off x="7464247" y="4392168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900" dirty="0"/>
          </a:p>
        </p:txBody>
      </p:sp>
      <p:sp>
        <p:nvSpPr>
          <p:cNvPr id="244" name="Text 242"/>
          <p:cNvSpPr/>
          <p:nvPr/>
        </p:nvSpPr>
        <p:spPr>
          <a:xfrm>
            <a:off x="6805879" y="4392168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أكتوبر</a:t>
            </a:r>
            <a:endParaRPr lang="ar-SA" sz="700" dirty="0"/>
          </a:p>
        </p:txBody>
      </p:sp>
      <p:sp>
        <p:nvSpPr>
          <p:cNvPr id="245" name="Text 243"/>
          <p:cNvSpPr/>
          <p:nvPr/>
        </p:nvSpPr>
        <p:spPr>
          <a:xfrm>
            <a:off x="6147511" y="4392168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نوفمبر</a:t>
            </a:r>
            <a:endParaRPr lang="ar-SA" sz="700" dirty="0"/>
          </a:p>
        </p:txBody>
      </p:sp>
      <p:sp>
        <p:nvSpPr>
          <p:cNvPr id="246" name="Shape 244"/>
          <p:cNvSpPr/>
          <p:nvPr/>
        </p:nvSpPr>
        <p:spPr>
          <a:xfrm>
            <a:off x="2576430" y="4448655"/>
            <a:ext cx="1020309" cy="156012"/>
          </a:xfrm>
          <a:prstGeom prst="roundRect">
            <a:avLst>
              <a:gd name="adj" fmla="val 23444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7" name="Text 245"/>
          <p:cNvSpPr/>
          <p:nvPr/>
        </p:nvSpPr>
        <p:spPr>
          <a:xfrm>
            <a:off x="2576430" y="4448655"/>
            <a:ext cx="1020309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يوم</a:t>
            </a:r>
            <a:endParaRPr lang="ar-SA" sz="700" dirty="0"/>
          </a:p>
        </p:txBody>
      </p:sp>
      <p:sp>
        <p:nvSpPr>
          <p:cNvPr id="248" name="Shape 246"/>
          <p:cNvSpPr/>
          <p:nvPr/>
        </p:nvSpPr>
        <p:spPr>
          <a:xfrm>
            <a:off x="365760" y="4661154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11515039" y="467677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50" name="Text 248"/>
          <p:cNvSpPr/>
          <p:nvPr/>
        </p:nvSpPr>
        <p:spPr>
          <a:xfrm>
            <a:off x="11441887" y="4661154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ar-SA" sz="850" dirty="0"/>
          </a:p>
        </p:txBody>
      </p:sp>
      <p:sp>
        <p:nvSpPr>
          <p:cNvPr id="251" name="Text 249"/>
          <p:cNvSpPr/>
          <p:nvPr/>
        </p:nvSpPr>
        <p:spPr>
          <a:xfrm>
            <a:off x="8762695" y="4661154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جدار الحفرة – حديد التسليح والشدات والخرسانة</a:t>
            </a:r>
            <a:endParaRPr lang="ar-SA" sz="750" dirty="0"/>
          </a:p>
        </p:txBody>
      </p:sp>
      <p:sp>
        <p:nvSpPr>
          <p:cNvPr id="252" name="Text 250"/>
          <p:cNvSpPr/>
          <p:nvPr/>
        </p:nvSpPr>
        <p:spPr>
          <a:xfrm>
            <a:off x="7967167" y="4661154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253" name="Text 251"/>
          <p:cNvSpPr/>
          <p:nvPr/>
        </p:nvSpPr>
        <p:spPr>
          <a:xfrm>
            <a:off x="7464247" y="4661154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254" name="Text 252"/>
          <p:cNvSpPr/>
          <p:nvPr/>
        </p:nvSpPr>
        <p:spPr>
          <a:xfrm>
            <a:off x="6805879" y="4661154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نوفمبر</a:t>
            </a:r>
            <a:endParaRPr lang="ar-SA" sz="700" dirty="0"/>
          </a:p>
        </p:txBody>
      </p:sp>
      <p:sp>
        <p:nvSpPr>
          <p:cNvPr id="255" name="Text 253"/>
          <p:cNvSpPr/>
          <p:nvPr/>
        </p:nvSpPr>
        <p:spPr>
          <a:xfrm>
            <a:off x="6147511" y="4661154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نوفمبر</a:t>
            </a:r>
            <a:endParaRPr lang="ar-SA" sz="700" dirty="0"/>
          </a:p>
        </p:txBody>
      </p:sp>
      <p:sp>
        <p:nvSpPr>
          <p:cNvPr id="256" name="Shape 254"/>
          <p:cNvSpPr/>
          <p:nvPr/>
        </p:nvSpPr>
        <p:spPr>
          <a:xfrm>
            <a:off x="1896224" y="4717641"/>
            <a:ext cx="680206" cy="156012"/>
          </a:xfrm>
          <a:prstGeom prst="roundRect">
            <a:avLst>
              <a:gd name="adj" fmla="val 23444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7" name="Text 255"/>
          <p:cNvSpPr/>
          <p:nvPr/>
        </p:nvSpPr>
        <p:spPr>
          <a:xfrm>
            <a:off x="1896224" y="4717641"/>
            <a:ext cx="680206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258" name="Shape 256"/>
          <p:cNvSpPr/>
          <p:nvPr/>
        </p:nvSpPr>
        <p:spPr>
          <a:xfrm>
            <a:off x="365760" y="4930140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11515039" y="494576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60" name="Text 258"/>
          <p:cNvSpPr/>
          <p:nvPr/>
        </p:nvSpPr>
        <p:spPr>
          <a:xfrm>
            <a:off x="11441887" y="4930140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ar-SA" sz="850" dirty="0"/>
          </a:p>
        </p:txBody>
      </p:sp>
      <p:sp>
        <p:nvSpPr>
          <p:cNvPr id="261" name="Text 259"/>
          <p:cNvSpPr/>
          <p:nvPr/>
        </p:nvSpPr>
        <p:spPr>
          <a:xfrm>
            <a:off x="8762695" y="4930140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أساسات المبنى – حفر ودمك / اختبار وحديد تسليح وخرسانة</a:t>
            </a:r>
            <a:endParaRPr lang="ar-SA" sz="750" dirty="0"/>
          </a:p>
        </p:txBody>
      </p:sp>
      <p:sp>
        <p:nvSpPr>
          <p:cNvPr id="262" name="Text 260"/>
          <p:cNvSpPr/>
          <p:nvPr/>
        </p:nvSpPr>
        <p:spPr>
          <a:xfrm>
            <a:off x="7967167" y="4930140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263" name="Text 261"/>
          <p:cNvSpPr/>
          <p:nvPr/>
        </p:nvSpPr>
        <p:spPr>
          <a:xfrm>
            <a:off x="7464247" y="4930140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900" dirty="0"/>
          </a:p>
        </p:txBody>
      </p:sp>
      <p:sp>
        <p:nvSpPr>
          <p:cNvPr id="264" name="Text 262"/>
          <p:cNvSpPr/>
          <p:nvPr/>
        </p:nvSpPr>
        <p:spPr>
          <a:xfrm>
            <a:off x="6805879" y="493014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نوفمبر</a:t>
            </a:r>
            <a:endParaRPr lang="ar-SA" sz="700" dirty="0"/>
          </a:p>
        </p:txBody>
      </p:sp>
      <p:sp>
        <p:nvSpPr>
          <p:cNvPr id="265" name="Text 263"/>
          <p:cNvSpPr/>
          <p:nvPr/>
        </p:nvSpPr>
        <p:spPr>
          <a:xfrm>
            <a:off x="6147511" y="493014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نوفمبر</a:t>
            </a:r>
            <a:endParaRPr lang="ar-SA" sz="700" dirty="0"/>
          </a:p>
        </p:txBody>
      </p:sp>
      <p:sp>
        <p:nvSpPr>
          <p:cNvPr id="266" name="Shape 264"/>
          <p:cNvSpPr/>
          <p:nvPr/>
        </p:nvSpPr>
        <p:spPr>
          <a:xfrm>
            <a:off x="1386069" y="4986627"/>
            <a:ext cx="1190361" cy="156012"/>
          </a:xfrm>
          <a:prstGeom prst="roundRect">
            <a:avLst>
              <a:gd name="adj" fmla="val 23444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7" name="Text 265"/>
          <p:cNvSpPr/>
          <p:nvPr/>
        </p:nvSpPr>
        <p:spPr>
          <a:xfrm>
            <a:off x="1386069" y="4986627"/>
            <a:ext cx="1190361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يوم</a:t>
            </a:r>
            <a:endParaRPr lang="ar-SA" sz="700" dirty="0"/>
          </a:p>
        </p:txBody>
      </p:sp>
      <p:sp>
        <p:nvSpPr>
          <p:cNvPr id="268" name="Shape 266"/>
          <p:cNvSpPr/>
          <p:nvPr/>
        </p:nvSpPr>
        <p:spPr>
          <a:xfrm>
            <a:off x="365760" y="5199126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11515039" y="521474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11441887" y="5199126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ar-SA" sz="850" dirty="0"/>
          </a:p>
        </p:txBody>
      </p:sp>
      <p:sp>
        <p:nvSpPr>
          <p:cNvPr id="271" name="Text 269"/>
          <p:cNvSpPr/>
          <p:nvPr/>
        </p:nvSpPr>
        <p:spPr>
          <a:xfrm>
            <a:off x="8762695" y="5199126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الردم للمبنى</a:t>
            </a:r>
            <a:endParaRPr lang="ar-SA" sz="750" dirty="0"/>
          </a:p>
        </p:txBody>
      </p:sp>
      <p:sp>
        <p:nvSpPr>
          <p:cNvPr id="272" name="Text 270"/>
          <p:cNvSpPr/>
          <p:nvPr/>
        </p:nvSpPr>
        <p:spPr>
          <a:xfrm>
            <a:off x="7967167" y="5199126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FS</a:t>
            </a:r>
            <a:endParaRPr lang="ar-SA" sz="700" dirty="0"/>
          </a:p>
        </p:txBody>
      </p:sp>
      <p:sp>
        <p:nvSpPr>
          <p:cNvPr id="273" name="Text 271"/>
          <p:cNvSpPr/>
          <p:nvPr/>
        </p:nvSpPr>
        <p:spPr>
          <a:xfrm>
            <a:off x="7464247" y="5199126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274" name="Text 272"/>
          <p:cNvSpPr/>
          <p:nvPr/>
        </p:nvSpPr>
        <p:spPr>
          <a:xfrm>
            <a:off x="6805879" y="519912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نوفمبر</a:t>
            </a:r>
            <a:endParaRPr lang="ar-SA" sz="700" dirty="0"/>
          </a:p>
        </p:txBody>
      </p:sp>
      <p:sp>
        <p:nvSpPr>
          <p:cNvPr id="275" name="Text 273"/>
          <p:cNvSpPr/>
          <p:nvPr/>
        </p:nvSpPr>
        <p:spPr>
          <a:xfrm>
            <a:off x="6147511" y="519912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700" dirty="0"/>
          </a:p>
        </p:txBody>
      </p:sp>
      <p:sp>
        <p:nvSpPr>
          <p:cNvPr id="276" name="Shape 274"/>
          <p:cNvSpPr/>
          <p:nvPr/>
        </p:nvSpPr>
        <p:spPr>
          <a:xfrm>
            <a:off x="705863" y="5255613"/>
            <a:ext cx="680206" cy="156012"/>
          </a:xfrm>
          <a:prstGeom prst="roundRect">
            <a:avLst>
              <a:gd name="adj" fmla="val 23444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7" name="Text 275"/>
          <p:cNvSpPr/>
          <p:nvPr/>
        </p:nvSpPr>
        <p:spPr>
          <a:xfrm>
            <a:off x="705863" y="5255613"/>
            <a:ext cx="680206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278" name="Shape 276"/>
          <p:cNvSpPr/>
          <p:nvPr/>
        </p:nvSpPr>
        <p:spPr>
          <a:xfrm>
            <a:off x="4732235" y="2721765"/>
            <a:ext cx="0" cy="1909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 flipH="1">
            <a:off x="4456140" y="2912745"/>
            <a:ext cx="27609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80" name="Shape 278"/>
          <p:cNvSpPr/>
          <p:nvPr/>
        </p:nvSpPr>
        <p:spPr>
          <a:xfrm>
            <a:off x="4392132" y="2990751"/>
            <a:ext cx="0" cy="1909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 flipH="1">
            <a:off x="4286089" y="3181731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82" name="Shape 280"/>
          <p:cNvSpPr/>
          <p:nvPr/>
        </p:nvSpPr>
        <p:spPr>
          <a:xfrm>
            <a:off x="4222081" y="3259737"/>
            <a:ext cx="0" cy="1909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 flipH="1">
            <a:off x="4116037" y="3450717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84" name="Shape 282"/>
          <p:cNvSpPr/>
          <p:nvPr/>
        </p:nvSpPr>
        <p:spPr>
          <a:xfrm>
            <a:off x="4052029" y="3528723"/>
            <a:ext cx="0" cy="1909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 flipH="1">
            <a:off x="4052029" y="3719703"/>
            <a:ext cx="6400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86" name="Shape 284"/>
          <p:cNvSpPr/>
          <p:nvPr/>
        </p:nvSpPr>
        <p:spPr>
          <a:xfrm>
            <a:off x="4732235" y="2452779"/>
            <a:ext cx="0" cy="153591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 flipH="1">
            <a:off x="3945986" y="3988689"/>
            <a:ext cx="78625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88" name="Shape 286"/>
          <p:cNvSpPr/>
          <p:nvPr/>
        </p:nvSpPr>
        <p:spPr>
          <a:xfrm>
            <a:off x="3936842" y="237477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982562" y="2374773"/>
            <a:ext cx="0" cy="188290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 flipH="1">
            <a:off x="3945986" y="425767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91" name="Shape 289"/>
          <p:cNvSpPr/>
          <p:nvPr/>
        </p:nvSpPr>
        <p:spPr>
          <a:xfrm>
            <a:off x="3596739" y="425767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642459" y="4257675"/>
            <a:ext cx="0" cy="2689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 flipH="1">
            <a:off x="3605883" y="452666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94" name="Shape 292"/>
          <p:cNvSpPr/>
          <p:nvPr/>
        </p:nvSpPr>
        <p:spPr>
          <a:xfrm>
            <a:off x="2576430" y="452666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622150" y="4526661"/>
            <a:ext cx="0" cy="2689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 flipH="1">
            <a:off x="2585574" y="479564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97" name="Shape 295"/>
          <p:cNvSpPr/>
          <p:nvPr/>
        </p:nvSpPr>
        <p:spPr>
          <a:xfrm>
            <a:off x="2576430" y="452666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622150" y="4526661"/>
            <a:ext cx="0" cy="53797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 flipH="1">
            <a:off x="2585574" y="506463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0" name="Shape 298"/>
          <p:cNvSpPr/>
          <p:nvPr/>
        </p:nvSpPr>
        <p:spPr>
          <a:xfrm>
            <a:off x="1386069" y="506463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1431789" y="5064633"/>
            <a:ext cx="0" cy="2689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 flipH="1">
            <a:off x="1395213" y="533361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3" name="Shape 301"/>
          <p:cNvSpPr/>
          <p:nvPr/>
        </p:nvSpPr>
        <p:spPr>
          <a:xfrm>
            <a:off x="4872125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04" name="Shape 302"/>
          <p:cNvSpPr/>
          <p:nvPr/>
        </p:nvSpPr>
        <p:spPr>
          <a:xfrm>
            <a:off x="4899557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05" name="Text 303"/>
          <p:cNvSpPr/>
          <p:nvPr/>
        </p:nvSpPr>
        <p:spPr>
          <a:xfrm>
            <a:off x="4899557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 · 21 أكتوبر</a:t>
            </a:r>
            <a:endParaRPr lang="ar-SA" sz="650" dirty="0"/>
          </a:p>
        </p:txBody>
      </p:sp>
      <p:sp>
        <p:nvSpPr>
          <p:cNvPr id="306" name="Shape 304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08" name="Shape 306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09" name="Text 307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850" dirty="0"/>
          </a:p>
        </p:txBody>
      </p:sp>
      <p:sp>
        <p:nvSpPr>
          <p:cNvPr id="310" name="Text 308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22 أكتوبر 2026</a:t>
            </a:r>
            <a:endParaRPr lang="ar-SA" sz="1300" dirty="0"/>
          </a:p>
        </p:txBody>
      </p:sp>
      <p:sp>
        <p:nvSpPr>
          <p:cNvPr id="311" name="Text 309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 / 20</a:t>
            </a:r>
            <a:endParaRPr lang="ar-SA" sz="750" dirty="0"/>
          </a:p>
        </p:txBody>
      </p:sp>
      <p:sp>
        <p:nvSpPr>
          <p:cNvPr id="312" name="Shape 310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13" name="Shape 311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850" dirty="0"/>
          </a:p>
        </p:txBody>
      </p:sp>
      <p:sp>
        <p:nvSpPr>
          <p:cNvPr id="315" name="Text 313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26 أكتوبر 2026</a:t>
            </a:r>
            <a:endParaRPr lang="ar-SA" sz="1300" dirty="0"/>
          </a:p>
        </p:txBody>
      </p:sp>
      <p:sp>
        <p:nvSpPr>
          <p:cNvPr id="316" name="Text 314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4 / 20</a:t>
            </a:r>
            <a:endParaRPr lang="ar-SA" sz="750" dirty="0"/>
          </a:p>
        </p:txBody>
      </p:sp>
      <p:sp>
        <p:nvSpPr>
          <p:cNvPr id="317" name="Shape 315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18" name="Shape 316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19" name="Text 317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850" dirty="0"/>
          </a:p>
        </p:txBody>
      </p:sp>
      <p:sp>
        <p:nvSpPr>
          <p:cNvPr id="320" name="Text 318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7 نوفمبر 2026</a:t>
            </a:r>
            <a:endParaRPr lang="ar-SA" sz="1300" dirty="0"/>
          </a:p>
        </p:txBody>
      </p:sp>
      <p:sp>
        <p:nvSpPr>
          <p:cNvPr id="321" name="Text 319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14 / 20</a:t>
            </a:r>
            <a:endParaRPr lang="ar-SA" sz="750" dirty="0"/>
          </a:p>
        </p:txBody>
      </p:sp>
      <p:sp>
        <p:nvSpPr>
          <p:cNvPr id="322" name="Shape 320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23" name="Shape 321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850" dirty="0"/>
          </a:p>
        </p:txBody>
      </p:sp>
      <p:sp>
        <p:nvSpPr>
          <p:cNvPr id="325" name="Text 323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10 نوفمبر 2026</a:t>
            </a:r>
            <a:endParaRPr lang="ar-SA" sz="1300" dirty="0"/>
          </a:p>
        </p:txBody>
      </p:sp>
      <p:sp>
        <p:nvSpPr>
          <p:cNvPr id="326" name="Text 324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17 / 20</a:t>
            </a:r>
            <a:endParaRPr lang="ar-SA" sz="750" dirty="0"/>
          </a:p>
        </p:txBody>
      </p:sp>
      <p:sp>
        <p:nvSpPr>
          <p:cNvPr id="327" name="Shape 325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28" name="Shape 326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29" name="Text 327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850" dirty="0"/>
          </a:p>
        </p:txBody>
      </p:sp>
      <p:sp>
        <p:nvSpPr>
          <p:cNvPr id="330" name="Text 328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14 نوفمبر 2026</a:t>
            </a:r>
            <a:endParaRPr lang="ar-SA" sz="1300" dirty="0"/>
          </a:p>
        </p:txBody>
      </p:sp>
      <p:sp>
        <p:nvSpPr>
          <p:cNvPr id="331" name="Text 329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20 / 20</a:t>
            </a:r>
            <a:endParaRPr lang="ar-SA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2026-10-21T14:16:26Z</dcterms:created>
  <dcterms:modified xsi:type="dcterms:W3CDTF">2026-10-21T14:16:26Z</dcterms:modified>
</cp:coreProperties>
</file>