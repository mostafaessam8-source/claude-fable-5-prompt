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إيقاف الموقع والأعمال المتبقية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26980" y="1005840"/>
            <a:ext cx="13880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98160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36738" y="1005840"/>
            <a:ext cx="2024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74258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9180" y="1005840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45582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1079" y="1005840"/>
            <a:ext cx="181234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11317636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679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596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6512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42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34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261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17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09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600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92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584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75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67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059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550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2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317636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0732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10732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100" dirty="0"/>
          </a:p>
        </p:txBody>
      </p:sp>
      <p:sp>
        <p:nvSpPr>
          <p:cNvPr id="33" name="Shape 31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31 أغسطس 2026</a:t>
            </a:r>
            <a:endParaRPr lang="ar-SA" sz="950" dirty="0"/>
          </a:p>
        </p:txBody>
      </p:sp>
      <p:sp>
        <p:nvSpPr>
          <p:cNvPr id="36" name="Text 34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650" dirty="0"/>
          </a:p>
        </p:txBody>
      </p:sp>
      <p:sp>
        <p:nvSpPr>
          <p:cNvPr id="37" name="Shape 35"/>
          <p:cNvSpPr/>
          <p:nvPr/>
        </p:nvSpPr>
        <p:spPr>
          <a:xfrm>
            <a:off x="10666799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5648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45648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100" dirty="0"/>
          </a:p>
        </p:txBody>
      </p:sp>
      <p:sp>
        <p:nvSpPr>
          <p:cNvPr id="40" name="Shape 38"/>
          <p:cNvSpPr/>
          <p:nvPr/>
        </p:nvSpPr>
        <p:spPr>
          <a:xfrm>
            <a:off x="965800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731152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4944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28 سبتمبر 2026</a:t>
            </a:r>
            <a:endParaRPr lang="ar-SA" sz="950" dirty="0"/>
          </a:p>
        </p:txBody>
      </p:sp>
      <p:sp>
        <p:nvSpPr>
          <p:cNvPr id="43" name="Text 41"/>
          <p:cNvSpPr/>
          <p:nvPr/>
        </p:nvSpPr>
        <p:spPr>
          <a:xfrm>
            <a:off x="974944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650" dirty="0"/>
          </a:p>
        </p:txBody>
      </p:sp>
      <p:sp>
        <p:nvSpPr>
          <p:cNvPr id="44" name="Shape 42"/>
          <p:cNvSpPr/>
          <p:nvPr/>
        </p:nvSpPr>
        <p:spPr>
          <a:xfrm>
            <a:off x="10015961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05649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8056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100" dirty="0"/>
          </a:p>
        </p:txBody>
      </p:sp>
      <p:sp>
        <p:nvSpPr>
          <p:cNvPr id="47" name="Shape 45"/>
          <p:cNvSpPr/>
          <p:nvPr/>
        </p:nvSpPr>
        <p:spPr>
          <a:xfrm>
            <a:off x="9007163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080315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98603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 أكتوبر 2026</a:t>
            </a:r>
            <a:endParaRPr lang="ar-SA" sz="950" dirty="0"/>
          </a:p>
        </p:txBody>
      </p:sp>
      <p:sp>
        <p:nvSpPr>
          <p:cNvPr id="50" name="Text 48"/>
          <p:cNvSpPr/>
          <p:nvPr/>
        </p:nvSpPr>
        <p:spPr>
          <a:xfrm>
            <a:off x="9098603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650" dirty="0"/>
          </a:p>
        </p:txBody>
      </p:sp>
      <p:sp>
        <p:nvSpPr>
          <p:cNvPr id="51" name="Shape 49"/>
          <p:cNvSpPr/>
          <p:nvPr/>
        </p:nvSpPr>
        <p:spPr>
          <a:xfrm>
            <a:off x="9365123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154811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5481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100" dirty="0"/>
          </a:p>
        </p:txBody>
      </p:sp>
      <p:sp>
        <p:nvSpPr>
          <p:cNvPr id="54" name="Shape 52"/>
          <p:cNvSpPr/>
          <p:nvPr/>
        </p:nvSpPr>
        <p:spPr>
          <a:xfrm>
            <a:off x="83563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429477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477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3 أكتوبر 2026</a:t>
            </a:r>
            <a:endParaRPr lang="ar-SA" sz="950" dirty="0"/>
          </a:p>
        </p:txBody>
      </p:sp>
      <p:sp>
        <p:nvSpPr>
          <p:cNvPr id="57" name="Text 55"/>
          <p:cNvSpPr/>
          <p:nvPr/>
        </p:nvSpPr>
        <p:spPr>
          <a:xfrm>
            <a:off x="84477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650" dirty="0"/>
          </a:p>
        </p:txBody>
      </p:sp>
      <p:sp>
        <p:nvSpPr>
          <p:cNvPr id="58" name="Shape 56"/>
          <p:cNvSpPr/>
          <p:nvPr/>
        </p:nvSpPr>
        <p:spPr>
          <a:xfrm>
            <a:off x="8714286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3974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5039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100" dirty="0"/>
          </a:p>
        </p:txBody>
      </p:sp>
      <p:sp>
        <p:nvSpPr>
          <p:cNvPr id="61" name="Shape 59"/>
          <p:cNvSpPr/>
          <p:nvPr/>
        </p:nvSpPr>
        <p:spPr>
          <a:xfrm>
            <a:off x="770548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778639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9692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4 أكتوبر 2026</a:t>
            </a:r>
            <a:endParaRPr lang="ar-SA" sz="950" dirty="0"/>
          </a:p>
        </p:txBody>
      </p:sp>
      <p:sp>
        <p:nvSpPr>
          <p:cNvPr id="64" name="Text 62"/>
          <p:cNvSpPr/>
          <p:nvPr/>
        </p:nvSpPr>
        <p:spPr>
          <a:xfrm>
            <a:off x="779692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650" dirty="0"/>
          </a:p>
        </p:txBody>
      </p:sp>
      <p:sp>
        <p:nvSpPr>
          <p:cNvPr id="65" name="Shape 63"/>
          <p:cNvSpPr/>
          <p:nvPr/>
        </p:nvSpPr>
        <p:spPr>
          <a:xfrm>
            <a:off x="8063448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853136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78531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1100" dirty="0"/>
          </a:p>
        </p:txBody>
      </p:sp>
      <p:sp>
        <p:nvSpPr>
          <p:cNvPr id="68" name="Shape 66"/>
          <p:cNvSpPr/>
          <p:nvPr/>
        </p:nvSpPr>
        <p:spPr>
          <a:xfrm>
            <a:off x="70546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7127802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460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5 أكتوبر 2026</a:t>
            </a:r>
            <a:endParaRPr lang="ar-SA" sz="950" dirty="0"/>
          </a:p>
        </p:txBody>
      </p:sp>
      <p:sp>
        <p:nvSpPr>
          <p:cNvPr id="71" name="Text 69"/>
          <p:cNvSpPr/>
          <p:nvPr/>
        </p:nvSpPr>
        <p:spPr>
          <a:xfrm>
            <a:off x="71460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650" dirty="0"/>
          </a:p>
        </p:txBody>
      </p:sp>
      <p:sp>
        <p:nvSpPr>
          <p:cNvPr id="72" name="Shape 70"/>
          <p:cNvSpPr/>
          <p:nvPr/>
        </p:nvSpPr>
        <p:spPr>
          <a:xfrm>
            <a:off x="741261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20229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720229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1100" dirty="0"/>
          </a:p>
        </p:txBody>
      </p:sp>
      <p:sp>
        <p:nvSpPr>
          <p:cNvPr id="75" name="Shape 73"/>
          <p:cNvSpPr/>
          <p:nvPr/>
        </p:nvSpPr>
        <p:spPr>
          <a:xfrm>
            <a:off x="640381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47696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9525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78" name="Text 76"/>
          <p:cNvSpPr/>
          <p:nvPr/>
        </p:nvSpPr>
        <p:spPr>
          <a:xfrm>
            <a:off x="649525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650" dirty="0"/>
          </a:p>
        </p:txBody>
      </p:sp>
      <p:sp>
        <p:nvSpPr>
          <p:cNvPr id="79" name="Shape 77"/>
          <p:cNvSpPr/>
          <p:nvPr/>
        </p:nvSpPr>
        <p:spPr>
          <a:xfrm>
            <a:off x="6761773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51461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65514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1100" dirty="0"/>
          </a:p>
        </p:txBody>
      </p:sp>
      <p:sp>
        <p:nvSpPr>
          <p:cNvPr id="82" name="Shape 80"/>
          <p:cNvSpPr/>
          <p:nvPr/>
        </p:nvSpPr>
        <p:spPr>
          <a:xfrm>
            <a:off x="575297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582612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84441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85" name="Text 83"/>
          <p:cNvSpPr/>
          <p:nvPr/>
        </p:nvSpPr>
        <p:spPr>
          <a:xfrm>
            <a:off x="584441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650" dirty="0"/>
          </a:p>
        </p:txBody>
      </p:sp>
      <p:sp>
        <p:nvSpPr>
          <p:cNvPr id="86" name="Shape 84"/>
          <p:cNvSpPr/>
          <p:nvPr/>
        </p:nvSpPr>
        <p:spPr>
          <a:xfrm>
            <a:off x="6110935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9006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9006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1100" dirty="0"/>
          </a:p>
        </p:txBody>
      </p:sp>
      <p:sp>
        <p:nvSpPr>
          <p:cNvPr id="89" name="Shape 87"/>
          <p:cNvSpPr/>
          <p:nvPr/>
        </p:nvSpPr>
        <p:spPr>
          <a:xfrm>
            <a:off x="510213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75289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9357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8 أكتوبر 2026</a:t>
            </a:r>
            <a:endParaRPr lang="ar-SA" sz="950" dirty="0"/>
          </a:p>
        </p:txBody>
      </p:sp>
      <p:sp>
        <p:nvSpPr>
          <p:cNvPr id="92" name="Text 90"/>
          <p:cNvSpPr/>
          <p:nvPr/>
        </p:nvSpPr>
        <p:spPr>
          <a:xfrm>
            <a:off x="519357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650" dirty="0"/>
          </a:p>
        </p:txBody>
      </p:sp>
      <p:sp>
        <p:nvSpPr>
          <p:cNvPr id="93" name="Shape 91"/>
          <p:cNvSpPr/>
          <p:nvPr/>
        </p:nvSpPr>
        <p:spPr>
          <a:xfrm>
            <a:off x="54600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97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52497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1100" dirty="0"/>
          </a:p>
        </p:txBody>
      </p:sp>
      <p:sp>
        <p:nvSpPr>
          <p:cNvPr id="96" name="Shape 94"/>
          <p:cNvSpPr/>
          <p:nvPr/>
        </p:nvSpPr>
        <p:spPr>
          <a:xfrm>
            <a:off x="44512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45244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5427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11 أكتوبر 2026</a:t>
            </a:r>
            <a:endParaRPr lang="ar-SA" sz="950" dirty="0"/>
          </a:p>
        </p:txBody>
      </p:sp>
      <p:sp>
        <p:nvSpPr>
          <p:cNvPr id="99" name="Text 97"/>
          <p:cNvSpPr/>
          <p:nvPr/>
        </p:nvSpPr>
        <p:spPr>
          <a:xfrm>
            <a:off x="45427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650" dirty="0"/>
          </a:p>
        </p:txBody>
      </p:sp>
      <p:sp>
        <p:nvSpPr>
          <p:cNvPr id="100" name="Shape 98"/>
          <p:cNvSpPr/>
          <p:nvPr/>
        </p:nvSpPr>
        <p:spPr>
          <a:xfrm>
            <a:off x="480926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989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45989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1100" dirty="0"/>
          </a:p>
        </p:txBody>
      </p:sp>
      <p:sp>
        <p:nvSpPr>
          <p:cNvPr id="103" name="Shape 101"/>
          <p:cNvSpPr/>
          <p:nvPr/>
        </p:nvSpPr>
        <p:spPr>
          <a:xfrm>
            <a:off x="380046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387361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9190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12 أكتوبر 2026</a:t>
            </a:r>
            <a:endParaRPr lang="ar-SA" sz="950" dirty="0"/>
          </a:p>
        </p:txBody>
      </p:sp>
      <p:sp>
        <p:nvSpPr>
          <p:cNvPr id="106" name="Text 104"/>
          <p:cNvSpPr/>
          <p:nvPr/>
        </p:nvSpPr>
        <p:spPr>
          <a:xfrm>
            <a:off x="389190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650" dirty="0"/>
          </a:p>
        </p:txBody>
      </p:sp>
      <p:sp>
        <p:nvSpPr>
          <p:cNvPr id="107" name="Shape 105"/>
          <p:cNvSpPr/>
          <p:nvPr/>
        </p:nvSpPr>
        <p:spPr>
          <a:xfrm>
            <a:off x="415842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94811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39481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1100" dirty="0"/>
          </a:p>
        </p:txBody>
      </p:sp>
      <p:sp>
        <p:nvSpPr>
          <p:cNvPr id="110" name="Shape 108"/>
          <p:cNvSpPr/>
          <p:nvPr/>
        </p:nvSpPr>
        <p:spPr>
          <a:xfrm>
            <a:off x="31496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3222776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410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950" dirty="0"/>
          </a:p>
        </p:txBody>
      </p:sp>
      <p:sp>
        <p:nvSpPr>
          <p:cNvPr id="113" name="Text 111"/>
          <p:cNvSpPr/>
          <p:nvPr/>
        </p:nvSpPr>
        <p:spPr>
          <a:xfrm>
            <a:off x="32410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650" dirty="0"/>
          </a:p>
        </p:txBody>
      </p:sp>
      <p:sp>
        <p:nvSpPr>
          <p:cNvPr id="114" name="Shape 112"/>
          <p:cNvSpPr/>
          <p:nvPr/>
        </p:nvSpPr>
        <p:spPr>
          <a:xfrm>
            <a:off x="3507585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297273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32972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1100" dirty="0"/>
          </a:p>
        </p:txBody>
      </p:sp>
      <p:sp>
        <p:nvSpPr>
          <p:cNvPr id="117" name="Shape 115"/>
          <p:cNvSpPr/>
          <p:nvPr/>
        </p:nvSpPr>
        <p:spPr>
          <a:xfrm>
            <a:off x="2498786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2571938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590226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14 أكتوبر 2026</a:t>
            </a:r>
            <a:endParaRPr lang="ar-SA" sz="950" dirty="0"/>
          </a:p>
        </p:txBody>
      </p:sp>
      <p:sp>
        <p:nvSpPr>
          <p:cNvPr id="120" name="Text 118"/>
          <p:cNvSpPr/>
          <p:nvPr/>
        </p:nvSpPr>
        <p:spPr>
          <a:xfrm>
            <a:off x="2590226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650" dirty="0"/>
          </a:p>
        </p:txBody>
      </p:sp>
      <p:sp>
        <p:nvSpPr>
          <p:cNvPr id="121" name="Shape 119"/>
          <p:cNvSpPr/>
          <p:nvPr/>
        </p:nvSpPr>
        <p:spPr>
          <a:xfrm>
            <a:off x="2856747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646435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26464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1100" dirty="0"/>
          </a:p>
        </p:txBody>
      </p:sp>
      <p:sp>
        <p:nvSpPr>
          <p:cNvPr id="124" name="Shape 122"/>
          <p:cNvSpPr/>
          <p:nvPr/>
        </p:nvSpPr>
        <p:spPr>
          <a:xfrm>
            <a:off x="18479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1921101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393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15 أكتوبر 2026</a:t>
            </a:r>
            <a:endParaRPr lang="ar-SA" sz="950" dirty="0"/>
          </a:p>
        </p:txBody>
      </p:sp>
      <p:sp>
        <p:nvSpPr>
          <p:cNvPr id="127" name="Text 125"/>
          <p:cNvSpPr/>
          <p:nvPr/>
        </p:nvSpPr>
        <p:spPr>
          <a:xfrm>
            <a:off x="19393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650" dirty="0"/>
          </a:p>
        </p:txBody>
      </p:sp>
      <p:sp>
        <p:nvSpPr>
          <p:cNvPr id="128" name="Shape 126"/>
          <p:cNvSpPr/>
          <p:nvPr/>
        </p:nvSpPr>
        <p:spPr>
          <a:xfrm>
            <a:off x="2205909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995597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19955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1100" dirty="0"/>
          </a:p>
        </p:txBody>
      </p:sp>
      <p:sp>
        <p:nvSpPr>
          <p:cNvPr id="131" name="Shape 129"/>
          <p:cNvSpPr/>
          <p:nvPr/>
        </p:nvSpPr>
        <p:spPr>
          <a:xfrm>
            <a:off x="1197111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1270263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288551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 2026</a:t>
            </a:r>
            <a:endParaRPr lang="ar-SA" sz="950" dirty="0"/>
          </a:p>
        </p:txBody>
      </p:sp>
      <p:sp>
        <p:nvSpPr>
          <p:cNvPr id="134" name="Text 132"/>
          <p:cNvSpPr/>
          <p:nvPr/>
        </p:nvSpPr>
        <p:spPr>
          <a:xfrm>
            <a:off x="1288551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650" dirty="0"/>
          </a:p>
        </p:txBody>
      </p:sp>
      <p:sp>
        <p:nvSpPr>
          <p:cNvPr id="135" name="Shape 133"/>
          <p:cNvSpPr/>
          <p:nvPr/>
        </p:nvSpPr>
        <p:spPr>
          <a:xfrm>
            <a:off x="155507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34476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3447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1100" dirty="0"/>
          </a:p>
        </p:txBody>
      </p:sp>
      <p:sp>
        <p:nvSpPr>
          <p:cNvPr id="138" name="Shape 136"/>
          <p:cNvSpPr/>
          <p:nvPr/>
        </p:nvSpPr>
        <p:spPr>
          <a:xfrm>
            <a:off x="5462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619425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377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20 أكتوبر 2026</a:t>
            </a:r>
            <a:endParaRPr lang="ar-SA" sz="950" dirty="0"/>
          </a:p>
        </p:txBody>
      </p:sp>
      <p:sp>
        <p:nvSpPr>
          <p:cNvPr id="141" name="Text 139"/>
          <p:cNvSpPr/>
          <p:nvPr/>
        </p:nvSpPr>
        <p:spPr>
          <a:xfrm>
            <a:off x="6377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650" dirty="0"/>
          </a:p>
        </p:txBody>
      </p:sp>
      <p:sp>
        <p:nvSpPr>
          <p:cNvPr id="142" name="Shape 140"/>
          <p:cNvSpPr/>
          <p:nvPr/>
        </p:nvSpPr>
        <p:spPr>
          <a:xfrm>
            <a:off x="904234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9392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6939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1100" dirty="0"/>
          </a:p>
        </p:txBody>
      </p:sp>
      <p:sp>
        <p:nvSpPr>
          <p:cNvPr id="145" name="Shape 143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21 أكتوبر 2026</a:t>
            </a:r>
            <a:endParaRPr lang="ar-SA" sz="950" dirty="0"/>
          </a:p>
        </p:txBody>
      </p:sp>
      <p:sp>
        <p:nvSpPr>
          <p:cNvPr id="148" name="Text 146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خطة التخفيف – جدول الشورينج والخرسانة والردم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حفرة RYDN-WLB · التصور الأولي المعاد تخطيطه بناءً على برنامج المقاول (Rev 01) · البدء 22 أكتوبر 2026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51615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94569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 الحرج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10275113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22538" y="1005840"/>
            <a:ext cx="17977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(اللون = مجموعة العمل)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8349386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58177" y="1005840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ميل ستون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7230161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34710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غير 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6143854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858207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</a:t>
            </a:r>
            <a:endParaRPr lang="ar-SA" sz="900" dirty="0"/>
          </a:p>
        </p:txBody>
      </p:sp>
      <p:sp>
        <p:nvSpPr>
          <p:cNvPr id="14" name="Text 12"/>
          <p:cNvSpPr/>
          <p:nvPr/>
        </p:nvSpPr>
        <p:spPr>
          <a:xfrm>
            <a:off x="3274466" y="1005840"/>
            <a:ext cx="163860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علاقة ارتباط (FS / SS)</a:t>
            </a:r>
            <a:endParaRPr lang="ar-SA" sz="900" dirty="0"/>
          </a:p>
        </p:txBody>
      </p:sp>
      <p:sp>
        <p:nvSpPr>
          <p:cNvPr id="15" name="Shape 13"/>
          <p:cNvSpPr/>
          <p:nvPr/>
        </p:nvSpPr>
        <p:spPr>
          <a:xfrm>
            <a:off x="6147511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41887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" dirty="0"/>
          </a:p>
        </p:txBody>
      </p:sp>
      <p:sp>
        <p:nvSpPr>
          <p:cNvPr id="17" name="Text 15"/>
          <p:cNvSpPr/>
          <p:nvPr/>
        </p:nvSpPr>
        <p:spPr>
          <a:xfrm>
            <a:off x="8762695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النشاط</a:t>
            </a:r>
            <a:endParaRPr lang="ar-SA" sz="900" dirty="0"/>
          </a:p>
        </p:txBody>
      </p:sp>
      <p:sp>
        <p:nvSpPr>
          <p:cNvPr id="18" name="Text 16"/>
          <p:cNvSpPr/>
          <p:nvPr/>
        </p:nvSpPr>
        <p:spPr>
          <a:xfrm>
            <a:off x="7967167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السابق</a:t>
            </a:r>
            <a:endParaRPr lang="ar-SA" sz="900" dirty="0"/>
          </a:p>
        </p:txBody>
      </p:sp>
      <p:sp>
        <p:nvSpPr>
          <p:cNvPr id="19" name="Text 17"/>
          <p:cNvSpPr/>
          <p:nvPr/>
        </p:nvSpPr>
        <p:spPr>
          <a:xfrm>
            <a:off x="7464247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(أيام عمل)</a:t>
            </a:r>
            <a:endParaRPr lang="ar-SA" sz="750" dirty="0"/>
          </a:p>
        </p:txBody>
      </p:sp>
      <p:sp>
        <p:nvSpPr>
          <p:cNvPr id="20" name="Text 18"/>
          <p:cNvSpPr/>
          <p:nvPr/>
        </p:nvSpPr>
        <p:spPr>
          <a:xfrm>
            <a:off x="6805879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البداية</a:t>
            </a:r>
            <a:endParaRPr lang="ar-SA" sz="900" dirty="0"/>
          </a:p>
        </p:txBody>
      </p:sp>
      <p:sp>
        <p:nvSpPr>
          <p:cNvPr id="21" name="Text 19"/>
          <p:cNvSpPr/>
          <p:nvPr/>
        </p:nvSpPr>
        <p:spPr>
          <a:xfrm>
            <a:off x="6147511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النهاية</a:t>
            </a:r>
            <a:endParaRPr lang="ar-SA" sz="900" dirty="0"/>
          </a:p>
        </p:txBody>
      </p:sp>
      <p:sp>
        <p:nvSpPr>
          <p:cNvPr id="22" name="Shape 20"/>
          <p:cNvSpPr/>
          <p:nvPr/>
        </p:nvSpPr>
        <p:spPr>
          <a:xfrm>
            <a:off x="2678460" y="1325880"/>
            <a:ext cx="3469051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78460" y="1325880"/>
            <a:ext cx="34690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أكتوبر 2026</a:t>
            </a:r>
            <a:endParaRPr lang="ar-SA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1325880"/>
            <a:ext cx="2312700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1325880"/>
            <a:ext cx="23127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نوفمبر 2026</a:t>
            </a:r>
            <a:endParaRPr lang="ar-SA" sz="850" dirty="0"/>
          </a:p>
        </p:txBody>
      </p:sp>
      <p:sp>
        <p:nvSpPr>
          <p:cNvPr id="26" name="Shape 24"/>
          <p:cNvSpPr/>
          <p:nvPr/>
        </p:nvSpPr>
        <p:spPr>
          <a:xfrm>
            <a:off x="5569336" y="1508760"/>
            <a:ext cx="57817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69336" y="1508760"/>
            <a:ext cx="57817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1</a:t>
            </a:r>
            <a:endParaRPr lang="ar-SA" sz="650" dirty="0"/>
          </a:p>
        </p:txBody>
      </p:sp>
      <p:sp>
        <p:nvSpPr>
          <p:cNvPr id="28" name="Shape 26"/>
          <p:cNvSpPr/>
          <p:nvPr/>
        </p:nvSpPr>
        <p:spPr>
          <a:xfrm>
            <a:off x="4220261" y="1508760"/>
            <a:ext cx="1349075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20261" y="1508760"/>
            <a:ext cx="134907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2</a:t>
            </a:r>
            <a:endParaRPr lang="ar-SA" sz="650" dirty="0"/>
          </a:p>
        </p:txBody>
      </p:sp>
      <p:sp>
        <p:nvSpPr>
          <p:cNvPr id="30" name="Shape 28"/>
          <p:cNvSpPr/>
          <p:nvPr/>
        </p:nvSpPr>
        <p:spPr>
          <a:xfrm>
            <a:off x="2871186" y="1508760"/>
            <a:ext cx="134907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71186" y="1508760"/>
            <a:ext cx="134907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3</a:t>
            </a:r>
            <a:endParaRPr lang="ar-SA" sz="650" dirty="0"/>
          </a:p>
        </p:txBody>
      </p:sp>
      <p:sp>
        <p:nvSpPr>
          <p:cNvPr id="32" name="Shape 30"/>
          <p:cNvSpPr/>
          <p:nvPr/>
        </p:nvSpPr>
        <p:spPr>
          <a:xfrm>
            <a:off x="1522110" y="1508760"/>
            <a:ext cx="1349075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522110" y="1508760"/>
            <a:ext cx="134907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4</a:t>
            </a:r>
            <a:endParaRPr lang="ar-SA" sz="650" dirty="0"/>
          </a:p>
        </p:txBody>
      </p:sp>
      <p:sp>
        <p:nvSpPr>
          <p:cNvPr id="34" name="Shape 32"/>
          <p:cNvSpPr/>
          <p:nvPr/>
        </p:nvSpPr>
        <p:spPr>
          <a:xfrm>
            <a:off x="365760" y="1508760"/>
            <a:ext cx="1156350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1508760"/>
            <a:ext cx="115635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5</a:t>
            </a:r>
            <a:endParaRPr lang="ar-SA" sz="650" dirty="0"/>
          </a:p>
        </p:txBody>
      </p:sp>
      <p:sp>
        <p:nvSpPr>
          <p:cNvPr id="36" name="Shape 34"/>
          <p:cNvSpPr/>
          <p:nvPr/>
        </p:nvSpPr>
        <p:spPr>
          <a:xfrm>
            <a:off x="5954786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54786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38" name="Text 36"/>
          <p:cNvSpPr/>
          <p:nvPr/>
        </p:nvSpPr>
        <p:spPr>
          <a:xfrm>
            <a:off x="5954786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39" name="Shape 37"/>
          <p:cNvSpPr/>
          <p:nvPr/>
        </p:nvSpPr>
        <p:spPr>
          <a:xfrm>
            <a:off x="5762061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62061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41" name="Text 39"/>
          <p:cNvSpPr/>
          <p:nvPr/>
        </p:nvSpPr>
        <p:spPr>
          <a:xfrm>
            <a:off x="5762061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42" name="Shape 40"/>
          <p:cNvSpPr/>
          <p:nvPr/>
        </p:nvSpPr>
        <p:spPr>
          <a:xfrm>
            <a:off x="5569336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69336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44" name="Text 42"/>
          <p:cNvSpPr/>
          <p:nvPr/>
        </p:nvSpPr>
        <p:spPr>
          <a:xfrm>
            <a:off x="5569336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45" name="Shape 43"/>
          <p:cNvSpPr/>
          <p:nvPr/>
        </p:nvSpPr>
        <p:spPr>
          <a:xfrm>
            <a:off x="5376611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6611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47" name="Text 45"/>
          <p:cNvSpPr/>
          <p:nvPr/>
        </p:nvSpPr>
        <p:spPr>
          <a:xfrm>
            <a:off x="5376611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550" dirty="0"/>
          </a:p>
        </p:txBody>
      </p:sp>
      <p:sp>
        <p:nvSpPr>
          <p:cNvPr id="48" name="Shape 46"/>
          <p:cNvSpPr/>
          <p:nvPr/>
        </p:nvSpPr>
        <p:spPr>
          <a:xfrm>
            <a:off x="5569336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83886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83886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51" name="Text 49"/>
          <p:cNvSpPr/>
          <p:nvPr/>
        </p:nvSpPr>
        <p:spPr>
          <a:xfrm>
            <a:off x="5183886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550" dirty="0"/>
          </a:p>
        </p:txBody>
      </p:sp>
      <p:sp>
        <p:nvSpPr>
          <p:cNvPr id="52" name="Shape 50"/>
          <p:cNvSpPr/>
          <p:nvPr/>
        </p:nvSpPr>
        <p:spPr>
          <a:xfrm>
            <a:off x="4991161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91161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54" name="Text 52"/>
          <p:cNvSpPr/>
          <p:nvPr/>
        </p:nvSpPr>
        <p:spPr>
          <a:xfrm>
            <a:off x="4991161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550" dirty="0"/>
          </a:p>
        </p:txBody>
      </p:sp>
      <p:sp>
        <p:nvSpPr>
          <p:cNvPr id="55" name="Shape 53"/>
          <p:cNvSpPr/>
          <p:nvPr/>
        </p:nvSpPr>
        <p:spPr>
          <a:xfrm>
            <a:off x="4798436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98436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57" name="Text 55"/>
          <p:cNvSpPr/>
          <p:nvPr/>
        </p:nvSpPr>
        <p:spPr>
          <a:xfrm>
            <a:off x="4798436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550" dirty="0"/>
          </a:p>
        </p:txBody>
      </p:sp>
      <p:sp>
        <p:nvSpPr>
          <p:cNvPr id="58" name="Shape 56"/>
          <p:cNvSpPr/>
          <p:nvPr/>
        </p:nvSpPr>
        <p:spPr>
          <a:xfrm>
            <a:off x="4605711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05711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60" name="Text 58"/>
          <p:cNvSpPr/>
          <p:nvPr/>
        </p:nvSpPr>
        <p:spPr>
          <a:xfrm>
            <a:off x="4605711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550" dirty="0"/>
          </a:p>
        </p:txBody>
      </p:sp>
      <p:sp>
        <p:nvSpPr>
          <p:cNvPr id="61" name="Shape 59"/>
          <p:cNvSpPr/>
          <p:nvPr/>
        </p:nvSpPr>
        <p:spPr>
          <a:xfrm>
            <a:off x="4412986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12986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63" name="Text 61"/>
          <p:cNvSpPr/>
          <p:nvPr/>
        </p:nvSpPr>
        <p:spPr>
          <a:xfrm>
            <a:off x="4412986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550" dirty="0"/>
          </a:p>
        </p:txBody>
      </p:sp>
      <p:sp>
        <p:nvSpPr>
          <p:cNvPr id="64" name="Shape 62"/>
          <p:cNvSpPr/>
          <p:nvPr/>
        </p:nvSpPr>
        <p:spPr>
          <a:xfrm>
            <a:off x="4220261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220261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66" name="Text 64"/>
          <p:cNvSpPr/>
          <p:nvPr/>
        </p:nvSpPr>
        <p:spPr>
          <a:xfrm>
            <a:off x="4220261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550" dirty="0"/>
          </a:p>
        </p:txBody>
      </p:sp>
      <p:sp>
        <p:nvSpPr>
          <p:cNvPr id="67" name="Shape 65"/>
          <p:cNvSpPr/>
          <p:nvPr/>
        </p:nvSpPr>
        <p:spPr>
          <a:xfrm>
            <a:off x="4027536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27536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69" name="Text 67"/>
          <p:cNvSpPr/>
          <p:nvPr/>
        </p:nvSpPr>
        <p:spPr>
          <a:xfrm>
            <a:off x="4027536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550" dirty="0"/>
          </a:p>
        </p:txBody>
      </p:sp>
      <p:sp>
        <p:nvSpPr>
          <p:cNvPr id="70" name="Shape 68"/>
          <p:cNvSpPr/>
          <p:nvPr/>
        </p:nvSpPr>
        <p:spPr>
          <a:xfrm>
            <a:off x="4220261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834811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834811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73" name="Text 71"/>
          <p:cNvSpPr/>
          <p:nvPr/>
        </p:nvSpPr>
        <p:spPr>
          <a:xfrm>
            <a:off x="3834811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550" dirty="0"/>
          </a:p>
        </p:txBody>
      </p:sp>
      <p:sp>
        <p:nvSpPr>
          <p:cNvPr id="74" name="Shape 72"/>
          <p:cNvSpPr/>
          <p:nvPr/>
        </p:nvSpPr>
        <p:spPr>
          <a:xfrm>
            <a:off x="3642086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42086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76" name="Text 74"/>
          <p:cNvSpPr/>
          <p:nvPr/>
        </p:nvSpPr>
        <p:spPr>
          <a:xfrm>
            <a:off x="3642086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550" dirty="0"/>
          </a:p>
        </p:txBody>
      </p:sp>
      <p:sp>
        <p:nvSpPr>
          <p:cNvPr id="77" name="Shape 75"/>
          <p:cNvSpPr/>
          <p:nvPr/>
        </p:nvSpPr>
        <p:spPr>
          <a:xfrm>
            <a:off x="3449361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449361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79" name="Text 77"/>
          <p:cNvSpPr/>
          <p:nvPr/>
        </p:nvSpPr>
        <p:spPr>
          <a:xfrm>
            <a:off x="3449361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550" dirty="0"/>
          </a:p>
        </p:txBody>
      </p:sp>
      <p:sp>
        <p:nvSpPr>
          <p:cNvPr id="80" name="Shape 78"/>
          <p:cNvSpPr/>
          <p:nvPr/>
        </p:nvSpPr>
        <p:spPr>
          <a:xfrm>
            <a:off x="3256636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256636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82" name="Text 80"/>
          <p:cNvSpPr/>
          <p:nvPr/>
        </p:nvSpPr>
        <p:spPr>
          <a:xfrm>
            <a:off x="3256636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550" dirty="0"/>
          </a:p>
        </p:txBody>
      </p:sp>
      <p:sp>
        <p:nvSpPr>
          <p:cNvPr id="83" name="Shape 81"/>
          <p:cNvSpPr/>
          <p:nvPr/>
        </p:nvSpPr>
        <p:spPr>
          <a:xfrm>
            <a:off x="3063911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063911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85" name="Text 83"/>
          <p:cNvSpPr/>
          <p:nvPr/>
        </p:nvSpPr>
        <p:spPr>
          <a:xfrm>
            <a:off x="3063911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550" dirty="0"/>
          </a:p>
        </p:txBody>
      </p:sp>
      <p:sp>
        <p:nvSpPr>
          <p:cNvPr id="86" name="Shape 84"/>
          <p:cNvSpPr/>
          <p:nvPr/>
        </p:nvSpPr>
        <p:spPr>
          <a:xfrm>
            <a:off x="2871186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871186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88" name="Text 86"/>
          <p:cNvSpPr/>
          <p:nvPr/>
        </p:nvSpPr>
        <p:spPr>
          <a:xfrm>
            <a:off x="2871186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550" dirty="0"/>
          </a:p>
        </p:txBody>
      </p:sp>
      <p:sp>
        <p:nvSpPr>
          <p:cNvPr id="89" name="Shape 87"/>
          <p:cNvSpPr/>
          <p:nvPr/>
        </p:nvSpPr>
        <p:spPr>
          <a:xfrm>
            <a:off x="267846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67846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91" name="Text 89"/>
          <p:cNvSpPr/>
          <p:nvPr/>
        </p:nvSpPr>
        <p:spPr>
          <a:xfrm>
            <a:off x="267846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ar-SA" sz="550" dirty="0"/>
          </a:p>
        </p:txBody>
      </p:sp>
      <p:sp>
        <p:nvSpPr>
          <p:cNvPr id="92" name="Shape 90"/>
          <p:cNvSpPr/>
          <p:nvPr/>
        </p:nvSpPr>
        <p:spPr>
          <a:xfrm>
            <a:off x="2871186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48573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48573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95" name="Text 93"/>
          <p:cNvSpPr/>
          <p:nvPr/>
        </p:nvSpPr>
        <p:spPr>
          <a:xfrm>
            <a:off x="248573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550" dirty="0"/>
          </a:p>
        </p:txBody>
      </p:sp>
      <p:sp>
        <p:nvSpPr>
          <p:cNvPr id="96" name="Shape 94"/>
          <p:cNvSpPr/>
          <p:nvPr/>
        </p:nvSpPr>
        <p:spPr>
          <a:xfrm>
            <a:off x="229301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29301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98" name="Text 96"/>
          <p:cNvSpPr/>
          <p:nvPr/>
        </p:nvSpPr>
        <p:spPr>
          <a:xfrm>
            <a:off x="229301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550" dirty="0"/>
          </a:p>
        </p:txBody>
      </p:sp>
      <p:sp>
        <p:nvSpPr>
          <p:cNvPr id="99" name="Shape 97"/>
          <p:cNvSpPr/>
          <p:nvPr/>
        </p:nvSpPr>
        <p:spPr>
          <a:xfrm>
            <a:off x="210028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10028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01" name="Text 99"/>
          <p:cNvSpPr/>
          <p:nvPr/>
        </p:nvSpPr>
        <p:spPr>
          <a:xfrm>
            <a:off x="210028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550" dirty="0"/>
          </a:p>
        </p:txBody>
      </p:sp>
      <p:sp>
        <p:nvSpPr>
          <p:cNvPr id="102" name="Shape 100"/>
          <p:cNvSpPr/>
          <p:nvPr/>
        </p:nvSpPr>
        <p:spPr>
          <a:xfrm>
            <a:off x="190756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90756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04" name="Text 102"/>
          <p:cNvSpPr/>
          <p:nvPr/>
        </p:nvSpPr>
        <p:spPr>
          <a:xfrm>
            <a:off x="190756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550" dirty="0"/>
          </a:p>
        </p:txBody>
      </p:sp>
      <p:sp>
        <p:nvSpPr>
          <p:cNvPr id="105" name="Shape 103"/>
          <p:cNvSpPr/>
          <p:nvPr/>
        </p:nvSpPr>
        <p:spPr>
          <a:xfrm>
            <a:off x="171483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71483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07" name="Text 105"/>
          <p:cNvSpPr/>
          <p:nvPr/>
        </p:nvSpPr>
        <p:spPr>
          <a:xfrm>
            <a:off x="171483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550" dirty="0"/>
          </a:p>
        </p:txBody>
      </p:sp>
      <p:sp>
        <p:nvSpPr>
          <p:cNvPr id="108" name="Shape 106"/>
          <p:cNvSpPr/>
          <p:nvPr/>
        </p:nvSpPr>
        <p:spPr>
          <a:xfrm>
            <a:off x="152211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52211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10" name="Text 108"/>
          <p:cNvSpPr/>
          <p:nvPr/>
        </p:nvSpPr>
        <p:spPr>
          <a:xfrm>
            <a:off x="152211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550" dirty="0"/>
          </a:p>
        </p:txBody>
      </p:sp>
      <p:sp>
        <p:nvSpPr>
          <p:cNvPr id="111" name="Shape 109"/>
          <p:cNvSpPr/>
          <p:nvPr/>
        </p:nvSpPr>
        <p:spPr>
          <a:xfrm>
            <a:off x="132938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32938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13" name="Text 111"/>
          <p:cNvSpPr/>
          <p:nvPr/>
        </p:nvSpPr>
        <p:spPr>
          <a:xfrm>
            <a:off x="132938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550" dirty="0"/>
          </a:p>
        </p:txBody>
      </p:sp>
      <p:sp>
        <p:nvSpPr>
          <p:cNvPr id="114" name="Shape 112"/>
          <p:cNvSpPr/>
          <p:nvPr/>
        </p:nvSpPr>
        <p:spPr>
          <a:xfrm>
            <a:off x="1522110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3666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3666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17" name="Text 115"/>
          <p:cNvSpPr/>
          <p:nvPr/>
        </p:nvSpPr>
        <p:spPr>
          <a:xfrm>
            <a:off x="113666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550" dirty="0"/>
          </a:p>
        </p:txBody>
      </p:sp>
      <p:sp>
        <p:nvSpPr>
          <p:cNvPr id="118" name="Shape 116"/>
          <p:cNvSpPr/>
          <p:nvPr/>
        </p:nvSpPr>
        <p:spPr>
          <a:xfrm>
            <a:off x="94393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4393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20" name="Text 118"/>
          <p:cNvSpPr/>
          <p:nvPr/>
        </p:nvSpPr>
        <p:spPr>
          <a:xfrm>
            <a:off x="94393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550" dirty="0"/>
          </a:p>
        </p:txBody>
      </p:sp>
      <p:sp>
        <p:nvSpPr>
          <p:cNvPr id="121" name="Shape 119"/>
          <p:cNvSpPr/>
          <p:nvPr/>
        </p:nvSpPr>
        <p:spPr>
          <a:xfrm>
            <a:off x="75121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5121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23" name="Text 121"/>
          <p:cNvSpPr/>
          <p:nvPr/>
        </p:nvSpPr>
        <p:spPr>
          <a:xfrm>
            <a:off x="75121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550" dirty="0"/>
          </a:p>
        </p:txBody>
      </p:sp>
      <p:sp>
        <p:nvSpPr>
          <p:cNvPr id="124" name="Shape 122"/>
          <p:cNvSpPr/>
          <p:nvPr/>
        </p:nvSpPr>
        <p:spPr>
          <a:xfrm>
            <a:off x="55848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5848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26" name="Text 124"/>
          <p:cNvSpPr/>
          <p:nvPr/>
        </p:nvSpPr>
        <p:spPr>
          <a:xfrm>
            <a:off x="55848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550" dirty="0"/>
          </a:p>
        </p:txBody>
      </p:sp>
      <p:sp>
        <p:nvSpPr>
          <p:cNvPr id="127" name="Shape 125"/>
          <p:cNvSpPr/>
          <p:nvPr/>
        </p:nvSpPr>
        <p:spPr>
          <a:xfrm>
            <a:off x="36576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6576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29" name="Text 127"/>
          <p:cNvSpPr/>
          <p:nvPr/>
        </p:nvSpPr>
        <p:spPr>
          <a:xfrm>
            <a:off x="36576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550" dirty="0"/>
          </a:p>
        </p:txBody>
      </p:sp>
      <p:sp>
        <p:nvSpPr>
          <p:cNvPr id="130" name="Shape 128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1515039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11441887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ar-SA" sz="900" dirty="0"/>
          </a:p>
        </p:txBody>
      </p:sp>
      <p:sp>
        <p:nvSpPr>
          <p:cNvPr id="133" name="Text 131"/>
          <p:cNvSpPr/>
          <p:nvPr/>
        </p:nvSpPr>
        <p:spPr>
          <a:xfrm>
            <a:off x="8762695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الإجمالية للمشروع</a:t>
            </a:r>
            <a:endParaRPr lang="ar-SA" sz="1000" dirty="0"/>
          </a:p>
        </p:txBody>
      </p:sp>
      <p:sp>
        <p:nvSpPr>
          <p:cNvPr id="134" name="Text 132"/>
          <p:cNvSpPr/>
          <p:nvPr/>
        </p:nvSpPr>
        <p:spPr>
          <a:xfrm>
            <a:off x="7464247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1100" dirty="0"/>
          </a:p>
        </p:txBody>
      </p:sp>
      <p:sp>
        <p:nvSpPr>
          <p:cNvPr id="135" name="Text 133"/>
          <p:cNvSpPr/>
          <p:nvPr/>
        </p:nvSpPr>
        <p:spPr>
          <a:xfrm>
            <a:off x="6805879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850" dirty="0"/>
          </a:p>
        </p:txBody>
      </p:sp>
      <p:sp>
        <p:nvSpPr>
          <p:cNvPr id="136" name="Text 134"/>
          <p:cNvSpPr/>
          <p:nvPr/>
        </p:nvSpPr>
        <p:spPr>
          <a:xfrm>
            <a:off x="6147511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نوفمبر</a:t>
            </a:r>
            <a:endParaRPr lang="ar-SA" sz="850" dirty="0"/>
          </a:p>
        </p:txBody>
      </p:sp>
      <p:sp>
        <p:nvSpPr>
          <p:cNvPr id="137" name="Shape 135"/>
          <p:cNvSpPr/>
          <p:nvPr/>
        </p:nvSpPr>
        <p:spPr>
          <a:xfrm>
            <a:off x="751210" y="2011680"/>
            <a:ext cx="3854501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51210" y="2011680"/>
            <a:ext cx="385450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يوم عمل · 22 أكتوبر → 10 نوفمبر</a:t>
            </a:r>
            <a:endParaRPr lang="ar-SA" sz="850" dirty="0"/>
          </a:p>
        </p:txBody>
      </p:sp>
      <p:sp>
        <p:nvSpPr>
          <p:cNvPr id="139" name="Shape 137"/>
          <p:cNvSpPr/>
          <p:nvPr/>
        </p:nvSpPr>
        <p:spPr>
          <a:xfrm>
            <a:off x="365760" y="2240280"/>
            <a:ext cx="11460175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1515039" y="2441448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1441887" y="22402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ar-SA" sz="850" dirty="0"/>
          </a:p>
        </p:txBody>
      </p:sp>
      <p:sp>
        <p:nvSpPr>
          <p:cNvPr id="142" name="Text 140"/>
          <p:cNvSpPr/>
          <p:nvPr/>
        </p:nvSpPr>
        <p:spPr>
          <a:xfrm>
            <a:off x="8762695" y="22402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نظام الدعم (Shoring)</a:t>
            </a:r>
            <a:endParaRPr lang="ar-SA" sz="900" dirty="0"/>
          </a:p>
        </p:txBody>
      </p:sp>
      <p:sp>
        <p:nvSpPr>
          <p:cNvPr id="143" name="Text 141"/>
          <p:cNvSpPr/>
          <p:nvPr/>
        </p:nvSpPr>
        <p:spPr>
          <a:xfrm>
            <a:off x="7967167" y="2240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850" dirty="0"/>
          </a:p>
        </p:txBody>
      </p:sp>
      <p:sp>
        <p:nvSpPr>
          <p:cNvPr id="144" name="Text 142"/>
          <p:cNvSpPr/>
          <p:nvPr/>
        </p:nvSpPr>
        <p:spPr>
          <a:xfrm>
            <a:off x="7464247" y="22402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050" dirty="0"/>
          </a:p>
        </p:txBody>
      </p:sp>
      <p:sp>
        <p:nvSpPr>
          <p:cNvPr id="145" name="Text 143"/>
          <p:cNvSpPr/>
          <p:nvPr/>
        </p:nvSpPr>
        <p:spPr>
          <a:xfrm>
            <a:off x="6805879" y="22402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850" dirty="0"/>
          </a:p>
        </p:txBody>
      </p:sp>
      <p:sp>
        <p:nvSpPr>
          <p:cNvPr id="146" name="Text 144"/>
          <p:cNvSpPr/>
          <p:nvPr/>
        </p:nvSpPr>
        <p:spPr>
          <a:xfrm>
            <a:off x="6147511" y="22402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أكتوبر</a:t>
            </a:r>
            <a:endParaRPr lang="ar-SA" sz="850" dirty="0"/>
          </a:p>
        </p:txBody>
      </p:sp>
      <p:sp>
        <p:nvSpPr>
          <p:cNvPr id="147" name="Shape 145"/>
          <p:cNvSpPr/>
          <p:nvPr/>
        </p:nvSpPr>
        <p:spPr>
          <a:xfrm>
            <a:off x="3834811" y="2404872"/>
            <a:ext cx="770900" cy="310896"/>
          </a:xfrm>
          <a:prstGeom prst="roundRect">
            <a:avLst>
              <a:gd name="adj" fmla="val 11765"/>
            </a:avLst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48" name="Text 146"/>
          <p:cNvSpPr/>
          <p:nvPr/>
        </p:nvSpPr>
        <p:spPr>
          <a:xfrm>
            <a:off x="3834811" y="2404872"/>
            <a:ext cx="770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يوم</a:t>
            </a:r>
            <a:endParaRPr lang="ar-SA" sz="700" dirty="0"/>
          </a:p>
        </p:txBody>
      </p:sp>
      <p:sp>
        <p:nvSpPr>
          <p:cNvPr id="149" name="Shape 147"/>
          <p:cNvSpPr/>
          <p:nvPr/>
        </p:nvSpPr>
        <p:spPr>
          <a:xfrm>
            <a:off x="365760" y="2880360"/>
            <a:ext cx="11460175" cy="640080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1515039" y="3081528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11441887" y="288036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ar-SA" sz="850" dirty="0"/>
          </a:p>
        </p:txBody>
      </p:sp>
      <p:sp>
        <p:nvSpPr>
          <p:cNvPr id="152" name="Text 150"/>
          <p:cNvSpPr/>
          <p:nvPr/>
        </p:nvSpPr>
        <p:spPr>
          <a:xfrm>
            <a:off x="8762695" y="288036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أساسات المبنى – حفر ودمك / اختبار وحديد تسليح وخرسانة</a:t>
            </a:r>
            <a:endParaRPr lang="ar-SA" sz="900" dirty="0"/>
          </a:p>
        </p:txBody>
      </p:sp>
      <p:sp>
        <p:nvSpPr>
          <p:cNvPr id="153" name="Text 151"/>
          <p:cNvSpPr/>
          <p:nvPr/>
        </p:nvSpPr>
        <p:spPr>
          <a:xfrm>
            <a:off x="7967167" y="28803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FS</a:t>
            </a:r>
            <a:endParaRPr lang="ar-SA" sz="850" dirty="0"/>
          </a:p>
        </p:txBody>
      </p:sp>
      <p:sp>
        <p:nvSpPr>
          <p:cNvPr id="154" name="Text 152"/>
          <p:cNvSpPr/>
          <p:nvPr/>
        </p:nvSpPr>
        <p:spPr>
          <a:xfrm>
            <a:off x="7464247" y="28803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1050" dirty="0"/>
          </a:p>
        </p:txBody>
      </p:sp>
      <p:sp>
        <p:nvSpPr>
          <p:cNvPr id="155" name="Text 153"/>
          <p:cNvSpPr/>
          <p:nvPr/>
        </p:nvSpPr>
        <p:spPr>
          <a:xfrm>
            <a:off x="6805879" y="288036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850" dirty="0"/>
          </a:p>
        </p:txBody>
      </p:sp>
      <p:sp>
        <p:nvSpPr>
          <p:cNvPr id="156" name="Text 154"/>
          <p:cNvSpPr/>
          <p:nvPr/>
        </p:nvSpPr>
        <p:spPr>
          <a:xfrm>
            <a:off x="6147511" y="288036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نوفمبر</a:t>
            </a:r>
            <a:endParaRPr lang="ar-SA" sz="850" dirty="0"/>
          </a:p>
        </p:txBody>
      </p:sp>
      <p:sp>
        <p:nvSpPr>
          <p:cNvPr id="157" name="Shape 155"/>
          <p:cNvSpPr/>
          <p:nvPr/>
        </p:nvSpPr>
        <p:spPr>
          <a:xfrm>
            <a:off x="1136660" y="3044952"/>
            <a:ext cx="2698151" cy="310896"/>
          </a:xfrm>
          <a:prstGeom prst="roundRect">
            <a:avLst>
              <a:gd name="adj" fmla="val 11765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58" name="Text 156"/>
          <p:cNvSpPr/>
          <p:nvPr/>
        </p:nvSpPr>
        <p:spPr>
          <a:xfrm>
            <a:off x="1136660" y="3044952"/>
            <a:ext cx="26981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يوم</a:t>
            </a:r>
            <a:endParaRPr lang="ar-SA" sz="700" dirty="0"/>
          </a:p>
        </p:txBody>
      </p:sp>
      <p:sp>
        <p:nvSpPr>
          <p:cNvPr id="159" name="Shape 157"/>
          <p:cNvSpPr/>
          <p:nvPr/>
        </p:nvSpPr>
        <p:spPr>
          <a:xfrm>
            <a:off x="365760" y="3520440"/>
            <a:ext cx="11460175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1515039" y="3721608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1441887" y="352044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ar-SA" sz="850" dirty="0"/>
          </a:p>
        </p:txBody>
      </p:sp>
      <p:sp>
        <p:nvSpPr>
          <p:cNvPr id="162" name="Text 160"/>
          <p:cNvSpPr/>
          <p:nvPr/>
        </p:nvSpPr>
        <p:spPr>
          <a:xfrm>
            <a:off x="8762695" y="35204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الردم للمبنى</a:t>
            </a:r>
            <a:endParaRPr lang="ar-SA" sz="900" dirty="0"/>
          </a:p>
        </p:txBody>
      </p:sp>
      <p:sp>
        <p:nvSpPr>
          <p:cNvPr id="163" name="Text 161"/>
          <p:cNvSpPr/>
          <p:nvPr/>
        </p:nvSpPr>
        <p:spPr>
          <a:xfrm>
            <a:off x="7967167" y="35204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FS</a:t>
            </a:r>
            <a:endParaRPr lang="ar-SA" sz="850" dirty="0"/>
          </a:p>
        </p:txBody>
      </p:sp>
      <p:sp>
        <p:nvSpPr>
          <p:cNvPr id="164" name="Text 162"/>
          <p:cNvSpPr/>
          <p:nvPr/>
        </p:nvSpPr>
        <p:spPr>
          <a:xfrm>
            <a:off x="7464247" y="35204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050" dirty="0"/>
          </a:p>
        </p:txBody>
      </p:sp>
      <p:sp>
        <p:nvSpPr>
          <p:cNvPr id="165" name="Text 163"/>
          <p:cNvSpPr/>
          <p:nvPr/>
        </p:nvSpPr>
        <p:spPr>
          <a:xfrm>
            <a:off x="6805879" y="352044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نوفمبر</a:t>
            </a:r>
            <a:endParaRPr lang="ar-SA" sz="850" dirty="0"/>
          </a:p>
        </p:txBody>
      </p:sp>
      <p:sp>
        <p:nvSpPr>
          <p:cNvPr id="166" name="Text 164"/>
          <p:cNvSpPr/>
          <p:nvPr/>
        </p:nvSpPr>
        <p:spPr>
          <a:xfrm>
            <a:off x="6147511" y="352044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نوفمبر</a:t>
            </a:r>
            <a:endParaRPr lang="ar-SA" sz="850" dirty="0"/>
          </a:p>
        </p:txBody>
      </p:sp>
      <p:sp>
        <p:nvSpPr>
          <p:cNvPr id="167" name="Shape 165"/>
          <p:cNvSpPr/>
          <p:nvPr/>
        </p:nvSpPr>
        <p:spPr>
          <a:xfrm>
            <a:off x="751210" y="3685032"/>
            <a:ext cx="385450" cy="310896"/>
          </a:xfrm>
          <a:prstGeom prst="roundRect">
            <a:avLst>
              <a:gd name="adj" fmla="val 11765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68" name="Text 166"/>
          <p:cNvSpPr/>
          <p:nvPr/>
        </p:nvSpPr>
        <p:spPr>
          <a:xfrm>
            <a:off x="751210" y="3685032"/>
            <a:ext cx="3854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169" name="Shape 167"/>
          <p:cNvSpPr/>
          <p:nvPr/>
        </p:nvSpPr>
        <p:spPr>
          <a:xfrm>
            <a:off x="3834811" y="2560320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3880531" y="2560320"/>
            <a:ext cx="0" cy="6400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H="1">
            <a:off x="3843955" y="3200400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172" name="Shape 170"/>
          <p:cNvSpPr/>
          <p:nvPr/>
        </p:nvSpPr>
        <p:spPr>
          <a:xfrm>
            <a:off x="1136660" y="3200400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182380" y="3200400"/>
            <a:ext cx="0" cy="6400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H="1">
            <a:off x="1145804" y="3840480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4702073" y="1947672"/>
            <a:ext cx="0" cy="2212848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4729505" y="2020824"/>
            <a:ext cx="841248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4729505" y="202082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 · 21 أكتوبر</a:t>
            </a:r>
            <a:endParaRPr lang="ar-SA" sz="650" dirty="0"/>
          </a:p>
        </p:txBody>
      </p:sp>
      <p:sp>
        <p:nvSpPr>
          <p:cNvPr id="178" name="Shape 176"/>
          <p:cNvSpPr/>
          <p:nvPr/>
        </p:nvSpPr>
        <p:spPr>
          <a:xfrm>
            <a:off x="365760" y="1325880"/>
            <a:ext cx="11460175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9043187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80" name="Shape 178"/>
          <p:cNvSpPr/>
          <p:nvPr/>
        </p:nvSpPr>
        <p:spPr>
          <a:xfrm>
            <a:off x="9098051" y="5486400"/>
            <a:ext cx="2673020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9152915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850" dirty="0"/>
          </a:p>
        </p:txBody>
      </p:sp>
      <p:sp>
        <p:nvSpPr>
          <p:cNvPr id="182" name="Text 180"/>
          <p:cNvSpPr/>
          <p:nvPr/>
        </p:nvSpPr>
        <p:spPr>
          <a:xfrm>
            <a:off x="9152915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22 أكتوبر 2026</a:t>
            </a:r>
            <a:endParaRPr lang="ar-SA" sz="1300" dirty="0"/>
          </a:p>
        </p:txBody>
      </p:sp>
      <p:sp>
        <p:nvSpPr>
          <p:cNvPr id="183" name="Text 181"/>
          <p:cNvSpPr/>
          <p:nvPr/>
        </p:nvSpPr>
        <p:spPr>
          <a:xfrm>
            <a:off x="9152915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 / 20</a:t>
            </a:r>
            <a:endParaRPr lang="ar-SA" sz="750" dirty="0"/>
          </a:p>
        </p:txBody>
      </p:sp>
      <p:sp>
        <p:nvSpPr>
          <p:cNvPr id="184" name="Shape 182"/>
          <p:cNvSpPr/>
          <p:nvPr/>
        </p:nvSpPr>
        <p:spPr>
          <a:xfrm>
            <a:off x="6150712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85" name="Shape 183"/>
          <p:cNvSpPr/>
          <p:nvPr/>
        </p:nvSpPr>
        <p:spPr>
          <a:xfrm>
            <a:off x="6205576" y="5486400"/>
            <a:ext cx="267302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260440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850" dirty="0"/>
          </a:p>
        </p:txBody>
      </p:sp>
      <p:sp>
        <p:nvSpPr>
          <p:cNvPr id="187" name="Text 185"/>
          <p:cNvSpPr/>
          <p:nvPr/>
        </p:nvSpPr>
        <p:spPr>
          <a:xfrm>
            <a:off x="6260440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25 أكتوبر 2026</a:t>
            </a:r>
            <a:endParaRPr lang="ar-SA" sz="1300" dirty="0"/>
          </a:p>
        </p:txBody>
      </p:sp>
      <p:sp>
        <p:nvSpPr>
          <p:cNvPr id="188" name="Text 186"/>
          <p:cNvSpPr/>
          <p:nvPr/>
        </p:nvSpPr>
        <p:spPr>
          <a:xfrm>
            <a:off x="6260440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4 / 20</a:t>
            </a:r>
            <a:endParaRPr lang="ar-SA" sz="750" dirty="0"/>
          </a:p>
        </p:txBody>
      </p:sp>
      <p:sp>
        <p:nvSpPr>
          <p:cNvPr id="189" name="Shape 187"/>
          <p:cNvSpPr/>
          <p:nvPr/>
        </p:nvSpPr>
        <p:spPr>
          <a:xfrm>
            <a:off x="3258236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90" name="Shape 188"/>
          <p:cNvSpPr/>
          <p:nvPr/>
        </p:nvSpPr>
        <p:spPr>
          <a:xfrm>
            <a:off x="3313100" y="5486400"/>
            <a:ext cx="267302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367964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850" dirty="0"/>
          </a:p>
        </p:txBody>
      </p:sp>
      <p:sp>
        <p:nvSpPr>
          <p:cNvPr id="192" name="Text 190"/>
          <p:cNvSpPr/>
          <p:nvPr/>
        </p:nvSpPr>
        <p:spPr>
          <a:xfrm>
            <a:off x="3367964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8 نوفمبر 2026</a:t>
            </a:r>
            <a:endParaRPr lang="ar-SA" sz="1300" dirty="0"/>
          </a:p>
        </p:txBody>
      </p:sp>
      <p:sp>
        <p:nvSpPr>
          <p:cNvPr id="193" name="Text 191"/>
          <p:cNvSpPr/>
          <p:nvPr/>
        </p:nvSpPr>
        <p:spPr>
          <a:xfrm>
            <a:off x="3367964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18 / 20</a:t>
            </a:r>
            <a:endParaRPr lang="ar-SA" sz="750" dirty="0"/>
          </a:p>
        </p:txBody>
      </p:sp>
      <p:sp>
        <p:nvSpPr>
          <p:cNvPr id="194" name="Shape 192"/>
          <p:cNvSpPr/>
          <p:nvPr/>
        </p:nvSpPr>
        <p:spPr>
          <a:xfrm>
            <a:off x="365760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95" name="Shape 193"/>
          <p:cNvSpPr/>
          <p:nvPr/>
        </p:nvSpPr>
        <p:spPr>
          <a:xfrm>
            <a:off x="420624" y="5486400"/>
            <a:ext cx="267302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75488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850" dirty="0"/>
          </a:p>
        </p:txBody>
      </p:sp>
      <p:sp>
        <p:nvSpPr>
          <p:cNvPr id="197" name="Text 195"/>
          <p:cNvSpPr/>
          <p:nvPr/>
        </p:nvSpPr>
        <p:spPr>
          <a:xfrm>
            <a:off x="475488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10 نوفمبر 2026</a:t>
            </a:r>
            <a:endParaRPr lang="ar-SA" sz="1300" dirty="0"/>
          </a:p>
        </p:txBody>
      </p:sp>
      <p:sp>
        <p:nvSpPr>
          <p:cNvPr id="198" name="Text 196"/>
          <p:cNvSpPr/>
          <p:nvPr/>
        </p:nvSpPr>
        <p:spPr>
          <a:xfrm>
            <a:off x="475488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20 / 20</a:t>
            </a:r>
            <a:endParaRPr lang="ar-SA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2026-10-21T14:27:17Z</dcterms:created>
  <dcterms:modified xsi:type="dcterms:W3CDTF">2026-10-21T14:27:17Z</dcterms:modified>
</cp:coreProperties>
</file>