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R">
    <p:bg>
      <p:bgPr>
        <a:solidFill>
          <a:srgbClr val="F6F9FA"/>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FFFFFF"/>
          </a:solidFill>
          <a:ln/>
        </p:spPr>
      </p:sp>
      <p:sp>
        <p:nvSpPr>
          <p:cNvPr id="3" name="Shape 1"/>
          <p:cNvSpPr/>
          <p:nvPr/>
        </p:nvSpPr>
        <p:spPr>
          <a:xfrm>
            <a:off x="0" y="868680"/>
            <a:ext cx="12191695" cy="45720"/>
          </a:xfrm>
          <a:prstGeom prst="rect">
            <a:avLst/>
          </a:prstGeom>
          <a:solidFill>
            <a:srgbClr val="00778B"/>
          </a:solidFill>
          <a:ln/>
        </p:spPr>
      </p:sp>
      <p:sp>
        <p:nvSpPr>
          <p:cNvPr id="4" name="Shape 2"/>
          <p:cNvSpPr/>
          <p:nvPr/>
        </p:nvSpPr>
        <p:spPr>
          <a:xfrm>
            <a:off x="10180015" y="868680"/>
            <a:ext cx="2011680" cy="45720"/>
          </a:xfrm>
          <a:prstGeom prst="rect">
            <a:avLst/>
          </a:prstGeom>
          <a:solidFill>
            <a:srgbClr val="3D3935"/>
          </a:solidFill>
          <a:ln/>
        </p:spPr>
      </p:sp>
      <p:pic>
        <p:nvPicPr>
          <p:cNvPr id="5" name="Image 0" descr="preencoded.png">    </p:cNvPr>
          <p:cNvPicPr>
            <a:picLocks noChangeAspect="1"/>
          </p:cNvPicPr>
          <p:nvPr/>
        </p:nvPicPr>
        <p:blipFill>
          <a:blip r:embed="rId1"/>
          <a:stretch>
            <a:fillRect/>
          </a:stretch>
        </p:blipFill>
        <p:spPr>
          <a:xfrm>
            <a:off x="365760" y="142875"/>
            <a:ext cx="1051560" cy="582930"/>
          </a:xfrm>
          <a:prstGeom prst="rect">
            <a:avLst/>
          </a:prstGeom>
        </p:spPr>
      </p:pic>
      <p:sp>
        <p:nvSpPr>
          <p:cNvPr id="6" name="Shape 3"/>
          <p:cNvSpPr/>
          <p:nvPr/>
        </p:nvSpPr>
        <p:spPr>
          <a:xfrm>
            <a:off x="0" y="6492240"/>
            <a:ext cx="12191695" cy="365760"/>
          </a:xfrm>
          <a:prstGeom prst="rect">
            <a:avLst/>
          </a:prstGeom>
          <a:solidFill>
            <a:srgbClr val="3D3935"/>
          </a:solidFill>
          <a:ln/>
        </p:spPr>
      </p:sp>
      <p:sp>
        <p:nvSpPr>
          <p:cNvPr id="7" name="Text 4"/>
          <p:cNvSpPr/>
          <p:nvPr/>
        </p:nvSpPr>
        <p:spPr>
          <a:xfrm>
            <a:off x="2681935" y="6492240"/>
            <a:ext cx="9144000" cy="365760"/>
          </a:xfrm>
          <a:prstGeom prst="rect">
            <a:avLst/>
          </a:prstGeom>
          <a:noFill/>
          <a:ln/>
        </p:spPr>
        <p:txBody>
          <a:bodyPr wrap="square" lIns="0" tIns="0" rIns="0" bIns="0" rtlCol="0" anchor="ctr"/>
          <a:lstStyle/>
          <a:p>
            <a:pPr algn="r" indent="0" marL="0">
              <a:buNone/>
            </a:pPr>
            <a:r>
              <a:rPr lang="en-US" sz="1000" dirty="0">
                <a:solidFill>
                  <a:srgbClr val="FFFFFF"/>
                </a:solidFill>
                <a:latin typeface="Arial" pitchFamily="34" charset="0"/>
                <a:ea typeface="Arial" pitchFamily="34" charset="-122"/>
                <a:cs typeface="Arial" pitchFamily="34" charset="-120"/>
              </a:rPr>
              <a:t>مشروع UFWL – إيقاف الموقع والأعمال المتبقية</a:t>
            </a:r>
            <a:endParaRPr lang="en-US" sz="1000" dirty="0"/>
          </a:p>
        </p:txBody>
      </p:sp>
      <p:sp>
        <p:nvSpPr>
          <p:cNvPr id="25" name="Slide Number Placeholder 0"/>
          <p:cNvSpPr>
            <a:spLocks noGrp="1"/>
          </p:cNvSpPr>
          <p:nvPr>
            <p:ph type="sldNum" sz="quarter" idx="4294967295"/>
          </p:nvPr>
        </p:nvSpPr>
        <p:spPr>
          <a:xfrm>
            <a:off x="320040" y="6519672"/>
            <a:ext cx="548640" cy="310896"/>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Arial"/>
                <a:ea typeface="Arial"/>
                <a:cs typeface="Arial"/>
              </a:defRPr>
            </a:lvl1pPr>
          </a:lstStyle>
          <a:p>
            <a:pPr algn="ct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20040" y="6519672"/>
            <a:ext cx="548640" cy="310896"/>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Arial"/>
                <a:ea typeface="Arial"/>
                <a:cs typeface="Arial"/>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691640" y="109728"/>
            <a:ext cx="10134295" cy="457200"/>
          </a:xfrm>
          <a:prstGeom prst="rect">
            <a:avLst/>
          </a:prstGeom>
          <a:noFill/>
          <a:ln/>
        </p:spPr>
        <p:txBody>
          <a:bodyPr wrap="square" lIns="0" tIns="0" rIns="0" bIns="0" rtlCol="0" anchor="ctr">
            <a:normAutofit/>
          </a:bodyPr>
          <a:lstStyle/>
          <a:p>
            <a:pPr rtl="1" algn="r" indent="0" marL="0">
              <a:buNone/>
            </a:pPr>
            <a:r>
              <a:rPr lang="ar-SA" altLang="en-US" sz="2400" b="1" dirty="0">
                <a:solidFill>
                  <a:srgbClr val="3D3935"/>
                </a:solidFill>
                <a:latin typeface="Arial" pitchFamily="34" charset="0"/>
                <a:ea typeface="Arial" pitchFamily="34" charset="-122"/>
                <a:cs typeface="Arial" pitchFamily="34" charset="-120"/>
              </a:rPr>
              <a:t>مشروع UFWL – الخط الزمني</a:t>
            </a:r>
            <a:endParaRPr lang="ar-SA" sz="2400" dirty="0"/>
          </a:p>
        </p:txBody>
      </p:sp>
      <p:sp>
        <p:nvSpPr>
          <p:cNvPr id="3" name="Text 1"/>
          <p:cNvSpPr/>
          <p:nvPr/>
        </p:nvSpPr>
        <p:spPr>
          <a:xfrm>
            <a:off x="1691640" y="548640"/>
            <a:ext cx="10134295" cy="256032"/>
          </a:xfrm>
          <a:prstGeom prst="rect">
            <a:avLst/>
          </a:prstGeom>
          <a:noFill/>
          <a:ln/>
        </p:spPr>
        <p:txBody>
          <a:bodyPr wrap="square" lIns="0" tIns="0" rIns="0" bIns="0" rtlCol="0" anchor="ctr">
            <a:normAutofit/>
          </a:bodyPr>
          <a:lstStyle/>
          <a:p>
            <a:pPr rtl="1" algn="r" indent="0" marL="0">
              <a:buNone/>
            </a:pPr>
            <a:r>
              <a:rPr lang="ar-SA" altLang="en-US" sz="1200" dirty="0">
                <a:solidFill>
                  <a:srgbClr val="66707A"/>
                </a:solidFill>
                <a:latin typeface="Arial" pitchFamily="34" charset="0"/>
                <a:ea typeface="Arial" pitchFamily="34" charset="-122"/>
                <a:cs typeface="Arial" pitchFamily="34" charset="-120"/>
              </a:rPr>
              <a:t>الجدول الزمني لأنشطة المشروع · إيقاف الموقع وأعمال الدعم</a:t>
            </a:r>
            <a:endParaRPr lang="ar-SA" sz="1200" dirty="0"/>
          </a:p>
        </p:txBody>
      </p:sp>
      <p:sp>
        <p:nvSpPr>
          <p:cNvPr id="4" name="Shape 2"/>
          <p:cNvSpPr/>
          <p:nvPr/>
        </p:nvSpPr>
        <p:spPr>
          <a:xfrm>
            <a:off x="11569903" y="1069848"/>
            <a:ext cx="256032" cy="109728"/>
          </a:xfrm>
          <a:prstGeom prst="roundRect">
            <a:avLst>
              <a:gd name="adj" fmla="val 25000"/>
            </a:avLst>
          </a:prstGeom>
          <a:solidFill>
            <a:srgbClr val="7A8791"/>
          </a:solidFill>
          <a:ln w="12700">
            <a:solidFill>
              <a:srgbClr val="7A8791"/>
            </a:solidFill>
            <a:prstDash val="solid"/>
          </a:ln>
        </p:spPr>
      </p:sp>
      <p:sp>
        <p:nvSpPr>
          <p:cNvPr id="5" name="Text 3"/>
          <p:cNvSpPr/>
          <p:nvPr/>
        </p:nvSpPr>
        <p:spPr>
          <a:xfrm>
            <a:off x="10126980" y="1005840"/>
            <a:ext cx="1388059" cy="237744"/>
          </a:xfrm>
          <a:prstGeom prst="rect">
            <a:avLst/>
          </a:prstGeom>
          <a:noFill/>
          <a:ln/>
        </p:spPr>
        <p:txBody>
          <a:bodyPr wrap="square" lIns="0" tIns="0" rIns="0" bIns="0" rtlCol="0" anchor="ctr">
            <a:normAutofit/>
          </a:bodyPr>
          <a:lstStyle/>
          <a:p>
            <a:pPr rtl="1" algn="r" indent="0" marL="0">
              <a:buNone/>
            </a:pPr>
            <a:r>
              <a:rPr lang="ar-SA" altLang="en-US" sz="900" b="1" dirty="0">
                <a:solidFill>
                  <a:srgbClr val="333333"/>
                </a:solidFill>
                <a:latin typeface="Arial" pitchFamily="34" charset="0"/>
                <a:ea typeface="Arial" pitchFamily="34" charset="-122"/>
                <a:cs typeface="Arial" pitchFamily="34" charset="-120"/>
              </a:rPr>
              <a:t>الخلفية – طلب التصريح</a:t>
            </a:r>
            <a:endParaRPr lang="ar-SA" sz="900" dirty="0"/>
          </a:p>
        </p:txBody>
      </p:sp>
      <p:sp>
        <p:nvSpPr>
          <p:cNvPr id="6" name="Shape 4"/>
          <p:cNvSpPr/>
          <p:nvPr/>
        </p:nvSpPr>
        <p:spPr>
          <a:xfrm>
            <a:off x="9816084" y="1069848"/>
            <a:ext cx="256032" cy="109728"/>
          </a:xfrm>
          <a:prstGeom prst="roundRect">
            <a:avLst>
              <a:gd name="adj" fmla="val 25000"/>
            </a:avLst>
          </a:prstGeom>
          <a:solidFill>
            <a:srgbClr val="C8503F"/>
          </a:solidFill>
          <a:ln w="12700">
            <a:solidFill>
              <a:srgbClr val="C8503F"/>
            </a:solidFill>
            <a:prstDash val="solid"/>
          </a:ln>
        </p:spPr>
      </p:sp>
      <p:sp>
        <p:nvSpPr>
          <p:cNvPr id="7" name="Text 5"/>
          <p:cNvSpPr/>
          <p:nvPr/>
        </p:nvSpPr>
        <p:spPr>
          <a:xfrm>
            <a:off x="7736738" y="1005840"/>
            <a:ext cx="2024482" cy="237744"/>
          </a:xfrm>
          <a:prstGeom prst="rect">
            <a:avLst/>
          </a:prstGeom>
          <a:noFill/>
          <a:ln/>
        </p:spPr>
        <p:txBody>
          <a:bodyPr wrap="square" lIns="0" tIns="0" rIns="0" bIns="0" rtlCol="0" anchor="ctr">
            <a:normAutofit/>
          </a:bodyPr>
          <a:lstStyle/>
          <a:p>
            <a:pPr rtl="1" algn="r" indent="0" marL="0">
              <a:buNone/>
            </a:pPr>
            <a:r>
              <a:rPr lang="ar-SA" altLang="en-US" sz="900" b="1" dirty="0">
                <a:solidFill>
                  <a:srgbClr val="333333"/>
                </a:solidFill>
                <a:latin typeface="Arial" pitchFamily="34" charset="0"/>
                <a:ea typeface="Arial" pitchFamily="34" charset="-122"/>
                <a:cs typeface="Arial" pitchFamily="34" charset="-120"/>
              </a:rPr>
              <a:t>المرحلة 1 – الإيقاف وتقييم الموقع</a:t>
            </a:r>
            <a:endParaRPr lang="ar-SA" sz="900" dirty="0"/>
          </a:p>
        </p:txBody>
      </p:sp>
      <p:sp>
        <p:nvSpPr>
          <p:cNvPr id="8" name="Shape 6"/>
          <p:cNvSpPr/>
          <p:nvPr/>
        </p:nvSpPr>
        <p:spPr>
          <a:xfrm>
            <a:off x="7425842" y="1069848"/>
            <a:ext cx="256032" cy="109728"/>
          </a:xfrm>
          <a:prstGeom prst="roundRect">
            <a:avLst>
              <a:gd name="adj" fmla="val 25000"/>
            </a:avLst>
          </a:prstGeom>
          <a:solidFill>
            <a:srgbClr val="00778B"/>
          </a:solidFill>
          <a:ln w="12700">
            <a:solidFill>
              <a:srgbClr val="00778B"/>
            </a:solidFill>
            <a:prstDash val="solid"/>
          </a:ln>
        </p:spPr>
      </p:sp>
      <p:sp>
        <p:nvSpPr>
          <p:cNvPr id="9" name="Text 7"/>
          <p:cNvSpPr/>
          <p:nvPr/>
        </p:nvSpPr>
        <p:spPr>
          <a:xfrm>
            <a:off x="4869180" y="1005840"/>
            <a:ext cx="2501798" cy="237744"/>
          </a:xfrm>
          <a:prstGeom prst="rect">
            <a:avLst/>
          </a:prstGeom>
          <a:noFill/>
          <a:ln/>
        </p:spPr>
        <p:txBody>
          <a:bodyPr wrap="square" lIns="0" tIns="0" rIns="0" bIns="0" rtlCol="0" anchor="ctr">
            <a:normAutofit/>
          </a:bodyPr>
          <a:lstStyle/>
          <a:p>
            <a:pPr rtl="1" algn="r" indent="0" marL="0">
              <a:buNone/>
            </a:pPr>
            <a:r>
              <a:rPr lang="ar-SA" altLang="en-US" sz="900" b="1" dirty="0">
                <a:solidFill>
                  <a:srgbClr val="333333"/>
                </a:solidFill>
                <a:latin typeface="Arial" pitchFamily="34" charset="0"/>
                <a:ea typeface="Arial" pitchFamily="34" charset="-122"/>
                <a:cs typeface="Arial" pitchFamily="34" charset="-120"/>
              </a:rPr>
              <a:t>المرحلة 2 – إعداد ومراجعة بيان طريقة العمل</a:t>
            </a:r>
            <a:endParaRPr lang="ar-SA" sz="900" dirty="0"/>
          </a:p>
        </p:txBody>
      </p:sp>
      <p:sp>
        <p:nvSpPr>
          <p:cNvPr id="10" name="Shape 8"/>
          <p:cNvSpPr/>
          <p:nvPr/>
        </p:nvSpPr>
        <p:spPr>
          <a:xfrm>
            <a:off x="4558284" y="1069848"/>
            <a:ext cx="256032" cy="109728"/>
          </a:xfrm>
          <a:prstGeom prst="roundRect">
            <a:avLst>
              <a:gd name="adj" fmla="val 25000"/>
            </a:avLst>
          </a:prstGeom>
          <a:solidFill>
            <a:srgbClr val="2E9E6B"/>
          </a:solidFill>
          <a:ln w="12700">
            <a:solidFill>
              <a:srgbClr val="2E9E6B"/>
            </a:solidFill>
            <a:prstDash val="solid"/>
          </a:ln>
        </p:spPr>
      </p:sp>
      <p:sp>
        <p:nvSpPr>
          <p:cNvPr id="11" name="Text 9"/>
          <p:cNvSpPr/>
          <p:nvPr/>
        </p:nvSpPr>
        <p:spPr>
          <a:xfrm>
            <a:off x="2691079" y="1005840"/>
            <a:ext cx="1812341" cy="237744"/>
          </a:xfrm>
          <a:prstGeom prst="rect">
            <a:avLst/>
          </a:prstGeom>
          <a:noFill/>
          <a:ln/>
        </p:spPr>
        <p:txBody>
          <a:bodyPr wrap="square" lIns="0" tIns="0" rIns="0" bIns="0" rtlCol="0" anchor="ctr">
            <a:normAutofit/>
          </a:bodyPr>
          <a:lstStyle/>
          <a:p>
            <a:pPr rtl="1" algn="r" indent="0" marL="0">
              <a:buNone/>
            </a:pPr>
            <a:r>
              <a:rPr lang="ar-SA" altLang="en-US" sz="900" b="1" dirty="0">
                <a:solidFill>
                  <a:srgbClr val="333333"/>
                </a:solidFill>
                <a:latin typeface="Arial" pitchFamily="34" charset="0"/>
                <a:ea typeface="Arial" pitchFamily="34" charset="-122"/>
                <a:cs typeface="Arial" pitchFamily="34" charset="-120"/>
              </a:rPr>
              <a:t>المرحلة 3 – إصدار تصريح العمل</a:t>
            </a:r>
            <a:endParaRPr lang="ar-SA" sz="900" dirty="0"/>
          </a:p>
        </p:txBody>
      </p:sp>
      <p:sp>
        <p:nvSpPr>
          <p:cNvPr id="12" name="Shape 10"/>
          <p:cNvSpPr/>
          <p:nvPr/>
        </p:nvSpPr>
        <p:spPr>
          <a:xfrm>
            <a:off x="11317636" y="3803904"/>
            <a:ext cx="325419" cy="73152"/>
          </a:xfrm>
          <a:prstGeom prst="roundRect">
            <a:avLst>
              <a:gd name="adj" fmla="val 50000"/>
            </a:avLst>
          </a:prstGeom>
          <a:solidFill>
            <a:srgbClr val="7A8791"/>
          </a:solidFill>
          <a:ln w="12700">
            <a:solidFill>
              <a:srgbClr val="7A8791"/>
            </a:solidFill>
            <a:prstDash val="solid"/>
          </a:ln>
        </p:spPr>
      </p:sp>
      <p:sp>
        <p:nvSpPr>
          <p:cNvPr id="13" name="Shape 11"/>
          <p:cNvSpPr/>
          <p:nvPr/>
        </p:nvSpPr>
        <p:spPr>
          <a:xfrm>
            <a:off x="10666799" y="3803904"/>
            <a:ext cx="650838" cy="73152"/>
          </a:xfrm>
          <a:prstGeom prst="roundRect">
            <a:avLst>
              <a:gd name="adj" fmla="val 50000"/>
            </a:avLst>
          </a:prstGeom>
          <a:solidFill>
            <a:srgbClr val="7A8791"/>
          </a:solidFill>
          <a:ln w="12700">
            <a:solidFill>
              <a:srgbClr val="7A8791"/>
            </a:solidFill>
            <a:prstDash val="solid"/>
          </a:ln>
        </p:spPr>
      </p:sp>
      <p:sp>
        <p:nvSpPr>
          <p:cNvPr id="14" name="Shape 12"/>
          <p:cNvSpPr/>
          <p:nvPr/>
        </p:nvSpPr>
        <p:spPr>
          <a:xfrm>
            <a:off x="10015961" y="3803904"/>
            <a:ext cx="650838" cy="73152"/>
          </a:xfrm>
          <a:prstGeom prst="roundRect">
            <a:avLst>
              <a:gd name="adj" fmla="val 50000"/>
            </a:avLst>
          </a:prstGeom>
          <a:solidFill>
            <a:srgbClr val="C8503F"/>
          </a:solidFill>
          <a:ln w="12700">
            <a:solidFill>
              <a:srgbClr val="C8503F"/>
            </a:solidFill>
            <a:prstDash val="solid"/>
          </a:ln>
        </p:spPr>
      </p:sp>
      <p:sp>
        <p:nvSpPr>
          <p:cNvPr id="15" name="Shape 13"/>
          <p:cNvSpPr/>
          <p:nvPr/>
        </p:nvSpPr>
        <p:spPr>
          <a:xfrm>
            <a:off x="9365123" y="3803904"/>
            <a:ext cx="650838" cy="73152"/>
          </a:xfrm>
          <a:prstGeom prst="roundRect">
            <a:avLst>
              <a:gd name="adj" fmla="val 50000"/>
            </a:avLst>
          </a:prstGeom>
          <a:solidFill>
            <a:srgbClr val="C8503F"/>
          </a:solidFill>
          <a:ln w="12700">
            <a:solidFill>
              <a:srgbClr val="C8503F"/>
            </a:solidFill>
            <a:prstDash val="solid"/>
          </a:ln>
        </p:spPr>
      </p:sp>
      <p:sp>
        <p:nvSpPr>
          <p:cNvPr id="16" name="Shape 14"/>
          <p:cNvSpPr/>
          <p:nvPr/>
        </p:nvSpPr>
        <p:spPr>
          <a:xfrm>
            <a:off x="8714286" y="3803904"/>
            <a:ext cx="650838" cy="73152"/>
          </a:xfrm>
          <a:prstGeom prst="roundRect">
            <a:avLst>
              <a:gd name="adj" fmla="val 50000"/>
            </a:avLst>
          </a:prstGeom>
          <a:solidFill>
            <a:srgbClr val="C8503F"/>
          </a:solidFill>
          <a:ln w="12700">
            <a:solidFill>
              <a:srgbClr val="C8503F"/>
            </a:solidFill>
            <a:prstDash val="solid"/>
          </a:ln>
        </p:spPr>
      </p:sp>
      <p:sp>
        <p:nvSpPr>
          <p:cNvPr id="17" name="Shape 15"/>
          <p:cNvSpPr/>
          <p:nvPr/>
        </p:nvSpPr>
        <p:spPr>
          <a:xfrm>
            <a:off x="8063448" y="3803904"/>
            <a:ext cx="650838" cy="73152"/>
          </a:xfrm>
          <a:prstGeom prst="roundRect">
            <a:avLst>
              <a:gd name="adj" fmla="val 50000"/>
            </a:avLst>
          </a:prstGeom>
          <a:solidFill>
            <a:srgbClr val="C8503F"/>
          </a:solidFill>
          <a:ln w="12700">
            <a:solidFill>
              <a:srgbClr val="C8503F"/>
            </a:solidFill>
            <a:prstDash val="solid"/>
          </a:ln>
        </p:spPr>
      </p:sp>
      <p:sp>
        <p:nvSpPr>
          <p:cNvPr id="18" name="Shape 16"/>
          <p:cNvSpPr/>
          <p:nvPr/>
        </p:nvSpPr>
        <p:spPr>
          <a:xfrm>
            <a:off x="7412610" y="3803904"/>
            <a:ext cx="650838" cy="73152"/>
          </a:xfrm>
          <a:prstGeom prst="roundRect">
            <a:avLst>
              <a:gd name="adj" fmla="val 50000"/>
            </a:avLst>
          </a:prstGeom>
          <a:solidFill>
            <a:srgbClr val="00778B"/>
          </a:solidFill>
          <a:ln w="12700">
            <a:solidFill>
              <a:srgbClr val="00778B"/>
            </a:solidFill>
            <a:prstDash val="solid"/>
          </a:ln>
        </p:spPr>
      </p:sp>
      <p:sp>
        <p:nvSpPr>
          <p:cNvPr id="19" name="Shape 17"/>
          <p:cNvSpPr/>
          <p:nvPr/>
        </p:nvSpPr>
        <p:spPr>
          <a:xfrm>
            <a:off x="6761773" y="3803904"/>
            <a:ext cx="650838" cy="73152"/>
          </a:xfrm>
          <a:prstGeom prst="roundRect">
            <a:avLst>
              <a:gd name="adj" fmla="val 50000"/>
            </a:avLst>
          </a:prstGeom>
          <a:solidFill>
            <a:srgbClr val="00778B"/>
          </a:solidFill>
          <a:ln w="12700">
            <a:solidFill>
              <a:srgbClr val="00778B"/>
            </a:solidFill>
            <a:prstDash val="solid"/>
          </a:ln>
        </p:spPr>
      </p:sp>
      <p:sp>
        <p:nvSpPr>
          <p:cNvPr id="20" name="Shape 18"/>
          <p:cNvSpPr/>
          <p:nvPr/>
        </p:nvSpPr>
        <p:spPr>
          <a:xfrm>
            <a:off x="6110935" y="3803904"/>
            <a:ext cx="650838" cy="73152"/>
          </a:xfrm>
          <a:prstGeom prst="roundRect">
            <a:avLst>
              <a:gd name="adj" fmla="val 50000"/>
            </a:avLst>
          </a:prstGeom>
          <a:solidFill>
            <a:srgbClr val="00778B"/>
          </a:solidFill>
          <a:ln w="12700">
            <a:solidFill>
              <a:srgbClr val="00778B"/>
            </a:solidFill>
            <a:prstDash val="solid"/>
          </a:ln>
        </p:spPr>
      </p:sp>
      <p:sp>
        <p:nvSpPr>
          <p:cNvPr id="21" name="Shape 19"/>
          <p:cNvSpPr/>
          <p:nvPr/>
        </p:nvSpPr>
        <p:spPr>
          <a:xfrm>
            <a:off x="5460098" y="3803904"/>
            <a:ext cx="650838" cy="73152"/>
          </a:xfrm>
          <a:prstGeom prst="roundRect">
            <a:avLst>
              <a:gd name="adj" fmla="val 50000"/>
            </a:avLst>
          </a:prstGeom>
          <a:solidFill>
            <a:srgbClr val="00778B"/>
          </a:solidFill>
          <a:ln w="12700">
            <a:solidFill>
              <a:srgbClr val="00778B"/>
            </a:solidFill>
            <a:prstDash val="solid"/>
          </a:ln>
        </p:spPr>
      </p:sp>
      <p:sp>
        <p:nvSpPr>
          <p:cNvPr id="22" name="Shape 20"/>
          <p:cNvSpPr/>
          <p:nvPr/>
        </p:nvSpPr>
        <p:spPr>
          <a:xfrm>
            <a:off x="4809260" y="3803904"/>
            <a:ext cx="650838" cy="73152"/>
          </a:xfrm>
          <a:prstGeom prst="roundRect">
            <a:avLst>
              <a:gd name="adj" fmla="val 50000"/>
            </a:avLst>
          </a:prstGeom>
          <a:solidFill>
            <a:srgbClr val="00778B"/>
          </a:solidFill>
          <a:ln w="12700">
            <a:solidFill>
              <a:srgbClr val="00778B"/>
            </a:solidFill>
            <a:prstDash val="solid"/>
          </a:ln>
        </p:spPr>
      </p:sp>
      <p:sp>
        <p:nvSpPr>
          <p:cNvPr id="23" name="Shape 21"/>
          <p:cNvSpPr/>
          <p:nvPr/>
        </p:nvSpPr>
        <p:spPr>
          <a:xfrm>
            <a:off x="4158422" y="3803904"/>
            <a:ext cx="650838" cy="73152"/>
          </a:xfrm>
          <a:prstGeom prst="roundRect">
            <a:avLst>
              <a:gd name="adj" fmla="val 50000"/>
            </a:avLst>
          </a:prstGeom>
          <a:solidFill>
            <a:srgbClr val="2E9E6B"/>
          </a:solidFill>
          <a:ln w="12700">
            <a:solidFill>
              <a:srgbClr val="2E9E6B"/>
            </a:solidFill>
            <a:prstDash val="solid"/>
          </a:ln>
        </p:spPr>
      </p:sp>
      <p:sp>
        <p:nvSpPr>
          <p:cNvPr id="24" name="Shape 22"/>
          <p:cNvSpPr/>
          <p:nvPr/>
        </p:nvSpPr>
        <p:spPr>
          <a:xfrm>
            <a:off x="3507585" y="3803904"/>
            <a:ext cx="650838" cy="73152"/>
          </a:xfrm>
          <a:prstGeom prst="roundRect">
            <a:avLst>
              <a:gd name="adj" fmla="val 50000"/>
            </a:avLst>
          </a:prstGeom>
          <a:solidFill>
            <a:srgbClr val="2E9E6B"/>
          </a:solidFill>
          <a:ln w="12700">
            <a:solidFill>
              <a:srgbClr val="2E9E6B"/>
            </a:solidFill>
            <a:prstDash val="solid"/>
          </a:ln>
        </p:spPr>
      </p:sp>
      <p:sp>
        <p:nvSpPr>
          <p:cNvPr id="25" name="Shape 23"/>
          <p:cNvSpPr/>
          <p:nvPr/>
        </p:nvSpPr>
        <p:spPr>
          <a:xfrm>
            <a:off x="2856747" y="3803904"/>
            <a:ext cx="650838" cy="73152"/>
          </a:xfrm>
          <a:prstGeom prst="roundRect">
            <a:avLst>
              <a:gd name="adj" fmla="val 50000"/>
            </a:avLst>
          </a:prstGeom>
          <a:solidFill>
            <a:srgbClr val="2E9E6B"/>
          </a:solidFill>
          <a:ln w="12700">
            <a:solidFill>
              <a:srgbClr val="2E9E6B"/>
            </a:solidFill>
            <a:prstDash val="solid"/>
          </a:ln>
        </p:spPr>
      </p:sp>
      <p:sp>
        <p:nvSpPr>
          <p:cNvPr id="26" name="Shape 24"/>
          <p:cNvSpPr/>
          <p:nvPr/>
        </p:nvSpPr>
        <p:spPr>
          <a:xfrm>
            <a:off x="2205909" y="3803904"/>
            <a:ext cx="650838" cy="73152"/>
          </a:xfrm>
          <a:prstGeom prst="roundRect">
            <a:avLst>
              <a:gd name="adj" fmla="val 50000"/>
            </a:avLst>
          </a:prstGeom>
          <a:solidFill>
            <a:srgbClr val="2E9E6B"/>
          </a:solidFill>
          <a:ln w="12700">
            <a:solidFill>
              <a:srgbClr val="2E9E6B"/>
            </a:solidFill>
            <a:prstDash val="solid"/>
          </a:ln>
        </p:spPr>
      </p:sp>
      <p:sp>
        <p:nvSpPr>
          <p:cNvPr id="27" name="Shape 25"/>
          <p:cNvSpPr/>
          <p:nvPr/>
        </p:nvSpPr>
        <p:spPr>
          <a:xfrm>
            <a:off x="1555072" y="3803904"/>
            <a:ext cx="650838" cy="73152"/>
          </a:xfrm>
          <a:prstGeom prst="roundRect">
            <a:avLst>
              <a:gd name="adj" fmla="val 50000"/>
            </a:avLst>
          </a:prstGeom>
          <a:solidFill>
            <a:srgbClr val="2E9E6B"/>
          </a:solidFill>
          <a:ln w="12700">
            <a:solidFill>
              <a:srgbClr val="2E9E6B"/>
            </a:solidFill>
            <a:prstDash val="solid"/>
          </a:ln>
        </p:spPr>
      </p:sp>
      <p:sp>
        <p:nvSpPr>
          <p:cNvPr id="28" name="Shape 26"/>
          <p:cNvSpPr/>
          <p:nvPr/>
        </p:nvSpPr>
        <p:spPr>
          <a:xfrm>
            <a:off x="904234" y="3803904"/>
            <a:ext cx="650838" cy="73152"/>
          </a:xfrm>
          <a:prstGeom prst="roundRect">
            <a:avLst>
              <a:gd name="adj" fmla="val 50000"/>
            </a:avLst>
          </a:prstGeom>
          <a:solidFill>
            <a:srgbClr val="2E9E6B"/>
          </a:solidFill>
          <a:ln w="12700">
            <a:solidFill>
              <a:srgbClr val="2E9E6B"/>
            </a:solidFill>
            <a:prstDash val="solid"/>
          </a:ln>
        </p:spPr>
      </p:sp>
      <p:sp>
        <p:nvSpPr>
          <p:cNvPr id="29" name="Shape 27"/>
          <p:cNvSpPr/>
          <p:nvPr/>
        </p:nvSpPr>
        <p:spPr>
          <a:xfrm>
            <a:off x="578815" y="3803904"/>
            <a:ext cx="325419" cy="73152"/>
          </a:xfrm>
          <a:prstGeom prst="roundRect">
            <a:avLst>
              <a:gd name="adj" fmla="val 50000"/>
            </a:avLst>
          </a:prstGeom>
          <a:solidFill>
            <a:srgbClr val="C9D3D8"/>
          </a:solidFill>
          <a:ln w="12700">
            <a:solidFill>
              <a:srgbClr val="C9D3D8"/>
            </a:solidFill>
            <a:prstDash val="solid"/>
          </a:ln>
        </p:spPr>
      </p:sp>
      <p:sp>
        <p:nvSpPr>
          <p:cNvPr id="30" name="Shape 28"/>
          <p:cNvSpPr/>
          <p:nvPr/>
        </p:nvSpPr>
        <p:spPr>
          <a:xfrm>
            <a:off x="11317636" y="3447288"/>
            <a:ext cx="0" cy="182880"/>
          </a:xfrm>
          <a:prstGeom prst="line">
            <a:avLst/>
          </a:prstGeom>
          <a:noFill/>
          <a:ln w="19050">
            <a:solidFill>
              <a:srgbClr val="7A8791">
                <a:alpha val="65000"/>
              </a:srgbClr>
            </a:solidFill>
            <a:prstDash val="solid"/>
          </a:ln>
        </p:spPr>
      </p:sp>
      <p:sp>
        <p:nvSpPr>
          <p:cNvPr id="31" name="Shape 29"/>
          <p:cNvSpPr/>
          <p:nvPr/>
        </p:nvSpPr>
        <p:spPr>
          <a:xfrm>
            <a:off x="11107324" y="3630168"/>
            <a:ext cx="420624" cy="420624"/>
          </a:xfrm>
          <a:prstGeom prst="ellipse">
            <a:avLst/>
          </a:prstGeom>
          <a:solidFill>
            <a:srgbClr val="7A8791"/>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32" name="Text 30"/>
          <p:cNvSpPr/>
          <p:nvPr/>
        </p:nvSpPr>
        <p:spPr>
          <a:xfrm>
            <a:off x="11107324"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1</a:t>
            </a:r>
            <a:endParaRPr lang="ar-SA" sz="1100" dirty="0"/>
          </a:p>
        </p:txBody>
      </p:sp>
      <p:sp>
        <p:nvSpPr>
          <p:cNvPr id="33" name="Shape 31"/>
          <p:cNvSpPr/>
          <p:nvPr/>
        </p:nvSpPr>
        <p:spPr>
          <a:xfrm>
            <a:off x="9899778" y="273405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34" name="Shape 32"/>
          <p:cNvSpPr/>
          <p:nvPr/>
        </p:nvSpPr>
        <p:spPr>
          <a:xfrm>
            <a:off x="9972930" y="2734056"/>
            <a:ext cx="1871293" cy="54864"/>
          </a:xfrm>
          <a:prstGeom prst="rect">
            <a:avLst/>
          </a:prstGeom>
          <a:solidFill>
            <a:srgbClr val="7A8791"/>
          </a:solidFill>
          <a:ln w="12700">
            <a:solidFill>
              <a:srgbClr val="7A8791"/>
            </a:solidFill>
            <a:prstDash val="solid"/>
          </a:ln>
        </p:spPr>
      </p:sp>
      <p:sp>
        <p:nvSpPr>
          <p:cNvPr id="35" name="Text 33"/>
          <p:cNvSpPr/>
          <p:nvPr/>
        </p:nvSpPr>
        <p:spPr>
          <a:xfrm>
            <a:off x="9991218" y="2807208"/>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اثنين 31 أغسطس 2026</a:t>
            </a:r>
            <a:endParaRPr lang="ar-SA" sz="950" dirty="0"/>
          </a:p>
        </p:txBody>
      </p:sp>
      <p:sp>
        <p:nvSpPr>
          <p:cNvPr id="36" name="Text 34"/>
          <p:cNvSpPr/>
          <p:nvPr/>
        </p:nvSpPr>
        <p:spPr>
          <a:xfrm>
            <a:off x="9991218" y="3054096"/>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7A8791"/>
                </a:solidFill>
                <a:latin typeface="Arial" pitchFamily="34" charset="0"/>
                <a:ea typeface="Arial" pitchFamily="34" charset="-122"/>
                <a:cs typeface="Arial" pitchFamily="34" charset="-120"/>
              </a:rPr>
              <a:t>الخلفية – طلب التصريح</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طلب تصريح العمل</a:t>
            </a:r>
            <a:endParaRPr lang="ar-SA" sz="650" dirty="0"/>
          </a:p>
        </p:txBody>
      </p:sp>
      <p:sp>
        <p:nvSpPr>
          <p:cNvPr id="37" name="Shape 35"/>
          <p:cNvSpPr/>
          <p:nvPr/>
        </p:nvSpPr>
        <p:spPr>
          <a:xfrm>
            <a:off x="10666799" y="4050792"/>
            <a:ext cx="0" cy="182880"/>
          </a:xfrm>
          <a:prstGeom prst="line">
            <a:avLst/>
          </a:prstGeom>
          <a:noFill/>
          <a:ln w="19050">
            <a:solidFill>
              <a:srgbClr val="7A8791">
                <a:alpha val="65000"/>
              </a:srgbClr>
            </a:solidFill>
            <a:prstDash val="solid"/>
          </a:ln>
        </p:spPr>
      </p:sp>
      <p:sp>
        <p:nvSpPr>
          <p:cNvPr id="38" name="Shape 36"/>
          <p:cNvSpPr/>
          <p:nvPr/>
        </p:nvSpPr>
        <p:spPr>
          <a:xfrm>
            <a:off x="10456487" y="3630168"/>
            <a:ext cx="420624" cy="420624"/>
          </a:xfrm>
          <a:prstGeom prst="ellipse">
            <a:avLst/>
          </a:prstGeom>
          <a:solidFill>
            <a:srgbClr val="7A8791"/>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39" name="Text 37"/>
          <p:cNvSpPr/>
          <p:nvPr/>
        </p:nvSpPr>
        <p:spPr>
          <a:xfrm>
            <a:off x="10456487"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2</a:t>
            </a:r>
            <a:endParaRPr lang="ar-SA" sz="1100" dirty="0"/>
          </a:p>
        </p:txBody>
      </p:sp>
      <p:sp>
        <p:nvSpPr>
          <p:cNvPr id="40" name="Shape 38"/>
          <p:cNvSpPr/>
          <p:nvPr/>
        </p:nvSpPr>
        <p:spPr>
          <a:xfrm>
            <a:off x="9658000" y="423367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41" name="Shape 39"/>
          <p:cNvSpPr/>
          <p:nvPr/>
        </p:nvSpPr>
        <p:spPr>
          <a:xfrm>
            <a:off x="9731152" y="4233672"/>
            <a:ext cx="1871293" cy="54864"/>
          </a:xfrm>
          <a:prstGeom prst="rect">
            <a:avLst/>
          </a:prstGeom>
          <a:solidFill>
            <a:srgbClr val="7A8791"/>
          </a:solidFill>
          <a:ln w="12700">
            <a:solidFill>
              <a:srgbClr val="7A8791"/>
            </a:solidFill>
            <a:prstDash val="solid"/>
          </a:ln>
        </p:spPr>
      </p:sp>
      <p:sp>
        <p:nvSpPr>
          <p:cNvPr id="42" name="Text 40"/>
          <p:cNvSpPr/>
          <p:nvPr/>
        </p:nvSpPr>
        <p:spPr>
          <a:xfrm>
            <a:off x="9749440" y="4306824"/>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اثنين 28 سبتمبر 2026</a:t>
            </a:r>
            <a:endParaRPr lang="ar-SA" sz="950" dirty="0"/>
          </a:p>
        </p:txBody>
      </p:sp>
      <p:sp>
        <p:nvSpPr>
          <p:cNvPr id="43" name="Text 41"/>
          <p:cNvSpPr/>
          <p:nvPr/>
        </p:nvSpPr>
        <p:spPr>
          <a:xfrm>
            <a:off x="9749440" y="4553712"/>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7A8791"/>
                </a:solidFill>
                <a:latin typeface="Arial" pitchFamily="34" charset="0"/>
                <a:ea typeface="Arial" pitchFamily="34" charset="-122"/>
                <a:cs typeface="Arial" pitchFamily="34" charset="-120"/>
              </a:rPr>
              <a:t>الخلفية – طلب التصريح</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رفض طلب التصريح</a:t>
            </a:r>
            <a:endParaRPr lang="ar-SA" sz="650" dirty="0"/>
          </a:p>
        </p:txBody>
      </p:sp>
      <p:sp>
        <p:nvSpPr>
          <p:cNvPr id="44" name="Shape 42"/>
          <p:cNvSpPr/>
          <p:nvPr/>
        </p:nvSpPr>
        <p:spPr>
          <a:xfrm>
            <a:off x="10015961" y="2624328"/>
            <a:ext cx="0" cy="1005840"/>
          </a:xfrm>
          <a:prstGeom prst="line">
            <a:avLst/>
          </a:prstGeom>
          <a:noFill/>
          <a:ln w="19050">
            <a:solidFill>
              <a:srgbClr val="C8503F">
                <a:alpha val="65000"/>
              </a:srgbClr>
            </a:solidFill>
            <a:prstDash val="solid"/>
          </a:ln>
        </p:spPr>
      </p:sp>
      <p:sp>
        <p:nvSpPr>
          <p:cNvPr id="45" name="Shape 43"/>
          <p:cNvSpPr/>
          <p:nvPr/>
        </p:nvSpPr>
        <p:spPr>
          <a:xfrm>
            <a:off x="9805649" y="3630168"/>
            <a:ext cx="420624" cy="420624"/>
          </a:xfrm>
          <a:prstGeom prst="ellipse">
            <a:avLst/>
          </a:prstGeom>
          <a:solidFill>
            <a:srgbClr val="C8503F"/>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46" name="Text 44"/>
          <p:cNvSpPr/>
          <p:nvPr/>
        </p:nvSpPr>
        <p:spPr>
          <a:xfrm>
            <a:off x="9805649"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3</a:t>
            </a:r>
            <a:endParaRPr lang="ar-SA" sz="1100" dirty="0"/>
          </a:p>
        </p:txBody>
      </p:sp>
      <p:sp>
        <p:nvSpPr>
          <p:cNvPr id="47" name="Shape 45"/>
          <p:cNvSpPr/>
          <p:nvPr/>
        </p:nvSpPr>
        <p:spPr>
          <a:xfrm>
            <a:off x="9007163" y="191109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48" name="Shape 46"/>
          <p:cNvSpPr/>
          <p:nvPr/>
        </p:nvSpPr>
        <p:spPr>
          <a:xfrm>
            <a:off x="9080315" y="1911096"/>
            <a:ext cx="1871293" cy="54864"/>
          </a:xfrm>
          <a:prstGeom prst="rect">
            <a:avLst/>
          </a:prstGeom>
          <a:solidFill>
            <a:srgbClr val="C8503F"/>
          </a:solidFill>
          <a:ln w="12700">
            <a:solidFill>
              <a:srgbClr val="C8503F"/>
            </a:solidFill>
            <a:prstDash val="solid"/>
          </a:ln>
        </p:spPr>
      </p:sp>
      <p:sp>
        <p:nvSpPr>
          <p:cNvPr id="49" name="Text 47"/>
          <p:cNvSpPr/>
          <p:nvPr/>
        </p:nvSpPr>
        <p:spPr>
          <a:xfrm>
            <a:off x="9098603" y="1984248"/>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خميس 1 أكتوبر 2026</a:t>
            </a:r>
            <a:endParaRPr lang="ar-SA" sz="950" dirty="0"/>
          </a:p>
        </p:txBody>
      </p:sp>
      <p:sp>
        <p:nvSpPr>
          <p:cNvPr id="50" name="Text 48"/>
          <p:cNvSpPr/>
          <p:nvPr/>
        </p:nvSpPr>
        <p:spPr>
          <a:xfrm>
            <a:off x="9098603" y="2231136"/>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C8503F"/>
                </a:solidFill>
                <a:latin typeface="Arial" pitchFamily="34" charset="0"/>
                <a:ea typeface="Arial" pitchFamily="34" charset="-122"/>
                <a:cs typeface="Arial" pitchFamily="34" charset="-120"/>
              </a:rPr>
              <a:t>المرحلة 1 – الإيقاف وتقييم الموقع</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إيقاف أنشطة المشروع</a:t>
            </a:r>
            <a:endParaRPr lang="ar-SA" sz="650" dirty="0"/>
          </a:p>
        </p:txBody>
      </p:sp>
      <p:sp>
        <p:nvSpPr>
          <p:cNvPr id="51" name="Shape 49"/>
          <p:cNvSpPr/>
          <p:nvPr/>
        </p:nvSpPr>
        <p:spPr>
          <a:xfrm>
            <a:off x="9365123" y="4050792"/>
            <a:ext cx="0" cy="1005840"/>
          </a:xfrm>
          <a:prstGeom prst="line">
            <a:avLst/>
          </a:prstGeom>
          <a:noFill/>
          <a:ln w="19050">
            <a:solidFill>
              <a:srgbClr val="C8503F">
                <a:alpha val="65000"/>
              </a:srgbClr>
            </a:solidFill>
            <a:prstDash val="solid"/>
          </a:ln>
        </p:spPr>
      </p:sp>
      <p:sp>
        <p:nvSpPr>
          <p:cNvPr id="52" name="Shape 50"/>
          <p:cNvSpPr/>
          <p:nvPr/>
        </p:nvSpPr>
        <p:spPr>
          <a:xfrm>
            <a:off x="9154811" y="3630168"/>
            <a:ext cx="420624" cy="420624"/>
          </a:xfrm>
          <a:prstGeom prst="ellipse">
            <a:avLst/>
          </a:prstGeom>
          <a:solidFill>
            <a:srgbClr val="C8503F"/>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53" name="Text 51"/>
          <p:cNvSpPr/>
          <p:nvPr/>
        </p:nvSpPr>
        <p:spPr>
          <a:xfrm>
            <a:off x="9154811"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4</a:t>
            </a:r>
            <a:endParaRPr lang="ar-SA" sz="1100" dirty="0"/>
          </a:p>
        </p:txBody>
      </p:sp>
      <p:sp>
        <p:nvSpPr>
          <p:cNvPr id="54" name="Shape 52"/>
          <p:cNvSpPr/>
          <p:nvPr/>
        </p:nvSpPr>
        <p:spPr>
          <a:xfrm>
            <a:off x="8356325" y="505663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55" name="Shape 53"/>
          <p:cNvSpPr/>
          <p:nvPr/>
        </p:nvSpPr>
        <p:spPr>
          <a:xfrm>
            <a:off x="8429477" y="5056632"/>
            <a:ext cx="1871293" cy="54864"/>
          </a:xfrm>
          <a:prstGeom prst="rect">
            <a:avLst/>
          </a:prstGeom>
          <a:solidFill>
            <a:srgbClr val="C8503F"/>
          </a:solidFill>
          <a:ln w="12700">
            <a:solidFill>
              <a:srgbClr val="C8503F"/>
            </a:solidFill>
            <a:prstDash val="solid"/>
          </a:ln>
        </p:spPr>
      </p:sp>
      <p:sp>
        <p:nvSpPr>
          <p:cNvPr id="56" name="Text 54"/>
          <p:cNvSpPr/>
          <p:nvPr/>
        </p:nvSpPr>
        <p:spPr>
          <a:xfrm>
            <a:off x="8447765" y="5129784"/>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سبت 3 أكتوبر 2026</a:t>
            </a:r>
            <a:endParaRPr lang="ar-SA" sz="950" dirty="0"/>
          </a:p>
        </p:txBody>
      </p:sp>
      <p:sp>
        <p:nvSpPr>
          <p:cNvPr id="57" name="Text 55"/>
          <p:cNvSpPr/>
          <p:nvPr/>
        </p:nvSpPr>
        <p:spPr>
          <a:xfrm>
            <a:off x="8447765" y="5376672"/>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C8503F"/>
                </a:solidFill>
                <a:latin typeface="Arial" pitchFamily="34" charset="0"/>
                <a:ea typeface="Arial" pitchFamily="34" charset="-122"/>
                <a:cs typeface="Arial" pitchFamily="34" charset="-120"/>
              </a:rPr>
              <a:t>المرحلة 1 – الإيقاف وتقييم الموقع</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زيارة ميدانية مشتركة</a:t>
            </a:r>
            <a:endParaRPr lang="ar-SA" sz="650" dirty="0"/>
          </a:p>
        </p:txBody>
      </p:sp>
      <p:sp>
        <p:nvSpPr>
          <p:cNvPr id="58" name="Shape 56"/>
          <p:cNvSpPr/>
          <p:nvPr/>
        </p:nvSpPr>
        <p:spPr>
          <a:xfrm>
            <a:off x="8714286" y="3447288"/>
            <a:ext cx="0" cy="182880"/>
          </a:xfrm>
          <a:prstGeom prst="line">
            <a:avLst/>
          </a:prstGeom>
          <a:noFill/>
          <a:ln w="19050">
            <a:solidFill>
              <a:srgbClr val="C8503F">
                <a:alpha val="65000"/>
              </a:srgbClr>
            </a:solidFill>
            <a:prstDash val="solid"/>
          </a:ln>
        </p:spPr>
      </p:sp>
      <p:sp>
        <p:nvSpPr>
          <p:cNvPr id="59" name="Shape 57"/>
          <p:cNvSpPr/>
          <p:nvPr/>
        </p:nvSpPr>
        <p:spPr>
          <a:xfrm>
            <a:off x="8503974" y="3630168"/>
            <a:ext cx="420624" cy="420624"/>
          </a:xfrm>
          <a:prstGeom prst="ellipse">
            <a:avLst/>
          </a:prstGeom>
          <a:solidFill>
            <a:srgbClr val="C8503F"/>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60" name="Text 58"/>
          <p:cNvSpPr/>
          <p:nvPr/>
        </p:nvSpPr>
        <p:spPr>
          <a:xfrm>
            <a:off x="8503974"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5</a:t>
            </a:r>
            <a:endParaRPr lang="ar-SA" sz="1100" dirty="0"/>
          </a:p>
        </p:txBody>
      </p:sp>
      <p:sp>
        <p:nvSpPr>
          <p:cNvPr id="61" name="Shape 59"/>
          <p:cNvSpPr/>
          <p:nvPr/>
        </p:nvSpPr>
        <p:spPr>
          <a:xfrm>
            <a:off x="7705487" y="273405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62" name="Shape 60"/>
          <p:cNvSpPr/>
          <p:nvPr/>
        </p:nvSpPr>
        <p:spPr>
          <a:xfrm>
            <a:off x="7778639" y="2734056"/>
            <a:ext cx="1871293" cy="54864"/>
          </a:xfrm>
          <a:prstGeom prst="rect">
            <a:avLst/>
          </a:prstGeom>
          <a:solidFill>
            <a:srgbClr val="C8503F"/>
          </a:solidFill>
          <a:ln w="12700">
            <a:solidFill>
              <a:srgbClr val="C8503F"/>
            </a:solidFill>
            <a:prstDash val="solid"/>
          </a:ln>
        </p:spPr>
      </p:sp>
      <p:sp>
        <p:nvSpPr>
          <p:cNvPr id="63" name="Text 61"/>
          <p:cNvSpPr/>
          <p:nvPr/>
        </p:nvSpPr>
        <p:spPr>
          <a:xfrm>
            <a:off x="7796927" y="2807208"/>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أحد 4 أكتوبر 2026</a:t>
            </a:r>
            <a:endParaRPr lang="ar-SA" sz="950" dirty="0"/>
          </a:p>
        </p:txBody>
      </p:sp>
      <p:sp>
        <p:nvSpPr>
          <p:cNvPr id="64" name="Text 62"/>
          <p:cNvSpPr/>
          <p:nvPr/>
        </p:nvSpPr>
        <p:spPr>
          <a:xfrm>
            <a:off x="7796927" y="3054096"/>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C8503F"/>
                </a:solidFill>
                <a:latin typeface="Arial" pitchFamily="34" charset="0"/>
                <a:ea typeface="Arial" pitchFamily="34" charset="-122"/>
                <a:cs typeface="Arial" pitchFamily="34" charset="-120"/>
              </a:rPr>
              <a:t>المرحلة 1 – الإيقاف وتقييم الموقع</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تقديم تقييم المخاطر وخطة التخفيف</a:t>
            </a:r>
            <a:endParaRPr lang="ar-SA" sz="650" dirty="0"/>
          </a:p>
        </p:txBody>
      </p:sp>
      <p:sp>
        <p:nvSpPr>
          <p:cNvPr id="65" name="Shape 63"/>
          <p:cNvSpPr/>
          <p:nvPr/>
        </p:nvSpPr>
        <p:spPr>
          <a:xfrm>
            <a:off x="8063448" y="4050792"/>
            <a:ext cx="0" cy="182880"/>
          </a:xfrm>
          <a:prstGeom prst="line">
            <a:avLst/>
          </a:prstGeom>
          <a:noFill/>
          <a:ln w="19050">
            <a:solidFill>
              <a:srgbClr val="C8503F">
                <a:alpha val="65000"/>
              </a:srgbClr>
            </a:solidFill>
            <a:prstDash val="solid"/>
          </a:ln>
        </p:spPr>
      </p:sp>
      <p:sp>
        <p:nvSpPr>
          <p:cNvPr id="66" name="Shape 64"/>
          <p:cNvSpPr/>
          <p:nvPr/>
        </p:nvSpPr>
        <p:spPr>
          <a:xfrm>
            <a:off x="7853136" y="3630168"/>
            <a:ext cx="420624" cy="420624"/>
          </a:xfrm>
          <a:prstGeom prst="ellipse">
            <a:avLst/>
          </a:prstGeom>
          <a:solidFill>
            <a:srgbClr val="C8503F"/>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67" name="Text 65"/>
          <p:cNvSpPr/>
          <p:nvPr/>
        </p:nvSpPr>
        <p:spPr>
          <a:xfrm>
            <a:off x="7853136"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6</a:t>
            </a:r>
            <a:endParaRPr lang="ar-SA" sz="1100" dirty="0"/>
          </a:p>
        </p:txBody>
      </p:sp>
      <p:sp>
        <p:nvSpPr>
          <p:cNvPr id="68" name="Shape 66"/>
          <p:cNvSpPr/>
          <p:nvPr/>
        </p:nvSpPr>
        <p:spPr>
          <a:xfrm>
            <a:off x="7054650" y="423367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69" name="Shape 67"/>
          <p:cNvSpPr/>
          <p:nvPr/>
        </p:nvSpPr>
        <p:spPr>
          <a:xfrm>
            <a:off x="7127802" y="4233672"/>
            <a:ext cx="1871293" cy="54864"/>
          </a:xfrm>
          <a:prstGeom prst="rect">
            <a:avLst/>
          </a:prstGeom>
          <a:solidFill>
            <a:srgbClr val="C8503F"/>
          </a:solidFill>
          <a:ln w="12700">
            <a:solidFill>
              <a:srgbClr val="C8503F"/>
            </a:solidFill>
            <a:prstDash val="solid"/>
          </a:ln>
        </p:spPr>
      </p:sp>
      <p:sp>
        <p:nvSpPr>
          <p:cNvPr id="70" name="Text 68"/>
          <p:cNvSpPr/>
          <p:nvPr/>
        </p:nvSpPr>
        <p:spPr>
          <a:xfrm>
            <a:off x="7146090" y="4306824"/>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اثنين 5 أكتوبر 2026</a:t>
            </a:r>
            <a:endParaRPr lang="ar-SA" sz="950" dirty="0"/>
          </a:p>
        </p:txBody>
      </p:sp>
      <p:sp>
        <p:nvSpPr>
          <p:cNvPr id="71" name="Text 69"/>
          <p:cNvSpPr/>
          <p:nvPr/>
        </p:nvSpPr>
        <p:spPr>
          <a:xfrm>
            <a:off x="7146090" y="4553712"/>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C8503F"/>
                </a:solidFill>
                <a:latin typeface="Arial" pitchFamily="34" charset="0"/>
                <a:ea typeface="Arial" pitchFamily="34" charset="-122"/>
                <a:cs typeface="Arial" pitchFamily="34" charset="-120"/>
              </a:rPr>
              <a:t>المرحلة 1 – الإيقاف وتقييم الموقع</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طلب خطة عمل تفصيلية</a:t>
            </a:r>
            <a:endParaRPr lang="ar-SA" sz="650" dirty="0"/>
          </a:p>
        </p:txBody>
      </p:sp>
      <p:sp>
        <p:nvSpPr>
          <p:cNvPr id="72" name="Shape 70"/>
          <p:cNvSpPr/>
          <p:nvPr/>
        </p:nvSpPr>
        <p:spPr>
          <a:xfrm>
            <a:off x="7412610" y="2624328"/>
            <a:ext cx="0" cy="1005840"/>
          </a:xfrm>
          <a:prstGeom prst="line">
            <a:avLst/>
          </a:prstGeom>
          <a:noFill/>
          <a:ln w="19050">
            <a:solidFill>
              <a:srgbClr val="00778B">
                <a:alpha val="65000"/>
              </a:srgbClr>
            </a:solidFill>
            <a:prstDash val="solid"/>
          </a:ln>
        </p:spPr>
      </p:sp>
      <p:sp>
        <p:nvSpPr>
          <p:cNvPr id="73" name="Shape 71"/>
          <p:cNvSpPr/>
          <p:nvPr/>
        </p:nvSpPr>
        <p:spPr>
          <a:xfrm>
            <a:off x="7202298" y="3630168"/>
            <a:ext cx="420624" cy="420624"/>
          </a:xfrm>
          <a:prstGeom prst="ellipse">
            <a:avLst/>
          </a:prstGeom>
          <a:solidFill>
            <a:srgbClr val="00778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74" name="Text 72"/>
          <p:cNvSpPr/>
          <p:nvPr/>
        </p:nvSpPr>
        <p:spPr>
          <a:xfrm>
            <a:off x="7202298"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7</a:t>
            </a:r>
            <a:endParaRPr lang="ar-SA" sz="1100" dirty="0"/>
          </a:p>
        </p:txBody>
      </p:sp>
      <p:sp>
        <p:nvSpPr>
          <p:cNvPr id="75" name="Shape 73"/>
          <p:cNvSpPr/>
          <p:nvPr/>
        </p:nvSpPr>
        <p:spPr>
          <a:xfrm>
            <a:off x="6403812" y="191109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76" name="Shape 74"/>
          <p:cNvSpPr/>
          <p:nvPr/>
        </p:nvSpPr>
        <p:spPr>
          <a:xfrm>
            <a:off x="6476964" y="1911096"/>
            <a:ext cx="1871293" cy="54864"/>
          </a:xfrm>
          <a:prstGeom prst="rect">
            <a:avLst/>
          </a:prstGeom>
          <a:solidFill>
            <a:srgbClr val="00778B"/>
          </a:solidFill>
          <a:ln w="12700">
            <a:solidFill>
              <a:srgbClr val="00778B"/>
            </a:solidFill>
            <a:prstDash val="solid"/>
          </a:ln>
        </p:spPr>
      </p:sp>
      <p:sp>
        <p:nvSpPr>
          <p:cNvPr id="77" name="Text 75"/>
          <p:cNvSpPr/>
          <p:nvPr/>
        </p:nvSpPr>
        <p:spPr>
          <a:xfrm>
            <a:off x="6495252" y="1984248"/>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أربعاء 7 أكتوبر 2026</a:t>
            </a:r>
            <a:endParaRPr lang="ar-SA" sz="950" dirty="0"/>
          </a:p>
        </p:txBody>
      </p:sp>
      <p:sp>
        <p:nvSpPr>
          <p:cNvPr id="78" name="Text 76"/>
          <p:cNvSpPr/>
          <p:nvPr/>
        </p:nvSpPr>
        <p:spPr>
          <a:xfrm>
            <a:off x="6495252" y="2231136"/>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00778B"/>
                </a:solidFill>
                <a:latin typeface="Arial" pitchFamily="34" charset="0"/>
                <a:ea typeface="Arial" pitchFamily="34" charset="-122"/>
                <a:cs typeface="Arial" pitchFamily="34" charset="-120"/>
              </a:rPr>
              <a:t>المرحلة 2 – إعداد ومراجعة بيان طريقة العمل</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تقديم بيان طريقة العمل (MoS)</a:t>
            </a:r>
            <a:endParaRPr lang="ar-SA" sz="650" dirty="0"/>
          </a:p>
        </p:txBody>
      </p:sp>
      <p:sp>
        <p:nvSpPr>
          <p:cNvPr id="79" name="Shape 77"/>
          <p:cNvSpPr/>
          <p:nvPr/>
        </p:nvSpPr>
        <p:spPr>
          <a:xfrm>
            <a:off x="6761773" y="4050792"/>
            <a:ext cx="0" cy="1005840"/>
          </a:xfrm>
          <a:prstGeom prst="line">
            <a:avLst/>
          </a:prstGeom>
          <a:noFill/>
          <a:ln w="19050">
            <a:solidFill>
              <a:srgbClr val="00778B">
                <a:alpha val="65000"/>
              </a:srgbClr>
            </a:solidFill>
            <a:prstDash val="solid"/>
          </a:ln>
        </p:spPr>
      </p:sp>
      <p:sp>
        <p:nvSpPr>
          <p:cNvPr id="80" name="Shape 78"/>
          <p:cNvSpPr/>
          <p:nvPr/>
        </p:nvSpPr>
        <p:spPr>
          <a:xfrm>
            <a:off x="6551461" y="3630168"/>
            <a:ext cx="420624" cy="420624"/>
          </a:xfrm>
          <a:prstGeom prst="ellipse">
            <a:avLst/>
          </a:prstGeom>
          <a:solidFill>
            <a:srgbClr val="00778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81" name="Text 79"/>
          <p:cNvSpPr/>
          <p:nvPr/>
        </p:nvSpPr>
        <p:spPr>
          <a:xfrm>
            <a:off x="6551461"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8</a:t>
            </a:r>
            <a:endParaRPr lang="ar-SA" sz="1100" dirty="0"/>
          </a:p>
        </p:txBody>
      </p:sp>
      <p:sp>
        <p:nvSpPr>
          <p:cNvPr id="82" name="Shape 80"/>
          <p:cNvSpPr/>
          <p:nvPr/>
        </p:nvSpPr>
        <p:spPr>
          <a:xfrm>
            <a:off x="5752974" y="505663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83" name="Shape 81"/>
          <p:cNvSpPr/>
          <p:nvPr/>
        </p:nvSpPr>
        <p:spPr>
          <a:xfrm>
            <a:off x="5826126" y="5056632"/>
            <a:ext cx="1871293" cy="54864"/>
          </a:xfrm>
          <a:prstGeom prst="rect">
            <a:avLst/>
          </a:prstGeom>
          <a:solidFill>
            <a:srgbClr val="00778B"/>
          </a:solidFill>
          <a:ln w="12700">
            <a:solidFill>
              <a:srgbClr val="00778B"/>
            </a:solidFill>
            <a:prstDash val="solid"/>
          </a:ln>
        </p:spPr>
      </p:sp>
      <p:sp>
        <p:nvSpPr>
          <p:cNvPr id="84" name="Text 82"/>
          <p:cNvSpPr/>
          <p:nvPr/>
        </p:nvSpPr>
        <p:spPr>
          <a:xfrm>
            <a:off x="5844414" y="5129784"/>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أربعاء 7 أكتوبر 2026</a:t>
            </a:r>
            <a:endParaRPr lang="ar-SA" sz="950" dirty="0"/>
          </a:p>
        </p:txBody>
      </p:sp>
      <p:sp>
        <p:nvSpPr>
          <p:cNvPr id="85" name="Text 83"/>
          <p:cNvSpPr/>
          <p:nvPr/>
        </p:nvSpPr>
        <p:spPr>
          <a:xfrm>
            <a:off x="5844414" y="5376672"/>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00778B"/>
                </a:solidFill>
                <a:latin typeface="Arial" pitchFamily="34" charset="0"/>
                <a:ea typeface="Arial" pitchFamily="34" charset="-122"/>
                <a:cs typeface="Arial" pitchFamily="34" charset="-120"/>
              </a:rPr>
              <a:t>المرحلة 2 – إعداد ومراجعة بيان طريقة العمل</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اجتماع أصحاب المصلحة</a:t>
            </a:r>
            <a:endParaRPr lang="ar-SA" sz="650" dirty="0"/>
          </a:p>
        </p:txBody>
      </p:sp>
      <p:sp>
        <p:nvSpPr>
          <p:cNvPr id="86" name="Shape 84"/>
          <p:cNvSpPr/>
          <p:nvPr/>
        </p:nvSpPr>
        <p:spPr>
          <a:xfrm>
            <a:off x="6110935" y="3447288"/>
            <a:ext cx="0" cy="182880"/>
          </a:xfrm>
          <a:prstGeom prst="line">
            <a:avLst/>
          </a:prstGeom>
          <a:noFill/>
          <a:ln w="19050">
            <a:solidFill>
              <a:srgbClr val="00778B">
                <a:alpha val="65000"/>
              </a:srgbClr>
            </a:solidFill>
            <a:prstDash val="solid"/>
          </a:ln>
        </p:spPr>
      </p:sp>
      <p:sp>
        <p:nvSpPr>
          <p:cNvPr id="87" name="Shape 85"/>
          <p:cNvSpPr/>
          <p:nvPr/>
        </p:nvSpPr>
        <p:spPr>
          <a:xfrm>
            <a:off x="5900623" y="3630168"/>
            <a:ext cx="420624" cy="420624"/>
          </a:xfrm>
          <a:prstGeom prst="ellipse">
            <a:avLst/>
          </a:prstGeom>
          <a:solidFill>
            <a:srgbClr val="00778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88" name="Text 86"/>
          <p:cNvSpPr/>
          <p:nvPr/>
        </p:nvSpPr>
        <p:spPr>
          <a:xfrm>
            <a:off x="5900623"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9</a:t>
            </a:r>
            <a:endParaRPr lang="ar-SA" sz="1100" dirty="0"/>
          </a:p>
        </p:txBody>
      </p:sp>
      <p:sp>
        <p:nvSpPr>
          <p:cNvPr id="89" name="Shape 87"/>
          <p:cNvSpPr/>
          <p:nvPr/>
        </p:nvSpPr>
        <p:spPr>
          <a:xfrm>
            <a:off x="5102137" y="273405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90" name="Shape 88"/>
          <p:cNvSpPr/>
          <p:nvPr/>
        </p:nvSpPr>
        <p:spPr>
          <a:xfrm>
            <a:off x="5175289" y="2734056"/>
            <a:ext cx="1871293" cy="54864"/>
          </a:xfrm>
          <a:prstGeom prst="rect">
            <a:avLst/>
          </a:prstGeom>
          <a:solidFill>
            <a:srgbClr val="00778B"/>
          </a:solidFill>
          <a:ln w="12700">
            <a:solidFill>
              <a:srgbClr val="00778B"/>
            </a:solidFill>
            <a:prstDash val="solid"/>
          </a:ln>
        </p:spPr>
      </p:sp>
      <p:sp>
        <p:nvSpPr>
          <p:cNvPr id="91" name="Text 89"/>
          <p:cNvSpPr/>
          <p:nvPr/>
        </p:nvSpPr>
        <p:spPr>
          <a:xfrm>
            <a:off x="5193577" y="2807208"/>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خميس 8 أكتوبر 2026</a:t>
            </a:r>
            <a:endParaRPr lang="ar-SA" sz="950" dirty="0"/>
          </a:p>
        </p:txBody>
      </p:sp>
      <p:sp>
        <p:nvSpPr>
          <p:cNvPr id="92" name="Text 90"/>
          <p:cNvSpPr/>
          <p:nvPr/>
        </p:nvSpPr>
        <p:spPr>
          <a:xfrm>
            <a:off x="5193577" y="3054096"/>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00778B"/>
                </a:solidFill>
                <a:latin typeface="Arial" pitchFamily="34" charset="0"/>
                <a:ea typeface="Arial" pitchFamily="34" charset="-122"/>
                <a:cs typeface="Arial" pitchFamily="34" charset="-120"/>
              </a:rPr>
              <a:t>المرحلة 2 – إعداد ومراجعة بيان طريقة العمل</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الرد على استفسارات أصحاب المصلحة</a:t>
            </a:r>
            <a:endParaRPr lang="ar-SA" sz="650" dirty="0"/>
          </a:p>
        </p:txBody>
      </p:sp>
      <p:sp>
        <p:nvSpPr>
          <p:cNvPr id="93" name="Shape 91"/>
          <p:cNvSpPr/>
          <p:nvPr/>
        </p:nvSpPr>
        <p:spPr>
          <a:xfrm>
            <a:off x="5460098" y="4050792"/>
            <a:ext cx="0" cy="182880"/>
          </a:xfrm>
          <a:prstGeom prst="line">
            <a:avLst/>
          </a:prstGeom>
          <a:noFill/>
          <a:ln w="19050">
            <a:solidFill>
              <a:srgbClr val="00778B">
                <a:alpha val="65000"/>
              </a:srgbClr>
            </a:solidFill>
            <a:prstDash val="solid"/>
          </a:ln>
        </p:spPr>
      </p:sp>
      <p:sp>
        <p:nvSpPr>
          <p:cNvPr id="94" name="Shape 92"/>
          <p:cNvSpPr/>
          <p:nvPr/>
        </p:nvSpPr>
        <p:spPr>
          <a:xfrm>
            <a:off x="5249786" y="3630168"/>
            <a:ext cx="420624" cy="420624"/>
          </a:xfrm>
          <a:prstGeom prst="ellipse">
            <a:avLst/>
          </a:prstGeom>
          <a:solidFill>
            <a:srgbClr val="00778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95" name="Text 93"/>
          <p:cNvSpPr/>
          <p:nvPr/>
        </p:nvSpPr>
        <p:spPr>
          <a:xfrm>
            <a:off x="5249786"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10</a:t>
            </a:r>
            <a:endParaRPr lang="ar-SA" sz="1100" dirty="0"/>
          </a:p>
        </p:txBody>
      </p:sp>
      <p:sp>
        <p:nvSpPr>
          <p:cNvPr id="96" name="Shape 94"/>
          <p:cNvSpPr/>
          <p:nvPr/>
        </p:nvSpPr>
        <p:spPr>
          <a:xfrm>
            <a:off x="4451299" y="423367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97" name="Shape 95"/>
          <p:cNvSpPr/>
          <p:nvPr/>
        </p:nvSpPr>
        <p:spPr>
          <a:xfrm>
            <a:off x="4524451" y="4233672"/>
            <a:ext cx="1871293" cy="54864"/>
          </a:xfrm>
          <a:prstGeom prst="rect">
            <a:avLst/>
          </a:prstGeom>
          <a:solidFill>
            <a:srgbClr val="00778B"/>
          </a:solidFill>
          <a:ln w="12700">
            <a:solidFill>
              <a:srgbClr val="00778B"/>
            </a:solidFill>
            <a:prstDash val="solid"/>
          </a:ln>
        </p:spPr>
      </p:sp>
      <p:sp>
        <p:nvSpPr>
          <p:cNvPr id="98" name="Text 96"/>
          <p:cNvSpPr/>
          <p:nvPr/>
        </p:nvSpPr>
        <p:spPr>
          <a:xfrm>
            <a:off x="4542739" y="4306824"/>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أحد 11 أكتوبر 2026</a:t>
            </a:r>
            <a:endParaRPr lang="ar-SA" sz="950" dirty="0"/>
          </a:p>
        </p:txBody>
      </p:sp>
      <p:sp>
        <p:nvSpPr>
          <p:cNvPr id="99" name="Text 97"/>
          <p:cNvSpPr/>
          <p:nvPr/>
        </p:nvSpPr>
        <p:spPr>
          <a:xfrm>
            <a:off x="4542739" y="4553712"/>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00778B"/>
                </a:solidFill>
                <a:latin typeface="Arial" pitchFamily="34" charset="0"/>
                <a:ea typeface="Arial" pitchFamily="34" charset="-122"/>
                <a:cs typeface="Arial" pitchFamily="34" charset="-120"/>
              </a:rPr>
              <a:t>المرحلة 2 – إعداد ومراجعة بيان طريقة العمل</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استلام توضيح من إدارة الهندسة</a:t>
            </a:r>
            <a:endParaRPr lang="ar-SA" sz="650" dirty="0"/>
          </a:p>
        </p:txBody>
      </p:sp>
      <p:sp>
        <p:nvSpPr>
          <p:cNvPr id="100" name="Shape 98"/>
          <p:cNvSpPr/>
          <p:nvPr/>
        </p:nvSpPr>
        <p:spPr>
          <a:xfrm>
            <a:off x="4809260" y="2624328"/>
            <a:ext cx="0" cy="1005840"/>
          </a:xfrm>
          <a:prstGeom prst="line">
            <a:avLst/>
          </a:prstGeom>
          <a:noFill/>
          <a:ln w="19050">
            <a:solidFill>
              <a:srgbClr val="00778B">
                <a:alpha val="65000"/>
              </a:srgbClr>
            </a:solidFill>
            <a:prstDash val="solid"/>
          </a:ln>
        </p:spPr>
      </p:sp>
      <p:sp>
        <p:nvSpPr>
          <p:cNvPr id="101" name="Shape 99"/>
          <p:cNvSpPr/>
          <p:nvPr/>
        </p:nvSpPr>
        <p:spPr>
          <a:xfrm>
            <a:off x="4598948" y="3630168"/>
            <a:ext cx="420624" cy="420624"/>
          </a:xfrm>
          <a:prstGeom prst="ellipse">
            <a:avLst/>
          </a:prstGeom>
          <a:solidFill>
            <a:srgbClr val="00778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02" name="Text 100"/>
          <p:cNvSpPr/>
          <p:nvPr/>
        </p:nvSpPr>
        <p:spPr>
          <a:xfrm>
            <a:off x="4598948"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11</a:t>
            </a:r>
            <a:endParaRPr lang="ar-SA" sz="1100" dirty="0"/>
          </a:p>
        </p:txBody>
      </p:sp>
      <p:sp>
        <p:nvSpPr>
          <p:cNvPr id="103" name="Shape 101"/>
          <p:cNvSpPr/>
          <p:nvPr/>
        </p:nvSpPr>
        <p:spPr>
          <a:xfrm>
            <a:off x="3800462" y="191109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04" name="Shape 102"/>
          <p:cNvSpPr/>
          <p:nvPr/>
        </p:nvSpPr>
        <p:spPr>
          <a:xfrm>
            <a:off x="3873614" y="1911096"/>
            <a:ext cx="1871293" cy="54864"/>
          </a:xfrm>
          <a:prstGeom prst="rect">
            <a:avLst/>
          </a:prstGeom>
          <a:solidFill>
            <a:srgbClr val="00778B"/>
          </a:solidFill>
          <a:ln w="12700">
            <a:solidFill>
              <a:srgbClr val="00778B"/>
            </a:solidFill>
            <a:prstDash val="solid"/>
          </a:ln>
        </p:spPr>
      </p:sp>
      <p:sp>
        <p:nvSpPr>
          <p:cNvPr id="105" name="Text 103"/>
          <p:cNvSpPr/>
          <p:nvPr/>
        </p:nvSpPr>
        <p:spPr>
          <a:xfrm>
            <a:off x="3891902" y="1984248"/>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اثنين 12 أكتوبر 2026</a:t>
            </a:r>
            <a:endParaRPr lang="ar-SA" sz="950" dirty="0"/>
          </a:p>
        </p:txBody>
      </p:sp>
      <p:sp>
        <p:nvSpPr>
          <p:cNvPr id="106" name="Text 104"/>
          <p:cNvSpPr/>
          <p:nvPr/>
        </p:nvSpPr>
        <p:spPr>
          <a:xfrm>
            <a:off x="3891902" y="2231136"/>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00778B"/>
                </a:solidFill>
                <a:latin typeface="Arial" pitchFamily="34" charset="0"/>
                <a:ea typeface="Arial" pitchFamily="34" charset="-122"/>
                <a:cs typeface="Arial" pitchFamily="34" charset="-120"/>
              </a:rPr>
              <a:t>المرحلة 2 – إعداد ومراجعة بيان طريقة العمل</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تقديم المراجعة الثانية (MoS)</a:t>
            </a:r>
            <a:endParaRPr lang="ar-SA" sz="650" dirty="0"/>
          </a:p>
        </p:txBody>
      </p:sp>
      <p:sp>
        <p:nvSpPr>
          <p:cNvPr id="107" name="Shape 105"/>
          <p:cNvSpPr/>
          <p:nvPr/>
        </p:nvSpPr>
        <p:spPr>
          <a:xfrm>
            <a:off x="4158422" y="4050792"/>
            <a:ext cx="0" cy="1005840"/>
          </a:xfrm>
          <a:prstGeom prst="line">
            <a:avLst/>
          </a:prstGeom>
          <a:noFill/>
          <a:ln w="19050">
            <a:solidFill>
              <a:srgbClr val="2E9E6B">
                <a:alpha val="65000"/>
              </a:srgbClr>
            </a:solidFill>
            <a:prstDash val="solid"/>
          </a:ln>
        </p:spPr>
      </p:sp>
      <p:sp>
        <p:nvSpPr>
          <p:cNvPr id="108" name="Shape 106"/>
          <p:cNvSpPr/>
          <p:nvPr/>
        </p:nvSpPr>
        <p:spPr>
          <a:xfrm>
            <a:off x="3948110" y="3630168"/>
            <a:ext cx="420624" cy="420624"/>
          </a:xfrm>
          <a:prstGeom prst="ellipse">
            <a:avLst/>
          </a:prstGeom>
          <a:solidFill>
            <a:srgbClr val="2E9E6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09" name="Text 107"/>
          <p:cNvSpPr/>
          <p:nvPr/>
        </p:nvSpPr>
        <p:spPr>
          <a:xfrm>
            <a:off x="3948110"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12</a:t>
            </a:r>
            <a:endParaRPr lang="ar-SA" sz="1100" dirty="0"/>
          </a:p>
        </p:txBody>
      </p:sp>
      <p:sp>
        <p:nvSpPr>
          <p:cNvPr id="110" name="Shape 108"/>
          <p:cNvSpPr/>
          <p:nvPr/>
        </p:nvSpPr>
        <p:spPr>
          <a:xfrm>
            <a:off x="3149624" y="505663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11" name="Shape 109"/>
          <p:cNvSpPr/>
          <p:nvPr/>
        </p:nvSpPr>
        <p:spPr>
          <a:xfrm>
            <a:off x="3222776" y="5056632"/>
            <a:ext cx="1871293" cy="54864"/>
          </a:xfrm>
          <a:prstGeom prst="rect">
            <a:avLst/>
          </a:prstGeom>
          <a:solidFill>
            <a:srgbClr val="2E9E6B"/>
          </a:solidFill>
          <a:ln w="12700">
            <a:solidFill>
              <a:srgbClr val="2E9E6B"/>
            </a:solidFill>
            <a:prstDash val="solid"/>
          </a:ln>
        </p:spPr>
      </p:sp>
      <p:sp>
        <p:nvSpPr>
          <p:cNvPr id="112" name="Text 110"/>
          <p:cNvSpPr/>
          <p:nvPr/>
        </p:nvSpPr>
        <p:spPr>
          <a:xfrm>
            <a:off x="3241064" y="5129784"/>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ثلاثاء 13 أكتوبر 2026</a:t>
            </a:r>
            <a:endParaRPr lang="ar-SA" sz="950" dirty="0"/>
          </a:p>
        </p:txBody>
      </p:sp>
      <p:sp>
        <p:nvSpPr>
          <p:cNvPr id="113" name="Text 111"/>
          <p:cNvSpPr/>
          <p:nvPr/>
        </p:nvSpPr>
        <p:spPr>
          <a:xfrm>
            <a:off x="3241064" y="5376672"/>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2E9E6B"/>
                </a:solidFill>
                <a:latin typeface="Arial" pitchFamily="34" charset="0"/>
                <a:ea typeface="Arial" pitchFamily="34" charset="-122"/>
                <a:cs typeface="Arial" pitchFamily="34" charset="-120"/>
              </a:rPr>
              <a:t>المرحلة 3 – إصدار تصريح العمل</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التواصل مع إدارة السلامة</a:t>
            </a:r>
            <a:endParaRPr lang="ar-SA" sz="650" dirty="0"/>
          </a:p>
        </p:txBody>
      </p:sp>
      <p:sp>
        <p:nvSpPr>
          <p:cNvPr id="114" name="Shape 112"/>
          <p:cNvSpPr/>
          <p:nvPr/>
        </p:nvSpPr>
        <p:spPr>
          <a:xfrm>
            <a:off x="3507585" y="3447288"/>
            <a:ext cx="0" cy="182880"/>
          </a:xfrm>
          <a:prstGeom prst="line">
            <a:avLst/>
          </a:prstGeom>
          <a:noFill/>
          <a:ln w="19050">
            <a:solidFill>
              <a:srgbClr val="2E9E6B">
                <a:alpha val="65000"/>
              </a:srgbClr>
            </a:solidFill>
            <a:prstDash val="solid"/>
          </a:ln>
        </p:spPr>
      </p:sp>
      <p:sp>
        <p:nvSpPr>
          <p:cNvPr id="115" name="Shape 113"/>
          <p:cNvSpPr/>
          <p:nvPr/>
        </p:nvSpPr>
        <p:spPr>
          <a:xfrm>
            <a:off x="3297273" y="3630168"/>
            <a:ext cx="420624" cy="420624"/>
          </a:xfrm>
          <a:prstGeom prst="ellipse">
            <a:avLst/>
          </a:prstGeom>
          <a:solidFill>
            <a:srgbClr val="2E9E6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16" name="Text 114"/>
          <p:cNvSpPr/>
          <p:nvPr/>
        </p:nvSpPr>
        <p:spPr>
          <a:xfrm>
            <a:off x="3297273"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13</a:t>
            </a:r>
            <a:endParaRPr lang="ar-SA" sz="1100" dirty="0"/>
          </a:p>
        </p:txBody>
      </p:sp>
      <p:sp>
        <p:nvSpPr>
          <p:cNvPr id="117" name="Shape 115"/>
          <p:cNvSpPr/>
          <p:nvPr/>
        </p:nvSpPr>
        <p:spPr>
          <a:xfrm>
            <a:off x="2498786" y="273405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18" name="Shape 116"/>
          <p:cNvSpPr/>
          <p:nvPr/>
        </p:nvSpPr>
        <p:spPr>
          <a:xfrm>
            <a:off x="2571938" y="2734056"/>
            <a:ext cx="1871293" cy="54864"/>
          </a:xfrm>
          <a:prstGeom prst="rect">
            <a:avLst/>
          </a:prstGeom>
          <a:solidFill>
            <a:srgbClr val="2E9E6B"/>
          </a:solidFill>
          <a:ln w="12700">
            <a:solidFill>
              <a:srgbClr val="2E9E6B"/>
            </a:solidFill>
            <a:prstDash val="solid"/>
          </a:ln>
        </p:spPr>
      </p:sp>
      <p:sp>
        <p:nvSpPr>
          <p:cNvPr id="119" name="Text 117"/>
          <p:cNvSpPr/>
          <p:nvPr/>
        </p:nvSpPr>
        <p:spPr>
          <a:xfrm>
            <a:off x="2590226" y="2807208"/>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أربعاء 14 أكتوبر 2026</a:t>
            </a:r>
            <a:endParaRPr lang="ar-SA" sz="950" dirty="0"/>
          </a:p>
        </p:txBody>
      </p:sp>
      <p:sp>
        <p:nvSpPr>
          <p:cNvPr id="120" name="Text 118"/>
          <p:cNvSpPr/>
          <p:nvPr/>
        </p:nvSpPr>
        <p:spPr>
          <a:xfrm>
            <a:off x="2590226" y="3054096"/>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2E9E6B"/>
                </a:solidFill>
                <a:latin typeface="Arial" pitchFamily="34" charset="0"/>
                <a:ea typeface="Arial" pitchFamily="34" charset="-122"/>
                <a:cs typeface="Arial" pitchFamily="34" charset="-120"/>
              </a:rPr>
              <a:t>المرحلة 3 – إصدار تصريح العمل</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تعميم التصريح للموافقات</a:t>
            </a:r>
            <a:endParaRPr lang="ar-SA" sz="650" dirty="0"/>
          </a:p>
        </p:txBody>
      </p:sp>
      <p:sp>
        <p:nvSpPr>
          <p:cNvPr id="121" name="Shape 119"/>
          <p:cNvSpPr/>
          <p:nvPr/>
        </p:nvSpPr>
        <p:spPr>
          <a:xfrm>
            <a:off x="2856747" y="4050792"/>
            <a:ext cx="0" cy="182880"/>
          </a:xfrm>
          <a:prstGeom prst="line">
            <a:avLst/>
          </a:prstGeom>
          <a:noFill/>
          <a:ln w="19050">
            <a:solidFill>
              <a:srgbClr val="2E9E6B">
                <a:alpha val="65000"/>
              </a:srgbClr>
            </a:solidFill>
            <a:prstDash val="solid"/>
          </a:ln>
        </p:spPr>
      </p:sp>
      <p:sp>
        <p:nvSpPr>
          <p:cNvPr id="122" name="Shape 120"/>
          <p:cNvSpPr/>
          <p:nvPr/>
        </p:nvSpPr>
        <p:spPr>
          <a:xfrm>
            <a:off x="2646435" y="3630168"/>
            <a:ext cx="420624" cy="420624"/>
          </a:xfrm>
          <a:prstGeom prst="ellipse">
            <a:avLst/>
          </a:prstGeom>
          <a:solidFill>
            <a:srgbClr val="2E9E6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23" name="Text 121"/>
          <p:cNvSpPr/>
          <p:nvPr/>
        </p:nvSpPr>
        <p:spPr>
          <a:xfrm>
            <a:off x="2646435"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14</a:t>
            </a:r>
            <a:endParaRPr lang="ar-SA" sz="1100" dirty="0"/>
          </a:p>
        </p:txBody>
      </p:sp>
      <p:sp>
        <p:nvSpPr>
          <p:cNvPr id="124" name="Shape 122"/>
          <p:cNvSpPr/>
          <p:nvPr/>
        </p:nvSpPr>
        <p:spPr>
          <a:xfrm>
            <a:off x="1847949" y="423367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25" name="Shape 123"/>
          <p:cNvSpPr/>
          <p:nvPr/>
        </p:nvSpPr>
        <p:spPr>
          <a:xfrm>
            <a:off x="1921101" y="4233672"/>
            <a:ext cx="1871293" cy="54864"/>
          </a:xfrm>
          <a:prstGeom prst="rect">
            <a:avLst/>
          </a:prstGeom>
          <a:solidFill>
            <a:srgbClr val="2E9E6B"/>
          </a:solidFill>
          <a:ln w="12700">
            <a:solidFill>
              <a:srgbClr val="2E9E6B"/>
            </a:solidFill>
            <a:prstDash val="solid"/>
          </a:ln>
        </p:spPr>
      </p:sp>
      <p:sp>
        <p:nvSpPr>
          <p:cNvPr id="126" name="Text 124"/>
          <p:cNvSpPr/>
          <p:nvPr/>
        </p:nvSpPr>
        <p:spPr>
          <a:xfrm>
            <a:off x="1939389" y="4306824"/>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خميس 15 أكتوبر 2026</a:t>
            </a:r>
            <a:endParaRPr lang="ar-SA" sz="950" dirty="0"/>
          </a:p>
        </p:txBody>
      </p:sp>
      <p:sp>
        <p:nvSpPr>
          <p:cNvPr id="127" name="Text 125"/>
          <p:cNvSpPr/>
          <p:nvPr/>
        </p:nvSpPr>
        <p:spPr>
          <a:xfrm>
            <a:off x="1939389" y="4553712"/>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2E9E6B"/>
                </a:solidFill>
                <a:latin typeface="Arial" pitchFamily="34" charset="0"/>
                <a:ea typeface="Arial" pitchFamily="34" charset="-122"/>
                <a:cs typeface="Arial" pitchFamily="34" charset="-120"/>
              </a:rPr>
              <a:t>المرحلة 3 – إصدار تصريح العمل</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ملاحظات إضافية من الإدارات</a:t>
            </a:r>
            <a:endParaRPr lang="ar-SA" sz="650" dirty="0"/>
          </a:p>
        </p:txBody>
      </p:sp>
      <p:sp>
        <p:nvSpPr>
          <p:cNvPr id="128" name="Shape 126"/>
          <p:cNvSpPr/>
          <p:nvPr/>
        </p:nvSpPr>
        <p:spPr>
          <a:xfrm>
            <a:off x="2205909" y="2624328"/>
            <a:ext cx="0" cy="1005840"/>
          </a:xfrm>
          <a:prstGeom prst="line">
            <a:avLst/>
          </a:prstGeom>
          <a:noFill/>
          <a:ln w="19050">
            <a:solidFill>
              <a:srgbClr val="2E9E6B">
                <a:alpha val="65000"/>
              </a:srgbClr>
            </a:solidFill>
            <a:prstDash val="solid"/>
          </a:ln>
        </p:spPr>
      </p:sp>
      <p:sp>
        <p:nvSpPr>
          <p:cNvPr id="129" name="Shape 127"/>
          <p:cNvSpPr/>
          <p:nvPr/>
        </p:nvSpPr>
        <p:spPr>
          <a:xfrm>
            <a:off x="1995597" y="3630168"/>
            <a:ext cx="420624" cy="420624"/>
          </a:xfrm>
          <a:prstGeom prst="ellipse">
            <a:avLst/>
          </a:prstGeom>
          <a:solidFill>
            <a:srgbClr val="2E9E6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30" name="Text 128"/>
          <p:cNvSpPr/>
          <p:nvPr/>
        </p:nvSpPr>
        <p:spPr>
          <a:xfrm>
            <a:off x="1995597"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15</a:t>
            </a:r>
            <a:endParaRPr lang="ar-SA" sz="1100" dirty="0"/>
          </a:p>
        </p:txBody>
      </p:sp>
      <p:sp>
        <p:nvSpPr>
          <p:cNvPr id="131" name="Shape 129"/>
          <p:cNvSpPr/>
          <p:nvPr/>
        </p:nvSpPr>
        <p:spPr>
          <a:xfrm>
            <a:off x="1197111" y="191109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32" name="Shape 130"/>
          <p:cNvSpPr/>
          <p:nvPr/>
        </p:nvSpPr>
        <p:spPr>
          <a:xfrm>
            <a:off x="1270263" y="1911096"/>
            <a:ext cx="1871293" cy="54864"/>
          </a:xfrm>
          <a:prstGeom prst="rect">
            <a:avLst/>
          </a:prstGeom>
          <a:solidFill>
            <a:srgbClr val="2E9E6B"/>
          </a:solidFill>
          <a:ln w="12700">
            <a:solidFill>
              <a:srgbClr val="2E9E6B"/>
            </a:solidFill>
            <a:prstDash val="solid"/>
          </a:ln>
        </p:spPr>
      </p:sp>
      <p:sp>
        <p:nvSpPr>
          <p:cNvPr id="133" name="Text 131"/>
          <p:cNvSpPr/>
          <p:nvPr/>
        </p:nvSpPr>
        <p:spPr>
          <a:xfrm>
            <a:off x="1288551" y="1984248"/>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اثنين 19 أكتوبر 2026</a:t>
            </a:r>
            <a:endParaRPr lang="ar-SA" sz="950" dirty="0"/>
          </a:p>
        </p:txBody>
      </p:sp>
      <p:sp>
        <p:nvSpPr>
          <p:cNvPr id="134" name="Text 132"/>
          <p:cNvSpPr/>
          <p:nvPr/>
        </p:nvSpPr>
        <p:spPr>
          <a:xfrm>
            <a:off x="1288551" y="2231136"/>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2E9E6B"/>
                </a:solidFill>
                <a:latin typeface="Arial" pitchFamily="34" charset="0"/>
                <a:ea typeface="Arial" pitchFamily="34" charset="-122"/>
                <a:cs typeface="Arial" pitchFamily="34" charset="-120"/>
              </a:rPr>
              <a:t>المرحلة 3 – إصدار تصريح العمل</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تقديم المراجعة الثالثة (MoS)</a:t>
            </a:r>
            <a:endParaRPr lang="ar-SA" sz="650" dirty="0"/>
          </a:p>
        </p:txBody>
      </p:sp>
      <p:sp>
        <p:nvSpPr>
          <p:cNvPr id="135" name="Shape 133"/>
          <p:cNvSpPr/>
          <p:nvPr/>
        </p:nvSpPr>
        <p:spPr>
          <a:xfrm>
            <a:off x="1555072" y="4050792"/>
            <a:ext cx="0" cy="1005840"/>
          </a:xfrm>
          <a:prstGeom prst="line">
            <a:avLst/>
          </a:prstGeom>
          <a:noFill/>
          <a:ln w="19050">
            <a:solidFill>
              <a:srgbClr val="2E9E6B">
                <a:alpha val="65000"/>
              </a:srgbClr>
            </a:solidFill>
            <a:prstDash val="solid"/>
          </a:ln>
        </p:spPr>
      </p:sp>
      <p:sp>
        <p:nvSpPr>
          <p:cNvPr id="136" name="Shape 134"/>
          <p:cNvSpPr/>
          <p:nvPr/>
        </p:nvSpPr>
        <p:spPr>
          <a:xfrm>
            <a:off x="1344760" y="3630168"/>
            <a:ext cx="420624" cy="420624"/>
          </a:xfrm>
          <a:prstGeom prst="ellipse">
            <a:avLst/>
          </a:prstGeom>
          <a:solidFill>
            <a:srgbClr val="2E9E6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37" name="Text 135"/>
          <p:cNvSpPr/>
          <p:nvPr/>
        </p:nvSpPr>
        <p:spPr>
          <a:xfrm>
            <a:off x="1344760"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16</a:t>
            </a:r>
            <a:endParaRPr lang="ar-SA" sz="1100" dirty="0"/>
          </a:p>
        </p:txBody>
      </p:sp>
      <p:sp>
        <p:nvSpPr>
          <p:cNvPr id="138" name="Shape 136"/>
          <p:cNvSpPr/>
          <p:nvPr/>
        </p:nvSpPr>
        <p:spPr>
          <a:xfrm>
            <a:off x="546273" y="5056632"/>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39" name="Shape 137"/>
          <p:cNvSpPr/>
          <p:nvPr/>
        </p:nvSpPr>
        <p:spPr>
          <a:xfrm>
            <a:off x="619425" y="5056632"/>
            <a:ext cx="1871293" cy="54864"/>
          </a:xfrm>
          <a:prstGeom prst="rect">
            <a:avLst/>
          </a:prstGeom>
          <a:solidFill>
            <a:srgbClr val="2E9E6B"/>
          </a:solidFill>
          <a:ln w="12700">
            <a:solidFill>
              <a:srgbClr val="2E9E6B"/>
            </a:solidFill>
            <a:prstDash val="solid"/>
          </a:ln>
        </p:spPr>
      </p:sp>
      <p:sp>
        <p:nvSpPr>
          <p:cNvPr id="140" name="Text 138"/>
          <p:cNvSpPr/>
          <p:nvPr/>
        </p:nvSpPr>
        <p:spPr>
          <a:xfrm>
            <a:off x="637713" y="5129784"/>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ثلاثاء 20 أكتوبر 2026</a:t>
            </a:r>
            <a:endParaRPr lang="ar-SA" sz="950" dirty="0"/>
          </a:p>
        </p:txBody>
      </p:sp>
      <p:sp>
        <p:nvSpPr>
          <p:cNvPr id="141" name="Text 139"/>
          <p:cNvSpPr/>
          <p:nvPr/>
        </p:nvSpPr>
        <p:spPr>
          <a:xfrm>
            <a:off x="637713" y="5376672"/>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2E9E6B"/>
                </a:solidFill>
                <a:latin typeface="Arial" pitchFamily="34" charset="0"/>
                <a:ea typeface="Arial" pitchFamily="34" charset="-122"/>
                <a:cs typeface="Arial" pitchFamily="34" charset="-120"/>
              </a:rPr>
              <a:t>المرحلة 3 – إصدار تصريح العمل</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إغلاق الاستفسار الأخير</a:t>
            </a:r>
            <a:endParaRPr lang="ar-SA" sz="650" dirty="0"/>
          </a:p>
        </p:txBody>
      </p:sp>
      <p:sp>
        <p:nvSpPr>
          <p:cNvPr id="142" name="Shape 140"/>
          <p:cNvSpPr/>
          <p:nvPr/>
        </p:nvSpPr>
        <p:spPr>
          <a:xfrm>
            <a:off x="904234" y="3447288"/>
            <a:ext cx="0" cy="182880"/>
          </a:xfrm>
          <a:prstGeom prst="line">
            <a:avLst/>
          </a:prstGeom>
          <a:noFill/>
          <a:ln w="19050">
            <a:solidFill>
              <a:srgbClr val="2E9E6B">
                <a:alpha val="65000"/>
              </a:srgbClr>
            </a:solidFill>
            <a:prstDash val="solid"/>
          </a:ln>
        </p:spPr>
      </p:sp>
      <p:sp>
        <p:nvSpPr>
          <p:cNvPr id="143" name="Shape 141"/>
          <p:cNvSpPr/>
          <p:nvPr/>
        </p:nvSpPr>
        <p:spPr>
          <a:xfrm>
            <a:off x="693922" y="3630168"/>
            <a:ext cx="420624" cy="420624"/>
          </a:xfrm>
          <a:prstGeom prst="ellipse">
            <a:avLst/>
          </a:prstGeom>
          <a:solidFill>
            <a:srgbClr val="2E9E6B"/>
          </a:solidFill>
          <a:ln w="31750">
            <a:solidFill>
              <a:srgbClr val="FFFFFF"/>
            </a:solidFill>
            <a:prstDash val="solid"/>
          </a:ln>
          <a:effectLst>
            <a:outerShdw sx="100000" sy="100000" kx="0" ky="0" algn="bl" rotWithShape="0" blurRad="50800" dist="19050" dir="5400000">
              <a:srgbClr val="000000">
                <a:alpha val="25000"/>
              </a:srgbClr>
            </a:outerShdw>
          </a:effectLst>
        </p:spPr>
      </p:sp>
      <p:sp>
        <p:nvSpPr>
          <p:cNvPr id="144" name="Text 142"/>
          <p:cNvSpPr/>
          <p:nvPr/>
        </p:nvSpPr>
        <p:spPr>
          <a:xfrm>
            <a:off x="693922" y="3630168"/>
            <a:ext cx="420624" cy="420624"/>
          </a:xfrm>
          <a:prstGeom prst="rect">
            <a:avLst/>
          </a:prstGeom>
          <a:noFill/>
          <a:ln/>
        </p:spPr>
        <p:txBody>
          <a:bodyPr wrap="square" lIns="0" tIns="0" rIns="0" bIns="0" rtlCol="0" anchor="ctr">
            <a:normAutofit/>
          </a:bodyPr>
          <a:lstStyle/>
          <a:p>
            <a:pPr rtl="1" algn="ctr" indent="0" marL="0">
              <a:buNone/>
            </a:pPr>
            <a:r>
              <a:rPr lang="ar-SA" altLang="en-US" sz="1100" b="1" dirty="0">
                <a:solidFill>
                  <a:srgbClr val="FFFFFF"/>
                </a:solidFill>
                <a:latin typeface="Arial" pitchFamily="34" charset="0"/>
                <a:ea typeface="Arial" pitchFamily="34" charset="-122"/>
                <a:cs typeface="Arial" pitchFamily="34" charset="-120"/>
              </a:rPr>
              <a:t>17</a:t>
            </a:r>
            <a:endParaRPr lang="ar-SA" sz="1100" dirty="0"/>
          </a:p>
        </p:txBody>
      </p:sp>
      <p:sp>
        <p:nvSpPr>
          <p:cNvPr id="145" name="Shape 143"/>
          <p:cNvSpPr/>
          <p:nvPr/>
        </p:nvSpPr>
        <p:spPr>
          <a:xfrm>
            <a:off x="274320" y="2734056"/>
            <a:ext cx="2017597" cy="713232"/>
          </a:xfrm>
          <a:prstGeom prst="roundRect">
            <a:avLst>
              <a:gd name="adj" fmla="val 10256"/>
            </a:avLst>
          </a:prstGeom>
          <a:solidFill>
            <a:srgbClr val="FFFFFF"/>
          </a:solidFill>
          <a:ln w="9525">
            <a:solidFill>
              <a:srgbClr val="DFE6EA"/>
            </a:solidFill>
            <a:prstDash val="solid"/>
          </a:ln>
          <a:effectLst>
            <a:outerShdw sx="100000" sy="100000" kx="0" ky="0" algn="bl" rotWithShape="0" blurRad="76200" dist="25400" dir="5400000">
              <a:srgbClr val="000000">
                <a:alpha val="14000"/>
              </a:srgbClr>
            </a:outerShdw>
          </a:effectLst>
        </p:spPr>
      </p:sp>
      <p:sp>
        <p:nvSpPr>
          <p:cNvPr id="146" name="Shape 144"/>
          <p:cNvSpPr/>
          <p:nvPr/>
        </p:nvSpPr>
        <p:spPr>
          <a:xfrm>
            <a:off x="347472" y="2734056"/>
            <a:ext cx="1871293" cy="54864"/>
          </a:xfrm>
          <a:prstGeom prst="rect">
            <a:avLst/>
          </a:prstGeom>
          <a:solidFill>
            <a:srgbClr val="2E9E6B"/>
          </a:solidFill>
          <a:ln w="12700">
            <a:solidFill>
              <a:srgbClr val="2E9E6B"/>
            </a:solidFill>
            <a:prstDash val="solid"/>
          </a:ln>
        </p:spPr>
      </p:sp>
      <p:sp>
        <p:nvSpPr>
          <p:cNvPr id="147" name="Text 145"/>
          <p:cNvSpPr/>
          <p:nvPr/>
        </p:nvSpPr>
        <p:spPr>
          <a:xfrm>
            <a:off x="365760" y="2807208"/>
            <a:ext cx="1834717" cy="210312"/>
          </a:xfrm>
          <a:prstGeom prst="rect">
            <a:avLst/>
          </a:prstGeom>
          <a:noFill/>
          <a:ln/>
        </p:spPr>
        <p:txBody>
          <a:bodyPr wrap="square" lIns="0" tIns="0" rIns="0" bIns="0" rtlCol="0" anchor="ctr">
            <a:normAutofit/>
          </a:bodyPr>
          <a:lstStyle/>
          <a:p>
            <a:pPr rtl="1" algn="r" indent="0" marL="0">
              <a:buNone/>
            </a:pPr>
            <a:r>
              <a:rPr lang="ar-SA" altLang="en-US" sz="950" b="1" dirty="0">
                <a:solidFill>
                  <a:srgbClr val="3D3935"/>
                </a:solidFill>
                <a:latin typeface="Arial" pitchFamily="34" charset="0"/>
                <a:ea typeface="Arial" pitchFamily="34" charset="-122"/>
                <a:cs typeface="Arial" pitchFamily="34" charset="-120"/>
              </a:rPr>
              <a:t>أربعاء 21 أكتوبر 2026</a:t>
            </a:r>
            <a:endParaRPr lang="ar-SA" sz="950" dirty="0"/>
          </a:p>
        </p:txBody>
      </p:sp>
      <p:sp>
        <p:nvSpPr>
          <p:cNvPr id="148" name="Text 146"/>
          <p:cNvSpPr/>
          <p:nvPr/>
        </p:nvSpPr>
        <p:spPr>
          <a:xfrm>
            <a:off x="365760" y="3054096"/>
            <a:ext cx="1834717" cy="338328"/>
          </a:xfrm>
          <a:prstGeom prst="rect">
            <a:avLst/>
          </a:prstGeom>
          <a:noFill/>
          <a:ln/>
        </p:spPr>
        <p:txBody>
          <a:bodyPr wrap="square" lIns="0" tIns="0" rIns="0" bIns="0" rtlCol="0" anchor="t">
            <a:normAutofit/>
          </a:bodyPr>
          <a:lstStyle/>
          <a:p>
            <a:pPr algn="r" indent="0" marL="0">
              <a:spcAft>
                <a:spcPts val="100"/>
              </a:spcAft>
              <a:buNone/>
            </a:pPr>
            <a:r>
              <a:rPr lang="ar-SA" altLang="en-US" sz="650" b="1" dirty="0">
                <a:solidFill>
                  <a:srgbClr val="2E9E6B"/>
                </a:solidFill>
                <a:latin typeface="Arial" pitchFamily="34" charset="0"/>
                <a:ea typeface="Arial" pitchFamily="34" charset="-122"/>
                <a:cs typeface="Arial" pitchFamily="34" charset="-120"/>
              </a:rPr>
              <a:t>المرحلة 3 – إصدار تصريح العمل</a:t>
            </a:r>
            <a:endParaRPr lang="ar-SA" sz="650" dirty="0"/>
          </a:p>
          <a:p>
            <a:pPr algn="r" indent="0" marL="0">
              <a:spcAft>
                <a:spcPts val="100"/>
              </a:spcAft>
              <a:buNone/>
            </a:pPr>
            <a:r>
              <a:rPr lang="ar-SA" altLang="en-US" sz="900" b="1" dirty="0">
                <a:solidFill>
                  <a:srgbClr val="3D3935"/>
                </a:solidFill>
                <a:latin typeface="Arial" pitchFamily="34" charset="0"/>
                <a:ea typeface="Arial" pitchFamily="34" charset="-122"/>
                <a:cs typeface="Arial" pitchFamily="34" charset="-120"/>
              </a:rPr>
              <a:t>تصريح العمل جاهز للتوقيع</a:t>
            </a:r>
            <a:endParaRPr lang="ar-SA" sz="650" dirty="0"/>
          </a:p>
        </p:txBody>
      </p:sp>
      <p:sp>
        <p:nvSpPr>
          <p:cNvPr id="25" name="Slide Number Placeholder 0"/>
          <p:cNvSpPr>
            <a:spLocks noGrp="1"/>
          </p:cNvSpPr>
          <p:nvPr>
            <p:ph type="sldNum" sz="quarter" idx="4294967295"/>
          </p:nvPr>
        </p:nvSpPr>
        <p:spPr>
          <a:xfrm>
            <a:off x="320040" y="6519672"/>
            <a:ext cx="548640" cy="310896"/>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Arial"/>
                <a:ea typeface="Arial"/>
                <a:cs typeface="Arial"/>
              </a:defRPr>
            </a:lvl1pPr>
          </a:lstStyle>
          <a:p>
            <a:pPr algn="ct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691640" y="109728"/>
            <a:ext cx="10134295" cy="457200"/>
          </a:xfrm>
          <a:prstGeom prst="rect">
            <a:avLst/>
          </a:prstGeom>
          <a:noFill/>
          <a:ln/>
        </p:spPr>
        <p:txBody>
          <a:bodyPr wrap="square" lIns="0" tIns="0" rIns="0" bIns="0" rtlCol="0" anchor="ctr">
            <a:normAutofit/>
          </a:bodyPr>
          <a:lstStyle/>
          <a:p>
            <a:pPr rtl="1" algn="r" indent="0" marL="0">
              <a:buNone/>
            </a:pPr>
            <a:r>
              <a:rPr lang="ar-SA" altLang="en-US" sz="2400" b="1" dirty="0">
                <a:solidFill>
                  <a:srgbClr val="3D3935"/>
                </a:solidFill>
                <a:latin typeface="Arial" pitchFamily="34" charset="0"/>
                <a:ea typeface="Arial" pitchFamily="34" charset="-122"/>
                <a:cs typeface="Arial" pitchFamily="34" charset="-120"/>
              </a:rPr>
              <a:t>الأعمال المتبقية – برنامج أعمال الدعم والحفرة</a:t>
            </a:r>
            <a:endParaRPr lang="ar-SA" sz="2400" dirty="0"/>
          </a:p>
        </p:txBody>
      </p:sp>
      <p:sp>
        <p:nvSpPr>
          <p:cNvPr id="3" name="Text 1"/>
          <p:cNvSpPr/>
          <p:nvPr/>
        </p:nvSpPr>
        <p:spPr>
          <a:xfrm>
            <a:off x="1691640" y="548640"/>
            <a:ext cx="10134295" cy="256032"/>
          </a:xfrm>
          <a:prstGeom prst="rect">
            <a:avLst/>
          </a:prstGeom>
          <a:noFill/>
          <a:ln/>
        </p:spPr>
        <p:txBody>
          <a:bodyPr wrap="square" lIns="0" tIns="0" rIns="0" bIns="0" rtlCol="0" anchor="ctr">
            <a:normAutofit/>
          </a:bodyPr>
          <a:lstStyle/>
          <a:p>
            <a:pPr rtl="1" algn="r" indent="0" marL="0">
              <a:buNone/>
            </a:pPr>
            <a:r>
              <a:rPr lang="ar-SA" altLang="en-US" sz="1200" dirty="0">
                <a:solidFill>
                  <a:srgbClr val="66707A"/>
                </a:solidFill>
                <a:latin typeface="Arial" pitchFamily="34" charset="0"/>
                <a:ea typeface="Arial" pitchFamily="34" charset="-122"/>
                <a:cs typeface="Arial" pitchFamily="34" charset="-120"/>
              </a:rPr>
              <a:t>أعمال حفرة RYDN-WLB · مقترح شركة الخليج للتطوير للمقاولات · المراجعة 01 · 12 أكتوبر 2026</a:t>
            </a:r>
            <a:endParaRPr lang="ar-SA" sz="1200" dirty="0"/>
          </a:p>
        </p:txBody>
      </p:sp>
      <p:sp>
        <p:nvSpPr>
          <p:cNvPr id="4" name="Shape 2"/>
          <p:cNvSpPr/>
          <p:nvPr/>
        </p:nvSpPr>
        <p:spPr>
          <a:xfrm>
            <a:off x="11551615" y="1069848"/>
            <a:ext cx="274320" cy="109728"/>
          </a:xfrm>
          <a:prstGeom prst="roundRect">
            <a:avLst>
              <a:gd name="adj" fmla="val 25000"/>
            </a:avLst>
          </a:prstGeom>
          <a:solidFill>
            <a:srgbClr val="00778B"/>
          </a:solidFill>
          <a:ln w="19050">
            <a:solidFill>
              <a:srgbClr val="222222"/>
            </a:solidFill>
            <a:prstDash val="solid"/>
          </a:ln>
        </p:spPr>
      </p:sp>
      <p:sp>
        <p:nvSpPr>
          <p:cNvPr id="5" name="Text 3"/>
          <p:cNvSpPr/>
          <p:nvPr/>
        </p:nvSpPr>
        <p:spPr>
          <a:xfrm>
            <a:off x="10494569" y="1005840"/>
            <a:ext cx="1002182" cy="237744"/>
          </a:xfrm>
          <a:prstGeom prst="rect">
            <a:avLst/>
          </a:prstGeom>
          <a:noFill/>
          <a:ln/>
        </p:spPr>
        <p:txBody>
          <a:bodyPr wrap="square" lIns="0" tIns="0" rIns="0" bIns="0" rtlCol="0" anchor="ctr">
            <a:normAutofit/>
          </a:bodyPr>
          <a:lstStyle/>
          <a:p>
            <a:pPr rtl="1" algn="r" indent="0" marL="0">
              <a:buNone/>
            </a:pPr>
            <a:r>
              <a:rPr lang="ar-SA" altLang="en-US" sz="900" dirty="0">
                <a:solidFill>
                  <a:srgbClr val="333333"/>
                </a:solidFill>
                <a:latin typeface="Arial" pitchFamily="34" charset="0"/>
                <a:ea typeface="Arial" pitchFamily="34" charset="-122"/>
                <a:cs typeface="Arial" pitchFamily="34" charset="-120"/>
              </a:rPr>
              <a:t>المسار الحرج</a:t>
            </a:r>
            <a:endParaRPr lang="ar-SA" sz="900" dirty="0"/>
          </a:p>
        </p:txBody>
      </p:sp>
      <p:sp>
        <p:nvSpPr>
          <p:cNvPr id="6" name="Shape 4"/>
          <p:cNvSpPr/>
          <p:nvPr/>
        </p:nvSpPr>
        <p:spPr>
          <a:xfrm>
            <a:off x="10275113" y="1069848"/>
            <a:ext cx="274320" cy="109728"/>
          </a:xfrm>
          <a:prstGeom prst="roundRect">
            <a:avLst>
              <a:gd name="adj" fmla="val 25000"/>
            </a:avLst>
          </a:prstGeom>
          <a:solidFill>
            <a:srgbClr val="00778B"/>
          </a:solidFill>
          <a:ln w="12700">
            <a:solidFill>
              <a:srgbClr val="00778B"/>
            </a:solidFill>
            <a:prstDash val="solid"/>
          </a:ln>
        </p:spPr>
      </p:sp>
      <p:sp>
        <p:nvSpPr>
          <p:cNvPr id="7" name="Text 5"/>
          <p:cNvSpPr/>
          <p:nvPr/>
        </p:nvSpPr>
        <p:spPr>
          <a:xfrm>
            <a:off x="8422538" y="1005840"/>
            <a:ext cx="1797710" cy="237744"/>
          </a:xfrm>
          <a:prstGeom prst="rect">
            <a:avLst/>
          </a:prstGeom>
          <a:noFill/>
          <a:ln/>
        </p:spPr>
        <p:txBody>
          <a:bodyPr wrap="square" lIns="0" tIns="0" rIns="0" bIns="0" rtlCol="0" anchor="ctr">
            <a:normAutofit/>
          </a:bodyPr>
          <a:lstStyle/>
          <a:p>
            <a:pPr rtl="1" algn="r" indent="0" marL="0">
              <a:buNone/>
            </a:pPr>
            <a:r>
              <a:rPr lang="ar-SA" altLang="en-US" sz="900" dirty="0">
                <a:solidFill>
                  <a:srgbClr val="333333"/>
                </a:solidFill>
                <a:latin typeface="Arial" pitchFamily="34" charset="0"/>
                <a:ea typeface="Arial" pitchFamily="34" charset="-122"/>
                <a:cs typeface="Arial" pitchFamily="34" charset="-120"/>
              </a:rPr>
              <a:t>نشاط (اللون = مجموعة العمل)</a:t>
            </a:r>
            <a:endParaRPr lang="ar-SA" sz="900" dirty="0"/>
          </a:p>
        </p:txBody>
      </p:sp>
      <p:sp>
        <p:nvSpPr>
          <p:cNvPr id="8" name="Shape 6"/>
          <p:cNvSpPr/>
          <p:nvPr/>
        </p:nvSpPr>
        <p:spPr>
          <a:xfrm>
            <a:off x="8349386" y="1060704"/>
            <a:ext cx="128016" cy="128016"/>
          </a:xfrm>
          <a:prstGeom prst="diamond">
            <a:avLst/>
          </a:prstGeom>
          <a:solidFill>
            <a:srgbClr val="3D3935"/>
          </a:solidFill>
          <a:ln w="12700">
            <a:solidFill>
              <a:srgbClr val="3D3935"/>
            </a:solidFill>
            <a:prstDash val="solid"/>
          </a:ln>
        </p:spPr>
      </p:sp>
      <p:sp>
        <p:nvSpPr>
          <p:cNvPr id="9" name="Text 7"/>
          <p:cNvSpPr/>
          <p:nvPr/>
        </p:nvSpPr>
        <p:spPr>
          <a:xfrm>
            <a:off x="7358177" y="1005840"/>
            <a:ext cx="790042" cy="237744"/>
          </a:xfrm>
          <a:prstGeom prst="rect">
            <a:avLst/>
          </a:prstGeom>
          <a:noFill/>
          <a:ln/>
        </p:spPr>
        <p:txBody>
          <a:bodyPr wrap="square" lIns="0" tIns="0" rIns="0" bIns="0" rtlCol="0" anchor="ctr">
            <a:normAutofit/>
          </a:bodyPr>
          <a:lstStyle/>
          <a:p>
            <a:pPr rtl="1" algn="r" indent="0" marL="0">
              <a:buNone/>
            </a:pPr>
            <a:r>
              <a:rPr lang="ar-SA" altLang="en-US" sz="900" dirty="0">
                <a:solidFill>
                  <a:srgbClr val="333333"/>
                </a:solidFill>
                <a:latin typeface="Arial" pitchFamily="34" charset="0"/>
                <a:ea typeface="Arial" pitchFamily="34" charset="-122"/>
                <a:cs typeface="Arial" pitchFamily="34" charset="-120"/>
              </a:rPr>
              <a:t>ميل ستون</a:t>
            </a:r>
            <a:endParaRPr lang="ar-SA" sz="900" dirty="0"/>
          </a:p>
        </p:txBody>
      </p:sp>
      <p:sp>
        <p:nvSpPr>
          <p:cNvPr id="10" name="Shape 8"/>
          <p:cNvSpPr/>
          <p:nvPr/>
        </p:nvSpPr>
        <p:spPr>
          <a:xfrm>
            <a:off x="7230161" y="1060704"/>
            <a:ext cx="182880" cy="128016"/>
          </a:xfrm>
          <a:prstGeom prst="rect">
            <a:avLst/>
          </a:prstGeom>
          <a:solidFill>
            <a:srgbClr val="CFD8DC"/>
          </a:solidFill>
          <a:ln w="12700">
            <a:solidFill>
              <a:srgbClr val="CFD8DC"/>
            </a:solidFill>
            <a:prstDash val="solid"/>
          </a:ln>
        </p:spPr>
      </p:sp>
      <p:sp>
        <p:nvSpPr>
          <p:cNvPr id="11" name="Text 9"/>
          <p:cNvSpPr/>
          <p:nvPr/>
        </p:nvSpPr>
        <p:spPr>
          <a:xfrm>
            <a:off x="6134710" y="1005840"/>
            <a:ext cx="949147" cy="237744"/>
          </a:xfrm>
          <a:prstGeom prst="rect">
            <a:avLst/>
          </a:prstGeom>
          <a:noFill/>
          <a:ln/>
        </p:spPr>
        <p:txBody>
          <a:bodyPr wrap="square" lIns="0" tIns="0" rIns="0" bIns="0" rtlCol="0" anchor="ctr">
            <a:normAutofit/>
          </a:bodyPr>
          <a:lstStyle/>
          <a:p>
            <a:pPr rtl="1" algn="r" indent="0" marL="0">
              <a:buNone/>
            </a:pPr>
            <a:r>
              <a:rPr lang="ar-SA" altLang="en-US" sz="900" dirty="0">
                <a:solidFill>
                  <a:srgbClr val="333333"/>
                </a:solidFill>
                <a:latin typeface="Arial" pitchFamily="34" charset="0"/>
                <a:ea typeface="Arial" pitchFamily="34" charset="-122"/>
                <a:cs typeface="Arial" pitchFamily="34" charset="-120"/>
              </a:rPr>
              <a:t>يوم غير عمل</a:t>
            </a:r>
            <a:endParaRPr lang="ar-SA" sz="900" dirty="0"/>
          </a:p>
        </p:txBody>
      </p:sp>
      <p:sp>
        <p:nvSpPr>
          <p:cNvPr id="12" name="Shape 10"/>
          <p:cNvSpPr/>
          <p:nvPr/>
        </p:nvSpPr>
        <p:spPr>
          <a:xfrm>
            <a:off x="6143854" y="1042416"/>
            <a:ext cx="0" cy="164592"/>
          </a:xfrm>
          <a:prstGeom prst="line">
            <a:avLst/>
          </a:prstGeom>
          <a:noFill/>
          <a:ln w="22225">
            <a:solidFill>
              <a:srgbClr val="C8503F"/>
            </a:solidFill>
            <a:prstDash val="dash"/>
          </a:ln>
        </p:spPr>
      </p:sp>
      <p:sp>
        <p:nvSpPr>
          <p:cNvPr id="13" name="Text 11"/>
          <p:cNvSpPr/>
          <p:nvPr/>
        </p:nvSpPr>
        <p:spPr>
          <a:xfrm>
            <a:off x="4858207" y="1005840"/>
            <a:ext cx="1002182" cy="237744"/>
          </a:xfrm>
          <a:prstGeom prst="rect">
            <a:avLst/>
          </a:prstGeom>
          <a:noFill/>
          <a:ln/>
        </p:spPr>
        <p:txBody>
          <a:bodyPr wrap="square" lIns="0" tIns="0" rIns="0" bIns="0" rtlCol="0" anchor="ctr">
            <a:normAutofit/>
          </a:bodyPr>
          <a:lstStyle/>
          <a:p>
            <a:pPr rtl="1" algn="r" indent="0" marL="0">
              <a:buNone/>
            </a:pPr>
            <a:r>
              <a:rPr lang="ar-SA" altLang="en-US" sz="900" dirty="0">
                <a:solidFill>
                  <a:srgbClr val="333333"/>
                </a:solidFill>
                <a:latin typeface="Arial" pitchFamily="34" charset="0"/>
                <a:ea typeface="Arial" pitchFamily="34" charset="-122"/>
                <a:cs typeface="Arial" pitchFamily="34" charset="-120"/>
              </a:rPr>
              <a:t>تاريخ الموقف</a:t>
            </a:r>
            <a:endParaRPr lang="ar-SA" sz="900" dirty="0"/>
          </a:p>
        </p:txBody>
      </p:sp>
      <p:sp>
        <p:nvSpPr>
          <p:cNvPr id="14" name="Text 12"/>
          <p:cNvSpPr/>
          <p:nvPr/>
        </p:nvSpPr>
        <p:spPr>
          <a:xfrm>
            <a:off x="3274466" y="1005840"/>
            <a:ext cx="1638605" cy="237744"/>
          </a:xfrm>
          <a:prstGeom prst="rect">
            <a:avLst/>
          </a:prstGeom>
          <a:noFill/>
          <a:ln/>
        </p:spPr>
        <p:txBody>
          <a:bodyPr wrap="square" lIns="0" tIns="0" rIns="0" bIns="0" rtlCol="0" anchor="ctr">
            <a:normAutofit/>
          </a:bodyPr>
          <a:lstStyle/>
          <a:p>
            <a:pPr rtl="1" algn="r" indent="0" marL="0">
              <a:buNone/>
            </a:pPr>
            <a:r>
              <a:rPr lang="ar-SA" altLang="en-US" sz="900" dirty="0">
                <a:solidFill>
                  <a:srgbClr val="333333"/>
                </a:solidFill>
                <a:latin typeface="Arial" pitchFamily="34" charset="0"/>
                <a:ea typeface="Arial" pitchFamily="34" charset="-122"/>
                <a:cs typeface="Arial" pitchFamily="34" charset="-120"/>
              </a:rPr>
              <a:t>→ علاقة ارتباط (FS / SS)</a:t>
            </a:r>
            <a:endParaRPr lang="ar-SA" sz="900" dirty="0"/>
          </a:p>
        </p:txBody>
      </p:sp>
      <p:sp>
        <p:nvSpPr>
          <p:cNvPr id="15" name="Shape 13"/>
          <p:cNvSpPr/>
          <p:nvPr/>
        </p:nvSpPr>
        <p:spPr>
          <a:xfrm>
            <a:off x="6147511" y="1325880"/>
            <a:ext cx="5678424" cy="640080"/>
          </a:xfrm>
          <a:prstGeom prst="rect">
            <a:avLst/>
          </a:prstGeom>
          <a:solidFill>
            <a:srgbClr val="3D3935"/>
          </a:solidFill>
          <a:ln w="12700">
            <a:solidFill>
              <a:srgbClr val="3D3935"/>
            </a:solidFill>
            <a:prstDash val="solid"/>
          </a:ln>
        </p:spPr>
      </p:sp>
      <p:sp>
        <p:nvSpPr>
          <p:cNvPr id="16" name="Text 14"/>
          <p:cNvSpPr/>
          <p:nvPr/>
        </p:nvSpPr>
        <p:spPr>
          <a:xfrm>
            <a:off x="11441887" y="1325880"/>
            <a:ext cx="384048" cy="640080"/>
          </a:xfrm>
          <a:prstGeom prst="rect">
            <a:avLst/>
          </a:prstGeom>
          <a:noFill/>
          <a:ln/>
        </p:spPr>
        <p:txBody>
          <a:bodyPr wrap="square" lIns="0" tIns="0" rIns="0" bIns="0" rtlCol="0" anchor="ctr">
            <a:normAutofit/>
          </a:bodyPr>
          <a:lstStyle/>
          <a:p>
            <a:pPr rtl="1" algn="ctr" indent="0" marL="0">
              <a:buNone/>
            </a:pPr>
            <a:r>
              <a:rPr lang="ar-SA" altLang="en-US" sz="900" b="1" dirty="0">
                <a:solidFill>
                  <a:srgbClr val="FFFFFF"/>
                </a:solidFill>
                <a:latin typeface="Arial" pitchFamily="34" charset="0"/>
                <a:ea typeface="Arial" pitchFamily="34" charset="-122"/>
                <a:cs typeface="Arial" pitchFamily="34" charset="-120"/>
              </a:rPr>
              <a:t>م</a:t>
            </a:r>
            <a:endParaRPr lang="ar-SA" sz="900" dirty="0"/>
          </a:p>
        </p:txBody>
      </p:sp>
      <p:sp>
        <p:nvSpPr>
          <p:cNvPr id="17" name="Text 15"/>
          <p:cNvSpPr/>
          <p:nvPr/>
        </p:nvSpPr>
        <p:spPr>
          <a:xfrm>
            <a:off x="8762695" y="1325880"/>
            <a:ext cx="2606040" cy="640080"/>
          </a:xfrm>
          <a:prstGeom prst="rect">
            <a:avLst/>
          </a:prstGeom>
          <a:noFill/>
          <a:ln/>
        </p:spPr>
        <p:txBody>
          <a:bodyPr wrap="square" lIns="0" tIns="0" rIns="0" bIns="0" rtlCol="0" anchor="ctr">
            <a:normAutofit/>
          </a:bodyPr>
          <a:lstStyle/>
          <a:p>
            <a:pPr rtl="1" algn="r" indent="0" marL="0">
              <a:buNone/>
            </a:pPr>
            <a:r>
              <a:rPr lang="ar-SA" altLang="en-US" sz="900" b="1" dirty="0">
                <a:solidFill>
                  <a:srgbClr val="FFFFFF"/>
                </a:solidFill>
                <a:latin typeface="Arial" pitchFamily="34" charset="0"/>
                <a:ea typeface="Arial" pitchFamily="34" charset="-122"/>
                <a:cs typeface="Arial" pitchFamily="34" charset="-120"/>
              </a:rPr>
              <a:t>النشاط</a:t>
            </a:r>
            <a:endParaRPr lang="ar-SA" sz="900" dirty="0"/>
          </a:p>
        </p:txBody>
      </p:sp>
      <p:sp>
        <p:nvSpPr>
          <p:cNvPr id="18" name="Text 16"/>
          <p:cNvSpPr/>
          <p:nvPr/>
        </p:nvSpPr>
        <p:spPr>
          <a:xfrm>
            <a:off x="7967167" y="1325880"/>
            <a:ext cx="777240" cy="640080"/>
          </a:xfrm>
          <a:prstGeom prst="rect">
            <a:avLst/>
          </a:prstGeom>
          <a:noFill/>
          <a:ln/>
        </p:spPr>
        <p:txBody>
          <a:bodyPr wrap="square" lIns="0" tIns="0" rIns="0" bIns="0" rtlCol="0" anchor="ctr">
            <a:normAutofit/>
          </a:bodyPr>
          <a:lstStyle/>
          <a:p>
            <a:pPr rtl="1" algn="ctr" indent="0" marL="0">
              <a:buNone/>
            </a:pPr>
            <a:r>
              <a:rPr lang="ar-SA" altLang="en-US" sz="900" b="1" dirty="0">
                <a:solidFill>
                  <a:srgbClr val="FFFFFF"/>
                </a:solidFill>
                <a:latin typeface="Arial" pitchFamily="34" charset="0"/>
                <a:ea typeface="Arial" pitchFamily="34" charset="-122"/>
                <a:cs typeface="Arial" pitchFamily="34" charset="-120"/>
              </a:rPr>
              <a:t>السابق</a:t>
            </a:r>
            <a:endParaRPr lang="ar-SA" sz="900" dirty="0"/>
          </a:p>
        </p:txBody>
      </p:sp>
      <p:sp>
        <p:nvSpPr>
          <p:cNvPr id="19" name="Text 17"/>
          <p:cNvSpPr/>
          <p:nvPr/>
        </p:nvSpPr>
        <p:spPr>
          <a:xfrm>
            <a:off x="7464247" y="1325880"/>
            <a:ext cx="502920" cy="640080"/>
          </a:xfrm>
          <a:prstGeom prst="rect">
            <a:avLst/>
          </a:prstGeom>
          <a:noFill/>
          <a:ln/>
        </p:spPr>
        <p:txBody>
          <a:bodyPr wrap="square" lIns="0" tIns="0" rIns="0" bIns="0" rtlCol="0" anchor="ctr">
            <a:normAutofit/>
          </a:bodyPr>
          <a:lstStyle/>
          <a:p>
            <a:pPr rtl="1" algn="ctr" indent="0" marL="0">
              <a:buNone/>
            </a:pPr>
            <a:r>
              <a:rPr lang="ar-SA" altLang="en-US" sz="750" b="1" dirty="0">
                <a:solidFill>
                  <a:srgbClr val="FFFFFF"/>
                </a:solidFill>
                <a:latin typeface="Arial" pitchFamily="34" charset="0"/>
                <a:ea typeface="Arial" pitchFamily="34" charset="-122"/>
                <a:cs typeface="Arial" pitchFamily="34" charset="-120"/>
              </a:rPr>
              <a:t>المدة (أيام عمل)</a:t>
            </a:r>
            <a:endParaRPr lang="ar-SA" sz="750" dirty="0"/>
          </a:p>
        </p:txBody>
      </p:sp>
      <p:sp>
        <p:nvSpPr>
          <p:cNvPr id="20" name="Text 18"/>
          <p:cNvSpPr/>
          <p:nvPr/>
        </p:nvSpPr>
        <p:spPr>
          <a:xfrm>
            <a:off x="6805879" y="1325880"/>
            <a:ext cx="658368" cy="640080"/>
          </a:xfrm>
          <a:prstGeom prst="rect">
            <a:avLst/>
          </a:prstGeom>
          <a:noFill/>
          <a:ln/>
        </p:spPr>
        <p:txBody>
          <a:bodyPr wrap="square" lIns="0" tIns="0" rIns="0" bIns="0" rtlCol="0" anchor="ctr">
            <a:normAutofit/>
          </a:bodyPr>
          <a:lstStyle/>
          <a:p>
            <a:pPr rtl="1" algn="ctr" indent="0" marL="0">
              <a:buNone/>
            </a:pPr>
            <a:r>
              <a:rPr lang="ar-SA" altLang="en-US" sz="900" b="1" dirty="0">
                <a:solidFill>
                  <a:srgbClr val="FFFFFF"/>
                </a:solidFill>
                <a:latin typeface="Arial" pitchFamily="34" charset="0"/>
                <a:ea typeface="Arial" pitchFamily="34" charset="-122"/>
                <a:cs typeface="Arial" pitchFamily="34" charset="-120"/>
              </a:rPr>
              <a:t>البداية</a:t>
            </a:r>
            <a:endParaRPr lang="ar-SA" sz="900" dirty="0"/>
          </a:p>
        </p:txBody>
      </p:sp>
      <p:sp>
        <p:nvSpPr>
          <p:cNvPr id="21" name="Text 19"/>
          <p:cNvSpPr/>
          <p:nvPr/>
        </p:nvSpPr>
        <p:spPr>
          <a:xfrm>
            <a:off x="6147511" y="1325880"/>
            <a:ext cx="658368" cy="640080"/>
          </a:xfrm>
          <a:prstGeom prst="rect">
            <a:avLst/>
          </a:prstGeom>
          <a:noFill/>
          <a:ln/>
        </p:spPr>
        <p:txBody>
          <a:bodyPr wrap="square" lIns="0" tIns="0" rIns="0" bIns="0" rtlCol="0" anchor="ctr">
            <a:normAutofit/>
          </a:bodyPr>
          <a:lstStyle/>
          <a:p>
            <a:pPr rtl="1" algn="ctr" indent="0" marL="0">
              <a:buNone/>
            </a:pPr>
            <a:r>
              <a:rPr lang="ar-SA" altLang="en-US" sz="900" b="1" dirty="0">
                <a:solidFill>
                  <a:srgbClr val="FFFFFF"/>
                </a:solidFill>
                <a:latin typeface="Arial" pitchFamily="34" charset="0"/>
                <a:ea typeface="Arial" pitchFamily="34" charset="-122"/>
                <a:cs typeface="Arial" pitchFamily="34" charset="-120"/>
              </a:rPr>
              <a:t>النهاية</a:t>
            </a:r>
            <a:endParaRPr lang="ar-SA" sz="900" dirty="0"/>
          </a:p>
        </p:txBody>
      </p:sp>
      <p:sp>
        <p:nvSpPr>
          <p:cNvPr id="22" name="Shape 20"/>
          <p:cNvSpPr/>
          <p:nvPr/>
        </p:nvSpPr>
        <p:spPr>
          <a:xfrm>
            <a:off x="3497542" y="1325880"/>
            <a:ext cx="2649969" cy="182880"/>
          </a:xfrm>
          <a:prstGeom prst="rect">
            <a:avLst/>
          </a:prstGeom>
          <a:solidFill>
            <a:srgbClr val="DCE8EC"/>
          </a:solidFill>
          <a:ln w="12700">
            <a:solidFill>
              <a:srgbClr val="FFFFFF"/>
            </a:solidFill>
            <a:prstDash val="solid"/>
          </a:ln>
        </p:spPr>
      </p:sp>
      <p:sp>
        <p:nvSpPr>
          <p:cNvPr id="23" name="Text 21"/>
          <p:cNvSpPr/>
          <p:nvPr/>
        </p:nvSpPr>
        <p:spPr>
          <a:xfrm>
            <a:off x="3497542" y="1325880"/>
            <a:ext cx="2649969" cy="182880"/>
          </a:xfrm>
          <a:prstGeom prst="rect">
            <a:avLst/>
          </a:prstGeom>
          <a:noFill/>
          <a:ln/>
        </p:spPr>
        <p:txBody>
          <a:bodyPr wrap="square" lIns="0" tIns="0" rIns="0" bIns="0" rtlCol="0" anchor="ctr">
            <a:normAutofit/>
          </a:bodyPr>
          <a:lstStyle/>
          <a:p>
            <a:pPr rtl="1" algn="ctr" indent="0" marL="0">
              <a:buNone/>
            </a:pPr>
            <a:r>
              <a:rPr lang="ar-SA" altLang="en-US" sz="850" b="1" dirty="0">
                <a:solidFill>
                  <a:srgbClr val="3D3935"/>
                </a:solidFill>
                <a:latin typeface="Arial" pitchFamily="34" charset="0"/>
                <a:ea typeface="Arial" pitchFamily="34" charset="-122"/>
                <a:cs typeface="Arial" pitchFamily="34" charset="-120"/>
              </a:rPr>
              <a:t>أكتوبر 2026</a:t>
            </a:r>
            <a:endParaRPr lang="ar-SA" sz="850" dirty="0"/>
          </a:p>
        </p:txBody>
      </p:sp>
      <p:sp>
        <p:nvSpPr>
          <p:cNvPr id="24" name="Shape 22"/>
          <p:cNvSpPr/>
          <p:nvPr/>
        </p:nvSpPr>
        <p:spPr>
          <a:xfrm>
            <a:off x="365760" y="1325880"/>
            <a:ext cx="3131782" cy="182880"/>
          </a:xfrm>
          <a:prstGeom prst="rect">
            <a:avLst/>
          </a:prstGeom>
          <a:solidFill>
            <a:srgbClr val="DCE8EC"/>
          </a:solidFill>
          <a:ln w="12700">
            <a:solidFill>
              <a:srgbClr val="FFFFFF"/>
            </a:solidFill>
            <a:prstDash val="solid"/>
          </a:ln>
        </p:spPr>
      </p:sp>
      <p:sp>
        <p:nvSpPr>
          <p:cNvPr id="25" name="Text 23"/>
          <p:cNvSpPr/>
          <p:nvPr/>
        </p:nvSpPr>
        <p:spPr>
          <a:xfrm>
            <a:off x="365760" y="1325880"/>
            <a:ext cx="3131782" cy="182880"/>
          </a:xfrm>
          <a:prstGeom prst="rect">
            <a:avLst/>
          </a:prstGeom>
          <a:noFill/>
          <a:ln/>
        </p:spPr>
        <p:txBody>
          <a:bodyPr wrap="square" lIns="0" tIns="0" rIns="0" bIns="0" rtlCol="0" anchor="ctr">
            <a:normAutofit/>
          </a:bodyPr>
          <a:lstStyle/>
          <a:p>
            <a:pPr rtl="1" algn="ctr" indent="0" marL="0">
              <a:buNone/>
            </a:pPr>
            <a:r>
              <a:rPr lang="ar-SA" altLang="en-US" sz="850" b="1" dirty="0">
                <a:solidFill>
                  <a:srgbClr val="3D3935"/>
                </a:solidFill>
                <a:latin typeface="Arial" pitchFamily="34" charset="0"/>
                <a:ea typeface="Arial" pitchFamily="34" charset="-122"/>
                <a:cs typeface="Arial" pitchFamily="34" charset="-120"/>
              </a:rPr>
              <a:t>نوفمبر 2026</a:t>
            </a:r>
            <a:endParaRPr lang="ar-SA" sz="850" dirty="0"/>
          </a:p>
        </p:txBody>
      </p:sp>
      <p:sp>
        <p:nvSpPr>
          <p:cNvPr id="26" name="Shape 24"/>
          <p:cNvSpPr/>
          <p:nvPr/>
        </p:nvSpPr>
        <p:spPr>
          <a:xfrm>
            <a:off x="5304339" y="1508760"/>
            <a:ext cx="843172" cy="155448"/>
          </a:xfrm>
          <a:prstGeom prst="rect">
            <a:avLst/>
          </a:prstGeom>
          <a:solidFill>
            <a:srgbClr val="D5E6EA"/>
          </a:solidFill>
          <a:ln w="12700">
            <a:solidFill>
              <a:srgbClr val="FFFFFF"/>
            </a:solidFill>
            <a:prstDash val="solid"/>
          </a:ln>
        </p:spPr>
      </p:sp>
      <p:sp>
        <p:nvSpPr>
          <p:cNvPr id="27" name="Text 25"/>
          <p:cNvSpPr/>
          <p:nvPr/>
        </p:nvSpPr>
        <p:spPr>
          <a:xfrm>
            <a:off x="5304339" y="1508760"/>
            <a:ext cx="843172" cy="155448"/>
          </a:xfrm>
          <a:prstGeom prst="rect">
            <a:avLst/>
          </a:prstGeom>
          <a:noFill/>
          <a:ln/>
        </p:spPr>
        <p:txBody>
          <a:bodyPr wrap="square" lIns="0" tIns="0" rIns="0" bIns="0" rtlCol="0" anchor="ctr">
            <a:normAutofit/>
          </a:bodyPr>
          <a:lstStyle/>
          <a:p>
            <a:pPr rtl="1" algn="ctr" indent="0" marL="0">
              <a:buNone/>
            </a:pPr>
            <a:r>
              <a:rPr lang="ar-SA" altLang="en-US" sz="650" b="1" dirty="0">
                <a:solidFill>
                  <a:srgbClr val="34505A"/>
                </a:solidFill>
                <a:latin typeface="Arial" pitchFamily="34" charset="0"/>
                <a:ea typeface="Arial" pitchFamily="34" charset="-122"/>
                <a:cs typeface="Arial" pitchFamily="34" charset="-120"/>
              </a:rPr>
              <a:t>أسبوع 1</a:t>
            </a:r>
            <a:endParaRPr lang="ar-SA" sz="650" dirty="0"/>
          </a:p>
        </p:txBody>
      </p:sp>
      <p:sp>
        <p:nvSpPr>
          <p:cNvPr id="28" name="Shape 26"/>
          <p:cNvSpPr/>
          <p:nvPr/>
        </p:nvSpPr>
        <p:spPr>
          <a:xfrm>
            <a:off x="4461167" y="1508760"/>
            <a:ext cx="843172" cy="155448"/>
          </a:xfrm>
          <a:prstGeom prst="rect">
            <a:avLst/>
          </a:prstGeom>
          <a:solidFill>
            <a:srgbClr val="E4F0F3"/>
          </a:solidFill>
          <a:ln w="12700">
            <a:solidFill>
              <a:srgbClr val="FFFFFF"/>
            </a:solidFill>
            <a:prstDash val="solid"/>
          </a:ln>
        </p:spPr>
      </p:sp>
      <p:sp>
        <p:nvSpPr>
          <p:cNvPr id="29" name="Text 27"/>
          <p:cNvSpPr/>
          <p:nvPr/>
        </p:nvSpPr>
        <p:spPr>
          <a:xfrm>
            <a:off x="4461167" y="1508760"/>
            <a:ext cx="843172" cy="155448"/>
          </a:xfrm>
          <a:prstGeom prst="rect">
            <a:avLst/>
          </a:prstGeom>
          <a:noFill/>
          <a:ln/>
        </p:spPr>
        <p:txBody>
          <a:bodyPr wrap="square" lIns="0" tIns="0" rIns="0" bIns="0" rtlCol="0" anchor="ctr">
            <a:normAutofit/>
          </a:bodyPr>
          <a:lstStyle/>
          <a:p>
            <a:pPr rtl="1" algn="ctr" indent="0" marL="0">
              <a:buNone/>
            </a:pPr>
            <a:r>
              <a:rPr lang="ar-SA" altLang="en-US" sz="650" b="1" dirty="0">
                <a:solidFill>
                  <a:srgbClr val="34505A"/>
                </a:solidFill>
                <a:latin typeface="Arial" pitchFamily="34" charset="0"/>
                <a:ea typeface="Arial" pitchFamily="34" charset="-122"/>
                <a:cs typeface="Arial" pitchFamily="34" charset="-120"/>
              </a:rPr>
              <a:t>أسبوع 2</a:t>
            </a:r>
            <a:endParaRPr lang="ar-SA" sz="650" dirty="0"/>
          </a:p>
        </p:txBody>
      </p:sp>
      <p:sp>
        <p:nvSpPr>
          <p:cNvPr id="30" name="Shape 28"/>
          <p:cNvSpPr/>
          <p:nvPr/>
        </p:nvSpPr>
        <p:spPr>
          <a:xfrm>
            <a:off x="3617995" y="1508760"/>
            <a:ext cx="843172" cy="155448"/>
          </a:xfrm>
          <a:prstGeom prst="rect">
            <a:avLst/>
          </a:prstGeom>
          <a:solidFill>
            <a:srgbClr val="D5E6EA"/>
          </a:solidFill>
          <a:ln w="12700">
            <a:solidFill>
              <a:srgbClr val="FFFFFF"/>
            </a:solidFill>
            <a:prstDash val="solid"/>
          </a:ln>
        </p:spPr>
      </p:sp>
      <p:sp>
        <p:nvSpPr>
          <p:cNvPr id="31" name="Text 29"/>
          <p:cNvSpPr/>
          <p:nvPr/>
        </p:nvSpPr>
        <p:spPr>
          <a:xfrm>
            <a:off x="3617995" y="1508760"/>
            <a:ext cx="843172" cy="155448"/>
          </a:xfrm>
          <a:prstGeom prst="rect">
            <a:avLst/>
          </a:prstGeom>
          <a:noFill/>
          <a:ln/>
        </p:spPr>
        <p:txBody>
          <a:bodyPr wrap="square" lIns="0" tIns="0" rIns="0" bIns="0" rtlCol="0" anchor="ctr">
            <a:normAutofit/>
          </a:bodyPr>
          <a:lstStyle/>
          <a:p>
            <a:pPr rtl="1" algn="ctr" indent="0" marL="0">
              <a:buNone/>
            </a:pPr>
            <a:r>
              <a:rPr lang="ar-SA" altLang="en-US" sz="650" b="1" dirty="0">
                <a:solidFill>
                  <a:srgbClr val="34505A"/>
                </a:solidFill>
                <a:latin typeface="Arial" pitchFamily="34" charset="0"/>
                <a:ea typeface="Arial" pitchFamily="34" charset="-122"/>
                <a:cs typeface="Arial" pitchFamily="34" charset="-120"/>
              </a:rPr>
              <a:t>أسبوع 3</a:t>
            </a:r>
            <a:endParaRPr lang="ar-SA" sz="650" dirty="0"/>
          </a:p>
        </p:txBody>
      </p:sp>
      <p:sp>
        <p:nvSpPr>
          <p:cNvPr id="32" name="Shape 30"/>
          <p:cNvSpPr/>
          <p:nvPr/>
        </p:nvSpPr>
        <p:spPr>
          <a:xfrm>
            <a:off x="2774823" y="1508760"/>
            <a:ext cx="843172" cy="155448"/>
          </a:xfrm>
          <a:prstGeom prst="rect">
            <a:avLst/>
          </a:prstGeom>
          <a:solidFill>
            <a:srgbClr val="E4F0F3"/>
          </a:solidFill>
          <a:ln w="12700">
            <a:solidFill>
              <a:srgbClr val="FFFFFF"/>
            </a:solidFill>
            <a:prstDash val="solid"/>
          </a:ln>
        </p:spPr>
      </p:sp>
      <p:sp>
        <p:nvSpPr>
          <p:cNvPr id="33" name="Text 31"/>
          <p:cNvSpPr/>
          <p:nvPr/>
        </p:nvSpPr>
        <p:spPr>
          <a:xfrm>
            <a:off x="2774823" y="1508760"/>
            <a:ext cx="843172" cy="155448"/>
          </a:xfrm>
          <a:prstGeom prst="rect">
            <a:avLst/>
          </a:prstGeom>
          <a:noFill/>
          <a:ln/>
        </p:spPr>
        <p:txBody>
          <a:bodyPr wrap="square" lIns="0" tIns="0" rIns="0" bIns="0" rtlCol="0" anchor="ctr">
            <a:normAutofit/>
          </a:bodyPr>
          <a:lstStyle/>
          <a:p>
            <a:pPr rtl="1" algn="ctr" indent="0" marL="0">
              <a:buNone/>
            </a:pPr>
            <a:r>
              <a:rPr lang="ar-SA" altLang="en-US" sz="650" b="1" dirty="0">
                <a:solidFill>
                  <a:srgbClr val="34505A"/>
                </a:solidFill>
                <a:latin typeface="Arial" pitchFamily="34" charset="0"/>
                <a:ea typeface="Arial" pitchFamily="34" charset="-122"/>
                <a:cs typeface="Arial" pitchFamily="34" charset="-120"/>
              </a:rPr>
              <a:t>أسبوع 4</a:t>
            </a:r>
            <a:endParaRPr lang="ar-SA" sz="650" dirty="0"/>
          </a:p>
        </p:txBody>
      </p:sp>
      <p:sp>
        <p:nvSpPr>
          <p:cNvPr id="34" name="Shape 32"/>
          <p:cNvSpPr/>
          <p:nvPr/>
        </p:nvSpPr>
        <p:spPr>
          <a:xfrm>
            <a:off x="1931651" y="1508760"/>
            <a:ext cx="843172" cy="155448"/>
          </a:xfrm>
          <a:prstGeom prst="rect">
            <a:avLst/>
          </a:prstGeom>
          <a:solidFill>
            <a:srgbClr val="D5E6EA"/>
          </a:solidFill>
          <a:ln w="12700">
            <a:solidFill>
              <a:srgbClr val="FFFFFF"/>
            </a:solidFill>
            <a:prstDash val="solid"/>
          </a:ln>
        </p:spPr>
      </p:sp>
      <p:sp>
        <p:nvSpPr>
          <p:cNvPr id="35" name="Text 33"/>
          <p:cNvSpPr/>
          <p:nvPr/>
        </p:nvSpPr>
        <p:spPr>
          <a:xfrm>
            <a:off x="1931651" y="1508760"/>
            <a:ext cx="843172" cy="155448"/>
          </a:xfrm>
          <a:prstGeom prst="rect">
            <a:avLst/>
          </a:prstGeom>
          <a:noFill/>
          <a:ln/>
        </p:spPr>
        <p:txBody>
          <a:bodyPr wrap="square" lIns="0" tIns="0" rIns="0" bIns="0" rtlCol="0" anchor="ctr">
            <a:normAutofit/>
          </a:bodyPr>
          <a:lstStyle/>
          <a:p>
            <a:pPr rtl="1" algn="ctr" indent="0" marL="0">
              <a:buNone/>
            </a:pPr>
            <a:r>
              <a:rPr lang="ar-SA" altLang="en-US" sz="650" b="1" dirty="0">
                <a:solidFill>
                  <a:srgbClr val="34505A"/>
                </a:solidFill>
                <a:latin typeface="Arial" pitchFamily="34" charset="0"/>
                <a:ea typeface="Arial" pitchFamily="34" charset="-122"/>
                <a:cs typeface="Arial" pitchFamily="34" charset="-120"/>
              </a:rPr>
              <a:t>أسبوع 5</a:t>
            </a:r>
            <a:endParaRPr lang="ar-SA" sz="650" dirty="0"/>
          </a:p>
        </p:txBody>
      </p:sp>
      <p:sp>
        <p:nvSpPr>
          <p:cNvPr id="36" name="Shape 34"/>
          <p:cNvSpPr/>
          <p:nvPr/>
        </p:nvSpPr>
        <p:spPr>
          <a:xfrm>
            <a:off x="1088479" y="1508760"/>
            <a:ext cx="843172" cy="155448"/>
          </a:xfrm>
          <a:prstGeom prst="rect">
            <a:avLst/>
          </a:prstGeom>
          <a:solidFill>
            <a:srgbClr val="E4F0F3"/>
          </a:solidFill>
          <a:ln w="12700">
            <a:solidFill>
              <a:srgbClr val="FFFFFF"/>
            </a:solidFill>
            <a:prstDash val="solid"/>
          </a:ln>
        </p:spPr>
      </p:sp>
      <p:sp>
        <p:nvSpPr>
          <p:cNvPr id="37" name="Text 35"/>
          <p:cNvSpPr/>
          <p:nvPr/>
        </p:nvSpPr>
        <p:spPr>
          <a:xfrm>
            <a:off x="1088479" y="1508760"/>
            <a:ext cx="843172" cy="155448"/>
          </a:xfrm>
          <a:prstGeom prst="rect">
            <a:avLst/>
          </a:prstGeom>
          <a:noFill/>
          <a:ln/>
        </p:spPr>
        <p:txBody>
          <a:bodyPr wrap="square" lIns="0" tIns="0" rIns="0" bIns="0" rtlCol="0" anchor="ctr">
            <a:normAutofit/>
          </a:bodyPr>
          <a:lstStyle/>
          <a:p>
            <a:pPr rtl="1" algn="ctr" indent="0" marL="0">
              <a:buNone/>
            </a:pPr>
            <a:r>
              <a:rPr lang="ar-SA" altLang="en-US" sz="650" b="1" dirty="0">
                <a:solidFill>
                  <a:srgbClr val="34505A"/>
                </a:solidFill>
                <a:latin typeface="Arial" pitchFamily="34" charset="0"/>
                <a:ea typeface="Arial" pitchFamily="34" charset="-122"/>
                <a:cs typeface="Arial" pitchFamily="34" charset="-120"/>
              </a:rPr>
              <a:t>أسبوع 6</a:t>
            </a:r>
            <a:endParaRPr lang="ar-SA" sz="650" dirty="0"/>
          </a:p>
        </p:txBody>
      </p:sp>
      <p:sp>
        <p:nvSpPr>
          <p:cNvPr id="38" name="Shape 36"/>
          <p:cNvSpPr/>
          <p:nvPr/>
        </p:nvSpPr>
        <p:spPr>
          <a:xfrm>
            <a:off x="365760" y="1508760"/>
            <a:ext cx="722719" cy="155448"/>
          </a:xfrm>
          <a:prstGeom prst="rect">
            <a:avLst/>
          </a:prstGeom>
          <a:solidFill>
            <a:srgbClr val="D5E6EA"/>
          </a:solidFill>
          <a:ln w="12700">
            <a:solidFill>
              <a:srgbClr val="FFFFFF"/>
            </a:solidFill>
            <a:prstDash val="solid"/>
          </a:ln>
        </p:spPr>
      </p:sp>
      <p:sp>
        <p:nvSpPr>
          <p:cNvPr id="39" name="Text 37"/>
          <p:cNvSpPr/>
          <p:nvPr/>
        </p:nvSpPr>
        <p:spPr>
          <a:xfrm>
            <a:off x="365760" y="1508760"/>
            <a:ext cx="722719" cy="155448"/>
          </a:xfrm>
          <a:prstGeom prst="rect">
            <a:avLst/>
          </a:prstGeom>
          <a:noFill/>
          <a:ln/>
        </p:spPr>
        <p:txBody>
          <a:bodyPr wrap="square" lIns="0" tIns="0" rIns="0" bIns="0" rtlCol="0" anchor="ctr">
            <a:normAutofit/>
          </a:bodyPr>
          <a:lstStyle/>
          <a:p>
            <a:pPr rtl="1" algn="ctr" indent="0" marL="0">
              <a:buNone/>
            </a:pPr>
            <a:r>
              <a:rPr lang="ar-SA" altLang="en-US" sz="650" b="1" dirty="0">
                <a:solidFill>
                  <a:srgbClr val="34505A"/>
                </a:solidFill>
                <a:latin typeface="Arial" pitchFamily="34" charset="0"/>
                <a:ea typeface="Arial" pitchFamily="34" charset="-122"/>
                <a:cs typeface="Arial" pitchFamily="34" charset="-120"/>
              </a:rPr>
              <a:t>أسبوع 7</a:t>
            </a:r>
            <a:endParaRPr lang="ar-SA" sz="650" dirty="0"/>
          </a:p>
        </p:txBody>
      </p:sp>
      <p:sp>
        <p:nvSpPr>
          <p:cNvPr id="40" name="Shape 38"/>
          <p:cNvSpPr/>
          <p:nvPr/>
        </p:nvSpPr>
        <p:spPr>
          <a:xfrm>
            <a:off x="6027058" y="1664208"/>
            <a:ext cx="120453" cy="301752"/>
          </a:xfrm>
          <a:prstGeom prst="rect">
            <a:avLst/>
          </a:prstGeom>
          <a:solidFill>
            <a:srgbClr val="F4F7F8"/>
          </a:solidFill>
          <a:ln w="6350">
            <a:solidFill>
              <a:srgbClr val="FFFFFF"/>
            </a:solidFill>
            <a:prstDash val="solid"/>
          </a:ln>
        </p:spPr>
      </p:sp>
      <p:sp>
        <p:nvSpPr>
          <p:cNvPr id="41" name="Text 39"/>
          <p:cNvSpPr/>
          <p:nvPr/>
        </p:nvSpPr>
        <p:spPr>
          <a:xfrm>
            <a:off x="6027058"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س</a:t>
            </a:r>
            <a:endParaRPr lang="ar-SA" sz="500" dirty="0"/>
          </a:p>
        </p:txBody>
      </p:sp>
      <p:sp>
        <p:nvSpPr>
          <p:cNvPr id="42" name="Text 40"/>
          <p:cNvSpPr/>
          <p:nvPr/>
        </p:nvSpPr>
        <p:spPr>
          <a:xfrm>
            <a:off x="6027058"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10</a:t>
            </a:r>
            <a:endParaRPr lang="ar-SA" sz="550" dirty="0"/>
          </a:p>
        </p:txBody>
      </p:sp>
      <p:sp>
        <p:nvSpPr>
          <p:cNvPr id="43" name="Shape 41"/>
          <p:cNvSpPr/>
          <p:nvPr/>
        </p:nvSpPr>
        <p:spPr>
          <a:xfrm>
            <a:off x="6147511" y="1965960"/>
            <a:ext cx="0" cy="3502152"/>
          </a:xfrm>
          <a:prstGeom prst="line">
            <a:avLst/>
          </a:prstGeom>
          <a:noFill/>
          <a:ln w="6350">
            <a:solidFill>
              <a:srgbClr val="9DB2BB"/>
            </a:solidFill>
            <a:prstDash val="solid"/>
          </a:ln>
        </p:spPr>
      </p:sp>
      <p:sp>
        <p:nvSpPr>
          <p:cNvPr id="44" name="Shape 42"/>
          <p:cNvSpPr/>
          <p:nvPr/>
        </p:nvSpPr>
        <p:spPr>
          <a:xfrm>
            <a:off x="5906605" y="1664208"/>
            <a:ext cx="120453" cy="301752"/>
          </a:xfrm>
          <a:prstGeom prst="rect">
            <a:avLst/>
          </a:prstGeom>
          <a:solidFill>
            <a:srgbClr val="F4F7F8"/>
          </a:solidFill>
          <a:ln w="6350">
            <a:solidFill>
              <a:srgbClr val="FFFFFF"/>
            </a:solidFill>
            <a:prstDash val="solid"/>
          </a:ln>
        </p:spPr>
      </p:sp>
      <p:sp>
        <p:nvSpPr>
          <p:cNvPr id="45" name="Text 43"/>
          <p:cNvSpPr/>
          <p:nvPr/>
        </p:nvSpPr>
        <p:spPr>
          <a:xfrm>
            <a:off x="5906605"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ح</a:t>
            </a:r>
            <a:endParaRPr lang="ar-SA" sz="500" dirty="0"/>
          </a:p>
        </p:txBody>
      </p:sp>
      <p:sp>
        <p:nvSpPr>
          <p:cNvPr id="46" name="Text 44"/>
          <p:cNvSpPr/>
          <p:nvPr/>
        </p:nvSpPr>
        <p:spPr>
          <a:xfrm>
            <a:off x="5906605"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11</a:t>
            </a:r>
            <a:endParaRPr lang="ar-SA" sz="550" dirty="0"/>
          </a:p>
        </p:txBody>
      </p:sp>
      <p:sp>
        <p:nvSpPr>
          <p:cNvPr id="47" name="Shape 45"/>
          <p:cNvSpPr/>
          <p:nvPr/>
        </p:nvSpPr>
        <p:spPr>
          <a:xfrm>
            <a:off x="5786152" y="1664208"/>
            <a:ext cx="120453" cy="301752"/>
          </a:xfrm>
          <a:prstGeom prst="rect">
            <a:avLst/>
          </a:prstGeom>
          <a:solidFill>
            <a:srgbClr val="F4F7F8"/>
          </a:solidFill>
          <a:ln w="6350">
            <a:solidFill>
              <a:srgbClr val="FFFFFF"/>
            </a:solidFill>
            <a:prstDash val="solid"/>
          </a:ln>
        </p:spPr>
      </p:sp>
      <p:sp>
        <p:nvSpPr>
          <p:cNvPr id="48" name="Text 46"/>
          <p:cNvSpPr/>
          <p:nvPr/>
        </p:nvSpPr>
        <p:spPr>
          <a:xfrm>
            <a:off x="5786152"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ن</a:t>
            </a:r>
            <a:endParaRPr lang="ar-SA" sz="500" dirty="0"/>
          </a:p>
        </p:txBody>
      </p:sp>
      <p:sp>
        <p:nvSpPr>
          <p:cNvPr id="49" name="Text 47"/>
          <p:cNvSpPr/>
          <p:nvPr/>
        </p:nvSpPr>
        <p:spPr>
          <a:xfrm>
            <a:off x="5786152"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12</a:t>
            </a:r>
            <a:endParaRPr lang="ar-SA" sz="550" dirty="0"/>
          </a:p>
        </p:txBody>
      </p:sp>
      <p:sp>
        <p:nvSpPr>
          <p:cNvPr id="50" name="Shape 48"/>
          <p:cNvSpPr/>
          <p:nvPr/>
        </p:nvSpPr>
        <p:spPr>
          <a:xfrm>
            <a:off x="5665699" y="1664208"/>
            <a:ext cx="120453" cy="301752"/>
          </a:xfrm>
          <a:prstGeom prst="rect">
            <a:avLst/>
          </a:prstGeom>
          <a:solidFill>
            <a:srgbClr val="F4F7F8"/>
          </a:solidFill>
          <a:ln w="6350">
            <a:solidFill>
              <a:srgbClr val="FFFFFF"/>
            </a:solidFill>
            <a:prstDash val="solid"/>
          </a:ln>
        </p:spPr>
      </p:sp>
      <p:sp>
        <p:nvSpPr>
          <p:cNvPr id="51" name="Text 49"/>
          <p:cNvSpPr/>
          <p:nvPr/>
        </p:nvSpPr>
        <p:spPr>
          <a:xfrm>
            <a:off x="5665699"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ث</a:t>
            </a:r>
            <a:endParaRPr lang="ar-SA" sz="500" dirty="0"/>
          </a:p>
        </p:txBody>
      </p:sp>
      <p:sp>
        <p:nvSpPr>
          <p:cNvPr id="52" name="Text 50"/>
          <p:cNvSpPr/>
          <p:nvPr/>
        </p:nvSpPr>
        <p:spPr>
          <a:xfrm>
            <a:off x="5665699"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13</a:t>
            </a:r>
            <a:endParaRPr lang="ar-SA" sz="550" dirty="0"/>
          </a:p>
        </p:txBody>
      </p:sp>
      <p:sp>
        <p:nvSpPr>
          <p:cNvPr id="53" name="Shape 51"/>
          <p:cNvSpPr/>
          <p:nvPr/>
        </p:nvSpPr>
        <p:spPr>
          <a:xfrm>
            <a:off x="5545245" y="1664208"/>
            <a:ext cx="120453" cy="301752"/>
          </a:xfrm>
          <a:prstGeom prst="rect">
            <a:avLst/>
          </a:prstGeom>
          <a:solidFill>
            <a:srgbClr val="F4F7F8"/>
          </a:solidFill>
          <a:ln w="6350">
            <a:solidFill>
              <a:srgbClr val="FFFFFF"/>
            </a:solidFill>
            <a:prstDash val="solid"/>
          </a:ln>
        </p:spPr>
      </p:sp>
      <p:sp>
        <p:nvSpPr>
          <p:cNvPr id="54" name="Text 52"/>
          <p:cNvSpPr/>
          <p:nvPr/>
        </p:nvSpPr>
        <p:spPr>
          <a:xfrm>
            <a:off x="5545245"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ر</a:t>
            </a:r>
            <a:endParaRPr lang="ar-SA" sz="500" dirty="0"/>
          </a:p>
        </p:txBody>
      </p:sp>
      <p:sp>
        <p:nvSpPr>
          <p:cNvPr id="55" name="Text 53"/>
          <p:cNvSpPr/>
          <p:nvPr/>
        </p:nvSpPr>
        <p:spPr>
          <a:xfrm>
            <a:off x="5545245"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14</a:t>
            </a:r>
            <a:endParaRPr lang="ar-SA" sz="550" dirty="0"/>
          </a:p>
        </p:txBody>
      </p:sp>
      <p:sp>
        <p:nvSpPr>
          <p:cNvPr id="56" name="Shape 54"/>
          <p:cNvSpPr/>
          <p:nvPr/>
        </p:nvSpPr>
        <p:spPr>
          <a:xfrm>
            <a:off x="5424792" y="1664208"/>
            <a:ext cx="120453" cy="301752"/>
          </a:xfrm>
          <a:prstGeom prst="rect">
            <a:avLst/>
          </a:prstGeom>
          <a:solidFill>
            <a:srgbClr val="F4F7F8"/>
          </a:solidFill>
          <a:ln w="6350">
            <a:solidFill>
              <a:srgbClr val="FFFFFF"/>
            </a:solidFill>
            <a:prstDash val="solid"/>
          </a:ln>
        </p:spPr>
      </p:sp>
      <p:sp>
        <p:nvSpPr>
          <p:cNvPr id="57" name="Text 55"/>
          <p:cNvSpPr/>
          <p:nvPr/>
        </p:nvSpPr>
        <p:spPr>
          <a:xfrm>
            <a:off x="5424792"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خ</a:t>
            </a:r>
            <a:endParaRPr lang="ar-SA" sz="500" dirty="0"/>
          </a:p>
        </p:txBody>
      </p:sp>
      <p:sp>
        <p:nvSpPr>
          <p:cNvPr id="58" name="Text 56"/>
          <p:cNvSpPr/>
          <p:nvPr/>
        </p:nvSpPr>
        <p:spPr>
          <a:xfrm>
            <a:off x="5424792"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15</a:t>
            </a:r>
            <a:endParaRPr lang="ar-SA" sz="550" dirty="0"/>
          </a:p>
        </p:txBody>
      </p:sp>
      <p:sp>
        <p:nvSpPr>
          <p:cNvPr id="59" name="Shape 57"/>
          <p:cNvSpPr/>
          <p:nvPr/>
        </p:nvSpPr>
        <p:spPr>
          <a:xfrm>
            <a:off x="5304339" y="1664208"/>
            <a:ext cx="120453" cy="301752"/>
          </a:xfrm>
          <a:prstGeom prst="rect">
            <a:avLst/>
          </a:prstGeom>
          <a:solidFill>
            <a:srgbClr val="DBE3E6"/>
          </a:solidFill>
          <a:ln w="6350">
            <a:solidFill>
              <a:srgbClr val="FFFFFF"/>
            </a:solidFill>
            <a:prstDash val="solid"/>
          </a:ln>
        </p:spPr>
      </p:sp>
      <p:sp>
        <p:nvSpPr>
          <p:cNvPr id="60" name="Text 58"/>
          <p:cNvSpPr/>
          <p:nvPr/>
        </p:nvSpPr>
        <p:spPr>
          <a:xfrm>
            <a:off x="5304339"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8A959C"/>
                </a:solidFill>
                <a:latin typeface="Arial" pitchFamily="34" charset="0"/>
                <a:ea typeface="Arial" pitchFamily="34" charset="-122"/>
                <a:cs typeface="Arial" pitchFamily="34" charset="-120"/>
              </a:rPr>
              <a:t>ج</a:t>
            </a:r>
            <a:endParaRPr lang="ar-SA" sz="500" dirty="0"/>
          </a:p>
        </p:txBody>
      </p:sp>
      <p:sp>
        <p:nvSpPr>
          <p:cNvPr id="61" name="Text 59"/>
          <p:cNvSpPr/>
          <p:nvPr/>
        </p:nvSpPr>
        <p:spPr>
          <a:xfrm>
            <a:off x="5304339"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8A959C"/>
                </a:solidFill>
                <a:latin typeface="Arial" pitchFamily="34" charset="0"/>
                <a:ea typeface="Arial" pitchFamily="34" charset="-122"/>
                <a:cs typeface="Arial" pitchFamily="34" charset="-120"/>
              </a:rPr>
              <a:t>16</a:t>
            </a:r>
            <a:endParaRPr lang="ar-SA" sz="550" dirty="0"/>
          </a:p>
        </p:txBody>
      </p:sp>
      <p:sp>
        <p:nvSpPr>
          <p:cNvPr id="62" name="Shape 60"/>
          <p:cNvSpPr/>
          <p:nvPr/>
        </p:nvSpPr>
        <p:spPr>
          <a:xfrm>
            <a:off x="5304339" y="1965960"/>
            <a:ext cx="120453" cy="3502152"/>
          </a:xfrm>
          <a:prstGeom prst="rect">
            <a:avLst/>
          </a:prstGeom>
          <a:solidFill>
            <a:srgbClr val="000000">
              <a:alpha val="6000"/>
            </a:srgbClr>
          </a:solidFill>
          <a:ln w="12700">
            <a:solidFill>
              <a:srgbClr val="000000">
                <a:alpha val="0"/>
              </a:srgbClr>
            </a:solidFill>
            <a:prstDash val="solid"/>
          </a:ln>
        </p:spPr>
      </p:sp>
      <p:sp>
        <p:nvSpPr>
          <p:cNvPr id="63" name="Shape 61"/>
          <p:cNvSpPr/>
          <p:nvPr/>
        </p:nvSpPr>
        <p:spPr>
          <a:xfrm>
            <a:off x="5183886" y="1664208"/>
            <a:ext cx="120453" cy="301752"/>
          </a:xfrm>
          <a:prstGeom prst="rect">
            <a:avLst/>
          </a:prstGeom>
          <a:solidFill>
            <a:srgbClr val="F4F7F8"/>
          </a:solidFill>
          <a:ln w="6350">
            <a:solidFill>
              <a:srgbClr val="FFFFFF"/>
            </a:solidFill>
            <a:prstDash val="solid"/>
          </a:ln>
        </p:spPr>
      </p:sp>
      <p:sp>
        <p:nvSpPr>
          <p:cNvPr id="64" name="Text 62"/>
          <p:cNvSpPr/>
          <p:nvPr/>
        </p:nvSpPr>
        <p:spPr>
          <a:xfrm>
            <a:off x="5183886"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س</a:t>
            </a:r>
            <a:endParaRPr lang="ar-SA" sz="500" dirty="0"/>
          </a:p>
        </p:txBody>
      </p:sp>
      <p:sp>
        <p:nvSpPr>
          <p:cNvPr id="65" name="Text 63"/>
          <p:cNvSpPr/>
          <p:nvPr/>
        </p:nvSpPr>
        <p:spPr>
          <a:xfrm>
            <a:off x="5183886"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17</a:t>
            </a:r>
            <a:endParaRPr lang="ar-SA" sz="550" dirty="0"/>
          </a:p>
        </p:txBody>
      </p:sp>
      <p:sp>
        <p:nvSpPr>
          <p:cNvPr id="66" name="Shape 64"/>
          <p:cNvSpPr/>
          <p:nvPr/>
        </p:nvSpPr>
        <p:spPr>
          <a:xfrm>
            <a:off x="5304339" y="1965960"/>
            <a:ext cx="0" cy="3502152"/>
          </a:xfrm>
          <a:prstGeom prst="line">
            <a:avLst/>
          </a:prstGeom>
          <a:noFill/>
          <a:ln w="6350">
            <a:solidFill>
              <a:srgbClr val="9DB2BB"/>
            </a:solidFill>
            <a:prstDash val="solid"/>
          </a:ln>
        </p:spPr>
      </p:sp>
      <p:sp>
        <p:nvSpPr>
          <p:cNvPr id="67" name="Shape 65"/>
          <p:cNvSpPr/>
          <p:nvPr/>
        </p:nvSpPr>
        <p:spPr>
          <a:xfrm>
            <a:off x="5063433" y="1664208"/>
            <a:ext cx="120453" cy="301752"/>
          </a:xfrm>
          <a:prstGeom prst="rect">
            <a:avLst/>
          </a:prstGeom>
          <a:solidFill>
            <a:srgbClr val="F4F7F8"/>
          </a:solidFill>
          <a:ln w="6350">
            <a:solidFill>
              <a:srgbClr val="FFFFFF"/>
            </a:solidFill>
            <a:prstDash val="solid"/>
          </a:ln>
        </p:spPr>
      </p:sp>
      <p:sp>
        <p:nvSpPr>
          <p:cNvPr id="68" name="Text 66"/>
          <p:cNvSpPr/>
          <p:nvPr/>
        </p:nvSpPr>
        <p:spPr>
          <a:xfrm>
            <a:off x="5063433"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ح</a:t>
            </a:r>
            <a:endParaRPr lang="ar-SA" sz="500" dirty="0"/>
          </a:p>
        </p:txBody>
      </p:sp>
      <p:sp>
        <p:nvSpPr>
          <p:cNvPr id="69" name="Text 67"/>
          <p:cNvSpPr/>
          <p:nvPr/>
        </p:nvSpPr>
        <p:spPr>
          <a:xfrm>
            <a:off x="5063433"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18</a:t>
            </a:r>
            <a:endParaRPr lang="ar-SA" sz="550" dirty="0"/>
          </a:p>
        </p:txBody>
      </p:sp>
      <p:sp>
        <p:nvSpPr>
          <p:cNvPr id="70" name="Shape 68"/>
          <p:cNvSpPr/>
          <p:nvPr/>
        </p:nvSpPr>
        <p:spPr>
          <a:xfrm>
            <a:off x="4942980" y="1664208"/>
            <a:ext cx="120453" cy="301752"/>
          </a:xfrm>
          <a:prstGeom prst="rect">
            <a:avLst/>
          </a:prstGeom>
          <a:solidFill>
            <a:srgbClr val="F4F7F8"/>
          </a:solidFill>
          <a:ln w="6350">
            <a:solidFill>
              <a:srgbClr val="FFFFFF"/>
            </a:solidFill>
            <a:prstDash val="solid"/>
          </a:ln>
        </p:spPr>
      </p:sp>
      <p:sp>
        <p:nvSpPr>
          <p:cNvPr id="71" name="Text 69"/>
          <p:cNvSpPr/>
          <p:nvPr/>
        </p:nvSpPr>
        <p:spPr>
          <a:xfrm>
            <a:off x="4942980"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ن</a:t>
            </a:r>
            <a:endParaRPr lang="ar-SA" sz="500" dirty="0"/>
          </a:p>
        </p:txBody>
      </p:sp>
      <p:sp>
        <p:nvSpPr>
          <p:cNvPr id="72" name="Text 70"/>
          <p:cNvSpPr/>
          <p:nvPr/>
        </p:nvSpPr>
        <p:spPr>
          <a:xfrm>
            <a:off x="4942980"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19</a:t>
            </a:r>
            <a:endParaRPr lang="ar-SA" sz="550" dirty="0"/>
          </a:p>
        </p:txBody>
      </p:sp>
      <p:sp>
        <p:nvSpPr>
          <p:cNvPr id="73" name="Shape 71"/>
          <p:cNvSpPr/>
          <p:nvPr/>
        </p:nvSpPr>
        <p:spPr>
          <a:xfrm>
            <a:off x="4822527" y="1664208"/>
            <a:ext cx="120453" cy="301752"/>
          </a:xfrm>
          <a:prstGeom prst="rect">
            <a:avLst/>
          </a:prstGeom>
          <a:solidFill>
            <a:srgbClr val="F4F7F8"/>
          </a:solidFill>
          <a:ln w="6350">
            <a:solidFill>
              <a:srgbClr val="FFFFFF"/>
            </a:solidFill>
            <a:prstDash val="solid"/>
          </a:ln>
        </p:spPr>
      </p:sp>
      <p:sp>
        <p:nvSpPr>
          <p:cNvPr id="74" name="Text 72"/>
          <p:cNvSpPr/>
          <p:nvPr/>
        </p:nvSpPr>
        <p:spPr>
          <a:xfrm>
            <a:off x="4822527"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ث</a:t>
            </a:r>
            <a:endParaRPr lang="ar-SA" sz="500" dirty="0"/>
          </a:p>
        </p:txBody>
      </p:sp>
      <p:sp>
        <p:nvSpPr>
          <p:cNvPr id="75" name="Text 73"/>
          <p:cNvSpPr/>
          <p:nvPr/>
        </p:nvSpPr>
        <p:spPr>
          <a:xfrm>
            <a:off x="4822527"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20</a:t>
            </a:r>
            <a:endParaRPr lang="ar-SA" sz="550" dirty="0"/>
          </a:p>
        </p:txBody>
      </p:sp>
      <p:sp>
        <p:nvSpPr>
          <p:cNvPr id="76" name="Shape 74"/>
          <p:cNvSpPr/>
          <p:nvPr/>
        </p:nvSpPr>
        <p:spPr>
          <a:xfrm>
            <a:off x="4702073" y="1664208"/>
            <a:ext cx="120453" cy="301752"/>
          </a:xfrm>
          <a:prstGeom prst="rect">
            <a:avLst/>
          </a:prstGeom>
          <a:solidFill>
            <a:srgbClr val="F4F7F8"/>
          </a:solidFill>
          <a:ln w="6350">
            <a:solidFill>
              <a:srgbClr val="FFFFFF"/>
            </a:solidFill>
            <a:prstDash val="solid"/>
          </a:ln>
        </p:spPr>
      </p:sp>
      <p:sp>
        <p:nvSpPr>
          <p:cNvPr id="77" name="Text 75"/>
          <p:cNvSpPr/>
          <p:nvPr/>
        </p:nvSpPr>
        <p:spPr>
          <a:xfrm>
            <a:off x="4702073"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ر</a:t>
            </a:r>
            <a:endParaRPr lang="ar-SA" sz="500" dirty="0"/>
          </a:p>
        </p:txBody>
      </p:sp>
      <p:sp>
        <p:nvSpPr>
          <p:cNvPr id="78" name="Text 76"/>
          <p:cNvSpPr/>
          <p:nvPr/>
        </p:nvSpPr>
        <p:spPr>
          <a:xfrm>
            <a:off x="4702073"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21</a:t>
            </a:r>
            <a:endParaRPr lang="ar-SA" sz="550" dirty="0"/>
          </a:p>
        </p:txBody>
      </p:sp>
      <p:sp>
        <p:nvSpPr>
          <p:cNvPr id="79" name="Shape 77"/>
          <p:cNvSpPr/>
          <p:nvPr/>
        </p:nvSpPr>
        <p:spPr>
          <a:xfrm>
            <a:off x="4581620" y="1664208"/>
            <a:ext cx="120453" cy="301752"/>
          </a:xfrm>
          <a:prstGeom prst="rect">
            <a:avLst/>
          </a:prstGeom>
          <a:solidFill>
            <a:srgbClr val="F4F7F8"/>
          </a:solidFill>
          <a:ln w="6350">
            <a:solidFill>
              <a:srgbClr val="FFFFFF"/>
            </a:solidFill>
            <a:prstDash val="solid"/>
          </a:ln>
        </p:spPr>
      </p:sp>
      <p:sp>
        <p:nvSpPr>
          <p:cNvPr id="80" name="Text 78"/>
          <p:cNvSpPr/>
          <p:nvPr/>
        </p:nvSpPr>
        <p:spPr>
          <a:xfrm>
            <a:off x="4581620"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خ</a:t>
            </a:r>
            <a:endParaRPr lang="ar-SA" sz="500" dirty="0"/>
          </a:p>
        </p:txBody>
      </p:sp>
      <p:sp>
        <p:nvSpPr>
          <p:cNvPr id="81" name="Text 79"/>
          <p:cNvSpPr/>
          <p:nvPr/>
        </p:nvSpPr>
        <p:spPr>
          <a:xfrm>
            <a:off x="4581620"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22</a:t>
            </a:r>
            <a:endParaRPr lang="ar-SA" sz="550" dirty="0"/>
          </a:p>
        </p:txBody>
      </p:sp>
      <p:sp>
        <p:nvSpPr>
          <p:cNvPr id="82" name="Shape 80"/>
          <p:cNvSpPr/>
          <p:nvPr/>
        </p:nvSpPr>
        <p:spPr>
          <a:xfrm>
            <a:off x="4461167" y="1664208"/>
            <a:ext cx="120453" cy="301752"/>
          </a:xfrm>
          <a:prstGeom prst="rect">
            <a:avLst/>
          </a:prstGeom>
          <a:solidFill>
            <a:srgbClr val="DBE3E6"/>
          </a:solidFill>
          <a:ln w="6350">
            <a:solidFill>
              <a:srgbClr val="FFFFFF"/>
            </a:solidFill>
            <a:prstDash val="solid"/>
          </a:ln>
        </p:spPr>
      </p:sp>
      <p:sp>
        <p:nvSpPr>
          <p:cNvPr id="83" name="Text 81"/>
          <p:cNvSpPr/>
          <p:nvPr/>
        </p:nvSpPr>
        <p:spPr>
          <a:xfrm>
            <a:off x="4461167"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8A959C"/>
                </a:solidFill>
                <a:latin typeface="Arial" pitchFamily="34" charset="0"/>
                <a:ea typeface="Arial" pitchFamily="34" charset="-122"/>
                <a:cs typeface="Arial" pitchFamily="34" charset="-120"/>
              </a:rPr>
              <a:t>ج</a:t>
            </a:r>
            <a:endParaRPr lang="ar-SA" sz="500" dirty="0"/>
          </a:p>
        </p:txBody>
      </p:sp>
      <p:sp>
        <p:nvSpPr>
          <p:cNvPr id="84" name="Text 82"/>
          <p:cNvSpPr/>
          <p:nvPr/>
        </p:nvSpPr>
        <p:spPr>
          <a:xfrm>
            <a:off x="4461167"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8A959C"/>
                </a:solidFill>
                <a:latin typeface="Arial" pitchFamily="34" charset="0"/>
                <a:ea typeface="Arial" pitchFamily="34" charset="-122"/>
                <a:cs typeface="Arial" pitchFamily="34" charset="-120"/>
              </a:rPr>
              <a:t>23</a:t>
            </a:r>
            <a:endParaRPr lang="ar-SA" sz="550" dirty="0"/>
          </a:p>
        </p:txBody>
      </p:sp>
      <p:sp>
        <p:nvSpPr>
          <p:cNvPr id="85" name="Shape 83"/>
          <p:cNvSpPr/>
          <p:nvPr/>
        </p:nvSpPr>
        <p:spPr>
          <a:xfrm>
            <a:off x="4461167" y="1965960"/>
            <a:ext cx="120453" cy="3502152"/>
          </a:xfrm>
          <a:prstGeom prst="rect">
            <a:avLst/>
          </a:prstGeom>
          <a:solidFill>
            <a:srgbClr val="000000">
              <a:alpha val="6000"/>
            </a:srgbClr>
          </a:solidFill>
          <a:ln w="12700">
            <a:solidFill>
              <a:srgbClr val="000000">
                <a:alpha val="0"/>
              </a:srgbClr>
            </a:solidFill>
            <a:prstDash val="solid"/>
          </a:ln>
        </p:spPr>
      </p:sp>
      <p:sp>
        <p:nvSpPr>
          <p:cNvPr id="86" name="Shape 84"/>
          <p:cNvSpPr/>
          <p:nvPr/>
        </p:nvSpPr>
        <p:spPr>
          <a:xfrm>
            <a:off x="4340714" y="1664208"/>
            <a:ext cx="120453" cy="301752"/>
          </a:xfrm>
          <a:prstGeom prst="rect">
            <a:avLst/>
          </a:prstGeom>
          <a:solidFill>
            <a:srgbClr val="F4F7F8"/>
          </a:solidFill>
          <a:ln w="6350">
            <a:solidFill>
              <a:srgbClr val="FFFFFF"/>
            </a:solidFill>
            <a:prstDash val="solid"/>
          </a:ln>
        </p:spPr>
      </p:sp>
      <p:sp>
        <p:nvSpPr>
          <p:cNvPr id="87" name="Text 85"/>
          <p:cNvSpPr/>
          <p:nvPr/>
        </p:nvSpPr>
        <p:spPr>
          <a:xfrm>
            <a:off x="4340714"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س</a:t>
            </a:r>
            <a:endParaRPr lang="ar-SA" sz="500" dirty="0"/>
          </a:p>
        </p:txBody>
      </p:sp>
      <p:sp>
        <p:nvSpPr>
          <p:cNvPr id="88" name="Text 86"/>
          <p:cNvSpPr/>
          <p:nvPr/>
        </p:nvSpPr>
        <p:spPr>
          <a:xfrm>
            <a:off x="4340714"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24</a:t>
            </a:r>
            <a:endParaRPr lang="ar-SA" sz="550" dirty="0"/>
          </a:p>
        </p:txBody>
      </p:sp>
      <p:sp>
        <p:nvSpPr>
          <p:cNvPr id="89" name="Shape 87"/>
          <p:cNvSpPr/>
          <p:nvPr/>
        </p:nvSpPr>
        <p:spPr>
          <a:xfrm>
            <a:off x="4461167" y="1965960"/>
            <a:ext cx="0" cy="3502152"/>
          </a:xfrm>
          <a:prstGeom prst="line">
            <a:avLst/>
          </a:prstGeom>
          <a:noFill/>
          <a:ln w="6350">
            <a:solidFill>
              <a:srgbClr val="9DB2BB"/>
            </a:solidFill>
            <a:prstDash val="solid"/>
          </a:ln>
        </p:spPr>
      </p:sp>
      <p:sp>
        <p:nvSpPr>
          <p:cNvPr id="90" name="Shape 88"/>
          <p:cNvSpPr/>
          <p:nvPr/>
        </p:nvSpPr>
        <p:spPr>
          <a:xfrm>
            <a:off x="4220261" y="1664208"/>
            <a:ext cx="120453" cy="301752"/>
          </a:xfrm>
          <a:prstGeom prst="rect">
            <a:avLst/>
          </a:prstGeom>
          <a:solidFill>
            <a:srgbClr val="F4F7F8"/>
          </a:solidFill>
          <a:ln w="6350">
            <a:solidFill>
              <a:srgbClr val="FFFFFF"/>
            </a:solidFill>
            <a:prstDash val="solid"/>
          </a:ln>
        </p:spPr>
      </p:sp>
      <p:sp>
        <p:nvSpPr>
          <p:cNvPr id="91" name="Text 89"/>
          <p:cNvSpPr/>
          <p:nvPr/>
        </p:nvSpPr>
        <p:spPr>
          <a:xfrm>
            <a:off x="4220261"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ح</a:t>
            </a:r>
            <a:endParaRPr lang="ar-SA" sz="500" dirty="0"/>
          </a:p>
        </p:txBody>
      </p:sp>
      <p:sp>
        <p:nvSpPr>
          <p:cNvPr id="92" name="Text 90"/>
          <p:cNvSpPr/>
          <p:nvPr/>
        </p:nvSpPr>
        <p:spPr>
          <a:xfrm>
            <a:off x="4220261"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25</a:t>
            </a:r>
            <a:endParaRPr lang="ar-SA" sz="550" dirty="0"/>
          </a:p>
        </p:txBody>
      </p:sp>
      <p:sp>
        <p:nvSpPr>
          <p:cNvPr id="93" name="Shape 91"/>
          <p:cNvSpPr/>
          <p:nvPr/>
        </p:nvSpPr>
        <p:spPr>
          <a:xfrm>
            <a:off x="4099808" y="1664208"/>
            <a:ext cx="120453" cy="301752"/>
          </a:xfrm>
          <a:prstGeom prst="rect">
            <a:avLst/>
          </a:prstGeom>
          <a:solidFill>
            <a:srgbClr val="F4F7F8"/>
          </a:solidFill>
          <a:ln w="6350">
            <a:solidFill>
              <a:srgbClr val="FFFFFF"/>
            </a:solidFill>
            <a:prstDash val="solid"/>
          </a:ln>
        </p:spPr>
      </p:sp>
      <p:sp>
        <p:nvSpPr>
          <p:cNvPr id="94" name="Text 92"/>
          <p:cNvSpPr/>
          <p:nvPr/>
        </p:nvSpPr>
        <p:spPr>
          <a:xfrm>
            <a:off x="4099808"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ن</a:t>
            </a:r>
            <a:endParaRPr lang="ar-SA" sz="500" dirty="0"/>
          </a:p>
        </p:txBody>
      </p:sp>
      <p:sp>
        <p:nvSpPr>
          <p:cNvPr id="95" name="Text 93"/>
          <p:cNvSpPr/>
          <p:nvPr/>
        </p:nvSpPr>
        <p:spPr>
          <a:xfrm>
            <a:off x="4099808"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26</a:t>
            </a:r>
            <a:endParaRPr lang="ar-SA" sz="550" dirty="0"/>
          </a:p>
        </p:txBody>
      </p:sp>
      <p:sp>
        <p:nvSpPr>
          <p:cNvPr id="96" name="Shape 94"/>
          <p:cNvSpPr/>
          <p:nvPr/>
        </p:nvSpPr>
        <p:spPr>
          <a:xfrm>
            <a:off x="3979355" y="1664208"/>
            <a:ext cx="120453" cy="301752"/>
          </a:xfrm>
          <a:prstGeom prst="rect">
            <a:avLst/>
          </a:prstGeom>
          <a:solidFill>
            <a:srgbClr val="F4F7F8"/>
          </a:solidFill>
          <a:ln w="6350">
            <a:solidFill>
              <a:srgbClr val="FFFFFF"/>
            </a:solidFill>
            <a:prstDash val="solid"/>
          </a:ln>
        </p:spPr>
      </p:sp>
      <p:sp>
        <p:nvSpPr>
          <p:cNvPr id="97" name="Text 95"/>
          <p:cNvSpPr/>
          <p:nvPr/>
        </p:nvSpPr>
        <p:spPr>
          <a:xfrm>
            <a:off x="3979355"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ث</a:t>
            </a:r>
            <a:endParaRPr lang="ar-SA" sz="500" dirty="0"/>
          </a:p>
        </p:txBody>
      </p:sp>
      <p:sp>
        <p:nvSpPr>
          <p:cNvPr id="98" name="Text 96"/>
          <p:cNvSpPr/>
          <p:nvPr/>
        </p:nvSpPr>
        <p:spPr>
          <a:xfrm>
            <a:off x="3979355"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27</a:t>
            </a:r>
            <a:endParaRPr lang="ar-SA" sz="550" dirty="0"/>
          </a:p>
        </p:txBody>
      </p:sp>
      <p:sp>
        <p:nvSpPr>
          <p:cNvPr id="99" name="Shape 97"/>
          <p:cNvSpPr/>
          <p:nvPr/>
        </p:nvSpPr>
        <p:spPr>
          <a:xfrm>
            <a:off x="3858901" y="1664208"/>
            <a:ext cx="120453" cy="301752"/>
          </a:xfrm>
          <a:prstGeom prst="rect">
            <a:avLst/>
          </a:prstGeom>
          <a:solidFill>
            <a:srgbClr val="F4F7F8"/>
          </a:solidFill>
          <a:ln w="6350">
            <a:solidFill>
              <a:srgbClr val="FFFFFF"/>
            </a:solidFill>
            <a:prstDash val="solid"/>
          </a:ln>
        </p:spPr>
      </p:sp>
      <p:sp>
        <p:nvSpPr>
          <p:cNvPr id="100" name="Text 98"/>
          <p:cNvSpPr/>
          <p:nvPr/>
        </p:nvSpPr>
        <p:spPr>
          <a:xfrm>
            <a:off x="3858901"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ر</a:t>
            </a:r>
            <a:endParaRPr lang="ar-SA" sz="500" dirty="0"/>
          </a:p>
        </p:txBody>
      </p:sp>
      <p:sp>
        <p:nvSpPr>
          <p:cNvPr id="101" name="Text 99"/>
          <p:cNvSpPr/>
          <p:nvPr/>
        </p:nvSpPr>
        <p:spPr>
          <a:xfrm>
            <a:off x="3858901"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28</a:t>
            </a:r>
            <a:endParaRPr lang="ar-SA" sz="550" dirty="0"/>
          </a:p>
        </p:txBody>
      </p:sp>
      <p:sp>
        <p:nvSpPr>
          <p:cNvPr id="102" name="Shape 100"/>
          <p:cNvSpPr/>
          <p:nvPr/>
        </p:nvSpPr>
        <p:spPr>
          <a:xfrm>
            <a:off x="3738448" y="1664208"/>
            <a:ext cx="120453" cy="301752"/>
          </a:xfrm>
          <a:prstGeom prst="rect">
            <a:avLst/>
          </a:prstGeom>
          <a:solidFill>
            <a:srgbClr val="F4F7F8"/>
          </a:solidFill>
          <a:ln w="6350">
            <a:solidFill>
              <a:srgbClr val="FFFFFF"/>
            </a:solidFill>
            <a:prstDash val="solid"/>
          </a:ln>
        </p:spPr>
      </p:sp>
      <p:sp>
        <p:nvSpPr>
          <p:cNvPr id="103" name="Text 101"/>
          <p:cNvSpPr/>
          <p:nvPr/>
        </p:nvSpPr>
        <p:spPr>
          <a:xfrm>
            <a:off x="3738448"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خ</a:t>
            </a:r>
            <a:endParaRPr lang="ar-SA" sz="500" dirty="0"/>
          </a:p>
        </p:txBody>
      </p:sp>
      <p:sp>
        <p:nvSpPr>
          <p:cNvPr id="104" name="Text 102"/>
          <p:cNvSpPr/>
          <p:nvPr/>
        </p:nvSpPr>
        <p:spPr>
          <a:xfrm>
            <a:off x="3738448"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29</a:t>
            </a:r>
            <a:endParaRPr lang="ar-SA" sz="550" dirty="0"/>
          </a:p>
        </p:txBody>
      </p:sp>
      <p:sp>
        <p:nvSpPr>
          <p:cNvPr id="105" name="Shape 103"/>
          <p:cNvSpPr/>
          <p:nvPr/>
        </p:nvSpPr>
        <p:spPr>
          <a:xfrm>
            <a:off x="3617995" y="1664208"/>
            <a:ext cx="120453" cy="301752"/>
          </a:xfrm>
          <a:prstGeom prst="rect">
            <a:avLst/>
          </a:prstGeom>
          <a:solidFill>
            <a:srgbClr val="DBE3E6"/>
          </a:solidFill>
          <a:ln w="6350">
            <a:solidFill>
              <a:srgbClr val="FFFFFF"/>
            </a:solidFill>
            <a:prstDash val="solid"/>
          </a:ln>
        </p:spPr>
      </p:sp>
      <p:sp>
        <p:nvSpPr>
          <p:cNvPr id="106" name="Text 104"/>
          <p:cNvSpPr/>
          <p:nvPr/>
        </p:nvSpPr>
        <p:spPr>
          <a:xfrm>
            <a:off x="3617995"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8A959C"/>
                </a:solidFill>
                <a:latin typeface="Arial" pitchFamily="34" charset="0"/>
                <a:ea typeface="Arial" pitchFamily="34" charset="-122"/>
                <a:cs typeface="Arial" pitchFamily="34" charset="-120"/>
              </a:rPr>
              <a:t>ج</a:t>
            </a:r>
            <a:endParaRPr lang="ar-SA" sz="500" dirty="0"/>
          </a:p>
        </p:txBody>
      </p:sp>
      <p:sp>
        <p:nvSpPr>
          <p:cNvPr id="107" name="Text 105"/>
          <p:cNvSpPr/>
          <p:nvPr/>
        </p:nvSpPr>
        <p:spPr>
          <a:xfrm>
            <a:off x="3617995"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8A959C"/>
                </a:solidFill>
                <a:latin typeface="Arial" pitchFamily="34" charset="0"/>
                <a:ea typeface="Arial" pitchFamily="34" charset="-122"/>
                <a:cs typeface="Arial" pitchFamily="34" charset="-120"/>
              </a:rPr>
              <a:t>30</a:t>
            </a:r>
            <a:endParaRPr lang="ar-SA" sz="550" dirty="0"/>
          </a:p>
        </p:txBody>
      </p:sp>
      <p:sp>
        <p:nvSpPr>
          <p:cNvPr id="108" name="Shape 106"/>
          <p:cNvSpPr/>
          <p:nvPr/>
        </p:nvSpPr>
        <p:spPr>
          <a:xfrm>
            <a:off x="3617995" y="1965960"/>
            <a:ext cx="120453" cy="3502152"/>
          </a:xfrm>
          <a:prstGeom prst="rect">
            <a:avLst/>
          </a:prstGeom>
          <a:solidFill>
            <a:srgbClr val="000000">
              <a:alpha val="6000"/>
            </a:srgbClr>
          </a:solidFill>
          <a:ln w="12700">
            <a:solidFill>
              <a:srgbClr val="000000">
                <a:alpha val="0"/>
              </a:srgbClr>
            </a:solidFill>
            <a:prstDash val="solid"/>
          </a:ln>
        </p:spPr>
      </p:sp>
      <p:sp>
        <p:nvSpPr>
          <p:cNvPr id="109" name="Shape 107"/>
          <p:cNvSpPr/>
          <p:nvPr/>
        </p:nvSpPr>
        <p:spPr>
          <a:xfrm>
            <a:off x="3497542" y="1664208"/>
            <a:ext cx="120453" cy="301752"/>
          </a:xfrm>
          <a:prstGeom prst="rect">
            <a:avLst/>
          </a:prstGeom>
          <a:solidFill>
            <a:srgbClr val="F4F7F8"/>
          </a:solidFill>
          <a:ln w="6350">
            <a:solidFill>
              <a:srgbClr val="FFFFFF"/>
            </a:solidFill>
            <a:prstDash val="solid"/>
          </a:ln>
        </p:spPr>
      </p:sp>
      <p:sp>
        <p:nvSpPr>
          <p:cNvPr id="110" name="Text 108"/>
          <p:cNvSpPr/>
          <p:nvPr/>
        </p:nvSpPr>
        <p:spPr>
          <a:xfrm>
            <a:off x="3497542"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س</a:t>
            </a:r>
            <a:endParaRPr lang="ar-SA" sz="500" dirty="0"/>
          </a:p>
        </p:txBody>
      </p:sp>
      <p:sp>
        <p:nvSpPr>
          <p:cNvPr id="111" name="Text 109"/>
          <p:cNvSpPr/>
          <p:nvPr/>
        </p:nvSpPr>
        <p:spPr>
          <a:xfrm>
            <a:off x="3497542"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31</a:t>
            </a:r>
            <a:endParaRPr lang="ar-SA" sz="550" dirty="0"/>
          </a:p>
        </p:txBody>
      </p:sp>
      <p:sp>
        <p:nvSpPr>
          <p:cNvPr id="112" name="Shape 110"/>
          <p:cNvSpPr/>
          <p:nvPr/>
        </p:nvSpPr>
        <p:spPr>
          <a:xfrm>
            <a:off x="3617995" y="1965960"/>
            <a:ext cx="0" cy="3502152"/>
          </a:xfrm>
          <a:prstGeom prst="line">
            <a:avLst/>
          </a:prstGeom>
          <a:noFill/>
          <a:ln w="6350">
            <a:solidFill>
              <a:srgbClr val="9DB2BB"/>
            </a:solidFill>
            <a:prstDash val="solid"/>
          </a:ln>
        </p:spPr>
      </p:sp>
      <p:sp>
        <p:nvSpPr>
          <p:cNvPr id="113" name="Shape 111"/>
          <p:cNvSpPr/>
          <p:nvPr/>
        </p:nvSpPr>
        <p:spPr>
          <a:xfrm>
            <a:off x="3377089" y="1664208"/>
            <a:ext cx="120453" cy="301752"/>
          </a:xfrm>
          <a:prstGeom prst="rect">
            <a:avLst/>
          </a:prstGeom>
          <a:solidFill>
            <a:srgbClr val="F4F7F8"/>
          </a:solidFill>
          <a:ln w="6350">
            <a:solidFill>
              <a:srgbClr val="FFFFFF"/>
            </a:solidFill>
            <a:prstDash val="solid"/>
          </a:ln>
        </p:spPr>
      </p:sp>
      <p:sp>
        <p:nvSpPr>
          <p:cNvPr id="114" name="Text 112"/>
          <p:cNvSpPr/>
          <p:nvPr/>
        </p:nvSpPr>
        <p:spPr>
          <a:xfrm>
            <a:off x="3377089"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ح</a:t>
            </a:r>
            <a:endParaRPr lang="ar-SA" sz="500" dirty="0"/>
          </a:p>
        </p:txBody>
      </p:sp>
      <p:sp>
        <p:nvSpPr>
          <p:cNvPr id="115" name="Text 113"/>
          <p:cNvSpPr/>
          <p:nvPr/>
        </p:nvSpPr>
        <p:spPr>
          <a:xfrm>
            <a:off x="3377089"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a:t>
            </a:r>
            <a:endParaRPr lang="ar-SA" sz="550" dirty="0"/>
          </a:p>
        </p:txBody>
      </p:sp>
      <p:sp>
        <p:nvSpPr>
          <p:cNvPr id="116" name="Shape 114"/>
          <p:cNvSpPr/>
          <p:nvPr/>
        </p:nvSpPr>
        <p:spPr>
          <a:xfrm>
            <a:off x="3256636" y="1664208"/>
            <a:ext cx="120453" cy="301752"/>
          </a:xfrm>
          <a:prstGeom prst="rect">
            <a:avLst/>
          </a:prstGeom>
          <a:solidFill>
            <a:srgbClr val="F4F7F8"/>
          </a:solidFill>
          <a:ln w="6350">
            <a:solidFill>
              <a:srgbClr val="FFFFFF"/>
            </a:solidFill>
            <a:prstDash val="solid"/>
          </a:ln>
        </p:spPr>
      </p:sp>
      <p:sp>
        <p:nvSpPr>
          <p:cNvPr id="117" name="Text 115"/>
          <p:cNvSpPr/>
          <p:nvPr/>
        </p:nvSpPr>
        <p:spPr>
          <a:xfrm>
            <a:off x="3256636"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ن</a:t>
            </a:r>
            <a:endParaRPr lang="ar-SA" sz="500" dirty="0"/>
          </a:p>
        </p:txBody>
      </p:sp>
      <p:sp>
        <p:nvSpPr>
          <p:cNvPr id="118" name="Text 116"/>
          <p:cNvSpPr/>
          <p:nvPr/>
        </p:nvSpPr>
        <p:spPr>
          <a:xfrm>
            <a:off x="3256636"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a:t>
            </a:r>
            <a:endParaRPr lang="ar-SA" sz="550" dirty="0"/>
          </a:p>
        </p:txBody>
      </p:sp>
      <p:sp>
        <p:nvSpPr>
          <p:cNvPr id="119" name="Shape 117"/>
          <p:cNvSpPr/>
          <p:nvPr/>
        </p:nvSpPr>
        <p:spPr>
          <a:xfrm>
            <a:off x="3136182" y="1664208"/>
            <a:ext cx="120453" cy="301752"/>
          </a:xfrm>
          <a:prstGeom prst="rect">
            <a:avLst/>
          </a:prstGeom>
          <a:solidFill>
            <a:srgbClr val="F4F7F8"/>
          </a:solidFill>
          <a:ln w="6350">
            <a:solidFill>
              <a:srgbClr val="FFFFFF"/>
            </a:solidFill>
            <a:prstDash val="solid"/>
          </a:ln>
        </p:spPr>
      </p:sp>
      <p:sp>
        <p:nvSpPr>
          <p:cNvPr id="120" name="Text 118"/>
          <p:cNvSpPr/>
          <p:nvPr/>
        </p:nvSpPr>
        <p:spPr>
          <a:xfrm>
            <a:off x="3136182"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ث</a:t>
            </a:r>
            <a:endParaRPr lang="ar-SA" sz="500" dirty="0"/>
          </a:p>
        </p:txBody>
      </p:sp>
      <p:sp>
        <p:nvSpPr>
          <p:cNvPr id="121" name="Text 119"/>
          <p:cNvSpPr/>
          <p:nvPr/>
        </p:nvSpPr>
        <p:spPr>
          <a:xfrm>
            <a:off x="3136182"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3</a:t>
            </a:r>
            <a:endParaRPr lang="ar-SA" sz="550" dirty="0"/>
          </a:p>
        </p:txBody>
      </p:sp>
      <p:sp>
        <p:nvSpPr>
          <p:cNvPr id="122" name="Shape 120"/>
          <p:cNvSpPr/>
          <p:nvPr/>
        </p:nvSpPr>
        <p:spPr>
          <a:xfrm>
            <a:off x="3015729" y="1664208"/>
            <a:ext cx="120453" cy="301752"/>
          </a:xfrm>
          <a:prstGeom prst="rect">
            <a:avLst/>
          </a:prstGeom>
          <a:solidFill>
            <a:srgbClr val="F4F7F8"/>
          </a:solidFill>
          <a:ln w="6350">
            <a:solidFill>
              <a:srgbClr val="FFFFFF"/>
            </a:solidFill>
            <a:prstDash val="solid"/>
          </a:ln>
        </p:spPr>
      </p:sp>
      <p:sp>
        <p:nvSpPr>
          <p:cNvPr id="123" name="Text 121"/>
          <p:cNvSpPr/>
          <p:nvPr/>
        </p:nvSpPr>
        <p:spPr>
          <a:xfrm>
            <a:off x="3015729"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ر</a:t>
            </a:r>
            <a:endParaRPr lang="ar-SA" sz="500" dirty="0"/>
          </a:p>
        </p:txBody>
      </p:sp>
      <p:sp>
        <p:nvSpPr>
          <p:cNvPr id="124" name="Text 122"/>
          <p:cNvSpPr/>
          <p:nvPr/>
        </p:nvSpPr>
        <p:spPr>
          <a:xfrm>
            <a:off x="3015729"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4</a:t>
            </a:r>
            <a:endParaRPr lang="ar-SA" sz="550" dirty="0"/>
          </a:p>
        </p:txBody>
      </p:sp>
      <p:sp>
        <p:nvSpPr>
          <p:cNvPr id="125" name="Shape 123"/>
          <p:cNvSpPr/>
          <p:nvPr/>
        </p:nvSpPr>
        <p:spPr>
          <a:xfrm>
            <a:off x="2895276" y="1664208"/>
            <a:ext cx="120453" cy="301752"/>
          </a:xfrm>
          <a:prstGeom prst="rect">
            <a:avLst/>
          </a:prstGeom>
          <a:solidFill>
            <a:srgbClr val="F4F7F8"/>
          </a:solidFill>
          <a:ln w="6350">
            <a:solidFill>
              <a:srgbClr val="FFFFFF"/>
            </a:solidFill>
            <a:prstDash val="solid"/>
          </a:ln>
        </p:spPr>
      </p:sp>
      <p:sp>
        <p:nvSpPr>
          <p:cNvPr id="126" name="Text 124"/>
          <p:cNvSpPr/>
          <p:nvPr/>
        </p:nvSpPr>
        <p:spPr>
          <a:xfrm>
            <a:off x="2895276"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خ</a:t>
            </a:r>
            <a:endParaRPr lang="ar-SA" sz="500" dirty="0"/>
          </a:p>
        </p:txBody>
      </p:sp>
      <p:sp>
        <p:nvSpPr>
          <p:cNvPr id="127" name="Text 125"/>
          <p:cNvSpPr/>
          <p:nvPr/>
        </p:nvSpPr>
        <p:spPr>
          <a:xfrm>
            <a:off x="2895276"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5</a:t>
            </a:r>
            <a:endParaRPr lang="ar-SA" sz="550" dirty="0"/>
          </a:p>
        </p:txBody>
      </p:sp>
      <p:sp>
        <p:nvSpPr>
          <p:cNvPr id="128" name="Shape 126"/>
          <p:cNvSpPr/>
          <p:nvPr/>
        </p:nvSpPr>
        <p:spPr>
          <a:xfrm>
            <a:off x="2774823" y="1664208"/>
            <a:ext cx="120453" cy="301752"/>
          </a:xfrm>
          <a:prstGeom prst="rect">
            <a:avLst/>
          </a:prstGeom>
          <a:solidFill>
            <a:srgbClr val="DBE3E6"/>
          </a:solidFill>
          <a:ln w="6350">
            <a:solidFill>
              <a:srgbClr val="FFFFFF"/>
            </a:solidFill>
            <a:prstDash val="solid"/>
          </a:ln>
        </p:spPr>
      </p:sp>
      <p:sp>
        <p:nvSpPr>
          <p:cNvPr id="129" name="Text 127"/>
          <p:cNvSpPr/>
          <p:nvPr/>
        </p:nvSpPr>
        <p:spPr>
          <a:xfrm>
            <a:off x="2774823"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8A959C"/>
                </a:solidFill>
                <a:latin typeface="Arial" pitchFamily="34" charset="0"/>
                <a:ea typeface="Arial" pitchFamily="34" charset="-122"/>
                <a:cs typeface="Arial" pitchFamily="34" charset="-120"/>
              </a:rPr>
              <a:t>ج</a:t>
            </a:r>
            <a:endParaRPr lang="ar-SA" sz="500" dirty="0"/>
          </a:p>
        </p:txBody>
      </p:sp>
      <p:sp>
        <p:nvSpPr>
          <p:cNvPr id="130" name="Text 128"/>
          <p:cNvSpPr/>
          <p:nvPr/>
        </p:nvSpPr>
        <p:spPr>
          <a:xfrm>
            <a:off x="2774823"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8A959C"/>
                </a:solidFill>
                <a:latin typeface="Arial" pitchFamily="34" charset="0"/>
                <a:ea typeface="Arial" pitchFamily="34" charset="-122"/>
                <a:cs typeface="Arial" pitchFamily="34" charset="-120"/>
              </a:rPr>
              <a:t>6</a:t>
            </a:r>
            <a:endParaRPr lang="ar-SA" sz="550" dirty="0"/>
          </a:p>
        </p:txBody>
      </p:sp>
      <p:sp>
        <p:nvSpPr>
          <p:cNvPr id="131" name="Shape 129"/>
          <p:cNvSpPr/>
          <p:nvPr/>
        </p:nvSpPr>
        <p:spPr>
          <a:xfrm>
            <a:off x="2774823" y="1965960"/>
            <a:ext cx="120453" cy="3502152"/>
          </a:xfrm>
          <a:prstGeom prst="rect">
            <a:avLst/>
          </a:prstGeom>
          <a:solidFill>
            <a:srgbClr val="000000">
              <a:alpha val="6000"/>
            </a:srgbClr>
          </a:solidFill>
          <a:ln w="12700">
            <a:solidFill>
              <a:srgbClr val="000000">
                <a:alpha val="0"/>
              </a:srgbClr>
            </a:solidFill>
            <a:prstDash val="solid"/>
          </a:ln>
        </p:spPr>
      </p:sp>
      <p:sp>
        <p:nvSpPr>
          <p:cNvPr id="132" name="Shape 130"/>
          <p:cNvSpPr/>
          <p:nvPr/>
        </p:nvSpPr>
        <p:spPr>
          <a:xfrm>
            <a:off x="2654370" y="1664208"/>
            <a:ext cx="120453" cy="301752"/>
          </a:xfrm>
          <a:prstGeom prst="rect">
            <a:avLst/>
          </a:prstGeom>
          <a:solidFill>
            <a:srgbClr val="F4F7F8"/>
          </a:solidFill>
          <a:ln w="6350">
            <a:solidFill>
              <a:srgbClr val="FFFFFF"/>
            </a:solidFill>
            <a:prstDash val="solid"/>
          </a:ln>
        </p:spPr>
      </p:sp>
      <p:sp>
        <p:nvSpPr>
          <p:cNvPr id="133" name="Text 131"/>
          <p:cNvSpPr/>
          <p:nvPr/>
        </p:nvSpPr>
        <p:spPr>
          <a:xfrm>
            <a:off x="2654370"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س</a:t>
            </a:r>
            <a:endParaRPr lang="ar-SA" sz="500" dirty="0"/>
          </a:p>
        </p:txBody>
      </p:sp>
      <p:sp>
        <p:nvSpPr>
          <p:cNvPr id="134" name="Text 132"/>
          <p:cNvSpPr/>
          <p:nvPr/>
        </p:nvSpPr>
        <p:spPr>
          <a:xfrm>
            <a:off x="2654370"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7</a:t>
            </a:r>
            <a:endParaRPr lang="ar-SA" sz="550" dirty="0"/>
          </a:p>
        </p:txBody>
      </p:sp>
      <p:sp>
        <p:nvSpPr>
          <p:cNvPr id="135" name="Shape 133"/>
          <p:cNvSpPr/>
          <p:nvPr/>
        </p:nvSpPr>
        <p:spPr>
          <a:xfrm>
            <a:off x="2774823" y="1965960"/>
            <a:ext cx="0" cy="3502152"/>
          </a:xfrm>
          <a:prstGeom prst="line">
            <a:avLst/>
          </a:prstGeom>
          <a:noFill/>
          <a:ln w="6350">
            <a:solidFill>
              <a:srgbClr val="9DB2BB"/>
            </a:solidFill>
            <a:prstDash val="solid"/>
          </a:ln>
        </p:spPr>
      </p:sp>
      <p:sp>
        <p:nvSpPr>
          <p:cNvPr id="136" name="Shape 134"/>
          <p:cNvSpPr/>
          <p:nvPr/>
        </p:nvSpPr>
        <p:spPr>
          <a:xfrm>
            <a:off x="2533917" y="1664208"/>
            <a:ext cx="120453" cy="301752"/>
          </a:xfrm>
          <a:prstGeom prst="rect">
            <a:avLst/>
          </a:prstGeom>
          <a:solidFill>
            <a:srgbClr val="F4F7F8"/>
          </a:solidFill>
          <a:ln w="6350">
            <a:solidFill>
              <a:srgbClr val="FFFFFF"/>
            </a:solidFill>
            <a:prstDash val="solid"/>
          </a:ln>
        </p:spPr>
      </p:sp>
      <p:sp>
        <p:nvSpPr>
          <p:cNvPr id="137" name="Text 135"/>
          <p:cNvSpPr/>
          <p:nvPr/>
        </p:nvSpPr>
        <p:spPr>
          <a:xfrm>
            <a:off x="2533917"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ح</a:t>
            </a:r>
            <a:endParaRPr lang="ar-SA" sz="500" dirty="0"/>
          </a:p>
        </p:txBody>
      </p:sp>
      <p:sp>
        <p:nvSpPr>
          <p:cNvPr id="138" name="Text 136"/>
          <p:cNvSpPr/>
          <p:nvPr/>
        </p:nvSpPr>
        <p:spPr>
          <a:xfrm>
            <a:off x="2533917"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8</a:t>
            </a:r>
            <a:endParaRPr lang="ar-SA" sz="550" dirty="0"/>
          </a:p>
        </p:txBody>
      </p:sp>
      <p:sp>
        <p:nvSpPr>
          <p:cNvPr id="139" name="Shape 137"/>
          <p:cNvSpPr/>
          <p:nvPr/>
        </p:nvSpPr>
        <p:spPr>
          <a:xfrm>
            <a:off x="2413464" y="1664208"/>
            <a:ext cx="120453" cy="301752"/>
          </a:xfrm>
          <a:prstGeom prst="rect">
            <a:avLst/>
          </a:prstGeom>
          <a:solidFill>
            <a:srgbClr val="F4F7F8"/>
          </a:solidFill>
          <a:ln w="6350">
            <a:solidFill>
              <a:srgbClr val="FFFFFF"/>
            </a:solidFill>
            <a:prstDash val="solid"/>
          </a:ln>
        </p:spPr>
      </p:sp>
      <p:sp>
        <p:nvSpPr>
          <p:cNvPr id="140" name="Text 138"/>
          <p:cNvSpPr/>
          <p:nvPr/>
        </p:nvSpPr>
        <p:spPr>
          <a:xfrm>
            <a:off x="2413464"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ن</a:t>
            </a:r>
            <a:endParaRPr lang="ar-SA" sz="500" dirty="0"/>
          </a:p>
        </p:txBody>
      </p:sp>
      <p:sp>
        <p:nvSpPr>
          <p:cNvPr id="141" name="Text 139"/>
          <p:cNvSpPr/>
          <p:nvPr/>
        </p:nvSpPr>
        <p:spPr>
          <a:xfrm>
            <a:off x="2413464"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9</a:t>
            </a:r>
            <a:endParaRPr lang="ar-SA" sz="550" dirty="0"/>
          </a:p>
        </p:txBody>
      </p:sp>
      <p:sp>
        <p:nvSpPr>
          <p:cNvPr id="142" name="Shape 140"/>
          <p:cNvSpPr/>
          <p:nvPr/>
        </p:nvSpPr>
        <p:spPr>
          <a:xfrm>
            <a:off x="2293010" y="1664208"/>
            <a:ext cx="120453" cy="301752"/>
          </a:xfrm>
          <a:prstGeom prst="rect">
            <a:avLst/>
          </a:prstGeom>
          <a:solidFill>
            <a:srgbClr val="F4F7F8"/>
          </a:solidFill>
          <a:ln w="6350">
            <a:solidFill>
              <a:srgbClr val="FFFFFF"/>
            </a:solidFill>
            <a:prstDash val="solid"/>
          </a:ln>
        </p:spPr>
      </p:sp>
      <p:sp>
        <p:nvSpPr>
          <p:cNvPr id="143" name="Text 141"/>
          <p:cNvSpPr/>
          <p:nvPr/>
        </p:nvSpPr>
        <p:spPr>
          <a:xfrm>
            <a:off x="2293010"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ث</a:t>
            </a:r>
            <a:endParaRPr lang="ar-SA" sz="500" dirty="0"/>
          </a:p>
        </p:txBody>
      </p:sp>
      <p:sp>
        <p:nvSpPr>
          <p:cNvPr id="144" name="Text 142"/>
          <p:cNvSpPr/>
          <p:nvPr/>
        </p:nvSpPr>
        <p:spPr>
          <a:xfrm>
            <a:off x="2293010"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10</a:t>
            </a:r>
            <a:endParaRPr lang="ar-SA" sz="550" dirty="0"/>
          </a:p>
        </p:txBody>
      </p:sp>
      <p:sp>
        <p:nvSpPr>
          <p:cNvPr id="145" name="Shape 143"/>
          <p:cNvSpPr/>
          <p:nvPr/>
        </p:nvSpPr>
        <p:spPr>
          <a:xfrm>
            <a:off x="2172557" y="1664208"/>
            <a:ext cx="120453" cy="301752"/>
          </a:xfrm>
          <a:prstGeom prst="rect">
            <a:avLst/>
          </a:prstGeom>
          <a:solidFill>
            <a:srgbClr val="F4F7F8"/>
          </a:solidFill>
          <a:ln w="6350">
            <a:solidFill>
              <a:srgbClr val="FFFFFF"/>
            </a:solidFill>
            <a:prstDash val="solid"/>
          </a:ln>
        </p:spPr>
      </p:sp>
      <p:sp>
        <p:nvSpPr>
          <p:cNvPr id="146" name="Text 144"/>
          <p:cNvSpPr/>
          <p:nvPr/>
        </p:nvSpPr>
        <p:spPr>
          <a:xfrm>
            <a:off x="2172557"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ر</a:t>
            </a:r>
            <a:endParaRPr lang="ar-SA" sz="500" dirty="0"/>
          </a:p>
        </p:txBody>
      </p:sp>
      <p:sp>
        <p:nvSpPr>
          <p:cNvPr id="147" name="Text 145"/>
          <p:cNvSpPr/>
          <p:nvPr/>
        </p:nvSpPr>
        <p:spPr>
          <a:xfrm>
            <a:off x="2172557"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11</a:t>
            </a:r>
            <a:endParaRPr lang="ar-SA" sz="550" dirty="0"/>
          </a:p>
        </p:txBody>
      </p:sp>
      <p:sp>
        <p:nvSpPr>
          <p:cNvPr id="148" name="Shape 146"/>
          <p:cNvSpPr/>
          <p:nvPr/>
        </p:nvSpPr>
        <p:spPr>
          <a:xfrm>
            <a:off x="2052104" y="1664208"/>
            <a:ext cx="120453" cy="301752"/>
          </a:xfrm>
          <a:prstGeom prst="rect">
            <a:avLst/>
          </a:prstGeom>
          <a:solidFill>
            <a:srgbClr val="F4F7F8"/>
          </a:solidFill>
          <a:ln w="6350">
            <a:solidFill>
              <a:srgbClr val="FFFFFF"/>
            </a:solidFill>
            <a:prstDash val="solid"/>
          </a:ln>
        </p:spPr>
      </p:sp>
      <p:sp>
        <p:nvSpPr>
          <p:cNvPr id="149" name="Text 147"/>
          <p:cNvSpPr/>
          <p:nvPr/>
        </p:nvSpPr>
        <p:spPr>
          <a:xfrm>
            <a:off x="2052104"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خ</a:t>
            </a:r>
            <a:endParaRPr lang="ar-SA" sz="500" dirty="0"/>
          </a:p>
        </p:txBody>
      </p:sp>
      <p:sp>
        <p:nvSpPr>
          <p:cNvPr id="150" name="Text 148"/>
          <p:cNvSpPr/>
          <p:nvPr/>
        </p:nvSpPr>
        <p:spPr>
          <a:xfrm>
            <a:off x="2052104"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12</a:t>
            </a:r>
            <a:endParaRPr lang="ar-SA" sz="550" dirty="0"/>
          </a:p>
        </p:txBody>
      </p:sp>
      <p:sp>
        <p:nvSpPr>
          <p:cNvPr id="151" name="Shape 149"/>
          <p:cNvSpPr/>
          <p:nvPr/>
        </p:nvSpPr>
        <p:spPr>
          <a:xfrm>
            <a:off x="1931651" y="1664208"/>
            <a:ext cx="120453" cy="301752"/>
          </a:xfrm>
          <a:prstGeom prst="rect">
            <a:avLst/>
          </a:prstGeom>
          <a:solidFill>
            <a:srgbClr val="DBE3E6"/>
          </a:solidFill>
          <a:ln w="6350">
            <a:solidFill>
              <a:srgbClr val="FFFFFF"/>
            </a:solidFill>
            <a:prstDash val="solid"/>
          </a:ln>
        </p:spPr>
      </p:sp>
      <p:sp>
        <p:nvSpPr>
          <p:cNvPr id="152" name="Text 150"/>
          <p:cNvSpPr/>
          <p:nvPr/>
        </p:nvSpPr>
        <p:spPr>
          <a:xfrm>
            <a:off x="1931651"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8A959C"/>
                </a:solidFill>
                <a:latin typeface="Arial" pitchFamily="34" charset="0"/>
                <a:ea typeface="Arial" pitchFamily="34" charset="-122"/>
                <a:cs typeface="Arial" pitchFamily="34" charset="-120"/>
              </a:rPr>
              <a:t>ج</a:t>
            </a:r>
            <a:endParaRPr lang="ar-SA" sz="500" dirty="0"/>
          </a:p>
        </p:txBody>
      </p:sp>
      <p:sp>
        <p:nvSpPr>
          <p:cNvPr id="153" name="Text 151"/>
          <p:cNvSpPr/>
          <p:nvPr/>
        </p:nvSpPr>
        <p:spPr>
          <a:xfrm>
            <a:off x="1931651"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8A959C"/>
                </a:solidFill>
                <a:latin typeface="Arial" pitchFamily="34" charset="0"/>
                <a:ea typeface="Arial" pitchFamily="34" charset="-122"/>
                <a:cs typeface="Arial" pitchFamily="34" charset="-120"/>
              </a:rPr>
              <a:t>13</a:t>
            </a:r>
            <a:endParaRPr lang="ar-SA" sz="550" dirty="0"/>
          </a:p>
        </p:txBody>
      </p:sp>
      <p:sp>
        <p:nvSpPr>
          <p:cNvPr id="154" name="Shape 152"/>
          <p:cNvSpPr/>
          <p:nvPr/>
        </p:nvSpPr>
        <p:spPr>
          <a:xfrm>
            <a:off x="1931651" y="1965960"/>
            <a:ext cx="120453" cy="3502152"/>
          </a:xfrm>
          <a:prstGeom prst="rect">
            <a:avLst/>
          </a:prstGeom>
          <a:solidFill>
            <a:srgbClr val="000000">
              <a:alpha val="6000"/>
            </a:srgbClr>
          </a:solidFill>
          <a:ln w="12700">
            <a:solidFill>
              <a:srgbClr val="000000">
                <a:alpha val="0"/>
              </a:srgbClr>
            </a:solidFill>
            <a:prstDash val="solid"/>
          </a:ln>
        </p:spPr>
      </p:sp>
      <p:sp>
        <p:nvSpPr>
          <p:cNvPr id="155" name="Shape 153"/>
          <p:cNvSpPr/>
          <p:nvPr/>
        </p:nvSpPr>
        <p:spPr>
          <a:xfrm>
            <a:off x="1811198" y="1664208"/>
            <a:ext cx="120453" cy="301752"/>
          </a:xfrm>
          <a:prstGeom prst="rect">
            <a:avLst/>
          </a:prstGeom>
          <a:solidFill>
            <a:srgbClr val="F4F7F8"/>
          </a:solidFill>
          <a:ln w="6350">
            <a:solidFill>
              <a:srgbClr val="FFFFFF"/>
            </a:solidFill>
            <a:prstDash val="solid"/>
          </a:ln>
        </p:spPr>
      </p:sp>
      <p:sp>
        <p:nvSpPr>
          <p:cNvPr id="156" name="Text 154"/>
          <p:cNvSpPr/>
          <p:nvPr/>
        </p:nvSpPr>
        <p:spPr>
          <a:xfrm>
            <a:off x="1811198"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س</a:t>
            </a:r>
            <a:endParaRPr lang="ar-SA" sz="500" dirty="0"/>
          </a:p>
        </p:txBody>
      </p:sp>
      <p:sp>
        <p:nvSpPr>
          <p:cNvPr id="157" name="Text 155"/>
          <p:cNvSpPr/>
          <p:nvPr/>
        </p:nvSpPr>
        <p:spPr>
          <a:xfrm>
            <a:off x="1811198"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14</a:t>
            </a:r>
            <a:endParaRPr lang="ar-SA" sz="550" dirty="0"/>
          </a:p>
        </p:txBody>
      </p:sp>
      <p:sp>
        <p:nvSpPr>
          <p:cNvPr id="158" name="Shape 156"/>
          <p:cNvSpPr/>
          <p:nvPr/>
        </p:nvSpPr>
        <p:spPr>
          <a:xfrm>
            <a:off x="1931651" y="1965960"/>
            <a:ext cx="0" cy="3502152"/>
          </a:xfrm>
          <a:prstGeom prst="line">
            <a:avLst/>
          </a:prstGeom>
          <a:noFill/>
          <a:ln w="6350">
            <a:solidFill>
              <a:srgbClr val="9DB2BB"/>
            </a:solidFill>
            <a:prstDash val="solid"/>
          </a:ln>
        </p:spPr>
      </p:sp>
      <p:sp>
        <p:nvSpPr>
          <p:cNvPr id="159" name="Shape 157"/>
          <p:cNvSpPr/>
          <p:nvPr/>
        </p:nvSpPr>
        <p:spPr>
          <a:xfrm>
            <a:off x="1690745" y="1664208"/>
            <a:ext cx="120453" cy="301752"/>
          </a:xfrm>
          <a:prstGeom prst="rect">
            <a:avLst/>
          </a:prstGeom>
          <a:solidFill>
            <a:srgbClr val="F4F7F8"/>
          </a:solidFill>
          <a:ln w="6350">
            <a:solidFill>
              <a:srgbClr val="FFFFFF"/>
            </a:solidFill>
            <a:prstDash val="solid"/>
          </a:ln>
        </p:spPr>
      </p:sp>
      <p:sp>
        <p:nvSpPr>
          <p:cNvPr id="160" name="Text 158"/>
          <p:cNvSpPr/>
          <p:nvPr/>
        </p:nvSpPr>
        <p:spPr>
          <a:xfrm>
            <a:off x="1690745"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ح</a:t>
            </a:r>
            <a:endParaRPr lang="ar-SA" sz="500" dirty="0"/>
          </a:p>
        </p:txBody>
      </p:sp>
      <p:sp>
        <p:nvSpPr>
          <p:cNvPr id="161" name="Text 159"/>
          <p:cNvSpPr/>
          <p:nvPr/>
        </p:nvSpPr>
        <p:spPr>
          <a:xfrm>
            <a:off x="1690745"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15</a:t>
            </a:r>
            <a:endParaRPr lang="ar-SA" sz="550" dirty="0"/>
          </a:p>
        </p:txBody>
      </p:sp>
      <p:sp>
        <p:nvSpPr>
          <p:cNvPr id="162" name="Shape 160"/>
          <p:cNvSpPr/>
          <p:nvPr/>
        </p:nvSpPr>
        <p:spPr>
          <a:xfrm>
            <a:off x="1570292" y="1664208"/>
            <a:ext cx="120453" cy="301752"/>
          </a:xfrm>
          <a:prstGeom prst="rect">
            <a:avLst/>
          </a:prstGeom>
          <a:solidFill>
            <a:srgbClr val="F4F7F8"/>
          </a:solidFill>
          <a:ln w="6350">
            <a:solidFill>
              <a:srgbClr val="FFFFFF"/>
            </a:solidFill>
            <a:prstDash val="solid"/>
          </a:ln>
        </p:spPr>
      </p:sp>
      <p:sp>
        <p:nvSpPr>
          <p:cNvPr id="163" name="Text 161"/>
          <p:cNvSpPr/>
          <p:nvPr/>
        </p:nvSpPr>
        <p:spPr>
          <a:xfrm>
            <a:off x="1570292"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ن</a:t>
            </a:r>
            <a:endParaRPr lang="ar-SA" sz="500" dirty="0"/>
          </a:p>
        </p:txBody>
      </p:sp>
      <p:sp>
        <p:nvSpPr>
          <p:cNvPr id="164" name="Text 162"/>
          <p:cNvSpPr/>
          <p:nvPr/>
        </p:nvSpPr>
        <p:spPr>
          <a:xfrm>
            <a:off x="1570292"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16</a:t>
            </a:r>
            <a:endParaRPr lang="ar-SA" sz="550" dirty="0"/>
          </a:p>
        </p:txBody>
      </p:sp>
      <p:sp>
        <p:nvSpPr>
          <p:cNvPr id="165" name="Shape 163"/>
          <p:cNvSpPr/>
          <p:nvPr/>
        </p:nvSpPr>
        <p:spPr>
          <a:xfrm>
            <a:off x="1449838" y="1664208"/>
            <a:ext cx="120453" cy="301752"/>
          </a:xfrm>
          <a:prstGeom prst="rect">
            <a:avLst/>
          </a:prstGeom>
          <a:solidFill>
            <a:srgbClr val="F4F7F8"/>
          </a:solidFill>
          <a:ln w="6350">
            <a:solidFill>
              <a:srgbClr val="FFFFFF"/>
            </a:solidFill>
            <a:prstDash val="solid"/>
          </a:ln>
        </p:spPr>
      </p:sp>
      <p:sp>
        <p:nvSpPr>
          <p:cNvPr id="166" name="Text 164"/>
          <p:cNvSpPr/>
          <p:nvPr/>
        </p:nvSpPr>
        <p:spPr>
          <a:xfrm>
            <a:off x="1449838"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ث</a:t>
            </a:r>
            <a:endParaRPr lang="ar-SA" sz="500" dirty="0"/>
          </a:p>
        </p:txBody>
      </p:sp>
      <p:sp>
        <p:nvSpPr>
          <p:cNvPr id="167" name="Text 165"/>
          <p:cNvSpPr/>
          <p:nvPr/>
        </p:nvSpPr>
        <p:spPr>
          <a:xfrm>
            <a:off x="1449838"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17</a:t>
            </a:r>
            <a:endParaRPr lang="ar-SA" sz="550" dirty="0"/>
          </a:p>
        </p:txBody>
      </p:sp>
      <p:sp>
        <p:nvSpPr>
          <p:cNvPr id="168" name="Shape 166"/>
          <p:cNvSpPr/>
          <p:nvPr/>
        </p:nvSpPr>
        <p:spPr>
          <a:xfrm>
            <a:off x="1329385" y="1664208"/>
            <a:ext cx="120453" cy="301752"/>
          </a:xfrm>
          <a:prstGeom prst="rect">
            <a:avLst/>
          </a:prstGeom>
          <a:solidFill>
            <a:srgbClr val="F4F7F8"/>
          </a:solidFill>
          <a:ln w="6350">
            <a:solidFill>
              <a:srgbClr val="FFFFFF"/>
            </a:solidFill>
            <a:prstDash val="solid"/>
          </a:ln>
        </p:spPr>
      </p:sp>
      <p:sp>
        <p:nvSpPr>
          <p:cNvPr id="169" name="Text 167"/>
          <p:cNvSpPr/>
          <p:nvPr/>
        </p:nvSpPr>
        <p:spPr>
          <a:xfrm>
            <a:off x="1329385"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ر</a:t>
            </a:r>
            <a:endParaRPr lang="ar-SA" sz="500" dirty="0"/>
          </a:p>
        </p:txBody>
      </p:sp>
      <p:sp>
        <p:nvSpPr>
          <p:cNvPr id="170" name="Text 168"/>
          <p:cNvSpPr/>
          <p:nvPr/>
        </p:nvSpPr>
        <p:spPr>
          <a:xfrm>
            <a:off x="1329385"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18</a:t>
            </a:r>
            <a:endParaRPr lang="ar-SA" sz="550" dirty="0"/>
          </a:p>
        </p:txBody>
      </p:sp>
      <p:sp>
        <p:nvSpPr>
          <p:cNvPr id="171" name="Shape 169"/>
          <p:cNvSpPr/>
          <p:nvPr/>
        </p:nvSpPr>
        <p:spPr>
          <a:xfrm>
            <a:off x="1208932" y="1664208"/>
            <a:ext cx="120453" cy="301752"/>
          </a:xfrm>
          <a:prstGeom prst="rect">
            <a:avLst/>
          </a:prstGeom>
          <a:solidFill>
            <a:srgbClr val="F4F7F8"/>
          </a:solidFill>
          <a:ln w="6350">
            <a:solidFill>
              <a:srgbClr val="FFFFFF"/>
            </a:solidFill>
            <a:prstDash val="solid"/>
          </a:ln>
        </p:spPr>
      </p:sp>
      <p:sp>
        <p:nvSpPr>
          <p:cNvPr id="172" name="Text 170"/>
          <p:cNvSpPr/>
          <p:nvPr/>
        </p:nvSpPr>
        <p:spPr>
          <a:xfrm>
            <a:off x="1208932"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خ</a:t>
            </a:r>
            <a:endParaRPr lang="ar-SA" sz="500" dirty="0"/>
          </a:p>
        </p:txBody>
      </p:sp>
      <p:sp>
        <p:nvSpPr>
          <p:cNvPr id="173" name="Text 171"/>
          <p:cNvSpPr/>
          <p:nvPr/>
        </p:nvSpPr>
        <p:spPr>
          <a:xfrm>
            <a:off x="1208932"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19</a:t>
            </a:r>
            <a:endParaRPr lang="ar-SA" sz="550" dirty="0"/>
          </a:p>
        </p:txBody>
      </p:sp>
      <p:sp>
        <p:nvSpPr>
          <p:cNvPr id="174" name="Shape 172"/>
          <p:cNvSpPr/>
          <p:nvPr/>
        </p:nvSpPr>
        <p:spPr>
          <a:xfrm>
            <a:off x="1088479" y="1664208"/>
            <a:ext cx="120453" cy="301752"/>
          </a:xfrm>
          <a:prstGeom prst="rect">
            <a:avLst/>
          </a:prstGeom>
          <a:solidFill>
            <a:srgbClr val="DBE3E6"/>
          </a:solidFill>
          <a:ln w="6350">
            <a:solidFill>
              <a:srgbClr val="FFFFFF"/>
            </a:solidFill>
            <a:prstDash val="solid"/>
          </a:ln>
        </p:spPr>
      </p:sp>
      <p:sp>
        <p:nvSpPr>
          <p:cNvPr id="175" name="Text 173"/>
          <p:cNvSpPr/>
          <p:nvPr/>
        </p:nvSpPr>
        <p:spPr>
          <a:xfrm>
            <a:off x="1088479"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8A959C"/>
                </a:solidFill>
                <a:latin typeface="Arial" pitchFamily="34" charset="0"/>
                <a:ea typeface="Arial" pitchFamily="34" charset="-122"/>
                <a:cs typeface="Arial" pitchFamily="34" charset="-120"/>
              </a:rPr>
              <a:t>ج</a:t>
            </a:r>
            <a:endParaRPr lang="ar-SA" sz="500" dirty="0"/>
          </a:p>
        </p:txBody>
      </p:sp>
      <p:sp>
        <p:nvSpPr>
          <p:cNvPr id="176" name="Text 174"/>
          <p:cNvSpPr/>
          <p:nvPr/>
        </p:nvSpPr>
        <p:spPr>
          <a:xfrm>
            <a:off x="1088479"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8A959C"/>
                </a:solidFill>
                <a:latin typeface="Arial" pitchFamily="34" charset="0"/>
                <a:ea typeface="Arial" pitchFamily="34" charset="-122"/>
                <a:cs typeface="Arial" pitchFamily="34" charset="-120"/>
              </a:rPr>
              <a:t>20</a:t>
            </a:r>
            <a:endParaRPr lang="ar-SA" sz="550" dirty="0"/>
          </a:p>
        </p:txBody>
      </p:sp>
      <p:sp>
        <p:nvSpPr>
          <p:cNvPr id="177" name="Shape 175"/>
          <p:cNvSpPr/>
          <p:nvPr/>
        </p:nvSpPr>
        <p:spPr>
          <a:xfrm>
            <a:off x="1088479" y="1965960"/>
            <a:ext cx="120453" cy="3502152"/>
          </a:xfrm>
          <a:prstGeom prst="rect">
            <a:avLst/>
          </a:prstGeom>
          <a:solidFill>
            <a:srgbClr val="000000">
              <a:alpha val="6000"/>
            </a:srgbClr>
          </a:solidFill>
          <a:ln w="12700">
            <a:solidFill>
              <a:srgbClr val="000000">
                <a:alpha val="0"/>
              </a:srgbClr>
            </a:solidFill>
            <a:prstDash val="solid"/>
          </a:ln>
        </p:spPr>
      </p:sp>
      <p:sp>
        <p:nvSpPr>
          <p:cNvPr id="178" name="Shape 176"/>
          <p:cNvSpPr/>
          <p:nvPr/>
        </p:nvSpPr>
        <p:spPr>
          <a:xfrm>
            <a:off x="968026" y="1664208"/>
            <a:ext cx="120453" cy="301752"/>
          </a:xfrm>
          <a:prstGeom prst="rect">
            <a:avLst/>
          </a:prstGeom>
          <a:solidFill>
            <a:srgbClr val="F4F7F8"/>
          </a:solidFill>
          <a:ln w="6350">
            <a:solidFill>
              <a:srgbClr val="FFFFFF"/>
            </a:solidFill>
            <a:prstDash val="solid"/>
          </a:ln>
        </p:spPr>
      </p:sp>
      <p:sp>
        <p:nvSpPr>
          <p:cNvPr id="179" name="Text 177"/>
          <p:cNvSpPr/>
          <p:nvPr/>
        </p:nvSpPr>
        <p:spPr>
          <a:xfrm>
            <a:off x="968026"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س</a:t>
            </a:r>
            <a:endParaRPr lang="ar-SA" sz="500" dirty="0"/>
          </a:p>
        </p:txBody>
      </p:sp>
      <p:sp>
        <p:nvSpPr>
          <p:cNvPr id="180" name="Text 178"/>
          <p:cNvSpPr/>
          <p:nvPr/>
        </p:nvSpPr>
        <p:spPr>
          <a:xfrm>
            <a:off x="968026"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21</a:t>
            </a:r>
            <a:endParaRPr lang="ar-SA" sz="550" dirty="0"/>
          </a:p>
        </p:txBody>
      </p:sp>
      <p:sp>
        <p:nvSpPr>
          <p:cNvPr id="181" name="Shape 179"/>
          <p:cNvSpPr/>
          <p:nvPr/>
        </p:nvSpPr>
        <p:spPr>
          <a:xfrm>
            <a:off x="1088479" y="1965960"/>
            <a:ext cx="0" cy="3502152"/>
          </a:xfrm>
          <a:prstGeom prst="line">
            <a:avLst/>
          </a:prstGeom>
          <a:noFill/>
          <a:ln w="6350">
            <a:solidFill>
              <a:srgbClr val="9DB2BB"/>
            </a:solidFill>
            <a:prstDash val="solid"/>
          </a:ln>
        </p:spPr>
      </p:sp>
      <p:sp>
        <p:nvSpPr>
          <p:cNvPr id="182" name="Shape 180"/>
          <p:cNvSpPr/>
          <p:nvPr/>
        </p:nvSpPr>
        <p:spPr>
          <a:xfrm>
            <a:off x="847573" y="1664208"/>
            <a:ext cx="120453" cy="301752"/>
          </a:xfrm>
          <a:prstGeom prst="rect">
            <a:avLst/>
          </a:prstGeom>
          <a:solidFill>
            <a:srgbClr val="F4F7F8"/>
          </a:solidFill>
          <a:ln w="6350">
            <a:solidFill>
              <a:srgbClr val="FFFFFF"/>
            </a:solidFill>
            <a:prstDash val="solid"/>
          </a:ln>
        </p:spPr>
      </p:sp>
      <p:sp>
        <p:nvSpPr>
          <p:cNvPr id="183" name="Text 181"/>
          <p:cNvSpPr/>
          <p:nvPr/>
        </p:nvSpPr>
        <p:spPr>
          <a:xfrm>
            <a:off x="847573"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ح</a:t>
            </a:r>
            <a:endParaRPr lang="ar-SA" sz="500" dirty="0"/>
          </a:p>
        </p:txBody>
      </p:sp>
      <p:sp>
        <p:nvSpPr>
          <p:cNvPr id="184" name="Text 182"/>
          <p:cNvSpPr/>
          <p:nvPr/>
        </p:nvSpPr>
        <p:spPr>
          <a:xfrm>
            <a:off x="847573"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22</a:t>
            </a:r>
            <a:endParaRPr lang="ar-SA" sz="550" dirty="0"/>
          </a:p>
        </p:txBody>
      </p:sp>
      <p:sp>
        <p:nvSpPr>
          <p:cNvPr id="185" name="Shape 183"/>
          <p:cNvSpPr/>
          <p:nvPr/>
        </p:nvSpPr>
        <p:spPr>
          <a:xfrm>
            <a:off x="727119" y="1664208"/>
            <a:ext cx="120453" cy="301752"/>
          </a:xfrm>
          <a:prstGeom prst="rect">
            <a:avLst/>
          </a:prstGeom>
          <a:solidFill>
            <a:srgbClr val="F4F7F8"/>
          </a:solidFill>
          <a:ln w="6350">
            <a:solidFill>
              <a:srgbClr val="FFFFFF"/>
            </a:solidFill>
            <a:prstDash val="solid"/>
          </a:ln>
        </p:spPr>
      </p:sp>
      <p:sp>
        <p:nvSpPr>
          <p:cNvPr id="186" name="Text 184"/>
          <p:cNvSpPr/>
          <p:nvPr/>
        </p:nvSpPr>
        <p:spPr>
          <a:xfrm>
            <a:off x="727119"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ن</a:t>
            </a:r>
            <a:endParaRPr lang="ar-SA" sz="500" dirty="0"/>
          </a:p>
        </p:txBody>
      </p:sp>
      <p:sp>
        <p:nvSpPr>
          <p:cNvPr id="187" name="Text 185"/>
          <p:cNvSpPr/>
          <p:nvPr/>
        </p:nvSpPr>
        <p:spPr>
          <a:xfrm>
            <a:off x="727119"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23</a:t>
            </a:r>
            <a:endParaRPr lang="ar-SA" sz="550" dirty="0"/>
          </a:p>
        </p:txBody>
      </p:sp>
      <p:sp>
        <p:nvSpPr>
          <p:cNvPr id="188" name="Shape 186"/>
          <p:cNvSpPr/>
          <p:nvPr/>
        </p:nvSpPr>
        <p:spPr>
          <a:xfrm>
            <a:off x="606666" y="1664208"/>
            <a:ext cx="120453" cy="301752"/>
          </a:xfrm>
          <a:prstGeom prst="rect">
            <a:avLst/>
          </a:prstGeom>
          <a:solidFill>
            <a:srgbClr val="F4F7F8"/>
          </a:solidFill>
          <a:ln w="6350">
            <a:solidFill>
              <a:srgbClr val="FFFFFF"/>
            </a:solidFill>
            <a:prstDash val="solid"/>
          </a:ln>
        </p:spPr>
      </p:sp>
      <p:sp>
        <p:nvSpPr>
          <p:cNvPr id="189" name="Text 187"/>
          <p:cNvSpPr/>
          <p:nvPr/>
        </p:nvSpPr>
        <p:spPr>
          <a:xfrm>
            <a:off x="606666"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ث</a:t>
            </a:r>
            <a:endParaRPr lang="ar-SA" sz="500" dirty="0"/>
          </a:p>
        </p:txBody>
      </p:sp>
      <p:sp>
        <p:nvSpPr>
          <p:cNvPr id="190" name="Text 188"/>
          <p:cNvSpPr/>
          <p:nvPr/>
        </p:nvSpPr>
        <p:spPr>
          <a:xfrm>
            <a:off x="606666"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24</a:t>
            </a:r>
            <a:endParaRPr lang="ar-SA" sz="550" dirty="0"/>
          </a:p>
        </p:txBody>
      </p:sp>
      <p:sp>
        <p:nvSpPr>
          <p:cNvPr id="191" name="Shape 189"/>
          <p:cNvSpPr/>
          <p:nvPr/>
        </p:nvSpPr>
        <p:spPr>
          <a:xfrm>
            <a:off x="486213" y="1664208"/>
            <a:ext cx="120453" cy="301752"/>
          </a:xfrm>
          <a:prstGeom prst="rect">
            <a:avLst/>
          </a:prstGeom>
          <a:solidFill>
            <a:srgbClr val="F4F7F8"/>
          </a:solidFill>
          <a:ln w="6350">
            <a:solidFill>
              <a:srgbClr val="FFFFFF"/>
            </a:solidFill>
            <a:prstDash val="solid"/>
          </a:ln>
        </p:spPr>
      </p:sp>
      <p:sp>
        <p:nvSpPr>
          <p:cNvPr id="192" name="Text 190"/>
          <p:cNvSpPr/>
          <p:nvPr/>
        </p:nvSpPr>
        <p:spPr>
          <a:xfrm>
            <a:off x="486213"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ر</a:t>
            </a:r>
            <a:endParaRPr lang="ar-SA" sz="500" dirty="0"/>
          </a:p>
        </p:txBody>
      </p:sp>
      <p:sp>
        <p:nvSpPr>
          <p:cNvPr id="193" name="Text 191"/>
          <p:cNvSpPr/>
          <p:nvPr/>
        </p:nvSpPr>
        <p:spPr>
          <a:xfrm>
            <a:off x="486213"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25</a:t>
            </a:r>
            <a:endParaRPr lang="ar-SA" sz="550" dirty="0"/>
          </a:p>
        </p:txBody>
      </p:sp>
      <p:sp>
        <p:nvSpPr>
          <p:cNvPr id="194" name="Shape 192"/>
          <p:cNvSpPr/>
          <p:nvPr/>
        </p:nvSpPr>
        <p:spPr>
          <a:xfrm>
            <a:off x="365760" y="1664208"/>
            <a:ext cx="120453" cy="301752"/>
          </a:xfrm>
          <a:prstGeom prst="rect">
            <a:avLst/>
          </a:prstGeom>
          <a:solidFill>
            <a:srgbClr val="F4F7F8"/>
          </a:solidFill>
          <a:ln w="6350">
            <a:solidFill>
              <a:srgbClr val="FFFFFF"/>
            </a:solidFill>
            <a:prstDash val="solid"/>
          </a:ln>
        </p:spPr>
      </p:sp>
      <p:sp>
        <p:nvSpPr>
          <p:cNvPr id="195" name="Text 193"/>
          <p:cNvSpPr/>
          <p:nvPr/>
        </p:nvSpPr>
        <p:spPr>
          <a:xfrm>
            <a:off x="365760" y="1664208"/>
            <a:ext cx="120453" cy="137160"/>
          </a:xfrm>
          <a:prstGeom prst="rect">
            <a:avLst/>
          </a:prstGeom>
          <a:noFill/>
          <a:ln/>
        </p:spPr>
        <p:txBody>
          <a:bodyPr wrap="square" lIns="0" tIns="0" rIns="0" bIns="0" rtlCol="0" anchor="ctr">
            <a:normAutofit/>
          </a:bodyPr>
          <a:lstStyle/>
          <a:p>
            <a:pPr rtl="1" algn="ctr" indent="0" marL="0">
              <a:buNone/>
            </a:pPr>
            <a:r>
              <a:rPr lang="ar-SA" altLang="en-US" sz="500" b="1" dirty="0">
                <a:solidFill>
                  <a:srgbClr val="5A6A73"/>
                </a:solidFill>
                <a:latin typeface="Arial" pitchFamily="34" charset="0"/>
                <a:ea typeface="Arial" pitchFamily="34" charset="-122"/>
                <a:cs typeface="Arial" pitchFamily="34" charset="-120"/>
              </a:rPr>
              <a:t>خ</a:t>
            </a:r>
            <a:endParaRPr lang="ar-SA" sz="500" dirty="0"/>
          </a:p>
        </p:txBody>
      </p:sp>
      <p:sp>
        <p:nvSpPr>
          <p:cNvPr id="196" name="Text 194"/>
          <p:cNvSpPr/>
          <p:nvPr/>
        </p:nvSpPr>
        <p:spPr>
          <a:xfrm>
            <a:off x="365760" y="1801368"/>
            <a:ext cx="120453" cy="164592"/>
          </a:xfrm>
          <a:prstGeom prst="rect">
            <a:avLst/>
          </a:prstGeom>
          <a:noFill/>
          <a:ln/>
        </p:spPr>
        <p:txBody>
          <a:bodyPr wrap="square" lIns="0" tIns="0" rIns="0" bIns="0" rtlCol="0" anchor="ctr">
            <a:normAutofit/>
          </a:bodyPr>
          <a:lstStyle/>
          <a:p>
            <a:pPr rtl="1" algn="ctr" indent="0" marL="0">
              <a:buNone/>
            </a:pPr>
            <a:r>
              <a:rPr lang="ar-SA" altLang="en-US" sz="550" b="1" dirty="0">
                <a:solidFill>
                  <a:srgbClr val="222222"/>
                </a:solidFill>
                <a:latin typeface="Arial" pitchFamily="34" charset="0"/>
                <a:ea typeface="Arial" pitchFamily="34" charset="-122"/>
                <a:cs typeface="Arial" pitchFamily="34" charset="-120"/>
              </a:rPr>
              <a:t>26</a:t>
            </a:r>
            <a:endParaRPr lang="ar-SA" sz="550" dirty="0"/>
          </a:p>
        </p:txBody>
      </p:sp>
      <p:sp>
        <p:nvSpPr>
          <p:cNvPr id="197" name="Shape 195"/>
          <p:cNvSpPr/>
          <p:nvPr/>
        </p:nvSpPr>
        <p:spPr>
          <a:xfrm>
            <a:off x="365760" y="1965960"/>
            <a:ext cx="11460175" cy="274320"/>
          </a:xfrm>
          <a:prstGeom prst="rect">
            <a:avLst/>
          </a:prstGeom>
          <a:solidFill>
            <a:srgbClr val="FFFFFF"/>
          </a:solidFill>
          <a:ln w="6350">
            <a:solidFill>
              <a:srgbClr val="DFE6EA"/>
            </a:solidFill>
            <a:prstDash val="solid"/>
          </a:ln>
        </p:spPr>
      </p:sp>
      <p:sp>
        <p:nvSpPr>
          <p:cNvPr id="198" name="Shape 196"/>
          <p:cNvSpPr/>
          <p:nvPr/>
        </p:nvSpPr>
        <p:spPr>
          <a:xfrm>
            <a:off x="11515039" y="1984248"/>
            <a:ext cx="237744" cy="237744"/>
          </a:xfrm>
          <a:prstGeom prst="ellipse">
            <a:avLst/>
          </a:prstGeom>
          <a:solidFill>
            <a:srgbClr val="3D3935"/>
          </a:solidFill>
          <a:ln w="12700">
            <a:solidFill>
              <a:srgbClr val="3D3935"/>
            </a:solidFill>
            <a:prstDash val="solid"/>
          </a:ln>
        </p:spPr>
      </p:sp>
      <p:sp>
        <p:nvSpPr>
          <p:cNvPr id="199" name="Text 197"/>
          <p:cNvSpPr/>
          <p:nvPr/>
        </p:nvSpPr>
        <p:spPr>
          <a:xfrm>
            <a:off x="11441887" y="1965960"/>
            <a:ext cx="384048" cy="274320"/>
          </a:xfrm>
          <a:prstGeom prst="rect">
            <a:avLst/>
          </a:prstGeom>
          <a:noFill/>
          <a:ln/>
        </p:spPr>
        <p:txBody>
          <a:bodyPr wrap="square" lIns="0" tIns="0" rIns="0" bIns="0" rtlCol="0" anchor="ctr">
            <a:normAutofit/>
          </a:bodyPr>
          <a:lstStyle/>
          <a:p>
            <a:pPr rtl="1" algn="ctr" indent="0" marL="0">
              <a:buNone/>
            </a:pPr>
            <a:r>
              <a:rPr lang="ar-SA" altLang="en-US" sz="900" b="1" dirty="0">
                <a:solidFill>
                  <a:srgbClr val="FFFFFF"/>
                </a:solidFill>
                <a:latin typeface="Arial" pitchFamily="34" charset="0"/>
                <a:ea typeface="Arial" pitchFamily="34" charset="-122"/>
                <a:cs typeface="Arial" pitchFamily="34" charset="-120"/>
              </a:rPr>
              <a:t>Σ</a:t>
            </a:r>
            <a:endParaRPr lang="ar-SA" sz="900" dirty="0"/>
          </a:p>
        </p:txBody>
      </p:sp>
      <p:sp>
        <p:nvSpPr>
          <p:cNvPr id="200" name="Text 198"/>
          <p:cNvSpPr/>
          <p:nvPr/>
        </p:nvSpPr>
        <p:spPr>
          <a:xfrm>
            <a:off x="8762695" y="1965960"/>
            <a:ext cx="2606040" cy="274320"/>
          </a:xfrm>
          <a:prstGeom prst="rect">
            <a:avLst/>
          </a:prstGeom>
          <a:noFill/>
          <a:ln/>
        </p:spPr>
        <p:txBody>
          <a:bodyPr wrap="square" lIns="0" tIns="0" rIns="0" bIns="0" rtlCol="0" anchor="ctr">
            <a:normAutofit/>
          </a:bodyPr>
          <a:lstStyle/>
          <a:p>
            <a:pPr rtl="1" algn="r" indent="0" marL="0">
              <a:buNone/>
            </a:pPr>
            <a:r>
              <a:rPr lang="ar-SA" altLang="en-US" sz="1000" b="1" dirty="0">
                <a:solidFill>
                  <a:srgbClr val="3D3935"/>
                </a:solidFill>
                <a:latin typeface="Arial" pitchFamily="34" charset="0"/>
                <a:ea typeface="Arial" pitchFamily="34" charset="-122"/>
                <a:cs typeface="Arial" pitchFamily="34" charset="-120"/>
              </a:rPr>
              <a:t>المدة الإجمالية للمشروع</a:t>
            </a:r>
            <a:endParaRPr lang="ar-SA" sz="1000" dirty="0"/>
          </a:p>
        </p:txBody>
      </p:sp>
      <p:sp>
        <p:nvSpPr>
          <p:cNvPr id="201" name="Text 199"/>
          <p:cNvSpPr/>
          <p:nvPr/>
        </p:nvSpPr>
        <p:spPr>
          <a:xfrm>
            <a:off x="7464247" y="1965960"/>
            <a:ext cx="502920" cy="274320"/>
          </a:xfrm>
          <a:prstGeom prst="rect">
            <a:avLst/>
          </a:prstGeom>
          <a:noFill/>
          <a:ln/>
        </p:spPr>
        <p:txBody>
          <a:bodyPr wrap="square" lIns="0" tIns="0" rIns="0" bIns="0" rtlCol="0" anchor="ctr">
            <a:normAutofit/>
          </a:bodyPr>
          <a:lstStyle/>
          <a:p>
            <a:pPr rtl="1" algn="ctr" indent="0" marL="0">
              <a:buNone/>
            </a:pPr>
            <a:r>
              <a:rPr lang="ar-SA" altLang="en-US" sz="1100" b="1" dirty="0">
                <a:solidFill>
                  <a:srgbClr val="222222"/>
                </a:solidFill>
                <a:latin typeface="Arial" pitchFamily="34" charset="0"/>
                <a:ea typeface="Arial" pitchFamily="34" charset="-122"/>
                <a:cs typeface="Arial" pitchFamily="34" charset="-120"/>
              </a:rPr>
              <a:t>37</a:t>
            </a:r>
            <a:endParaRPr lang="ar-SA" sz="1100" dirty="0"/>
          </a:p>
        </p:txBody>
      </p:sp>
      <p:sp>
        <p:nvSpPr>
          <p:cNvPr id="202" name="Text 200"/>
          <p:cNvSpPr/>
          <p:nvPr/>
        </p:nvSpPr>
        <p:spPr>
          <a:xfrm>
            <a:off x="6805879" y="1965960"/>
            <a:ext cx="658368" cy="274320"/>
          </a:xfrm>
          <a:prstGeom prst="rect">
            <a:avLst/>
          </a:prstGeom>
          <a:noFill/>
          <a:ln/>
        </p:spPr>
        <p:txBody>
          <a:bodyPr wrap="square" lIns="0" tIns="0" rIns="0" bIns="0" rtlCol="0" anchor="ctr">
            <a:normAutofit/>
          </a:bodyPr>
          <a:lstStyle/>
          <a:p>
            <a:pPr rtl="1" algn="ctr" indent="0" marL="0">
              <a:buNone/>
            </a:pPr>
            <a:r>
              <a:rPr lang="ar-SA" altLang="en-US" sz="850" b="1" dirty="0">
                <a:solidFill>
                  <a:srgbClr val="222222"/>
                </a:solidFill>
                <a:latin typeface="Arial" pitchFamily="34" charset="0"/>
                <a:ea typeface="Arial" pitchFamily="34" charset="-122"/>
                <a:cs typeface="Arial" pitchFamily="34" charset="-120"/>
              </a:rPr>
              <a:t>13 أكتوبر</a:t>
            </a:r>
            <a:endParaRPr lang="ar-SA" sz="850" dirty="0"/>
          </a:p>
        </p:txBody>
      </p:sp>
      <p:sp>
        <p:nvSpPr>
          <p:cNvPr id="203" name="Text 201"/>
          <p:cNvSpPr/>
          <p:nvPr/>
        </p:nvSpPr>
        <p:spPr>
          <a:xfrm>
            <a:off x="6147511" y="1965960"/>
            <a:ext cx="658368" cy="274320"/>
          </a:xfrm>
          <a:prstGeom prst="rect">
            <a:avLst/>
          </a:prstGeom>
          <a:noFill/>
          <a:ln/>
        </p:spPr>
        <p:txBody>
          <a:bodyPr wrap="square" lIns="0" tIns="0" rIns="0" bIns="0" rtlCol="0" anchor="ctr">
            <a:normAutofit/>
          </a:bodyPr>
          <a:lstStyle/>
          <a:p>
            <a:pPr rtl="1" algn="ctr" indent="0" marL="0">
              <a:buNone/>
            </a:pPr>
            <a:r>
              <a:rPr lang="ar-SA" altLang="en-US" sz="850" b="1" dirty="0">
                <a:solidFill>
                  <a:srgbClr val="222222"/>
                </a:solidFill>
                <a:latin typeface="Arial" pitchFamily="34" charset="0"/>
                <a:ea typeface="Arial" pitchFamily="34" charset="-122"/>
                <a:cs typeface="Arial" pitchFamily="34" charset="-120"/>
              </a:rPr>
              <a:t>24 نوفمبر</a:t>
            </a:r>
            <a:endParaRPr lang="ar-SA" sz="850" dirty="0"/>
          </a:p>
        </p:txBody>
      </p:sp>
      <p:sp>
        <p:nvSpPr>
          <p:cNvPr id="204" name="Shape 202"/>
          <p:cNvSpPr/>
          <p:nvPr/>
        </p:nvSpPr>
        <p:spPr>
          <a:xfrm>
            <a:off x="606666" y="2011680"/>
            <a:ext cx="5179485" cy="182880"/>
          </a:xfrm>
          <a:prstGeom prst="roundRect">
            <a:avLst>
              <a:gd name="adj" fmla="val 25000"/>
            </a:avLst>
          </a:prstGeom>
          <a:solidFill>
            <a:srgbClr val="3D3935"/>
          </a:solidFill>
          <a:ln w="12700">
            <a:solidFill>
              <a:srgbClr val="3D3935"/>
            </a:solidFill>
            <a:prstDash val="solid"/>
          </a:ln>
        </p:spPr>
      </p:sp>
      <p:sp>
        <p:nvSpPr>
          <p:cNvPr id="205" name="Text 203"/>
          <p:cNvSpPr/>
          <p:nvPr/>
        </p:nvSpPr>
        <p:spPr>
          <a:xfrm>
            <a:off x="606666" y="2011680"/>
            <a:ext cx="5179485" cy="182880"/>
          </a:xfrm>
          <a:prstGeom prst="rect">
            <a:avLst/>
          </a:prstGeom>
          <a:noFill/>
          <a:ln/>
        </p:spPr>
        <p:txBody>
          <a:bodyPr wrap="square" lIns="0" tIns="0" rIns="0" bIns="0" rtlCol="0" anchor="ctr">
            <a:normAutofit/>
          </a:bodyPr>
          <a:lstStyle/>
          <a:p>
            <a:pPr rtl="1" algn="ctr" indent="0" marL="0">
              <a:buNone/>
            </a:pPr>
            <a:r>
              <a:rPr lang="ar-SA" altLang="en-US" sz="850" b="1" dirty="0">
                <a:solidFill>
                  <a:srgbClr val="FFFFFF"/>
                </a:solidFill>
                <a:latin typeface="Arial" pitchFamily="34" charset="0"/>
                <a:ea typeface="Arial" pitchFamily="34" charset="-122"/>
                <a:cs typeface="Arial" pitchFamily="34" charset="-120"/>
              </a:rPr>
              <a:t>37 يوم عمل · 13 أكتوبر → 24 نوفمبر</a:t>
            </a:r>
            <a:endParaRPr lang="ar-SA" sz="850" dirty="0"/>
          </a:p>
        </p:txBody>
      </p:sp>
      <p:sp>
        <p:nvSpPr>
          <p:cNvPr id="206" name="Shape 204"/>
          <p:cNvSpPr/>
          <p:nvPr/>
        </p:nvSpPr>
        <p:spPr>
          <a:xfrm>
            <a:off x="6147511" y="2240280"/>
            <a:ext cx="5678424" cy="640080"/>
          </a:xfrm>
          <a:prstGeom prst="rect">
            <a:avLst/>
          </a:prstGeom>
          <a:solidFill>
            <a:srgbClr val="FBFDFD"/>
          </a:solidFill>
          <a:ln w="6350">
            <a:solidFill>
              <a:srgbClr val="DFE6EA"/>
            </a:solidFill>
            <a:prstDash val="solid"/>
          </a:ln>
        </p:spPr>
      </p:sp>
      <p:sp>
        <p:nvSpPr>
          <p:cNvPr id="207" name="Text 205"/>
          <p:cNvSpPr/>
          <p:nvPr/>
        </p:nvSpPr>
        <p:spPr>
          <a:xfrm>
            <a:off x="6238951" y="2240280"/>
            <a:ext cx="5495544" cy="640080"/>
          </a:xfrm>
          <a:prstGeom prst="rect">
            <a:avLst/>
          </a:prstGeom>
          <a:noFill/>
          <a:ln/>
        </p:spPr>
        <p:txBody>
          <a:bodyPr wrap="square" lIns="0" tIns="0" rIns="0" bIns="0" rtlCol="0" anchor="ctr">
            <a:normAutofit/>
          </a:bodyPr>
          <a:lstStyle/>
          <a:p>
            <a:pPr rtl="1" algn="r" indent="0" marL="0">
              <a:buNone/>
            </a:pPr>
            <a:r>
              <a:rPr lang="ar-SA" altLang="en-US" sz="1000" b="1" dirty="0">
                <a:solidFill>
                  <a:srgbClr val="3D3935"/>
                </a:solidFill>
                <a:latin typeface="Arial" pitchFamily="34" charset="0"/>
                <a:ea typeface="Arial" pitchFamily="34" charset="-122"/>
                <a:cs typeface="Arial" pitchFamily="34" charset="-120"/>
              </a:rPr>
              <a:t>◆  ميل ستون</a:t>
            </a:r>
            <a:endParaRPr lang="ar-SA" sz="1000" dirty="0"/>
          </a:p>
        </p:txBody>
      </p:sp>
      <p:sp>
        <p:nvSpPr>
          <p:cNvPr id="208" name="Shape 206"/>
          <p:cNvSpPr/>
          <p:nvPr/>
        </p:nvSpPr>
        <p:spPr>
          <a:xfrm>
            <a:off x="5643629" y="2313432"/>
            <a:ext cx="164592" cy="164592"/>
          </a:xfrm>
          <a:prstGeom prst="diamond">
            <a:avLst/>
          </a:prstGeom>
          <a:solidFill>
            <a:srgbClr val="3D3935"/>
          </a:solidFill>
          <a:ln w="19050">
            <a:solidFill>
              <a:srgbClr val="FFFFFF"/>
            </a:solidFill>
            <a:prstDash val="solid"/>
          </a:ln>
        </p:spPr>
      </p:sp>
      <p:sp>
        <p:nvSpPr>
          <p:cNvPr id="209" name="Text 207"/>
          <p:cNvSpPr/>
          <p:nvPr/>
        </p:nvSpPr>
        <p:spPr>
          <a:xfrm>
            <a:off x="5296157" y="2487168"/>
            <a:ext cx="859536" cy="201168"/>
          </a:xfrm>
          <a:prstGeom prst="rect">
            <a:avLst/>
          </a:prstGeom>
          <a:noFill/>
          <a:ln/>
        </p:spPr>
        <p:txBody>
          <a:bodyPr wrap="square" lIns="0" tIns="0" rIns="0" bIns="0" rtlCol="0" anchor="t">
            <a:normAutofit/>
          </a:bodyPr>
          <a:lstStyle/>
          <a:p>
            <a:pPr rtl="1" algn="ctr" indent="0" marL="0">
              <a:buNone/>
            </a:pPr>
            <a:r>
              <a:rPr lang="ar-SA" altLang="en-US" sz="550" dirty="0">
                <a:solidFill>
                  <a:srgbClr val="556070"/>
                </a:solidFill>
                <a:latin typeface="Arial" pitchFamily="34" charset="0"/>
                <a:ea typeface="Arial" pitchFamily="34" charset="-122"/>
                <a:cs typeface="Arial" pitchFamily="34" charset="-120"/>
              </a:rPr>
              <a:t>بدء الأعمال</a:t>
            </a:r>
            <a:endParaRPr lang="ar-SA" sz="550" dirty="0"/>
          </a:p>
        </p:txBody>
      </p:sp>
      <p:sp>
        <p:nvSpPr>
          <p:cNvPr id="210" name="Text 208"/>
          <p:cNvSpPr/>
          <p:nvPr/>
        </p:nvSpPr>
        <p:spPr>
          <a:xfrm>
            <a:off x="5158997" y="2697480"/>
            <a:ext cx="1133856" cy="164592"/>
          </a:xfrm>
          <a:prstGeom prst="rect">
            <a:avLst/>
          </a:prstGeom>
          <a:noFill/>
          <a:ln/>
        </p:spPr>
        <p:txBody>
          <a:bodyPr wrap="square" lIns="0" tIns="0" rIns="0" bIns="0" rtlCol="0" anchor="ctr">
            <a:normAutofit/>
          </a:bodyPr>
          <a:lstStyle/>
          <a:p>
            <a:pPr rtl="1" algn="ctr" indent="0" marL="0">
              <a:buNone/>
            </a:pPr>
            <a:r>
              <a:rPr lang="ar-SA" altLang="en-US" sz="750" b="1" dirty="0">
                <a:solidFill>
                  <a:srgbClr val="3D3935"/>
                </a:solidFill>
                <a:latin typeface="Arial" pitchFamily="34" charset="0"/>
                <a:ea typeface="Arial" pitchFamily="34" charset="-122"/>
                <a:cs typeface="Arial" pitchFamily="34" charset="-120"/>
              </a:rPr>
              <a:t>13 أكتوبر</a:t>
            </a:r>
            <a:endParaRPr lang="ar-SA" sz="750" dirty="0"/>
          </a:p>
        </p:txBody>
      </p:sp>
      <p:sp>
        <p:nvSpPr>
          <p:cNvPr id="211" name="Shape 209"/>
          <p:cNvSpPr/>
          <p:nvPr/>
        </p:nvSpPr>
        <p:spPr>
          <a:xfrm>
            <a:off x="4920910" y="2313432"/>
            <a:ext cx="164592" cy="164592"/>
          </a:xfrm>
          <a:prstGeom prst="diamond">
            <a:avLst/>
          </a:prstGeom>
          <a:solidFill>
            <a:srgbClr val="3D3935"/>
          </a:solidFill>
          <a:ln w="19050">
            <a:solidFill>
              <a:srgbClr val="FFFFFF"/>
            </a:solidFill>
            <a:prstDash val="solid"/>
          </a:ln>
        </p:spPr>
      </p:sp>
      <p:sp>
        <p:nvSpPr>
          <p:cNvPr id="212" name="Text 210"/>
          <p:cNvSpPr/>
          <p:nvPr/>
        </p:nvSpPr>
        <p:spPr>
          <a:xfrm>
            <a:off x="4573438" y="2487168"/>
            <a:ext cx="859536" cy="201168"/>
          </a:xfrm>
          <a:prstGeom prst="rect">
            <a:avLst/>
          </a:prstGeom>
          <a:noFill/>
          <a:ln/>
        </p:spPr>
        <p:txBody>
          <a:bodyPr wrap="square" lIns="0" tIns="0" rIns="0" bIns="0" rtlCol="0" anchor="t">
            <a:normAutofit/>
          </a:bodyPr>
          <a:lstStyle/>
          <a:p>
            <a:pPr rtl="1" algn="ctr" indent="0" marL="0">
              <a:buNone/>
            </a:pPr>
            <a:r>
              <a:rPr lang="ar-SA" altLang="en-US" sz="550" dirty="0">
                <a:solidFill>
                  <a:srgbClr val="556070"/>
                </a:solidFill>
                <a:latin typeface="Arial" pitchFamily="34" charset="0"/>
                <a:ea typeface="Arial" pitchFamily="34" charset="-122"/>
                <a:cs typeface="Arial" pitchFamily="34" charset="-120"/>
              </a:rPr>
              <a:t>اكتمال تركيب نظام الدعم</a:t>
            </a:r>
            <a:endParaRPr lang="ar-SA" sz="550" dirty="0"/>
          </a:p>
        </p:txBody>
      </p:sp>
      <p:sp>
        <p:nvSpPr>
          <p:cNvPr id="213" name="Text 211"/>
          <p:cNvSpPr/>
          <p:nvPr/>
        </p:nvSpPr>
        <p:spPr>
          <a:xfrm>
            <a:off x="4436278" y="2697480"/>
            <a:ext cx="1133856" cy="164592"/>
          </a:xfrm>
          <a:prstGeom prst="rect">
            <a:avLst/>
          </a:prstGeom>
          <a:noFill/>
          <a:ln/>
        </p:spPr>
        <p:txBody>
          <a:bodyPr wrap="square" lIns="0" tIns="0" rIns="0" bIns="0" rtlCol="0" anchor="ctr">
            <a:normAutofit/>
          </a:bodyPr>
          <a:lstStyle/>
          <a:p>
            <a:pPr rtl="1" algn="ctr" indent="0" marL="0">
              <a:buNone/>
            </a:pPr>
            <a:r>
              <a:rPr lang="ar-SA" altLang="en-US" sz="750" b="1" dirty="0">
                <a:solidFill>
                  <a:srgbClr val="3D3935"/>
                </a:solidFill>
                <a:latin typeface="Arial" pitchFamily="34" charset="0"/>
                <a:ea typeface="Arial" pitchFamily="34" charset="-122"/>
                <a:cs typeface="Arial" pitchFamily="34" charset="-120"/>
              </a:rPr>
              <a:t>19 أكتوبر</a:t>
            </a:r>
            <a:endParaRPr lang="ar-SA" sz="750" dirty="0"/>
          </a:p>
        </p:txBody>
      </p:sp>
      <p:sp>
        <p:nvSpPr>
          <p:cNvPr id="214" name="Shape 212"/>
          <p:cNvSpPr/>
          <p:nvPr/>
        </p:nvSpPr>
        <p:spPr>
          <a:xfrm>
            <a:off x="2150488" y="2313432"/>
            <a:ext cx="164592" cy="164592"/>
          </a:xfrm>
          <a:prstGeom prst="diamond">
            <a:avLst/>
          </a:prstGeom>
          <a:solidFill>
            <a:srgbClr val="3D3935"/>
          </a:solidFill>
          <a:ln w="19050">
            <a:solidFill>
              <a:srgbClr val="FFFFFF"/>
            </a:solidFill>
            <a:prstDash val="solid"/>
          </a:ln>
        </p:spPr>
      </p:sp>
      <p:sp>
        <p:nvSpPr>
          <p:cNvPr id="215" name="Text 213"/>
          <p:cNvSpPr/>
          <p:nvPr/>
        </p:nvSpPr>
        <p:spPr>
          <a:xfrm>
            <a:off x="1803016" y="2487168"/>
            <a:ext cx="859536" cy="201168"/>
          </a:xfrm>
          <a:prstGeom prst="rect">
            <a:avLst/>
          </a:prstGeom>
          <a:noFill/>
          <a:ln/>
        </p:spPr>
        <p:txBody>
          <a:bodyPr wrap="square" lIns="0" tIns="0" rIns="0" bIns="0" rtlCol="0" anchor="t">
            <a:normAutofit/>
          </a:bodyPr>
          <a:lstStyle/>
          <a:p>
            <a:pPr rtl="1" algn="ctr" indent="0" marL="0">
              <a:buNone/>
            </a:pPr>
            <a:r>
              <a:rPr lang="ar-SA" altLang="en-US" sz="550" dirty="0">
                <a:solidFill>
                  <a:srgbClr val="556070"/>
                </a:solidFill>
                <a:latin typeface="Arial" pitchFamily="34" charset="0"/>
                <a:ea typeface="Arial" pitchFamily="34" charset="-122"/>
                <a:cs typeface="Arial" pitchFamily="34" charset="-120"/>
              </a:rPr>
              <a:t>اكتمال أعمال الحفرة (جدار الحفرة)</a:t>
            </a:r>
            <a:endParaRPr lang="ar-SA" sz="550" dirty="0"/>
          </a:p>
        </p:txBody>
      </p:sp>
      <p:sp>
        <p:nvSpPr>
          <p:cNvPr id="216" name="Text 214"/>
          <p:cNvSpPr/>
          <p:nvPr/>
        </p:nvSpPr>
        <p:spPr>
          <a:xfrm>
            <a:off x="1665856" y="2697480"/>
            <a:ext cx="1133856" cy="164592"/>
          </a:xfrm>
          <a:prstGeom prst="rect">
            <a:avLst/>
          </a:prstGeom>
          <a:noFill/>
          <a:ln/>
        </p:spPr>
        <p:txBody>
          <a:bodyPr wrap="square" lIns="0" tIns="0" rIns="0" bIns="0" rtlCol="0" anchor="ctr">
            <a:normAutofit/>
          </a:bodyPr>
          <a:lstStyle/>
          <a:p>
            <a:pPr rtl="1" algn="ctr" indent="0" marL="0">
              <a:buNone/>
            </a:pPr>
            <a:r>
              <a:rPr lang="ar-SA" altLang="en-US" sz="750" b="1" dirty="0">
                <a:solidFill>
                  <a:srgbClr val="3D3935"/>
                </a:solidFill>
                <a:latin typeface="Arial" pitchFamily="34" charset="0"/>
                <a:ea typeface="Arial" pitchFamily="34" charset="-122"/>
                <a:cs typeface="Arial" pitchFamily="34" charset="-120"/>
              </a:rPr>
              <a:t>11 نوفمبر</a:t>
            </a:r>
            <a:endParaRPr lang="ar-SA" sz="750" dirty="0"/>
          </a:p>
        </p:txBody>
      </p:sp>
      <p:sp>
        <p:nvSpPr>
          <p:cNvPr id="217" name="Shape 215"/>
          <p:cNvSpPr/>
          <p:nvPr/>
        </p:nvSpPr>
        <p:spPr>
          <a:xfrm>
            <a:off x="1307316" y="2313432"/>
            <a:ext cx="164592" cy="164592"/>
          </a:xfrm>
          <a:prstGeom prst="diamond">
            <a:avLst/>
          </a:prstGeom>
          <a:solidFill>
            <a:srgbClr val="3D3935"/>
          </a:solidFill>
          <a:ln w="19050">
            <a:solidFill>
              <a:srgbClr val="FFFFFF"/>
            </a:solidFill>
            <a:prstDash val="solid"/>
          </a:ln>
        </p:spPr>
      </p:sp>
      <p:sp>
        <p:nvSpPr>
          <p:cNvPr id="218" name="Text 216"/>
          <p:cNvSpPr/>
          <p:nvPr/>
        </p:nvSpPr>
        <p:spPr>
          <a:xfrm>
            <a:off x="959844" y="2487168"/>
            <a:ext cx="859536" cy="201168"/>
          </a:xfrm>
          <a:prstGeom prst="rect">
            <a:avLst/>
          </a:prstGeom>
          <a:noFill/>
          <a:ln/>
        </p:spPr>
        <p:txBody>
          <a:bodyPr wrap="square" lIns="0" tIns="0" rIns="0" bIns="0" rtlCol="0" anchor="t">
            <a:normAutofit/>
          </a:bodyPr>
          <a:lstStyle/>
          <a:p>
            <a:pPr rtl="1" algn="ctr" indent="0" marL="0">
              <a:buNone/>
            </a:pPr>
            <a:r>
              <a:rPr lang="ar-SA" altLang="en-US" sz="550" dirty="0">
                <a:solidFill>
                  <a:srgbClr val="556070"/>
                </a:solidFill>
                <a:latin typeface="Arial" pitchFamily="34" charset="0"/>
                <a:ea typeface="Arial" pitchFamily="34" charset="-122"/>
                <a:cs typeface="Arial" pitchFamily="34" charset="-120"/>
              </a:rPr>
              <a:t>اكتمال أساسات المبنى</a:t>
            </a:r>
            <a:endParaRPr lang="ar-SA" sz="550" dirty="0"/>
          </a:p>
        </p:txBody>
      </p:sp>
      <p:sp>
        <p:nvSpPr>
          <p:cNvPr id="219" name="Text 217"/>
          <p:cNvSpPr/>
          <p:nvPr/>
        </p:nvSpPr>
        <p:spPr>
          <a:xfrm>
            <a:off x="822684" y="2697480"/>
            <a:ext cx="1133856" cy="164592"/>
          </a:xfrm>
          <a:prstGeom prst="rect">
            <a:avLst/>
          </a:prstGeom>
          <a:noFill/>
          <a:ln/>
        </p:spPr>
        <p:txBody>
          <a:bodyPr wrap="square" lIns="0" tIns="0" rIns="0" bIns="0" rtlCol="0" anchor="ctr">
            <a:normAutofit/>
          </a:bodyPr>
          <a:lstStyle/>
          <a:p>
            <a:pPr rtl="1" algn="ctr" indent="0" marL="0">
              <a:buNone/>
            </a:pPr>
            <a:r>
              <a:rPr lang="ar-SA" altLang="en-US" sz="750" b="1" dirty="0">
                <a:solidFill>
                  <a:srgbClr val="3D3935"/>
                </a:solidFill>
                <a:latin typeface="Arial" pitchFamily="34" charset="0"/>
                <a:ea typeface="Arial" pitchFamily="34" charset="-122"/>
                <a:cs typeface="Arial" pitchFamily="34" charset="-120"/>
              </a:rPr>
              <a:t>18 نوفمبر</a:t>
            </a:r>
            <a:endParaRPr lang="ar-SA" sz="750" dirty="0"/>
          </a:p>
        </p:txBody>
      </p:sp>
      <p:sp>
        <p:nvSpPr>
          <p:cNvPr id="220" name="Shape 218"/>
          <p:cNvSpPr/>
          <p:nvPr/>
        </p:nvSpPr>
        <p:spPr>
          <a:xfrm>
            <a:off x="584597" y="2313432"/>
            <a:ext cx="164592" cy="164592"/>
          </a:xfrm>
          <a:prstGeom prst="diamond">
            <a:avLst/>
          </a:prstGeom>
          <a:solidFill>
            <a:srgbClr val="3D3935"/>
          </a:solidFill>
          <a:ln w="19050">
            <a:solidFill>
              <a:srgbClr val="FFFFFF"/>
            </a:solidFill>
            <a:prstDash val="solid"/>
          </a:ln>
        </p:spPr>
      </p:sp>
      <p:sp>
        <p:nvSpPr>
          <p:cNvPr id="221" name="Text 219"/>
          <p:cNvSpPr/>
          <p:nvPr/>
        </p:nvSpPr>
        <p:spPr>
          <a:xfrm>
            <a:off x="237125" y="2487168"/>
            <a:ext cx="859536" cy="201168"/>
          </a:xfrm>
          <a:prstGeom prst="rect">
            <a:avLst/>
          </a:prstGeom>
          <a:noFill/>
          <a:ln/>
        </p:spPr>
        <p:txBody>
          <a:bodyPr wrap="square" lIns="0" tIns="0" rIns="0" bIns="0" rtlCol="0" anchor="t">
            <a:normAutofit/>
          </a:bodyPr>
          <a:lstStyle/>
          <a:p>
            <a:pPr rtl="1" algn="ctr" indent="0" marL="0">
              <a:buNone/>
            </a:pPr>
            <a:r>
              <a:rPr lang="ar-SA" altLang="en-US" sz="550" dirty="0">
                <a:solidFill>
                  <a:srgbClr val="556070"/>
                </a:solidFill>
                <a:latin typeface="Arial" pitchFamily="34" charset="0"/>
                <a:ea typeface="Arial" pitchFamily="34" charset="-122"/>
                <a:cs typeface="Arial" pitchFamily="34" charset="-120"/>
              </a:rPr>
              <a:t>الإنجاز الكلي</a:t>
            </a:r>
            <a:endParaRPr lang="ar-SA" sz="550" dirty="0"/>
          </a:p>
        </p:txBody>
      </p:sp>
      <p:sp>
        <p:nvSpPr>
          <p:cNvPr id="222" name="Text 220"/>
          <p:cNvSpPr/>
          <p:nvPr/>
        </p:nvSpPr>
        <p:spPr>
          <a:xfrm>
            <a:off x="99965" y="2697480"/>
            <a:ext cx="1133856" cy="164592"/>
          </a:xfrm>
          <a:prstGeom prst="rect">
            <a:avLst/>
          </a:prstGeom>
          <a:noFill/>
          <a:ln/>
        </p:spPr>
        <p:txBody>
          <a:bodyPr wrap="square" lIns="0" tIns="0" rIns="0" bIns="0" rtlCol="0" anchor="ctr">
            <a:normAutofit/>
          </a:bodyPr>
          <a:lstStyle/>
          <a:p>
            <a:pPr rtl="1" algn="ctr" indent="0" marL="0">
              <a:buNone/>
            </a:pPr>
            <a:r>
              <a:rPr lang="ar-SA" altLang="en-US" sz="750" b="1" dirty="0">
                <a:solidFill>
                  <a:srgbClr val="3D3935"/>
                </a:solidFill>
                <a:latin typeface="Arial" pitchFamily="34" charset="0"/>
                <a:ea typeface="Arial" pitchFamily="34" charset="-122"/>
                <a:cs typeface="Arial" pitchFamily="34" charset="-120"/>
              </a:rPr>
              <a:t>24 نوفمبر</a:t>
            </a:r>
            <a:endParaRPr lang="ar-SA" sz="750" dirty="0"/>
          </a:p>
        </p:txBody>
      </p:sp>
      <p:sp>
        <p:nvSpPr>
          <p:cNvPr id="223" name="Shape 221"/>
          <p:cNvSpPr/>
          <p:nvPr/>
        </p:nvSpPr>
        <p:spPr>
          <a:xfrm>
            <a:off x="365760" y="2880360"/>
            <a:ext cx="11460175" cy="215646"/>
          </a:xfrm>
          <a:prstGeom prst="rect">
            <a:avLst/>
          </a:prstGeom>
          <a:solidFill>
            <a:srgbClr val="FFFFFF"/>
          </a:solidFill>
          <a:ln w="6350">
            <a:solidFill>
              <a:srgbClr val="DFE6EA"/>
            </a:solidFill>
            <a:prstDash val="solid"/>
          </a:ln>
        </p:spPr>
      </p:sp>
      <p:sp>
        <p:nvSpPr>
          <p:cNvPr id="224" name="Shape 222"/>
          <p:cNvSpPr/>
          <p:nvPr/>
        </p:nvSpPr>
        <p:spPr>
          <a:xfrm>
            <a:off x="11515039" y="2869311"/>
            <a:ext cx="237744" cy="237744"/>
          </a:xfrm>
          <a:prstGeom prst="ellipse">
            <a:avLst>
              <a:gd name="adj" fmla="val 32692"/>
            </a:avLst>
          </a:prstGeom>
          <a:solidFill>
            <a:srgbClr val="C8503F"/>
          </a:solidFill>
          <a:ln w="19050">
            <a:solidFill>
              <a:srgbClr val="222222"/>
            </a:solidFill>
            <a:prstDash val="solid"/>
          </a:ln>
        </p:spPr>
      </p:sp>
      <p:sp>
        <p:nvSpPr>
          <p:cNvPr id="225" name="Text 223"/>
          <p:cNvSpPr/>
          <p:nvPr/>
        </p:nvSpPr>
        <p:spPr>
          <a:xfrm>
            <a:off x="11441887" y="2880360"/>
            <a:ext cx="384048" cy="215646"/>
          </a:xfrm>
          <a:prstGeom prst="rect">
            <a:avLst/>
          </a:prstGeom>
          <a:noFill/>
          <a:ln/>
        </p:spPr>
        <p:txBody>
          <a:bodyPr wrap="square" lIns="0" tIns="0" rIns="0" bIns="0" rtlCol="0" anchor="ctr">
            <a:normAutofit/>
          </a:bodyPr>
          <a:lstStyle/>
          <a:p>
            <a:pPr rtl="1" algn="ctr" indent="0" marL="0">
              <a:buNone/>
            </a:pPr>
            <a:r>
              <a:rPr lang="ar-SA" altLang="en-US" sz="850" b="1" dirty="0">
                <a:solidFill>
                  <a:srgbClr val="FFFFFF"/>
                </a:solidFill>
                <a:latin typeface="Arial" pitchFamily="34" charset="0"/>
                <a:ea typeface="Arial" pitchFamily="34" charset="-122"/>
                <a:cs typeface="Arial" pitchFamily="34" charset="-120"/>
              </a:rPr>
              <a:t>A</a:t>
            </a:r>
            <a:endParaRPr lang="ar-SA" sz="850" dirty="0"/>
          </a:p>
        </p:txBody>
      </p:sp>
      <p:sp>
        <p:nvSpPr>
          <p:cNvPr id="226" name="Text 224"/>
          <p:cNvSpPr/>
          <p:nvPr/>
        </p:nvSpPr>
        <p:spPr>
          <a:xfrm>
            <a:off x="8762695" y="2880360"/>
            <a:ext cx="2606040" cy="215646"/>
          </a:xfrm>
          <a:prstGeom prst="rect">
            <a:avLst/>
          </a:prstGeom>
          <a:noFill/>
          <a:ln/>
        </p:spPr>
        <p:txBody>
          <a:bodyPr wrap="square" lIns="0" tIns="0" rIns="0" bIns="0" rtlCol="0" anchor="ctr">
            <a:normAutofit/>
          </a:bodyPr>
          <a:lstStyle/>
          <a:p>
            <a:pPr rtl="1" algn="r" indent="0" marL="0">
              <a:buNone/>
            </a:pPr>
            <a:r>
              <a:rPr lang="ar-SA" altLang="en-US" sz="750" b="1" dirty="0">
                <a:solidFill>
                  <a:srgbClr val="222222"/>
                </a:solidFill>
                <a:latin typeface="Arial" pitchFamily="34" charset="0"/>
                <a:ea typeface="Arial" pitchFamily="34" charset="-122"/>
                <a:cs typeface="Arial" pitchFamily="34" charset="-120"/>
              </a:rPr>
              <a:t>تركيب نظام الدعم (Shoring)</a:t>
            </a:r>
            <a:endParaRPr lang="ar-SA" sz="750" dirty="0"/>
          </a:p>
        </p:txBody>
      </p:sp>
      <p:sp>
        <p:nvSpPr>
          <p:cNvPr id="227" name="Text 225"/>
          <p:cNvSpPr/>
          <p:nvPr/>
        </p:nvSpPr>
        <p:spPr>
          <a:xfrm>
            <a:off x="7967167" y="2880360"/>
            <a:ext cx="777240" cy="215646"/>
          </a:xfrm>
          <a:prstGeom prst="rect">
            <a:avLst/>
          </a:prstGeom>
          <a:noFill/>
          <a:ln/>
        </p:spPr>
        <p:txBody>
          <a:bodyPr wrap="square" lIns="0" tIns="0" rIns="0" bIns="0" rtlCol="0" anchor="ctr">
            <a:normAutofit/>
          </a:bodyPr>
          <a:lstStyle/>
          <a:p>
            <a:pPr rtl="1" algn="ctr" indent="0" marL="0">
              <a:buNone/>
            </a:pPr>
            <a:r>
              <a:rPr lang="ar-SA" altLang="en-US" sz="700" dirty="0">
                <a:solidFill>
                  <a:srgbClr val="444444"/>
                </a:solidFill>
                <a:latin typeface="Arial" pitchFamily="34" charset="0"/>
                <a:ea typeface="Arial" pitchFamily="34" charset="-122"/>
                <a:cs typeface="Arial" pitchFamily="34" charset="-120"/>
              </a:rPr>
              <a:t>—</a:t>
            </a:r>
            <a:endParaRPr lang="ar-SA" sz="700" dirty="0"/>
          </a:p>
        </p:txBody>
      </p:sp>
      <p:sp>
        <p:nvSpPr>
          <p:cNvPr id="228" name="Text 226"/>
          <p:cNvSpPr/>
          <p:nvPr/>
        </p:nvSpPr>
        <p:spPr>
          <a:xfrm>
            <a:off x="7464247" y="2880360"/>
            <a:ext cx="502920" cy="215646"/>
          </a:xfrm>
          <a:prstGeom prst="rect">
            <a:avLst/>
          </a:prstGeom>
          <a:noFill/>
          <a:ln/>
        </p:spPr>
        <p:txBody>
          <a:bodyPr wrap="square" lIns="0" tIns="0" rIns="0" bIns="0" rtlCol="0" anchor="ctr">
            <a:normAutofit/>
          </a:bodyPr>
          <a:lstStyle/>
          <a:p>
            <a:pPr rtl="1" algn="ctr" indent="0" marL="0">
              <a:buNone/>
            </a:pPr>
            <a:r>
              <a:rPr lang="ar-SA" altLang="en-US" sz="900" b="1" dirty="0">
                <a:solidFill>
                  <a:srgbClr val="222222"/>
                </a:solidFill>
                <a:latin typeface="Arial" pitchFamily="34" charset="0"/>
                <a:ea typeface="Arial" pitchFamily="34" charset="-122"/>
                <a:cs typeface="Arial" pitchFamily="34" charset="-120"/>
              </a:rPr>
              <a:t>6</a:t>
            </a:r>
            <a:endParaRPr lang="ar-SA" sz="900" dirty="0"/>
          </a:p>
        </p:txBody>
      </p:sp>
      <p:sp>
        <p:nvSpPr>
          <p:cNvPr id="229" name="Text 227"/>
          <p:cNvSpPr/>
          <p:nvPr/>
        </p:nvSpPr>
        <p:spPr>
          <a:xfrm>
            <a:off x="6805879" y="2880360"/>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13 أكتوبر</a:t>
            </a:r>
            <a:endParaRPr lang="ar-SA" sz="700" dirty="0"/>
          </a:p>
        </p:txBody>
      </p:sp>
      <p:sp>
        <p:nvSpPr>
          <p:cNvPr id="230" name="Text 228"/>
          <p:cNvSpPr/>
          <p:nvPr/>
        </p:nvSpPr>
        <p:spPr>
          <a:xfrm>
            <a:off x="6147511" y="2880360"/>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19 أكتوبر</a:t>
            </a:r>
            <a:endParaRPr lang="ar-SA" sz="700" dirty="0"/>
          </a:p>
        </p:txBody>
      </p:sp>
      <p:sp>
        <p:nvSpPr>
          <p:cNvPr id="231" name="Shape 229"/>
          <p:cNvSpPr/>
          <p:nvPr/>
        </p:nvSpPr>
        <p:spPr>
          <a:xfrm>
            <a:off x="4942980" y="2928747"/>
            <a:ext cx="843172" cy="64008"/>
          </a:xfrm>
          <a:prstGeom prst="rect">
            <a:avLst/>
          </a:prstGeom>
          <a:solidFill>
            <a:srgbClr val="C8503F"/>
          </a:solidFill>
          <a:ln w="12700">
            <a:solidFill>
              <a:srgbClr val="C8503F"/>
            </a:solidFill>
            <a:prstDash val="solid"/>
          </a:ln>
        </p:spPr>
      </p:sp>
      <p:sp>
        <p:nvSpPr>
          <p:cNvPr id="232" name="Shape 230"/>
          <p:cNvSpPr/>
          <p:nvPr/>
        </p:nvSpPr>
        <p:spPr>
          <a:xfrm flipV="1">
            <a:off x="5722144" y="2992755"/>
            <a:ext cx="64008" cy="54864"/>
          </a:xfrm>
          <a:prstGeom prst="triangle">
            <a:avLst/>
          </a:prstGeom>
          <a:solidFill>
            <a:srgbClr val="C8503F"/>
          </a:solidFill>
          <a:ln w="12700">
            <a:solidFill>
              <a:srgbClr val="C8503F"/>
            </a:solidFill>
            <a:prstDash val="solid"/>
          </a:ln>
        </p:spPr>
      </p:sp>
      <p:sp>
        <p:nvSpPr>
          <p:cNvPr id="233" name="Shape 231"/>
          <p:cNvSpPr/>
          <p:nvPr/>
        </p:nvSpPr>
        <p:spPr>
          <a:xfrm flipV="1">
            <a:off x="4942980" y="2992755"/>
            <a:ext cx="64008" cy="54864"/>
          </a:xfrm>
          <a:prstGeom prst="triangle">
            <a:avLst/>
          </a:prstGeom>
          <a:solidFill>
            <a:srgbClr val="C8503F"/>
          </a:solidFill>
          <a:ln w="12700">
            <a:solidFill>
              <a:srgbClr val="C8503F"/>
            </a:solidFill>
            <a:prstDash val="solid"/>
          </a:ln>
        </p:spPr>
      </p:sp>
      <p:sp>
        <p:nvSpPr>
          <p:cNvPr id="234" name="Text 232"/>
          <p:cNvSpPr/>
          <p:nvPr/>
        </p:nvSpPr>
        <p:spPr>
          <a:xfrm>
            <a:off x="4348620" y="2880360"/>
            <a:ext cx="548640" cy="215646"/>
          </a:xfrm>
          <a:prstGeom prst="rect">
            <a:avLst/>
          </a:prstGeom>
          <a:noFill/>
          <a:ln/>
        </p:spPr>
        <p:txBody>
          <a:bodyPr wrap="square" lIns="0" tIns="0" rIns="0" bIns="0" rtlCol="0" anchor="ctr">
            <a:normAutofit/>
          </a:bodyPr>
          <a:lstStyle/>
          <a:p>
            <a:pPr rtl="1" algn="r" indent="0" marL="0">
              <a:buNone/>
            </a:pPr>
            <a:r>
              <a:rPr lang="ar-SA" altLang="en-US" sz="750" b="1" dirty="0">
                <a:solidFill>
                  <a:srgbClr val="3D3935"/>
                </a:solidFill>
                <a:latin typeface="Arial" pitchFamily="34" charset="0"/>
                <a:ea typeface="Arial" pitchFamily="34" charset="-122"/>
                <a:cs typeface="Arial" pitchFamily="34" charset="-120"/>
              </a:rPr>
              <a:t>6 يوم</a:t>
            </a:r>
            <a:endParaRPr lang="ar-SA" sz="750" dirty="0"/>
          </a:p>
        </p:txBody>
      </p:sp>
      <p:sp>
        <p:nvSpPr>
          <p:cNvPr id="235" name="Shape 233"/>
          <p:cNvSpPr/>
          <p:nvPr/>
        </p:nvSpPr>
        <p:spPr>
          <a:xfrm>
            <a:off x="365760" y="3096006"/>
            <a:ext cx="11460175" cy="215646"/>
          </a:xfrm>
          <a:prstGeom prst="rect">
            <a:avLst/>
          </a:prstGeom>
          <a:solidFill>
            <a:srgbClr val="F6F9FA"/>
          </a:solidFill>
          <a:ln w="6350">
            <a:solidFill>
              <a:srgbClr val="DFE6EA"/>
            </a:solidFill>
            <a:prstDash val="solid"/>
          </a:ln>
        </p:spPr>
      </p:sp>
      <p:sp>
        <p:nvSpPr>
          <p:cNvPr id="236" name="Shape 234"/>
          <p:cNvSpPr/>
          <p:nvPr/>
        </p:nvSpPr>
        <p:spPr>
          <a:xfrm>
            <a:off x="11441887" y="3126105"/>
            <a:ext cx="329184" cy="155448"/>
          </a:xfrm>
          <a:prstGeom prst="roundRect">
            <a:avLst>
              <a:gd name="adj" fmla="val 50000"/>
            </a:avLst>
          </a:prstGeom>
          <a:solidFill>
            <a:srgbClr val="D9695A"/>
          </a:solidFill>
          <a:ln w="19050">
            <a:solidFill>
              <a:srgbClr val="222222"/>
            </a:solidFill>
            <a:prstDash val="solid"/>
          </a:ln>
        </p:spPr>
      </p:sp>
      <p:sp>
        <p:nvSpPr>
          <p:cNvPr id="237" name="Text 235"/>
          <p:cNvSpPr/>
          <p:nvPr/>
        </p:nvSpPr>
        <p:spPr>
          <a:xfrm>
            <a:off x="11414455" y="3096006"/>
            <a:ext cx="384048" cy="215646"/>
          </a:xfrm>
          <a:prstGeom prst="rect">
            <a:avLst/>
          </a:prstGeom>
          <a:noFill/>
          <a:ln/>
        </p:spPr>
        <p:txBody>
          <a:bodyPr wrap="square" lIns="0" tIns="0" rIns="0" bIns="0" rtlCol="0" anchor="ctr">
            <a:normAutofit/>
          </a:bodyPr>
          <a:lstStyle/>
          <a:p>
            <a:pPr rtl="1" algn="ctr" indent="0" marL="0">
              <a:buNone/>
            </a:pPr>
            <a:r>
              <a:rPr lang="ar-SA" altLang="en-US" sz="650" b="1" dirty="0">
                <a:solidFill>
                  <a:srgbClr val="FFFFFF"/>
                </a:solidFill>
                <a:latin typeface="Arial" pitchFamily="34" charset="0"/>
                <a:ea typeface="Arial" pitchFamily="34" charset="-122"/>
                <a:cs typeface="Arial" pitchFamily="34" charset="-120"/>
              </a:rPr>
              <a:t>A.1</a:t>
            </a:r>
            <a:endParaRPr lang="ar-SA" sz="650" dirty="0"/>
          </a:p>
        </p:txBody>
      </p:sp>
      <p:sp>
        <p:nvSpPr>
          <p:cNvPr id="238" name="Text 236"/>
          <p:cNvSpPr/>
          <p:nvPr/>
        </p:nvSpPr>
        <p:spPr>
          <a:xfrm>
            <a:off x="8762695" y="3096006"/>
            <a:ext cx="2441448" cy="215646"/>
          </a:xfrm>
          <a:prstGeom prst="rect">
            <a:avLst/>
          </a:prstGeom>
          <a:noFill/>
          <a:ln/>
        </p:spPr>
        <p:txBody>
          <a:bodyPr wrap="square" lIns="0" tIns="0" rIns="0" bIns="0" rtlCol="0" anchor="ctr">
            <a:normAutofit/>
          </a:bodyPr>
          <a:lstStyle/>
          <a:p>
            <a:pPr rtl="1" algn="r" indent="0" marL="0">
              <a:buNone/>
            </a:pPr>
            <a:r>
              <a:rPr lang="ar-SA" altLang="en-US" sz="700" dirty="0">
                <a:solidFill>
                  <a:srgbClr val="222222"/>
                </a:solidFill>
                <a:latin typeface="Arial" pitchFamily="34" charset="0"/>
                <a:ea typeface="Arial" pitchFamily="34" charset="-122"/>
                <a:cs typeface="Arial" pitchFamily="34" charset="-120"/>
              </a:rPr>
              <a:t>الحفر لأعمدة H-Beam</a:t>
            </a:r>
            <a:endParaRPr lang="ar-SA" sz="700" dirty="0"/>
          </a:p>
        </p:txBody>
      </p:sp>
      <p:sp>
        <p:nvSpPr>
          <p:cNvPr id="239" name="Text 237"/>
          <p:cNvSpPr/>
          <p:nvPr/>
        </p:nvSpPr>
        <p:spPr>
          <a:xfrm>
            <a:off x="7967167" y="3096006"/>
            <a:ext cx="777240" cy="215646"/>
          </a:xfrm>
          <a:prstGeom prst="rect">
            <a:avLst/>
          </a:prstGeom>
          <a:noFill/>
          <a:ln/>
        </p:spPr>
        <p:txBody>
          <a:bodyPr wrap="square" lIns="0" tIns="0" rIns="0" bIns="0" rtlCol="0" anchor="ctr">
            <a:normAutofit/>
          </a:bodyPr>
          <a:lstStyle/>
          <a:p>
            <a:pPr rtl="1" algn="ctr" indent="0" marL="0">
              <a:buNone/>
            </a:pPr>
            <a:r>
              <a:rPr lang="ar-SA" altLang="en-US" sz="700" dirty="0">
                <a:solidFill>
                  <a:srgbClr val="444444"/>
                </a:solidFill>
                <a:latin typeface="Arial" pitchFamily="34" charset="0"/>
                <a:ea typeface="Arial" pitchFamily="34" charset="-122"/>
                <a:cs typeface="Arial" pitchFamily="34" charset="-120"/>
              </a:rPr>
              <a:t>—</a:t>
            </a:r>
            <a:endParaRPr lang="ar-SA" sz="700" dirty="0"/>
          </a:p>
        </p:txBody>
      </p:sp>
      <p:sp>
        <p:nvSpPr>
          <p:cNvPr id="240" name="Text 238"/>
          <p:cNvSpPr/>
          <p:nvPr/>
        </p:nvSpPr>
        <p:spPr>
          <a:xfrm>
            <a:off x="7464247" y="3096006"/>
            <a:ext cx="502920" cy="215646"/>
          </a:xfrm>
          <a:prstGeom prst="rect">
            <a:avLst/>
          </a:prstGeom>
          <a:noFill/>
          <a:ln/>
        </p:spPr>
        <p:txBody>
          <a:bodyPr wrap="square" lIns="0" tIns="0" rIns="0" bIns="0" rtlCol="0" anchor="ctr">
            <a:normAutofit/>
          </a:bodyPr>
          <a:lstStyle/>
          <a:p>
            <a:pPr rtl="1" algn="ctr" indent="0" marL="0">
              <a:buNone/>
            </a:pPr>
            <a:r>
              <a:rPr lang="ar-SA" altLang="en-US" sz="900" b="1" dirty="0">
                <a:solidFill>
                  <a:srgbClr val="222222"/>
                </a:solidFill>
                <a:latin typeface="Arial" pitchFamily="34" charset="0"/>
                <a:ea typeface="Arial" pitchFamily="34" charset="-122"/>
                <a:cs typeface="Arial" pitchFamily="34" charset="-120"/>
              </a:rPr>
              <a:t>2</a:t>
            </a:r>
            <a:endParaRPr lang="ar-SA" sz="900" dirty="0"/>
          </a:p>
        </p:txBody>
      </p:sp>
      <p:sp>
        <p:nvSpPr>
          <p:cNvPr id="241" name="Text 239"/>
          <p:cNvSpPr/>
          <p:nvPr/>
        </p:nvSpPr>
        <p:spPr>
          <a:xfrm>
            <a:off x="6805879" y="3096006"/>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13 أكتوبر</a:t>
            </a:r>
            <a:endParaRPr lang="ar-SA" sz="700" dirty="0"/>
          </a:p>
        </p:txBody>
      </p:sp>
      <p:sp>
        <p:nvSpPr>
          <p:cNvPr id="242" name="Text 240"/>
          <p:cNvSpPr/>
          <p:nvPr/>
        </p:nvSpPr>
        <p:spPr>
          <a:xfrm>
            <a:off x="6147511" y="3096006"/>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14 أكتوبر</a:t>
            </a:r>
            <a:endParaRPr lang="ar-SA" sz="700" dirty="0"/>
          </a:p>
        </p:txBody>
      </p:sp>
      <p:sp>
        <p:nvSpPr>
          <p:cNvPr id="243" name="Shape 241"/>
          <p:cNvSpPr/>
          <p:nvPr/>
        </p:nvSpPr>
        <p:spPr>
          <a:xfrm>
            <a:off x="5545245" y="3141292"/>
            <a:ext cx="240906" cy="125075"/>
          </a:xfrm>
          <a:prstGeom prst="roundRect">
            <a:avLst>
              <a:gd name="adj" fmla="val 29243"/>
            </a:avLst>
          </a:prstGeom>
          <a:solidFill>
            <a:srgbClr val="D9695A"/>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244" name="Shape 242"/>
          <p:cNvSpPr/>
          <p:nvPr/>
        </p:nvSpPr>
        <p:spPr>
          <a:xfrm>
            <a:off x="365760" y="3311652"/>
            <a:ext cx="11460175" cy="215646"/>
          </a:xfrm>
          <a:prstGeom prst="rect">
            <a:avLst/>
          </a:prstGeom>
          <a:solidFill>
            <a:srgbClr val="FFFFFF"/>
          </a:solidFill>
          <a:ln w="6350">
            <a:solidFill>
              <a:srgbClr val="DFE6EA"/>
            </a:solidFill>
            <a:prstDash val="solid"/>
          </a:ln>
        </p:spPr>
      </p:sp>
      <p:sp>
        <p:nvSpPr>
          <p:cNvPr id="245" name="Shape 243"/>
          <p:cNvSpPr/>
          <p:nvPr/>
        </p:nvSpPr>
        <p:spPr>
          <a:xfrm>
            <a:off x="11441887" y="3341751"/>
            <a:ext cx="329184" cy="155448"/>
          </a:xfrm>
          <a:prstGeom prst="roundRect">
            <a:avLst>
              <a:gd name="adj" fmla="val 50000"/>
            </a:avLst>
          </a:prstGeom>
          <a:solidFill>
            <a:srgbClr val="D9695A"/>
          </a:solidFill>
          <a:ln w="19050">
            <a:solidFill>
              <a:srgbClr val="222222"/>
            </a:solidFill>
            <a:prstDash val="solid"/>
          </a:ln>
        </p:spPr>
      </p:sp>
      <p:sp>
        <p:nvSpPr>
          <p:cNvPr id="246" name="Text 244"/>
          <p:cNvSpPr/>
          <p:nvPr/>
        </p:nvSpPr>
        <p:spPr>
          <a:xfrm>
            <a:off x="11414455" y="3311652"/>
            <a:ext cx="384048" cy="215646"/>
          </a:xfrm>
          <a:prstGeom prst="rect">
            <a:avLst/>
          </a:prstGeom>
          <a:noFill/>
          <a:ln/>
        </p:spPr>
        <p:txBody>
          <a:bodyPr wrap="square" lIns="0" tIns="0" rIns="0" bIns="0" rtlCol="0" anchor="ctr">
            <a:normAutofit/>
          </a:bodyPr>
          <a:lstStyle/>
          <a:p>
            <a:pPr rtl="1" algn="ctr" indent="0" marL="0">
              <a:buNone/>
            </a:pPr>
            <a:r>
              <a:rPr lang="ar-SA" altLang="en-US" sz="650" b="1" dirty="0">
                <a:solidFill>
                  <a:srgbClr val="FFFFFF"/>
                </a:solidFill>
                <a:latin typeface="Arial" pitchFamily="34" charset="0"/>
                <a:ea typeface="Arial" pitchFamily="34" charset="-122"/>
                <a:cs typeface="Arial" pitchFamily="34" charset="-120"/>
              </a:rPr>
              <a:t>A.2</a:t>
            </a:r>
            <a:endParaRPr lang="ar-SA" sz="650" dirty="0"/>
          </a:p>
        </p:txBody>
      </p:sp>
      <p:sp>
        <p:nvSpPr>
          <p:cNvPr id="247" name="Text 245"/>
          <p:cNvSpPr/>
          <p:nvPr/>
        </p:nvSpPr>
        <p:spPr>
          <a:xfrm>
            <a:off x="8762695" y="3311652"/>
            <a:ext cx="2441448" cy="215646"/>
          </a:xfrm>
          <a:prstGeom prst="rect">
            <a:avLst/>
          </a:prstGeom>
          <a:noFill/>
          <a:ln/>
        </p:spPr>
        <p:txBody>
          <a:bodyPr wrap="square" lIns="0" tIns="0" rIns="0" bIns="0" rtlCol="0" anchor="ctr">
            <a:normAutofit/>
          </a:bodyPr>
          <a:lstStyle/>
          <a:p>
            <a:pPr rtl="1" algn="r" indent="0" marL="0">
              <a:buNone/>
            </a:pPr>
            <a:r>
              <a:rPr lang="ar-SA" altLang="en-US" sz="700" dirty="0">
                <a:solidFill>
                  <a:srgbClr val="222222"/>
                </a:solidFill>
                <a:latin typeface="Arial" pitchFamily="34" charset="0"/>
                <a:ea typeface="Arial" pitchFamily="34" charset="-122"/>
                <a:cs typeface="Arial" pitchFamily="34" charset="-120"/>
              </a:rPr>
              <a:t>تركيب أعمدة H-Beam</a:t>
            </a:r>
            <a:endParaRPr lang="ar-SA" sz="700" dirty="0"/>
          </a:p>
        </p:txBody>
      </p:sp>
      <p:sp>
        <p:nvSpPr>
          <p:cNvPr id="248" name="Text 246"/>
          <p:cNvSpPr/>
          <p:nvPr/>
        </p:nvSpPr>
        <p:spPr>
          <a:xfrm>
            <a:off x="7967167" y="3311652"/>
            <a:ext cx="777240" cy="215646"/>
          </a:xfrm>
          <a:prstGeom prst="rect">
            <a:avLst/>
          </a:prstGeom>
          <a:noFill/>
          <a:ln/>
        </p:spPr>
        <p:txBody>
          <a:bodyPr wrap="square" lIns="0" tIns="0" rIns="0" bIns="0" rtlCol="0" anchor="ctr">
            <a:normAutofit/>
          </a:bodyPr>
          <a:lstStyle/>
          <a:p>
            <a:pPr rtl="1" algn="ctr" indent="0" marL="0">
              <a:buNone/>
            </a:pPr>
            <a:r>
              <a:rPr lang="ar-SA" altLang="en-US" sz="700" dirty="0">
                <a:solidFill>
                  <a:srgbClr val="444444"/>
                </a:solidFill>
                <a:latin typeface="Arial" pitchFamily="34" charset="0"/>
                <a:ea typeface="Arial" pitchFamily="34" charset="-122"/>
                <a:cs typeface="Arial" pitchFamily="34" charset="-120"/>
              </a:rPr>
              <a:t>A1 · SS +1</a:t>
            </a:r>
            <a:endParaRPr lang="ar-SA" sz="700" dirty="0"/>
          </a:p>
        </p:txBody>
      </p:sp>
      <p:sp>
        <p:nvSpPr>
          <p:cNvPr id="249" name="Text 247"/>
          <p:cNvSpPr/>
          <p:nvPr/>
        </p:nvSpPr>
        <p:spPr>
          <a:xfrm>
            <a:off x="7464247" y="3311652"/>
            <a:ext cx="502920" cy="215646"/>
          </a:xfrm>
          <a:prstGeom prst="rect">
            <a:avLst/>
          </a:prstGeom>
          <a:noFill/>
          <a:ln/>
        </p:spPr>
        <p:txBody>
          <a:bodyPr wrap="square" lIns="0" tIns="0" rIns="0" bIns="0" rtlCol="0" anchor="ctr">
            <a:normAutofit/>
          </a:bodyPr>
          <a:lstStyle/>
          <a:p>
            <a:pPr rtl="1" algn="ctr" indent="0" marL="0">
              <a:buNone/>
            </a:pPr>
            <a:r>
              <a:rPr lang="ar-SA" altLang="en-US" sz="900" b="1" dirty="0">
                <a:solidFill>
                  <a:srgbClr val="222222"/>
                </a:solidFill>
                <a:latin typeface="Arial" pitchFamily="34" charset="0"/>
                <a:ea typeface="Arial" pitchFamily="34" charset="-122"/>
                <a:cs typeface="Arial" pitchFamily="34" charset="-120"/>
              </a:rPr>
              <a:t>3</a:t>
            </a:r>
            <a:endParaRPr lang="ar-SA" sz="900" dirty="0"/>
          </a:p>
        </p:txBody>
      </p:sp>
      <p:sp>
        <p:nvSpPr>
          <p:cNvPr id="250" name="Text 248"/>
          <p:cNvSpPr/>
          <p:nvPr/>
        </p:nvSpPr>
        <p:spPr>
          <a:xfrm>
            <a:off x="6805879" y="3311652"/>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14 أكتوبر</a:t>
            </a:r>
            <a:endParaRPr lang="ar-SA" sz="700" dirty="0"/>
          </a:p>
        </p:txBody>
      </p:sp>
      <p:sp>
        <p:nvSpPr>
          <p:cNvPr id="251" name="Text 249"/>
          <p:cNvSpPr/>
          <p:nvPr/>
        </p:nvSpPr>
        <p:spPr>
          <a:xfrm>
            <a:off x="6147511" y="3311652"/>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17 أكتوبر</a:t>
            </a:r>
            <a:endParaRPr lang="ar-SA" sz="700" dirty="0"/>
          </a:p>
        </p:txBody>
      </p:sp>
      <p:sp>
        <p:nvSpPr>
          <p:cNvPr id="252" name="Shape 250"/>
          <p:cNvSpPr/>
          <p:nvPr/>
        </p:nvSpPr>
        <p:spPr>
          <a:xfrm>
            <a:off x="5183886" y="3356938"/>
            <a:ext cx="481813" cy="125075"/>
          </a:xfrm>
          <a:prstGeom prst="roundRect">
            <a:avLst>
              <a:gd name="adj" fmla="val 29243"/>
            </a:avLst>
          </a:prstGeom>
          <a:solidFill>
            <a:srgbClr val="D9695A"/>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253" name="Text 251"/>
          <p:cNvSpPr/>
          <p:nvPr/>
        </p:nvSpPr>
        <p:spPr>
          <a:xfrm>
            <a:off x="5183886" y="3356938"/>
            <a:ext cx="481813" cy="125075"/>
          </a:xfrm>
          <a:prstGeom prst="rect">
            <a:avLst/>
          </a:prstGeom>
          <a:noFill/>
          <a:ln/>
        </p:spPr>
        <p:txBody>
          <a:bodyPr wrap="square" lIns="0" tIns="0" rIns="0" bIns="0" rtlCol="0" anchor="ctr">
            <a:normAutofit/>
          </a:bodyPr>
          <a:lstStyle/>
          <a:p>
            <a:pPr rtl="1" algn="ctr" indent="0" marL="0">
              <a:buNone/>
            </a:pPr>
            <a:r>
              <a:rPr lang="ar-SA" altLang="en-US" sz="700" b="1" dirty="0">
                <a:solidFill>
                  <a:srgbClr val="FFFFFF"/>
                </a:solidFill>
                <a:latin typeface="Arial" pitchFamily="34" charset="0"/>
                <a:ea typeface="Arial" pitchFamily="34" charset="-122"/>
                <a:cs typeface="Arial" pitchFamily="34" charset="-120"/>
              </a:rPr>
              <a:t>3 يوم</a:t>
            </a:r>
            <a:endParaRPr lang="ar-SA" sz="700" dirty="0"/>
          </a:p>
        </p:txBody>
      </p:sp>
      <p:sp>
        <p:nvSpPr>
          <p:cNvPr id="254" name="Shape 252"/>
          <p:cNvSpPr/>
          <p:nvPr/>
        </p:nvSpPr>
        <p:spPr>
          <a:xfrm>
            <a:off x="365760" y="3527298"/>
            <a:ext cx="11460175" cy="215646"/>
          </a:xfrm>
          <a:prstGeom prst="rect">
            <a:avLst/>
          </a:prstGeom>
          <a:solidFill>
            <a:srgbClr val="F6F9FA"/>
          </a:solidFill>
          <a:ln w="6350">
            <a:solidFill>
              <a:srgbClr val="DFE6EA"/>
            </a:solidFill>
            <a:prstDash val="solid"/>
          </a:ln>
        </p:spPr>
      </p:sp>
      <p:sp>
        <p:nvSpPr>
          <p:cNvPr id="255" name="Shape 253"/>
          <p:cNvSpPr/>
          <p:nvPr/>
        </p:nvSpPr>
        <p:spPr>
          <a:xfrm>
            <a:off x="11441887" y="3557397"/>
            <a:ext cx="329184" cy="155448"/>
          </a:xfrm>
          <a:prstGeom prst="roundRect">
            <a:avLst>
              <a:gd name="adj" fmla="val 50000"/>
            </a:avLst>
          </a:prstGeom>
          <a:solidFill>
            <a:srgbClr val="D9695A"/>
          </a:solidFill>
          <a:ln w="19050">
            <a:solidFill>
              <a:srgbClr val="222222"/>
            </a:solidFill>
            <a:prstDash val="solid"/>
          </a:ln>
        </p:spPr>
      </p:sp>
      <p:sp>
        <p:nvSpPr>
          <p:cNvPr id="256" name="Text 254"/>
          <p:cNvSpPr/>
          <p:nvPr/>
        </p:nvSpPr>
        <p:spPr>
          <a:xfrm>
            <a:off x="11414455" y="3527298"/>
            <a:ext cx="384048" cy="215646"/>
          </a:xfrm>
          <a:prstGeom prst="rect">
            <a:avLst/>
          </a:prstGeom>
          <a:noFill/>
          <a:ln/>
        </p:spPr>
        <p:txBody>
          <a:bodyPr wrap="square" lIns="0" tIns="0" rIns="0" bIns="0" rtlCol="0" anchor="ctr">
            <a:normAutofit/>
          </a:bodyPr>
          <a:lstStyle/>
          <a:p>
            <a:pPr rtl="1" algn="ctr" indent="0" marL="0">
              <a:buNone/>
            </a:pPr>
            <a:r>
              <a:rPr lang="ar-SA" altLang="en-US" sz="650" b="1" dirty="0">
                <a:solidFill>
                  <a:srgbClr val="FFFFFF"/>
                </a:solidFill>
                <a:latin typeface="Arial" pitchFamily="34" charset="0"/>
                <a:ea typeface="Arial" pitchFamily="34" charset="-122"/>
                <a:cs typeface="Arial" pitchFamily="34" charset="-120"/>
              </a:rPr>
              <a:t>A.3</a:t>
            </a:r>
            <a:endParaRPr lang="ar-SA" sz="650" dirty="0"/>
          </a:p>
        </p:txBody>
      </p:sp>
      <p:sp>
        <p:nvSpPr>
          <p:cNvPr id="257" name="Text 255"/>
          <p:cNvSpPr/>
          <p:nvPr/>
        </p:nvSpPr>
        <p:spPr>
          <a:xfrm>
            <a:off x="8762695" y="3527298"/>
            <a:ext cx="2441448" cy="215646"/>
          </a:xfrm>
          <a:prstGeom prst="rect">
            <a:avLst/>
          </a:prstGeom>
          <a:noFill/>
          <a:ln/>
        </p:spPr>
        <p:txBody>
          <a:bodyPr wrap="square" lIns="0" tIns="0" rIns="0" bIns="0" rtlCol="0" anchor="ctr">
            <a:normAutofit/>
          </a:bodyPr>
          <a:lstStyle/>
          <a:p>
            <a:pPr rtl="1" algn="r" indent="0" marL="0">
              <a:buNone/>
            </a:pPr>
            <a:r>
              <a:rPr lang="ar-SA" altLang="en-US" sz="700" dirty="0">
                <a:solidFill>
                  <a:srgbClr val="222222"/>
                </a:solidFill>
                <a:latin typeface="Arial" pitchFamily="34" charset="0"/>
                <a:ea typeface="Arial" pitchFamily="34" charset="-122"/>
                <a:cs typeface="Arial" pitchFamily="34" charset="-120"/>
              </a:rPr>
              <a:t>أعمال الخرسانة لأعمدة H-Beam</a:t>
            </a:r>
            <a:endParaRPr lang="ar-SA" sz="700" dirty="0"/>
          </a:p>
        </p:txBody>
      </p:sp>
      <p:sp>
        <p:nvSpPr>
          <p:cNvPr id="258" name="Text 256"/>
          <p:cNvSpPr/>
          <p:nvPr/>
        </p:nvSpPr>
        <p:spPr>
          <a:xfrm>
            <a:off x="7967167" y="3527298"/>
            <a:ext cx="777240" cy="215646"/>
          </a:xfrm>
          <a:prstGeom prst="rect">
            <a:avLst/>
          </a:prstGeom>
          <a:noFill/>
          <a:ln/>
        </p:spPr>
        <p:txBody>
          <a:bodyPr wrap="square" lIns="0" tIns="0" rIns="0" bIns="0" rtlCol="0" anchor="ctr">
            <a:normAutofit/>
          </a:bodyPr>
          <a:lstStyle/>
          <a:p>
            <a:pPr rtl="1" algn="ctr" indent="0" marL="0">
              <a:buNone/>
            </a:pPr>
            <a:r>
              <a:rPr lang="ar-SA" altLang="en-US" sz="700" dirty="0">
                <a:solidFill>
                  <a:srgbClr val="444444"/>
                </a:solidFill>
                <a:latin typeface="Arial" pitchFamily="34" charset="0"/>
                <a:ea typeface="Arial" pitchFamily="34" charset="-122"/>
                <a:cs typeface="Arial" pitchFamily="34" charset="-120"/>
              </a:rPr>
              <a:t>A2 · SS +1</a:t>
            </a:r>
            <a:endParaRPr lang="ar-SA" sz="700" dirty="0"/>
          </a:p>
        </p:txBody>
      </p:sp>
      <p:sp>
        <p:nvSpPr>
          <p:cNvPr id="259" name="Text 257"/>
          <p:cNvSpPr/>
          <p:nvPr/>
        </p:nvSpPr>
        <p:spPr>
          <a:xfrm>
            <a:off x="7464247" y="3527298"/>
            <a:ext cx="502920" cy="215646"/>
          </a:xfrm>
          <a:prstGeom prst="rect">
            <a:avLst/>
          </a:prstGeom>
          <a:noFill/>
          <a:ln/>
        </p:spPr>
        <p:txBody>
          <a:bodyPr wrap="square" lIns="0" tIns="0" rIns="0" bIns="0" rtlCol="0" anchor="ctr">
            <a:normAutofit/>
          </a:bodyPr>
          <a:lstStyle/>
          <a:p>
            <a:pPr rtl="1" algn="ctr" indent="0" marL="0">
              <a:buNone/>
            </a:pPr>
            <a:r>
              <a:rPr lang="ar-SA" altLang="en-US" sz="900" b="1" dirty="0">
                <a:solidFill>
                  <a:srgbClr val="222222"/>
                </a:solidFill>
                <a:latin typeface="Arial" pitchFamily="34" charset="0"/>
                <a:ea typeface="Arial" pitchFamily="34" charset="-122"/>
                <a:cs typeface="Arial" pitchFamily="34" charset="-120"/>
              </a:rPr>
              <a:t>3</a:t>
            </a:r>
            <a:endParaRPr lang="ar-SA" sz="900" dirty="0"/>
          </a:p>
        </p:txBody>
      </p:sp>
      <p:sp>
        <p:nvSpPr>
          <p:cNvPr id="260" name="Text 258"/>
          <p:cNvSpPr/>
          <p:nvPr/>
        </p:nvSpPr>
        <p:spPr>
          <a:xfrm>
            <a:off x="6805879" y="3527298"/>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15 أكتوبر</a:t>
            </a:r>
            <a:endParaRPr lang="ar-SA" sz="700" dirty="0"/>
          </a:p>
        </p:txBody>
      </p:sp>
      <p:sp>
        <p:nvSpPr>
          <p:cNvPr id="261" name="Text 259"/>
          <p:cNvSpPr/>
          <p:nvPr/>
        </p:nvSpPr>
        <p:spPr>
          <a:xfrm>
            <a:off x="6147511" y="3527298"/>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18 أكتوبر</a:t>
            </a:r>
            <a:endParaRPr lang="ar-SA" sz="700" dirty="0"/>
          </a:p>
        </p:txBody>
      </p:sp>
      <p:sp>
        <p:nvSpPr>
          <p:cNvPr id="262" name="Shape 260"/>
          <p:cNvSpPr/>
          <p:nvPr/>
        </p:nvSpPr>
        <p:spPr>
          <a:xfrm>
            <a:off x="5063433" y="3572584"/>
            <a:ext cx="481813" cy="125075"/>
          </a:xfrm>
          <a:prstGeom prst="roundRect">
            <a:avLst>
              <a:gd name="adj" fmla="val 29243"/>
            </a:avLst>
          </a:prstGeom>
          <a:solidFill>
            <a:srgbClr val="D9695A"/>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263" name="Text 261"/>
          <p:cNvSpPr/>
          <p:nvPr/>
        </p:nvSpPr>
        <p:spPr>
          <a:xfrm>
            <a:off x="5063433" y="3572584"/>
            <a:ext cx="481813" cy="125075"/>
          </a:xfrm>
          <a:prstGeom prst="rect">
            <a:avLst/>
          </a:prstGeom>
          <a:noFill/>
          <a:ln/>
        </p:spPr>
        <p:txBody>
          <a:bodyPr wrap="square" lIns="0" tIns="0" rIns="0" bIns="0" rtlCol="0" anchor="ctr">
            <a:normAutofit/>
          </a:bodyPr>
          <a:lstStyle/>
          <a:p>
            <a:pPr rtl="1" algn="ctr" indent="0" marL="0">
              <a:buNone/>
            </a:pPr>
            <a:r>
              <a:rPr lang="ar-SA" altLang="en-US" sz="700" b="1" dirty="0">
                <a:solidFill>
                  <a:srgbClr val="FFFFFF"/>
                </a:solidFill>
                <a:latin typeface="Arial" pitchFamily="34" charset="0"/>
                <a:ea typeface="Arial" pitchFamily="34" charset="-122"/>
                <a:cs typeface="Arial" pitchFamily="34" charset="-120"/>
              </a:rPr>
              <a:t>3 يوم</a:t>
            </a:r>
            <a:endParaRPr lang="ar-SA" sz="700" dirty="0"/>
          </a:p>
        </p:txBody>
      </p:sp>
      <p:sp>
        <p:nvSpPr>
          <p:cNvPr id="264" name="Shape 262"/>
          <p:cNvSpPr/>
          <p:nvPr/>
        </p:nvSpPr>
        <p:spPr>
          <a:xfrm>
            <a:off x="365760" y="3742944"/>
            <a:ext cx="11460175" cy="215646"/>
          </a:xfrm>
          <a:prstGeom prst="rect">
            <a:avLst/>
          </a:prstGeom>
          <a:solidFill>
            <a:srgbClr val="FFFFFF"/>
          </a:solidFill>
          <a:ln w="6350">
            <a:solidFill>
              <a:srgbClr val="DFE6EA"/>
            </a:solidFill>
            <a:prstDash val="solid"/>
          </a:ln>
        </p:spPr>
      </p:sp>
      <p:sp>
        <p:nvSpPr>
          <p:cNvPr id="265" name="Shape 263"/>
          <p:cNvSpPr/>
          <p:nvPr/>
        </p:nvSpPr>
        <p:spPr>
          <a:xfrm>
            <a:off x="11441887" y="3773043"/>
            <a:ext cx="329184" cy="155448"/>
          </a:xfrm>
          <a:prstGeom prst="roundRect">
            <a:avLst>
              <a:gd name="adj" fmla="val 50000"/>
            </a:avLst>
          </a:prstGeom>
          <a:solidFill>
            <a:srgbClr val="D9695A"/>
          </a:solidFill>
          <a:ln w="19050">
            <a:solidFill>
              <a:srgbClr val="222222"/>
            </a:solidFill>
            <a:prstDash val="solid"/>
          </a:ln>
        </p:spPr>
      </p:sp>
      <p:sp>
        <p:nvSpPr>
          <p:cNvPr id="266" name="Text 264"/>
          <p:cNvSpPr/>
          <p:nvPr/>
        </p:nvSpPr>
        <p:spPr>
          <a:xfrm>
            <a:off x="11414455" y="3742944"/>
            <a:ext cx="384048" cy="215646"/>
          </a:xfrm>
          <a:prstGeom prst="rect">
            <a:avLst/>
          </a:prstGeom>
          <a:noFill/>
          <a:ln/>
        </p:spPr>
        <p:txBody>
          <a:bodyPr wrap="square" lIns="0" tIns="0" rIns="0" bIns="0" rtlCol="0" anchor="ctr">
            <a:normAutofit/>
          </a:bodyPr>
          <a:lstStyle/>
          <a:p>
            <a:pPr rtl="1" algn="ctr" indent="0" marL="0">
              <a:buNone/>
            </a:pPr>
            <a:r>
              <a:rPr lang="ar-SA" altLang="en-US" sz="650" b="1" dirty="0">
                <a:solidFill>
                  <a:srgbClr val="FFFFFF"/>
                </a:solidFill>
                <a:latin typeface="Arial" pitchFamily="34" charset="0"/>
                <a:ea typeface="Arial" pitchFamily="34" charset="-122"/>
                <a:cs typeface="Arial" pitchFamily="34" charset="-120"/>
              </a:rPr>
              <a:t>A.4</a:t>
            </a:r>
            <a:endParaRPr lang="ar-SA" sz="650" dirty="0"/>
          </a:p>
        </p:txBody>
      </p:sp>
      <p:sp>
        <p:nvSpPr>
          <p:cNvPr id="267" name="Text 265"/>
          <p:cNvSpPr/>
          <p:nvPr/>
        </p:nvSpPr>
        <p:spPr>
          <a:xfrm>
            <a:off x="8762695" y="3742944"/>
            <a:ext cx="2441448" cy="215646"/>
          </a:xfrm>
          <a:prstGeom prst="rect">
            <a:avLst/>
          </a:prstGeom>
          <a:noFill/>
          <a:ln/>
        </p:spPr>
        <p:txBody>
          <a:bodyPr wrap="square" lIns="0" tIns="0" rIns="0" bIns="0" rtlCol="0" anchor="ctr">
            <a:normAutofit/>
          </a:bodyPr>
          <a:lstStyle/>
          <a:p>
            <a:pPr rtl="1" algn="r" indent="0" marL="0">
              <a:buNone/>
            </a:pPr>
            <a:r>
              <a:rPr lang="ar-SA" altLang="en-US" sz="700" dirty="0">
                <a:solidFill>
                  <a:srgbClr val="222222"/>
                </a:solidFill>
                <a:latin typeface="Arial" pitchFamily="34" charset="0"/>
                <a:ea typeface="Arial" pitchFamily="34" charset="-122"/>
                <a:cs typeface="Arial" pitchFamily="34" charset="-120"/>
              </a:rPr>
              <a:t>التدعيم (Bracing) لنظام الدعم</a:t>
            </a:r>
            <a:endParaRPr lang="ar-SA" sz="700" dirty="0"/>
          </a:p>
        </p:txBody>
      </p:sp>
      <p:sp>
        <p:nvSpPr>
          <p:cNvPr id="268" name="Text 266"/>
          <p:cNvSpPr/>
          <p:nvPr/>
        </p:nvSpPr>
        <p:spPr>
          <a:xfrm>
            <a:off x="7967167" y="3742944"/>
            <a:ext cx="777240" cy="215646"/>
          </a:xfrm>
          <a:prstGeom prst="rect">
            <a:avLst/>
          </a:prstGeom>
          <a:noFill/>
          <a:ln/>
        </p:spPr>
        <p:txBody>
          <a:bodyPr wrap="square" lIns="0" tIns="0" rIns="0" bIns="0" rtlCol="0" anchor="ctr">
            <a:normAutofit/>
          </a:bodyPr>
          <a:lstStyle/>
          <a:p>
            <a:pPr rtl="1" algn="ctr" indent="0" marL="0">
              <a:buNone/>
            </a:pPr>
            <a:r>
              <a:rPr lang="ar-SA" altLang="en-US" sz="700" dirty="0">
                <a:solidFill>
                  <a:srgbClr val="444444"/>
                </a:solidFill>
                <a:latin typeface="Arial" pitchFamily="34" charset="0"/>
                <a:ea typeface="Arial" pitchFamily="34" charset="-122"/>
                <a:cs typeface="Arial" pitchFamily="34" charset="-120"/>
              </a:rPr>
              <a:t>A3 · SS +1</a:t>
            </a:r>
            <a:endParaRPr lang="ar-SA" sz="700" dirty="0"/>
          </a:p>
        </p:txBody>
      </p:sp>
      <p:sp>
        <p:nvSpPr>
          <p:cNvPr id="269" name="Text 267"/>
          <p:cNvSpPr/>
          <p:nvPr/>
        </p:nvSpPr>
        <p:spPr>
          <a:xfrm>
            <a:off x="7464247" y="3742944"/>
            <a:ext cx="502920" cy="215646"/>
          </a:xfrm>
          <a:prstGeom prst="rect">
            <a:avLst/>
          </a:prstGeom>
          <a:noFill/>
          <a:ln/>
        </p:spPr>
        <p:txBody>
          <a:bodyPr wrap="square" lIns="0" tIns="0" rIns="0" bIns="0" rtlCol="0" anchor="ctr">
            <a:normAutofit/>
          </a:bodyPr>
          <a:lstStyle/>
          <a:p>
            <a:pPr rtl="1" algn="ctr" indent="0" marL="0">
              <a:buNone/>
            </a:pPr>
            <a:r>
              <a:rPr lang="ar-SA" altLang="en-US" sz="900" b="1" dirty="0">
                <a:solidFill>
                  <a:srgbClr val="222222"/>
                </a:solidFill>
                <a:latin typeface="Arial" pitchFamily="34" charset="0"/>
                <a:ea typeface="Arial" pitchFamily="34" charset="-122"/>
                <a:cs typeface="Arial" pitchFamily="34" charset="-120"/>
              </a:rPr>
              <a:t>3</a:t>
            </a:r>
            <a:endParaRPr lang="ar-SA" sz="900" dirty="0"/>
          </a:p>
        </p:txBody>
      </p:sp>
      <p:sp>
        <p:nvSpPr>
          <p:cNvPr id="270" name="Text 268"/>
          <p:cNvSpPr/>
          <p:nvPr/>
        </p:nvSpPr>
        <p:spPr>
          <a:xfrm>
            <a:off x="6805879" y="3742944"/>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17 أكتوبر</a:t>
            </a:r>
            <a:endParaRPr lang="ar-SA" sz="700" dirty="0"/>
          </a:p>
        </p:txBody>
      </p:sp>
      <p:sp>
        <p:nvSpPr>
          <p:cNvPr id="271" name="Text 269"/>
          <p:cNvSpPr/>
          <p:nvPr/>
        </p:nvSpPr>
        <p:spPr>
          <a:xfrm>
            <a:off x="6147511" y="3742944"/>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19 أكتوبر</a:t>
            </a:r>
            <a:endParaRPr lang="ar-SA" sz="700" dirty="0"/>
          </a:p>
        </p:txBody>
      </p:sp>
      <p:sp>
        <p:nvSpPr>
          <p:cNvPr id="272" name="Shape 270"/>
          <p:cNvSpPr/>
          <p:nvPr/>
        </p:nvSpPr>
        <p:spPr>
          <a:xfrm>
            <a:off x="4942980" y="3788230"/>
            <a:ext cx="361359" cy="125075"/>
          </a:xfrm>
          <a:prstGeom prst="roundRect">
            <a:avLst>
              <a:gd name="adj" fmla="val 29243"/>
            </a:avLst>
          </a:prstGeom>
          <a:solidFill>
            <a:srgbClr val="D9695A"/>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273" name="Text 271"/>
          <p:cNvSpPr/>
          <p:nvPr/>
        </p:nvSpPr>
        <p:spPr>
          <a:xfrm>
            <a:off x="4942980" y="3788230"/>
            <a:ext cx="361359" cy="125075"/>
          </a:xfrm>
          <a:prstGeom prst="rect">
            <a:avLst/>
          </a:prstGeom>
          <a:noFill/>
          <a:ln/>
        </p:spPr>
        <p:txBody>
          <a:bodyPr wrap="square" lIns="0" tIns="0" rIns="0" bIns="0" rtlCol="0" anchor="ctr">
            <a:normAutofit/>
          </a:bodyPr>
          <a:lstStyle/>
          <a:p>
            <a:pPr rtl="1" algn="ctr" indent="0" marL="0">
              <a:buNone/>
            </a:pPr>
            <a:r>
              <a:rPr lang="ar-SA" altLang="en-US" sz="700" b="1" dirty="0">
                <a:solidFill>
                  <a:srgbClr val="FFFFFF"/>
                </a:solidFill>
                <a:latin typeface="Arial" pitchFamily="34" charset="0"/>
                <a:ea typeface="Arial" pitchFamily="34" charset="-122"/>
                <a:cs typeface="Arial" pitchFamily="34" charset="-120"/>
              </a:rPr>
              <a:t>3 يوم</a:t>
            </a:r>
            <a:endParaRPr lang="ar-SA" sz="700" dirty="0"/>
          </a:p>
        </p:txBody>
      </p:sp>
      <p:sp>
        <p:nvSpPr>
          <p:cNvPr id="274" name="Shape 272"/>
          <p:cNvSpPr/>
          <p:nvPr/>
        </p:nvSpPr>
        <p:spPr>
          <a:xfrm>
            <a:off x="365760" y="3958590"/>
            <a:ext cx="11460175" cy="215646"/>
          </a:xfrm>
          <a:prstGeom prst="rect">
            <a:avLst/>
          </a:prstGeom>
          <a:solidFill>
            <a:srgbClr val="F6F9FA"/>
          </a:solidFill>
          <a:ln w="6350">
            <a:solidFill>
              <a:srgbClr val="DFE6EA"/>
            </a:solidFill>
            <a:prstDash val="solid"/>
          </a:ln>
        </p:spPr>
      </p:sp>
      <p:sp>
        <p:nvSpPr>
          <p:cNvPr id="275" name="Shape 273"/>
          <p:cNvSpPr/>
          <p:nvPr/>
        </p:nvSpPr>
        <p:spPr>
          <a:xfrm>
            <a:off x="11441887" y="3988689"/>
            <a:ext cx="329184" cy="155448"/>
          </a:xfrm>
          <a:prstGeom prst="roundRect">
            <a:avLst>
              <a:gd name="adj" fmla="val 50000"/>
            </a:avLst>
          </a:prstGeom>
          <a:solidFill>
            <a:srgbClr val="D9695A"/>
          </a:solidFill>
          <a:ln w="19050">
            <a:solidFill>
              <a:srgbClr val="222222"/>
            </a:solidFill>
            <a:prstDash val="solid"/>
          </a:ln>
        </p:spPr>
      </p:sp>
      <p:sp>
        <p:nvSpPr>
          <p:cNvPr id="276" name="Text 274"/>
          <p:cNvSpPr/>
          <p:nvPr/>
        </p:nvSpPr>
        <p:spPr>
          <a:xfrm>
            <a:off x="11414455" y="3958590"/>
            <a:ext cx="384048" cy="215646"/>
          </a:xfrm>
          <a:prstGeom prst="rect">
            <a:avLst/>
          </a:prstGeom>
          <a:noFill/>
          <a:ln/>
        </p:spPr>
        <p:txBody>
          <a:bodyPr wrap="square" lIns="0" tIns="0" rIns="0" bIns="0" rtlCol="0" anchor="ctr">
            <a:normAutofit/>
          </a:bodyPr>
          <a:lstStyle/>
          <a:p>
            <a:pPr rtl="1" algn="ctr" indent="0" marL="0">
              <a:buNone/>
            </a:pPr>
            <a:r>
              <a:rPr lang="ar-SA" altLang="en-US" sz="650" b="1" dirty="0">
                <a:solidFill>
                  <a:srgbClr val="FFFFFF"/>
                </a:solidFill>
                <a:latin typeface="Arial" pitchFamily="34" charset="0"/>
                <a:ea typeface="Arial" pitchFamily="34" charset="-122"/>
                <a:cs typeface="Arial" pitchFamily="34" charset="-120"/>
              </a:rPr>
              <a:t>A.5</a:t>
            </a:r>
            <a:endParaRPr lang="ar-SA" sz="650" dirty="0"/>
          </a:p>
        </p:txBody>
      </p:sp>
      <p:sp>
        <p:nvSpPr>
          <p:cNvPr id="277" name="Text 275"/>
          <p:cNvSpPr/>
          <p:nvPr/>
        </p:nvSpPr>
        <p:spPr>
          <a:xfrm>
            <a:off x="8762695" y="3958590"/>
            <a:ext cx="2441448" cy="215646"/>
          </a:xfrm>
          <a:prstGeom prst="rect">
            <a:avLst/>
          </a:prstGeom>
          <a:noFill/>
          <a:ln/>
        </p:spPr>
        <p:txBody>
          <a:bodyPr wrap="square" lIns="0" tIns="0" rIns="0" bIns="0" rtlCol="0" anchor="ctr">
            <a:normAutofit/>
          </a:bodyPr>
          <a:lstStyle/>
          <a:p>
            <a:pPr rtl="1" algn="r" indent="0" marL="0">
              <a:buNone/>
            </a:pPr>
            <a:r>
              <a:rPr lang="ar-SA" altLang="en-US" sz="700" dirty="0">
                <a:solidFill>
                  <a:srgbClr val="222222"/>
                </a:solidFill>
                <a:latin typeface="Arial" pitchFamily="34" charset="0"/>
                <a:ea typeface="Arial" pitchFamily="34" charset="-122"/>
                <a:cs typeface="Arial" pitchFamily="34" charset="-120"/>
              </a:rPr>
              <a:t>تركيب / إدخال الألواح المضلعة (Corrugated sheets)</a:t>
            </a:r>
            <a:endParaRPr lang="ar-SA" sz="700" dirty="0"/>
          </a:p>
        </p:txBody>
      </p:sp>
      <p:sp>
        <p:nvSpPr>
          <p:cNvPr id="278" name="Text 276"/>
          <p:cNvSpPr/>
          <p:nvPr/>
        </p:nvSpPr>
        <p:spPr>
          <a:xfrm>
            <a:off x="7967167" y="3958590"/>
            <a:ext cx="777240" cy="215646"/>
          </a:xfrm>
          <a:prstGeom prst="rect">
            <a:avLst/>
          </a:prstGeom>
          <a:noFill/>
          <a:ln/>
        </p:spPr>
        <p:txBody>
          <a:bodyPr wrap="square" lIns="0" tIns="0" rIns="0" bIns="0" rtlCol="0" anchor="ctr">
            <a:normAutofit/>
          </a:bodyPr>
          <a:lstStyle/>
          <a:p>
            <a:pPr rtl="1" algn="ctr" indent="0" marL="0">
              <a:buNone/>
            </a:pPr>
            <a:r>
              <a:rPr lang="ar-SA" altLang="en-US" sz="700" dirty="0">
                <a:solidFill>
                  <a:srgbClr val="444444"/>
                </a:solidFill>
                <a:latin typeface="Arial" pitchFamily="34" charset="0"/>
                <a:ea typeface="Arial" pitchFamily="34" charset="-122"/>
                <a:cs typeface="Arial" pitchFamily="34" charset="-120"/>
              </a:rPr>
              <a:t>A4 · SS +1</a:t>
            </a:r>
            <a:endParaRPr lang="ar-SA" sz="700" dirty="0"/>
          </a:p>
        </p:txBody>
      </p:sp>
      <p:sp>
        <p:nvSpPr>
          <p:cNvPr id="279" name="Text 277"/>
          <p:cNvSpPr/>
          <p:nvPr/>
        </p:nvSpPr>
        <p:spPr>
          <a:xfrm>
            <a:off x="7464247" y="3958590"/>
            <a:ext cx="502920" cy="215646"/>
          </a:xfrm>
          <a:prstGeom prst="rect">
            <a:avLst/>
          </a:prstGeom>
          <a:noFill/>
          <a:ln/>
        </p:spPr>
        <p:txBody>
          <a:bodyPr wrap="square" lIns="0" tIns="0" rIns="0" bIns="0" rtlCol="0" anchor="ctr">
            <a:normAutofit/>
          </a:bodyPr>
          <a:lstStyle/>
          <a:p>
            <a:pPr rtl="1" algn="ctr" indent="0" marL="0">
              <a:buNone/>
            </a:pPr>
            <a:r>
              <a:rPr lang="ar-SA" altLang="en-US" sz="900" b="1" dirty="0">
                <a:solidFill>
                  <a:srgbClr val="222222"/>
                </a:solidFill>
                <a:latin typeface="Arial" pitchFamily="34" charset="0"/>
                <a:ea typeface="Arial" pitchFamily="34" charset="-122"/>
                <a:cs typeface="Arial" pitchFamily="34" charset="-120"/>
              </a:rPr>
              <a:t>2</a:t>
            </a:r>
            <a:endParaRPr lang="ar-SA" sz="900" dirty="0"/>
          </a:p>
        </p:txBody>
      </p:sp>
      <p:sp>
        <p:nvSpPr>
          <p:cNvPr id="280" name="Text 278"/>
          <p:cNvSpPr/>
          <p:nvPr/>
        </p:nvSpPr>
        <p:spPr>
          <a:xfrm>
            <a:off x="6805879" y="3958590"/>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18 أكتوبر</a:t>
            </a:r>
            <a:endParaRPr lang="ar-SA" sz="700" dirty="0"/>
          </a:p>
        </p:txBody>
      </p:sp>
      <p:sp>
        <p:nvSpPr>
          <p:cNvPr id="281" name="Text 279"/>
          <p:cNvSpPr/>
          <p:nvPr/>
        </p:nvSpPr>
        <p:spPr>
          <a:xfrm>
            <a:off x="6147511" y="3958590"/>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19 أكتوبر</a:t>
            </a:r>
            <a:endParaRPr lang="ar-SA" sz="700" dirty="0"/>
          </a:p>
        </p:txBody>
      </p:sp>
      <p:sp>
        <p:nvSpPr>
          <p:cNvPr id="282" name="Shape 280"/>
          <p:cNvSpPr/>
          <p:nvPr/>
        </p:nvSpPr>
        <p:spPr>
          <a:xfrm>
            <a:off x="4942980" y="4003876"/>
            <a:ext cx="240906" cy="125075"/>
          </a:xfrm>
          <a:prstGeom prst="roundRect">
            <a:avLst>
              <a:gd name="adj" fmla="val 29243"/>
            </a:avLst>
          </a:prstGeom>
          <a:solidFill>
            <a:srgbClr val="D9695A"/>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283" name="Shape 281"/>
          <p:cNvSpPr/>
          <p:nvPr/>
        </p:nvSpPr>
        <p:spPr>
          <a:xfrm>
            <a:off x="365760" y="4174236"/>
            <a:ext cx="11460175" cy="215646"/>
          </a:xfrm>
          <a:prstGeom prst="rect">
            <a:avLst/>
          </a:prstGeom>
          <a:solidFill>
            <a:srgbClr val="FFFFFF"/>
          </a:solidFill>
          <a:ln w="6350">
            <a:solidFill>
              <a:srgbClr val="DFE6EA"/>
            </a:solidFill>
            <a:prstDash val="solid"/>
          </a:ln>
        </p:spPr>
      </p:sp>
      <p:sp>
        <p:nvSpPr>
          <p:cNvPr id="284" name="Shape 282"/>
          <p:cNvSpPr/>
          <p:nvPr/>
        </p:nvSpPr>
        <p:spPr>
          <a:xfrm>
            <a:off x="11515039" y="4163187"/>
            <a:ext cx="237744" cy="237744"/>
          </a:xfrm>
          <a:prstGeom prst="ellipse">
            <a:avLst>
              <a:gd name="adj" fmla="val 32692"/>
            </a:avLst>
          </a:prstGeom>
          <a:solidFill>
            <a:srgbClr val="00778B"/>
          </a:solidFill>
          <a:ln w="6350">
            <a:solidFill>
              <a:srgbClr val="00778B"/>
            </a:solidFill>
            <a:prstDash val="solid"/>
          </a:ln>
        </p:spPr>
      </p:sp>
      <p:sp>
        <p:nvSpPr>
          <p:cNvPr id="285" name="Text 283"/>
          <p:cNvSpPr/>
          <p:nvPr/>
        </p:nvSpPr>
        <p:spPr>
          <a:xfrm>
            <a:off x="11441887" y="4174236"/>
            <a:ext cx="384048" cy="215646"/>
          </a:xfrm>
          <a:prstGeom prst="rect">
            <a:avLst/>
          </a:prstGeom>
          <a:noFill/>
          <a:ln/>
        </p:spPr>
        <p:txBody>
          <a:bodyPr wrap="square" lIns="0" tIns="0" rIns="0" bIns="0" rtlCol="0" anchor="ctr">
            <a:normAutofit/>
          </a:bodyPr>
          <a:lstStyle/>
          <a:p>
            <a:pPr rtl="1" algn="ctr" indent="0" marL="0">
              <a:buNone/>
            </a:pPr>
            <a:r>
              <a:rPr lang="ar-SA" altLang="en-US" sz="850" b="1" dirty="0">
                <a:solidFill>
                  <a:srgbClr val="FFFFFF"/>
                </a:solidFill>
                <a:latin typeface="Arial" pitchFamily="34" charset="0"/>
                <a:ea typeface="Arial" pitchFamily="34" charset="-122"/>
                <a:cs typeface="Arial" pitchFamily="34" charset="-120"/>
              </a:rPr>
              <a:t>B</a:t>
            </a:r>
            <a:endParaRPr lang="ar-SA" sz="850" dirty="0"/>
          </a:p>
        </p:txBody>
      </p:sp>
      <p:sp>
        <p:nvSpPr>
          <p:cNvPr id="286" name="Text 284"/>
          <p:cNvSpPr/>
          <p:nvPr/>
        </p:nvSpPr>
        <p:spPr>
          <a:xfrm>
            <a:off x="8762695" y="4174236"/>
            <a:ext cx="2606040" cy="215646"/>
          </a:xfrm>
          <a:prstGeom prst="rect">
            <a:avLst/>
          </a:prstGeom>
          <a:noFill/>
          <a:ln/>
        </p:spPr>
        <p:txBody>
          <a:bodyPr wrap="square" lIns="0" tIns="0" rIns="0" bIns="0" rtlCol="0" anchor="ctr">
            <a:normAutofit/>
          </a:bodyPr>
          <a:lstStyle/>
          <a:p>
            <a:pPr rtl="1" algn="r" indent="0" marL="0">
              <a:buNone/>
            </a:pPr>
            <a:r>
              <a:rPr lang="ar-SA" altLang="en-US" sz="750" b="1" dirty="0">
                <a:solidFill>
                  <a:srgbClr val="222222"/>
                </a:solidFill>
                <a:latin typeface="Arial" pitchFamily="34" charset="0"/>
                <a:ea typeface="Arial" pitchFamily="34" charset="-122"/>
                <a:cs typeface="Arial" pitchFamily="34" charset="-120"/>
              </a:rPr>
              <a:t>الخرسانة العادية (Lean concrete)</a:t>
            </a:r>
            <a:endParaRPr lang="ar-SA" sz="750" dirty="0"/>
          </a:p>
        </p:txBody>
      </p:sp>
      <p:sp>
        <p:nvSpPr>
          <p:cNvPr id="287" name="Text 285"/>
          <p:cNvSpPr/>
          <p:nvPr/>
        </p:nvSpPr>
        <p:spPr>
          <a:xfrm>
            <a:off x="7967167" y="4174236"/>
            <a:ext cx="777240" cy="215646"/>
          </a:xfrm>
          <a:prstGeom prst="rect">
            <a:avLst/>
          </a:prstGeom>
          <a:noFill/>
          <a:ln/>
        </p:spPr>
        <p:txBody>
          <a:bodyPr wrap="square" lIns="0" tIns="0" rIns="0" bIns="0" rtlCol="0" anchor="ctr">
            <a:normAutofit/>
          </a:bodyPr>
          <a:lstStyle/>
          <a:p>
            <a:pPr rtl="1" algn="ctr" indent="0" marL="0">
              <a:buNone/>
            </a:pPr>
            <a:r>
              <a:rPr lang="ar-SA" altLang="en-US" sz="700" dirty="0">
                <a:solidFill>
                  <a:srgbClr val="444444"/>
                </a:solidFill>
                <a:latin typeface="Arial" pitchFamily="34" charset="0"/>
                <a:ea typeface="Arial" pitchFamily="34" charset="-122"/>
                <a:cs typeface="Arial" pitchFamily="34" charset="-120"/>
              </a:rPr>
              <a:t>A · SS +6</a:t>
            </a:r>
            <a:endParaRPr lang="ar-SA" sz="700" dirty="0"/>
          </a:p>
        </p:txBody>
      </p:sp>
      <p:sp>
        <p:nvSpPr>
          <p:cNvPr id="288" name="Text 286"/>
          <p:cNvSpPr/>
          <p:nvPr/>
        </p:nvSpPr>
        <p:spPr>
          <a:xfrm>
            <a:off x="7464247" y="4174236"/>
            <a:ext cx="502920" cy="215646"/>
          </a:xfrm>
          <a:prstGeom prst="rect">
            <a:avLst/>
          </a:prstGeom>
          <a:noFill/>
          <a:ln/>
        </p:spPr>
        <p:txBody>
          <a:bodyPr wrap="square" lIns="0" tIns="0" rIns="0" bIns="0" rtlCol="0" anchor="ctr">
            <a:normAutofit/>
          </a:bodyPr>
          <a:lstStyle/>
          <a:p>
            <a:pPr rtl="1" algn="ctr" indent="0" marL="0">
              <a:buNone/>
            </a:pPr>
            <a:r>
              <a:rPr lang="ar-SA" altLang="en-US" sz="900" b="1" dirty="0">
                <a:solidFill>
                  <a:srgbClr val="222222"/>
                </a:solidFill>
                <a:latin typeface="Arial" pitchFamily="34" charset="0"/>
                <a:ea typeface="Arial" pitchFamily="34" charset="-122"/>
                <a:cs typeface="Arial" pitchFamily="34" charset="-120"/>
              </a:rPr>
              <a:t>2</a:t>
            </a:r>
            <a:endParaRPr lang="ar-SA" sz="900" dirty="0"/>
          </a:p>
        </p:txBody>
      </p:sp>
      <p:sp>
        <p:nvSpPr>
          <p:cNvPr id="289" name="Text 287"/>
          <p:cNvSpPr/>
          <p:nvPr/>
        </p:nvSpPr>
        <p:spPr>
          <a:xfrm>
            <a:off x="6805879" y="4174236"/>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20 أكتوبر</a:t>
            </a:r>
            <a:endParaRPr lang="ar-SA" sz="700" dirty="0"/>
          </a:p>
        </p:txBody>
      </p:sp>
      <p:sp>
        <p:nvSpPr>
          <p:cNvPr id="290" name="Text 288"/>
          <p:cNvSpPr/>
          <p:nvPr/>
        </p:nvSpPr>
        <p:spPr>
          <a:xfrm>
            <a:off x="6147511" y="4174236"/>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21 أكتوبر</a:t>
            </a:r>
            <a:endParaRPr lang="ar-SA" sz="700" dirty="0"/>
          </a:p>
        </p:txBody>
      </p:sp>
      <p:sp>
        <p:nvSpPr>
          <p:cNvPr id="291" name="Shape 289"/>
          <p:cNvSpPr/>
          <p:nvPr/>
        </p:nvSpPr>
        <p:spPr>
          <a:xfrm>
            <a:off x="4702073" y="4219522"/>
            <a:ext cx="240906" cy="125075"/>
          </a:xfrm>
          <a:prstGeom prst="roundRect">
            <a:avLst>
              <a:gd name="adj" fmla="val 29243"/>
            </a:avLst>
          </a:prstGeom>
          <a:solidFill>
            <a:srgbClr val="00778B"/>
          </a:solidFill>
          <a:ln w="6350">
            <a:solidFill>
              <a:srgbClr val="00778B"/>
            </a:solidFill>
            <a:prstDash val="solid"/>
          </a:ln>
          <a:effectLst>
            <a:outerShdw sx="100000" sy="100000" kx="0" ky="0" algn="bl" rotWithShape="0" blurRad="38100" dist="12700" dir="5400000">
              <a:srgbClr val="000000">
                <a:alpha val="20000"/>
              </a:srgbClr>
            </a:outerShdw>
          </a:effectLst>
        </p:spPr>
      </p:sp>
      <p:sp>
        <p:nvSpPr>
          <p:cNvPr id="292" name="Shape 290"/>
          <p:cNvSpPr/>
          <p:nvPr/>
        </p:nvSpPr>
        <p:spPr>
          <a:xfrm>
            <a:off x="365760" y="4389882"/>
            <a:ext cx="11460175" cy="215646"/>
          </a:xfrm>
          <a:prstGeom prst="rect">
            <a:avLst/>
          </a:prstGeom>
          <a:solidFill>
            <a:srgbClr val="F6F9FA"/>
          </a:solidFill>
          <a:ln w="6350">
            <a:solidFill>
              <a:srgbClr val="DFE6EA"/>
            </a:solidFill>
            <a:prstDash val="solid"/>
          </a:ln>
        </p:spPr>
      </p:sp>
      <p:sp>
        <p:nvSpPr>
          <p:cNvPr id="293" name="Shape 291"/>
          <p:cNvSpPr/>
          <p:nvPr/>
        </p:nvSpPr>
        <p:spPr>
          <a:xfrm>
            <a:off x="11515039" y="4378833"/>
            <a:ext cx="237744" cy="237744"/>
          </a:xfrm>
          <a:prstGeom prst="ellipse">
            <a:avLst>
              <a:gd name="adj" fmla="val 32692"/>
            </a:avLst>
          </a:prstGeom>
          <a:solidFill>
            <a:srgbClr val="00778B"/>
          </a:solidFill>
          <a:ln w="19050">
            <a:solidFill>
              <a:srgbClr val="222222"/>
            </a:solidFill>
            <a:prstDash val="solid"/>
          </a:ln>
        </p:spPr>
      </p:sp>
      <p:sp>
        <p:nvSpPr>
          <p:cNvPr id="294" name="Text 292"/>
          <p:cNvSpPr/>
          <p:nvPr/>
        </p:nvSpPr>
        <p:spPr>
          <a:xfrm>
            <a:off x="11441887" y="4389882"/>
            <a:ext cx="384048" cy="215646"/>
          </a:xfrm>
          <a:prstGeom prst="rect">
            <a:avLst/>
          </a:prstGeom>
          <a:noFill/>
          <a:ln/>
        </p:spPr>
        <p:txBody>
          <a:bodyPr wrap="square" lIns="0" tIns="0" rIns="0" bIns="0" rtlCol="0" anchor="ctr">
            <a:normAutofit/>
          </a:bodyPr>
          <a:lstStyle/>
          <a:p>
            <a:pPr rtl="1" algn="ctr" indent="0" marL="0">
              <a:buNone/>
            </a:pPr>
            <a:r>
              <a:rPr lang="ar-SA" altLang="en-US" sz="850" b="1" dirty="0">
                <a:solidFill>
                  <a:srgbClr val="FFFFFF"/>
                </a:solidFill>
                <a:latin typeface="Arial" pitchFamily="34" charset="0"/>
                <a:ea typeface="Arial" pitchFamily="34" charset="-122"/>
                <a:cs typeface="Arial" pitchFamily="34" charset="-120"/>
              </a:rPr>
              <a:t>C</a:t>
            </a:r>
            <a:endParaRPr lang="ar-SA" sz="850" dirty="0"/>
          </a:p>
        </p:txBody>
      </p:sp>
      <p:sp>
        <p:nvSpPr>
          <p:cNvPr id="295" name="Text 293"/>
          <p:cNvSpPr/>
          <p:nvPr/>
        </p:nvSpPr>
        <p:spPr>
          <a:xfrm>
            <a:off x="8762695" y="4389882"/>
            <a:ext cx="2606040" cy="215646"/>
          </a:xfrm>
          <a:prstGeom prst="rect">
            <a:avLst/>
          </a:prstGeom>
          <a:noFill/>
          <a:ln/>
        </p:spPr>
        <p:txBody>
          <a:bodyPr wrap="square" lIns="0" tIns="0" rIns="0" bIns="0" rtlCol="0" anchor="ctr">
            <a:normAutofit/>
          </a:bodyPr>
          <a:lstStyle/>
          <a:p>
            <a:pPr rtl="1" algn="r" indent="0" marL="0">
              <a:buNone/>
            </a:pPr>
            <a:r>
              <a:rPr lang="ar-SA" altLang="en-US" sz="750" b="1" dirty="0">
                <a:solidFill>
                  <a:srgbClr val="222222"/>
                </a:solidFill>
                <a:latin typeface="Arial" pitchFamily="34" charset="0"/>
                <a:ea typeface="Arial" pitchFamily="34" charset="-122"/>
                <a:cs typeface="Arial" pitchFamily="34" charset="-120"/>
              </a:rPr>
              <a:t>خندق الحفرة – حديد التسليح والشدات والخرسانة</a:t>
            </a:r>
            <a:endParaRPr lang="ar-SA" sz="750" dirty="0"/>
          </a:p>
        </p:txBody>
      </p:sp>
      <p:sp>
        <p:nvSpPr>
          <p:cNvPr id="296" name="Text 294"/>
          <p:cNvSpPr/>
          <p:nvPr/>
        </p:nvSpPr>
        <p:spPr>
          <a:xfrm>
            <a:off x="7967167" y="4389882"/>
            <a:ext cx="777240" cy="215646"/>
          </a:xfrm>
          <a:prstGeom prst="rect">
            <a:avLst/>
          </a:prstGeom>
          <a:noFill/>
          <a:ln/>
        </p:spPr>
        <p:txBody>
          <a:bodyPr wrap="square" lIns="0" tIns="0" rIns="0" bIns="0" rtlCol="0" anchor="ctr">
            <a:normAutofit/>
          </a:bodyPr>
          <a:lstStyle/>
          <a:p>
            <a:pPr rtl="1" algn="ctr" indent="0" marL="0">
              <a:buNone/>
            </a:pPr>
            <a:r>
              <a:rPr lang="ar-SA" altLang="en-US" sz="700" dirty="0">
                <a:solidFill>
                  <a:srgbClr val="444444"/>
                </a:solidFill>
                <a:latin typeface="Arial" pitchFamily="34" charset="0"/>
                <a:ea typeface="Arial" pitchFamily="34" charset="-122"/>
                <a:cs typeface="Arial" pitchFamily="34" charset="-120"/>
              </a:rPr>
              <a:t>A · FS</a:t>
            </a:r>
            <a:endParaRPr lang="ar-SA" sz="700" dirty="0"/>
          </a:p>
        </p:txBody>
      </p:sp>
      <p:sp>
        <p:nvSpPr>
          <p:cNvPr id="297" name="Text 295"/>
          <p:cNvSpPr/>
          <p:nvPr/>
        </p:nvSpPr>
        <p:spPr>
          <a:xfrm>
            <a:off x="7464247" y="4389882"/>
            <a:ext cx="502920" cy="215646"/>
          </a:xfrm>
          <a:prstGeom prst="rect">
            <a:avLst/>
          </a:prstGeom>
          <a:noFill/>
          <a:ln/>
        </p:spPr>
        <p:txBody>
          <a:bodyPr wrap="square" lIns="0" tIns="0" rIns="0" bIns="0" rtlCol="0" anchor="ctr">
            <a:normAutofit/>
          </a:bodyPr>
          <a:lstStyle/>
          <a:p>
            <a:pPr rtl="1" algn="ctr" indent="0" marL="0">
              <a:buNone/>
            </a:pPr>
            <a:r>
              <a:rPr lang="ar-SA" altLang="en-US" sz="900" b="1" dirty="0">
                <a:solidFill>
                  <a:srgbClr val="222222"/>
                </a:solidFill>
                <a:latin typeface="Arial" pitchFamily="34" charset="0"/>
                <a:ea typeface="Arial" pitchFamily="34" charset="-122"/>
                <a:cs typeface="Arial" pitchFamily="34" charset="-120"/>
              </a:rPr>
              <a:t>4</a:t>
            </a:r>
            <a:endParaRPr lang="ar-SA" sz="900" dirty="0"/>
          </a:p>
        </p:txBody>
      </p:sp>
      <p:sp>
        <p:nvSpPr>
          <p:cNvPr id="298" name="Text 296"/>
          <p:cNvSpPr/>
          <p:nvPr/>
        </p:nvSpPr>
        <p:spPr>
          <a:xfrm>
            <a:off x="6805879" y="4389882"/>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20 أكتوبر</a:t>
            </a:r>
            <a:endParaRPr lang="ar-SA" sz="700" dirty="0"/>
          </a:p>
        </p:txBody>
      </p:sp>
      <p:sp>
        <p:nvSpPr>
          <p:cNvPr id="299" name="Text 297"/>
          <p:cNvSpPr/>
          <p:nvPr/>
        </p:nvSpPr>
        <p:spPr>
          <a:xfrm>
            <a:off x="6147511" y="4389882"/>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24 أكتوبر</a:t>
            </a:r>
            <a:endParaRPr lang="ar-SA" sz="700" dirty="0"/>
          </a:p>
        </p:txBody>
      </p:sp>
      <p:sp>
        <p:nvSpPr>
          <p:cNvPr id="300" name="Shape 298"/>
          <p:cNvSpPr/>
          <p:nvPr/>
        </p:nvSpPr>
        <p:spPr>
          <a:xfrm>
            <a:off x="4340714" y="4435168"/>
            <a:ext cx="602266" cy="125075"/>
          </a:xfrm>
          <a:prstGeom prst="roundRect">
            <a:avLst>
              <a:gd name="adj" fmla="val 29243"/>
            </a:avLst>
          </a:prstGeom>
          <a:solidFill>
            <a:srgbClr val="00778B"/>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301" name="Text 299"/>
          <p:cNvSpPr/>
          <p:nvPr/>
        </p:nvSpPr>
        <p:spPr>
          <a:xfrm>
            <a:off x="4340714" y="4435168"/>
            <a:ext cx="602266" cy="125075"/>
          </a:xfrm>
          <a:prstGeom prst="rect">
            <a:avLst/>
          </a:prstGeom>
          <a:noFill/>
          <a:ln/>
        </p:spPr>
        <p:txBody>
          <a:bodyPr wrap="square" lIns="0" tIns="0" rIns="0" bIns="0" rtlCol="0" anchor="ctr">
            <a:normAutofit/>
          </a:bodyPr>
          <a:lstStyle/>
          <a:p>
            <a:pPr rtl="1" algn="ctr" indent="0" marL="0">
              <a:buNone/>
            </a:pPr>
            <a:r>
              <a:rPr lang="ar-SA" altLang="en-US" sz="700" b="1" dirty="0">
                <a:solidFill>
                  <a:srgbClr val="FFFFFF"/>
                </a:solidFill>
                <a:latin typeface="Arial" pitchFamily="34" charset="0"/>
                <a:ea typeface="Arial" pitchFamily="34" charset="-122"/>
                <a:cs typeface="Arial" pitchFamily="34" charset="-120"/>
              </a:rPr>
              <a:t>4 يوم</a:t>
            </a:r>
            <a:endParaRPr lang="ar-SA" sz="700" dirty="0"/>
          </a:p>
        </p:txBody>
      </p:sp>
      <p:sp>
        <p:nvSpPr>
          <p:cNvPr id="302" name="Shape 300"/>
          <p:cNvSpPr/>
          <p:nvPr/>
        </p:nvSpPr>
        <p:spPr>
          <a:xfrm>
            <a:off x="365760" y="4605528"/>
            <a:ext cx="11460175" cy="215646"/>
          </a:xfrm>
          <a:prstGeom prst="rect">
            <a:avLst/>
          </a:prstGeom>
          <a:solidFill>
            <a:srgbClr val="FFFFFF"/>
          </a:solidFill>
          <a:ln w="6350">
            <a:solidFill>
              <a:srgbClr val="DFE6EA"/>
            </a:solidFill>
            <a:prstDash val="solid"/>
          </a:ln>
        </p:spPr>
      </p:sp>
      <p:sp>
        <p:nvSpPr>
          <p:cNvPr id="303" name="Shape 301"/>
          <p:cNvSpPr/>
          <p:nvPr/>
        </p:nvSpPr>
        <p:spPr>
          <a:xfrm>
            <a:off x="11515039" y="4594479"/>
            <a:ext cx="237744" cy="237744"/>
          </a:xfrm>
          <a:prstGeom prst="ellipse">
            <a:avLst>
              <a:gd name="adj" fmla="val 32692"/>
            </a:avLst>
          </a:prstGeom>
          <a:solidFill>
            <a:srgbClr val="00778B"/>
          </a:solidFill>
          <a:ln w="19050">
            <a:solidFill>
              <a:srgbClr val="222222"/>
            </a:solidFill>
            <a:prstDash val="solid"/>
          </a:ln>
        </p:spPr>
      </p:sp>
      <p:sp>
        <p:nvSpPr>
          <p:cNvPr id="304" name="Text 302"/>
          <p:cNvSpPr/>
          <p:nvPr/>
        </p:nvSpPr>
        <p:spPr>
          <a:xfrm>
            <a:off x="11441887" y="4605528"/>
            <a:ext cx="384048" cy="215646"/>
          </a:xfrm>
          <a:prstGeom prst="rect">
            <a:avLst/>
          </a:prstGeom>
          <a:noFill/>
          <a:ln/>
        </p:spPr>
        <p:txBody>
          <a:bodyPr wrap="square" lIns="0" tIns="0" rIns="0" bIns="0" rtlCol="0" anchor="ctr">
            <a:normAutofit/>
          </a:bodyPr>
          <a:lstStyle/>
          <a:p>
            <a:pPr rtl="1" algn="ctr" indent="0" marL="0">
              <a:buNone/>
            </a:pPr>
            <a:r>
              <a:rPr lang="ar-SA" altLang="en-US" sz="850" b="1" dirty="0">
                <a:solidFill>
                  <a:srgbClr val="FFFFFF"/>
                </a:solidFill>
                <a:latin typeface="Arial" pitchFamily="34" charset="0"/>
                <a:ea typeface="Arial" pitchFamily="34" charset="-122"/>
                <a:cs typeface="Arial" pitchFamily="34" charset="-120"/>
              </a:rPr>
              <a:t>D</a:t>
            </a:r>
            <a:endParaRPr lang="ar-SA" sz="850" dirty="0"/>
          </a:p>
        </p:txBody>
      </p:sp>
      <p:sp>
        <p:nvSpPr>
          <p:cNvPr id="305" name="Text 303"/>
          <p:cNvSpPr/>
          <p:nvPr/>
        </p:nvSpPr>
        <p:spPr>
          <a:xfrm>
            <a:off x="8762695" y="4605528"/>
            <a:ext cx="2606040" cy="215646"/>
          </a:xfrm>
          <a:prstGeom prst="rect">
            <a:avLst/>
          </a:prstGeom>
          <a:noFill/>
          <a:ln/>
        </p:spPr>
        <p:txBody>
          <a:bodyPr wrap="square" lIns="0" tIns="0" rIns="0" bIns="0" rtlCol="0" anchor="ctr">
            <a:normAutofit/>
          </a:bodyPr>
          <a:lstStyle/>
          <a:p>
            <a:pPr rtl="1" algn="r" indent="0" marL="0">
              <a:buNone/>
            </a:pPr>
            <a:r>
              <a:rPr lang="ar-SA" altLang="en-US" sz="750" b="1" dirty="0">
                <a:solidFill>
                  <a:srgbClr val="222222"/>
                </a:solidFill>
                <a:latin typeface="Arial" pitchFamily="34" charset="0"/>
                <a:ea typeface="Arial" pitchFamily="34" charset="-122"/>
                <a:cs typeface="Arial" pitchFamily="34" charset="-120"/>
              </a:rPr>
              <a:t>بلاطة / لبشة الحفرة – حديد التسليح والشدات والخرسانة</a:t>
            </a:r>
            <a:endParaRPr lang="ar-SA" sz="750" dirty="0"/>
          </a:p>
        </p:txBody>
      </p:sp>
      <p:sp>
        <p:nvSpPr>
          <p:cNvPr id="306" name="Text 304"/>
          <p:cNvSpPr/>
          <p:nvPr/>
        </p:nvSpPr>
        <p:spPr>
          <a:xfrm>
            <a:off x="7967167" y="4605528"/>
            <a:ext cx="777240" cy="215646"/>
          </a:xfrm>
          <a:prstGeom prst="rect">
            <a:avLst/>
          </a:prstGeom>
          <a:noFill/>
          <a:ln/>
        </p:spPr>
        <p:txBody>
          <a:bodyPr wrap="square" lIns="0" tIns="0" rIns="0" bIns="0" rtlCol="0" anchor="ctr">
            <a:normAutofit/>
          </a:bodyPr>
          <a:lstStyle/>
          <a:p>
            <a:pPr rtl="1" algn="ctr" indent="0" marL="0">
              <a:buNone/>
            </a:pPr>
            <a:r>
              <a:rPr lang="ar-SA" altLang="en-US" sz="700" dirty="0">
                <a:solidFill>
                  <a:srgbClr val="444444"/>
                </a:solidFill>
                <a:latin typeface="Arial" pitchFamily="34" charset="0"/>
                <a:ea typeface="Arial" pitchFamily="34" charset="-122"/>
                <a:cs typeface="Arial" pitchFamily="34" charset="-120"/>
              </a:rPr>
              <a:t>C · FS</a:t>
            </a:r>
            <a:endParaRPr lang="ar-SA" sz="700" dirty="0"/>
          </a:p>
        </p:txBody>
      </p:sp>
      <p:sp>
        <p:nvSpPr>
          <p:cNvPr id="307" name="Text 305"/>
          <p:cNvSpPr/>
          <p:nvPr/>
        </p:nvSpPr>
        <p:spPr>
          <a:xfrm>
            <a:off x="7464247" y="4605528"/>
            <a:ext cx="502920" cy="215646"/>
          </a:xfrm>
          <a:prstGeom prst="rect">
            <a:avLst/>
          </a:prstGeom>
          <a:noFill/>
          <a:ln/>
        </p:spPr>
        <p:txBody>
          <a:bodyPr wrap="square" lIns="0" tIns="0" rIns="0" bIns="0" rtlCol="0" anchor="ctr">
            <a:normAutofit/>
          </a:bodyPr>
          <a:lstStyle/>
          <a:p>
            <a:pPr rtl="1" algn="ctr" indent="0" marL="0">
              <a:buNone/>
            </a:pPr>
            <a:r>
              <a:rPr lang="ar-SA" altLang="en-US" sz="900" b="1" dirty="0">
                <a:solidFill>
                  <a:srgbClr val="222222"/>
                </a:solidFill>
                <a:latin typeface="Arial" pitchFamily="34" charset="0"/>
                <a:ea typeface="Arial" pitchFamily="34" charset="-122"/>
                <a:cs typeface="Arial" pitchFamily="34" charset="-120"/>
              </a:rPr>
              <a:t>10</a:t>
            </a:r>
            <a:endParaRPr lang="ar-SA" sz="900" dirty="0"/>
          </a:p>
        </p:txBody>
      </p:sp>
      <p:sp>
        <p:nvSpPr>
          <p:cNvPr id="308" name="Text 306"/>
          <p:cNvSpPr/>
          <p:nvPr/>
        </p:nvSpPr>
        <p:spPr>
          <a:xfrm>
            <a:off x="6805879" y="4605528"/>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25 أكتوبر</a:t>
            </a:r>
            <a:endParaRPr lang="ar-SA" sz="700" dirty="0"/>
          </a:p>
        </p:txBody>
      </p:sp>
      <p:sp>
        <p:nvSpPr>
          <p:cNvPr id="309" name="Text 307"/>
          <p:cNvSpPr/>
          <p:nvPr/>
        </p:nvSpPr>
        <p:spPr>
          <a:xfrm>
            <a:off x="6147511" y="4605528"/>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4 نوفمبر</a:t>
            </a:r>
            <a:endParaRPr lang="ar-SA" sz="700" dirty="0"/>
          </a:p>
        </p:txBody>
      </p:sp>
      <p:sp>
        <p:nvSpPr>
          <p:cNvPr id="310" name="Shape 308"/>
          <p:cNvSpPr/>
          <p:nvPr/>
        </p:nvSpPr>
        <p:spPr>
          <a:xfrm>
            <a:off x="3015729" y="4650814"/>
            <a:ext cx="1324985" cy="125075"/>
          </a:xfrm>
          <a:prstGeom prst="roundRect">
            <a:avLst>
              <a:gd name="adj" fmla="val 29243"/>
            </a:avLst>
          </a:prstGeom>
          <a:solidFill>
            <a:srgbClr val="00778B"/>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311" name="Text 309"/>
          <p:cNvSpPr/>
          <p:nvPr/>
        </p:nvSpPr>
        <p:spPr>
          <a:xfrm>
            <a:off x="3015729" y="4650814"/>
            <a:ext cx="1324985" cy="125075"/>
          </a:xfrm>
          <a:prstGeom prst="rect">
            <a:avLst/>
          </a:prstGeom>
          <a:noFill/>
          <a:ln/>
        </p:spPr>
        <p:txBody>
          <a:bodyPr wrap="square" lIns="0" tIns="0" rIns="0" bIns="0" rtlCol="0" anchor="ctr">
            <a:normAutofit/>
          </a:bodyPr>
          <a:lstStyle/>
          <a:p>
            <a:pPr rtl="1" algn="ctr" indent="0" marL="0">
              <a:buNone/>
            </a:pPr>
            <a:r>
              <a:rPr lang="ar-SA" altLang="en-US" sz="700" b="1" dirty="0">
                <a:solidFill>
                  <a:srgbClr val="FFFFFF"/>
                </a:solidFill>
                <a:latin typeface="Arial" pitchFamily="34" charset="0"/>
                <a:ea typeface="Arial" pitchFamily="34" charset="-122"/>
                <a:cs typeface="Arial" pitchFamily="34" charset="-120"/>
              </a:rPr>
              <a:t>10 يوم</a:t>
            </a:r>
            <a:endParaRPr lang="ar-SA" sz="700" dirty="0"/>
          </a:p>
        </p:txBody>
      </p:sp>
      <p:sp>
        <p:nvSpPr>
          <p:cNvPr id="312" name="Shape 310"/>
          <p:cNvSpPr/>
          <p:nvPr/>
        </p:nvSpPr>
        <p:spPr>
          <a:xfrm>
            <a:off x="365760" y="4821174"/>
            <a:ext cx="11460175" cy="215646"/>
          </a:xfrm>
          <a:prstGeom prst="rect">
            <a:avLst/>
          </a:prstGeom>
          <a:solidFill>
            <a:srgbClr val="F6F9FA"/>
          </a:solidFill>
          <a:ln w="6350">
            <a:solidFill>
              <a:srgbClr val="DFE6EA"/>
            </a:solidFill>
            <a:prstDash val="solid"/>
          </a:ln>
        </p:spPr>
      </p:sp>
      <p:sp>
        <p:nvSpPr>
          <p:cNvPr id="313" name="Shape 311"/>
          <p:cNvSpPr/>
          <p:nvPr/>
        </p:nvSpPr>
        <p:spPr>
          <a:xfrm>
            <a:off x="11515039" y="4810125"/>
            <a:ext cx="237744" cy="237744"/>
          </a:xfrm>
          <a:prstGeom prst="ellipse">
            <a:avLst>
              <a:gd name="adj" fmla="val 32692"/>
            </a:avLst>
          </a:prstGeom>
          <a:solidFill>
            <a:srgbClr val="00778B"/>
          </a:solidFill>
          <a:ln w="6350">
            <a:solidFill>
              <a:srgbClr val="00778B"/>
            </a:solidFill>
            <a:prstDash val="solid"/>
          </a:ln>
        </p:spPr>
      </p:sp>
      <p:sp>
        <p:nvSpPr>
          <p:cNvPr id="314" name="Text 312"/>
          <p:cNvSpPr/>
          <p:nvPr/>
        </p:nvSpPr>
        <p:spPr>
          <a:xfrm>
            <a:off x="11441887" y="4821174"/>
            <a:ext cx="384048" cy="215646"/>
          </a:xfrm>
          <a:prstGeom prst="rect">
            <a:avLst/>
          </a:prstGeom>
          <a:noFill/>
          <a:ln/>
        </p:spPr>
        <p:txBody>
          <a:bodyPr wrap="square" lIns="0" tIns="0" rIns="0" bIns="0" rtlCol="0" anchor="ctr">
            <a:normAutofit/>
          </a:bodyPr>
          <a:lstStyle/>
          <a:p>
            <a:pPr rtl="1" algn="ctr" indent="0" marL="0">
              <a:buNone/>
            </a:pPr>
            <a:r>
              <a:rPr lang="ar-SA" altLang="en-US" sz="850" b="1" dirty="0">
                <a:solidFill>
                  <a:srgbClr val="FFFFFF"/>
                </a:solidFill>
                <a:latin typeface="Arial" pitchFamily="34" charset="0"/>
                <a:ea typeface="Arial" pitchFamily="34" charset="-122"/>
                <a:cs typeface="Arial" pitchFamily="34" charset="-120"/>
              </a:rPr>
              <a:t>E</a:t>
            </a:r>
            <a:endParaRPr lang="ar-SA" sz="850" dirty="0"/>
          </a:p>
        </p:txBody>
      </p:sp>
      <p:sp>
        <p:nvSpPr>
          <p:cNvPr id="315" name="Text 313"/>
          <p:cNvSpPr/>
          <p:nvPr/>
        </p:nvSpPr>
        <p:spPr>
          <a:xfrm>
            <a:off x="8762695" y="4821174"/>
            <a:ext cx="2606040" cy="215646"/>
          </a:xfrm>
          <a:prstGeom prst="rect">
            <a:avLst/>
          </a:prstGeom>
          <a:noFill/>
          <a:ln/>
        </p:spPr>
        <p:txBody>
          <a:bodyPr wrap="square" lIns="0" tIns="0" rIns="0" bIns="0" rtlCol="0" anchor="ctr">
            <a:normAutofit/>
          </a:bodyPr>
          <a:lstStyle/>
          <a:p>
            <a:pPr rtl="1" algn="r" indent="0" marL="0">
              <a:buNone/>
            </a:pPr>
            <a:r>
              <a:rPr lang="ar-SA" altLang="en-US" sz="750" b="1" dirty="0">
                <a:solidFill>
                  <a:srgbClr val="222222"/>
                </a:solidFill>
                <a:latin typeface="Arial" pitchFamily="34" charset="0"/>
                <a:ea typeface="Arial" pitchFamily="34" charset="-122"/>
                <a:cs typeface="Arial" pitchFamily="34" charset="-120"/>
              </a:rPr>
              <a:t>جدار الحفرة – حديد التسليح والشدات والخرسانة</a:t>
            </a:r>
            <a:endParaRPr lang="ar-SA" sz="750" dirty="0"/>
          </a:p>
        </p:txBody>
      </p:sp>
      <p:sp>
        <p:nvSpPr>
          <p:cNvPr id="316" name="Text 314"/>
          <p:cNvSpPr/>
          <p:nvPr/>
        </p:nvSpPr>
        <p:spPr>
          <a:xfrm>
            <a:off x="7967167" y="4821174"/>
            <a:ext cx="777240" cy="215646"/>
          </a:xfrm>
          <a:prstGeom prst="rect">
            <a:avLst/>
          </a:prstGeom>
          <a:noFill/>
          <a:ln/>
        </p:spPr>
        <p:txBody>
          <a:bodyPr wrap="square" lIns="0" tIns="0" rIns="0" bIns="0" rtlCol="0" anchor="ctr">
            <a:normAutofit/>
          </a:bodyPr>
          <a:lstStyle/>
          <a:p>
            <a:pPr rtl="1" algn="ctr" indent="0" marL="0">
              <a:buNone/>
            </a:pPr>
            <a:r>
              <a:rPr lang="ar-SA" altLang="en-US" sz="700" dirty="0">
                <a:solidFill>
                  <a:srgbClr val="444444"/>
                </a:solidFill>
                <a:latin typeface="Arial" pitchFamily="34" charset="0"/>
                <a:ea typeface="Arial" pitchFamily="34" charset="-122"/>
                <a:cs typeface="Arial" pitchFamily="34" charset="-120"/>
              </a:rPr>
              <a:t>D · FS</a:t>
            </a:r>
            <a:endParaRPr lang="ar-SA" sz="700" dirty="0"/>
          </a:p>
        </p:txBody>
      </p:sp>
      <p:sp>
        <p:nvSpPr>
          <p:cNvPr id="317" name="Text 315"/>
          <p:cNvSpPr/>
          <p:nvPr/>
        </p:nvSpPr>
        <p:spPr>
          <a:xfrm>
            <a:off x="7464247" y="4821174"/>
            <a:ext cx="502920" cy="215646"/>
          </a:xfrm>
          <a:prstGeom prst="rect">
            <a:avLst/>
          </a:prstGeom>
          <a:noFill/>
          <a:ln/>
        </p:spPr>
        <p:txBody>
          <a:bodyPr wrap="square" lIns="0" tIns="0" rIns="0" bIns="0" rtlCol="0" anchor="ctr">
            <a:normAutofit/>
          </a:bodyPr>
          <a:lstStyle/>
          <a:p>
            <a:pPr rtl="1" algn="ctr" indent="0" marL="0">
              <a:buNone/>
            </a:pPr>
            <a:r>
              <a:rPr lang="ar-SA" altLang="en-US" sz="900" b="1" dirty="0">
                <a:solidFill>
                  <a:srgbClr val="222222"/>
                </a:solidFill>
                <a:latin typeface="Arial" pitchFamily="34" charset="0"/>
                <a:ea typeface="Arial" pitchFamily="34" charset="-122"/>
                <a:cs typeface="Arial" pitchFamily="34" charset="-120"/>
              </a:rPr>
              <a:t>6</a:t>
            </a:r>
            <a:endParaRPr lang="ar-SA" sz="900" dirty="0"/>
          </a:p>
        </p:txBody>
      </p:sp>
      <p:sp>
        <p:nvSpPr>
          <p:cNvPr id="318" name="Text 316"/>
          <p:cNvSpPr/>
          <p:nvPr/>
        </p:nvSpPr>
        <p:spPr>
          <a:xfrm>
            <a:off x="6805879" y="4821174"/>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5 نوفمبر</a:t>
            </a:r>
            <a:endParaRPr lang="ar-SA" sz="700" dirty="0"/>
          </a:p>
        </p:txBody>
      </p:sp>
      <p:sp>
        <p:nvSpPr>
          <p:cNvPr id="319" name="Text 317"/>
          <p:cNvSpPr/>
          <p:nvPr/>
        </p:nvSpPr>
        <p:spPr>
          <a:xfrm>
            <a:off x="6147511" y="4821174"/>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11 نوفمبر</a:t>
            </a:r>
            <a:endParaRPr lang="ar-SA" sz="700" dirty="0"/>
          </a:p>
        </p:txBody>
      </p:sp>
      <p:sp>
        <p:nvSpPr>
          <p:cNvPr id="320" name="Shape 318"/>
          <p:cNvSpPr/>
          <p:nvPr/>
        </p:nvSpPr>
        <p:spPr>
          <a:xfrm>
            <a:off x="2172557" y="4866460"/>
            <a:ext cx="843172" cy="125075"/>
          </a:xfrm>
          <a:prstGeom prst="roundRect">
            <a:avLst>
              <a:gd name="adj" fmla="val 29243"/>
            </a:avLst>
          </a:prstGeom>
          <a:solidFill>
            <a:srgbClr val="00778B"/>
          </a:solidFill>
          <a:ln w="6350">
            <a:solidFill>
              <a:srgbClr val="00778B"/>
            </a:solidFill>
            <a:prstDash val="solid"/>
          </a:ln>
          <a:effectLst>
            <a:outerShdw sx="100000" sy="100000" kx="0" ky="0" algn="bl" rotWithShape="0" blurRad="38100" dist="12700" dir="5400000">
              <a:srgbClr val="000000">
                <a:alpha val="20000"/>
              </a:srgbClr>
            </a:outerShdw>
          </a:effectLst>
        </p:spPr>
      </p:sp>
      <p:sp>
        <p:nvSpPr>
          <p:cNvPr id="321" name="Text 319"/>
          <p:cNvSpPr/>
          <p:nvPr/>
        </p:nvSpPr>
        <p:spPr>
          <a:xfrm>
            <a:off x="2172557" y="4866460"/>
            <a:ext cx="843172" cy="125075"/>
          </a:xfrm>
          <a:prstGeom prst="rect">
            <a:avLst/>
          </a:prstGeom>
          <a:noFill/>
          <a:ln/>
        </p:spPr>
        <p:txBody>
          <a:bodyPr wrap="square" lIns="0" tIns="0" rIns="0" bIns="0" rtlCol="0" anchor="ctr">
            <a:normAutofit/>
          </a:bodyPr>
          <a:lstStyle/>
          <a:p>
            <a:pPr rtl="1" algn="ctr" indent="0" marL="0">
              <a:buNone/>
            </a:pPr>
            <a:r>
              <a:rPr lang="ar-SA" altLang="en-US" sz="700" b="1" dirty="0">
                <a:solidFill>
                  <a:srgbClr val="FFFFFF"/>
                </a:solidFill>
                <a:latin typeface="Arial" pitchFamily="34" charset="0"/>
                <a:ea typeface="Arial" pitchFamily="34" charset="-122"/>
                <a:cs typeface="Arial" pitchFamily="34" charset="-120"/>
              </a:rPr>
              <a:t>6 يوم</a:t>
            </a:r>
            <a:endParaRPr lang="ar-SA" sz="700" dirty="0"/>
          </a:p>
        </p:txBody>
      </p:sp>
      <p:sp>
        <p:nvSpPr>
          <p:cNvPr id="322" name="Shape 320"/>
          <p:cNvSpPr/>
          <p:nvPr/>
        </p:nvSpPr>
        <p:spPr>
          <a:xfrm>
            <a:off x="365760" y="5036820"/>
            <a:ext cx="11460175" cy="215646"/>
          </a:xfrm>
          <a:prstGeom prst="rect">
            <a:avLst/>
          </a:prstGeom>
          <a:solidFill>
            <a:srgbClr val="FFFFFF"/>
          </a:solidFill>
          <a:ln w="6350">
            <a:solidFill>
              <a:srgbClr val="DFE6EA"/>
            </a:solidFill>
            <a:prstDash val="solid"/>
          </a:ln>
        </p:spPr>
      </p:sp>
      <p:sp>
        <p:nvSpPr>
          <p:cNvPr id="323" name="Shape 321"/>
          <p:cNvSpPr/>
          <p:nvPr/>
        </p:nvSpPr>
        <p:spPr>
          <a:xfrm>
            <a:off x="11515039" y="5025771"/>
            <a:ext cx="237744" cy="237744"/>
          </a:xfrm>
          <a:prstGeom prst="ellipse">
            <a:avLst>
              <a:gd name="adj" fmla="val 32692"/>
            </a:avLst>
          </a:prstGeom>
          <a:solidFill>
            <a:srgbClr val="2E9E6B"/>
          </a:solidFill>
          <a:ln w="19050">
            <a:solidFill>
              <a:srgbClr val="222222"/>
            </a:solidFill>
            <a:prstDash val="solid"/>
          </a:ln>
        </p:spPr>
      </p:sp>
      <p:sp>
        <p:nvSpPr>
          <p:cNvPr id="324" name="Text 322"/>
          <p:cNvSpPr/>
          <p:nvPr/>
        </p:nvSpPr>
        <p:spPr>
          <a:xfrm>
            <a:off x="11441887" y="5036820"/>
            <a:ext cx="384048" cy="215646"/>
          </a:xfrm>
          <a:prstGeom prst="rect">
            <a:avLst/>
          </a:prstGeom>
          <a:noFill/>
          <a:ln/>
        </p:spPr>
        <p:txBody>
          <a:bodyPr wrap="square" lIns="0" tIns="0" rIns="0" bIns="0" rtlCol="0" anchor="ctr">
            <a:normAutofit/>
          </a:bodyPr>
          <a:lstStyle/>
          <a:p>
            <a:pPr rtl="1" algn="ctr" indent="0" marL="0">
              <a:buNone/>
            </a:pPr>
            <a:r>
              <a:rPr lang="ar-SA" altLang="en-US" sz="850" b="1" dirty="0">
                <a:solidFill>
                  <a:srgbClr val="FFFFFF"/>
                </a:solidFill>
                <a:latin typeface="Arial" pitchFamily="34" charset="0"/>
                <a:ea typeface="Arial" pitchFamily="34" charset="-122"/>
                <a:cs typeface="Arial" pitchFamily="34" charset="-120"/>
              </a:rPr>
              <a:t>F</a:t>
            </a:r>
            <a:endParaRPr lang="ar-SA" sz="850" dirty="0"/>
          </a:p>
        </p:txBody>
      </p:sp>
      <p:sp>
        <p:nvSpPr>
          <p:cNvPr id="325" name="Text 323"/>
          <p:cNvSpPr/>
          <p:nvPr/>
        </p:nvSpPr>
        <p:spPr>
          <a:xfrm>
            <a:off x="8762695" y="5036820"/>
            <a:ext cx="2606040" cy="215646"/>
          </a:xfrm>
          <a:prstGeom prst="rect">
            <a:avLst/>
          </a:prstGeom>
          <a:noFill/>
          <a:ln/>
        </p:spPr>
        <p:txBody>
          <a:bodyPr wrap="square" lIns="0" tIns="0" rIns="0" bIns="0" rtlCol="0" anchor="ctr">
            <a:normAutofit/>
          </a:bodyPr>
          <a:lstStyle/>
          <a:p>
            <a:pPr rtl="1" algn="r" indent="0" marL="0">
              <a:buNone/>
            </a:pPr>
            <a:r>
              <a:rPr lang="ar-SA" altLang="en-US" sz="750" b="1" dirty="0">
                <a:solidFill>
                  <a:srgbClr val="222222"/>
                </a:solidFill>
                <a:latin typeface="Arial" pitchFamily="34" charset="0"/>
                <a:ea typeface="Arial" pitchFamily="34" charset="-122"/>
                <a:cs typeface="Arial" pitchFamily="34" charset="-120"/>
              </a:rPr>
              <a:t>أساسات المبنى – حفر ودمك / اختبار وحديد تسليح وخرسانة</a:t>
            </a:r>
            <a:endParaRPr lang="ar-SA" sz="750" dirty="0"/>
          </a:p>
        </p:txBody>
      </p:sp>
      <p:sp>
        <p:nvSpPr>
          <p:cNvPr id="326" name="Text 324"/>
          <p:cNvSpPr/>
          <p:nvPr/>
        </p:nvSpPr>
        <p:spPr>
          <a:xfrm>
            <a:off x="7967167" y="5036820"/>
            <a:ext cx="777240" cy="215646"/>
          </a:xfrm>
          <a:prstGeom prst="rect">
            <a:avLst/>
          </a:prstGeom>
          <a:noFill/>
          <a:ln/>
        </p:spPr>
        <p:txBody>
          <a:bodyPr wrap="square" lIns="0" tIns="0" rIns="0" bIns="0" rtlCol="0" anchor="ctr">
            <a:normAutofit/>
          </a:bodyPr>
          <a:lstStyle/>
          <a:p>
            <a:pPr rtl="1" algn="ctr" indent="0" marL="0">
              <a:buNone/>
            </a:pPr>
            <a:r>
              <a:rPr lang="ar-SA" altLang="en-US" sz="700" dirty="0">
                <a:solidFill>
                  <a:srgbClr val="444444"/>
                </a:solidFill>
                <a:latin typeface="Arial" pitchFamily="34" charset="0"/>
                <a:ea typeface="Arial" pitchFamily="34" charset="-122"/>
                <a:cs typeface="Arial" pitchFamily="34" charset="-120"/>
              </a:rPr>
              <a:t>D · FS</a:t>
            </a:r>
            <a:endParaRPr lang="ar-SA" sz="700" dirty="0"/>
          </a:p>
        </p:txBody>
      </p:sp>
      <p:sp>
        <p:nvSpPr>
          <p:cNvPr id="327" name="Text 325"/>
          <p:cNvSpPr/>
          <p:nvPr/>
        </p:nvSpPr>
        <p:spPr>
          <a:xfrm>
            <a:off x="7464247" y="5036820"/>
            <a:ext cx="502920" cy="215646"/>
          </a:xfrm>
          <a:prstGeom prst="rect">
            <a:avLst/>
          </a:prstGeom>
          <a:noFill/>
          <a:ln/>
        </p:spPr>
        <p:txBody>
          <a:bodyPr wrap="square" lIns="0" tIns="0" rIns="0" bIns="0" rtlCol="0" anchor="ctr">
            <a:normAutofit/>
          </a:bodyPr>
          <a:lstStyle/>
          <a:p>
            <a:pPr rtl="1" algn="ctr" indent="0" marL="0">
              <a:buNone/>
            </a:pPr>
            <a:r>
              <a:rPr lang="ar-SA" altLang="en-US" sz="900" b="1" dirty="0">
                <a:solidFill>
                  <a:srgbClr val="222222"/>
                </a:solidFill>
                <a:latin typeface="Arial" pitchFamily="34" charset="0"/>
                <a:ea typeface="Arial" pitchFamily="34" charset="-122"/>
                <a:cs typeface="Arial" pitchFamily="34" charset="-120"/>
              </a:rPr>
              <a:t>12</a:t>
            </a:r>
            <a:endParaRPr lang="ar-SA" sz="900" dirty="0"/>
          </a:p>
        </p:txBody>
      </p:sp>
      <p:sp>
        <p:nvSpPr>
          <p:cNvPr id="328" name="Text 326"/>
          <p:cNvSpPr/>
          <p:nvPr/>
        </p:nvSpPr>
        <p:spPr>
          <a:xfrm>
            <a:off x="6805879" y="5036820"/>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5 نوفمبر</a:t>
            </a:r>
            <a:endParaRPr lang="ar-SA" sz="700" dirty="0"/>
          </a:p>
        </p:txBody>
      </p:sp>
      <p:sp>
        <p:nvSpPr>
          <p:cNvPr id="329" name="Text 327"/>
          <p:cNvSpPr/>
          <p:nvPr/>
        </p:nvSpPr>
        <p:spPr>
          <a:xfrm>
            <a:off x="6147511" y="5036820"/>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18 نوفمبر</a:t>
            </a:r>
            <a:endParaRPr lang="ar-SA" sz="700" dirty="0"/>
          </a:p>
        </p:txBody>
      </p:sp>
      <p:sp>
        <p:nvSpPr>
          <p:cNvPr id="330" name="Shape 328"/>
          <p:cNvSpPr/>
          <p:nvPr/>
        </p:nvSpPr>
        <p:spPr>
          <a:xfrm>
            <a:off x="1329385" y="5082106"/>
            <a:ext cx="1686344" cy="125075"/>
          </a:xfrm>
          <a:prstGeom prst="roundRect">
            <a:avLst>
              <a:gd name="adj" fmla="val 29243"/>
            </a:avLst>
          </a:prstGeom>
          <a:solidFill>
            <a:srgbClr val="2E9E6B"/>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331" name="Text 329"/>
          <p:cNvSpPr/>
          <p:nvPr/>
        </p:nvSpPr>
        <p:spPr>
          <a:xfrm>
            <a:off x="1329385" y="5082106"/>
            <a:ext cx="1686344" cy="125075"/>
          </a:xfrm>
          <a:prstGeom prst="rect">
            <a:avLst/>
          </a:prstGeom>
          <a:noFill/>
          <a:ln/>
        </p:spPr>
        <p:txBody>
          <a:bodyPr wrap="square" lIns="0" tIns="0" rIns="0" bIns="0" rtlCol="0" anchor="ctr">
            <a:normAutofit/>
          </a:bodyPr>
          <a:lstStyle/>
          <a:p>
            <a:pPr rtl="1" algn="ctr" indent="0" marL="0">
              <a:buNone/>
            </a:pPr>
            <a:r>
              <a:rPr lang="ar-SA" altLang="en-US" sz="700" b="1" dirty="0">
                <a:solidFill>
                  <a:srgbClr val="FFFFFF"/>
                </a:solidFill>
                <a:latin typeface="Arial" pitchFamily="34" charset="0"/>
                <a:ea typeface="Arial" pitchFamily="34" charset="-122"/>
                <a:cs typeface="Arial" pitchFamily="34" charset="-120"/>
              </a:rPr>
              <a:t>12 يوم</a:t>
            </a:r>
            <a:endParaRPr lang="ar-SA" sz="700" dirty="0"/>
          </a:p>
        </p:txBody>
      </p:sp>
      <p:sp>
        <p:nvSpPr>
          <p:cNvPr id="332" name="Shape 330"/>
          <p:cNvSpPr/>
          <p:nvPr/>
        </p:nvSpPr>
        <p:spPr>
          <a:xfrm>
            <a:off x="365760" y="5252466"/>
            <a:ext cx="11460175" cy="215646"/>
          </a:xfrm>
          <a:prstGeom prst="rect">
            <a:avLst/>
          </a:prstGeom>
          <a:solidFill>
            <a:srgbClr val="F6F9FA"/>
          </a:solidFill>
          <a:ln w="6350">
            <a:solidFill>
              <a:srgbClr val="DFE6EA"/>
            </a:solidFill>
            <a:prstDash val="solid"/>
          </a:ln>
        </p:spPr>
      </p:sp>
      <p:sp>
        <p:nvSpPr>
          <p:cNvPr id="333" name="Shape 331"/>
          <p:cNvSpPr/>
          <p:nvPr/>
        </p:nvSpPr>
        <p:spPr>
          <a:xfrm>
            <a:off x="11515039" y="5241417"/>
            <a:ext cx="237744" cy="237744"/>
          </a:xfrm>
          <a:prstGeom prst="ellipse">
            <a:avLst>
              <a:gd name="adj" fmla="val 32692"/>
            </a:avLst>
          </a:prstGeom>
          <a:solidFill>
            <a:srgbClr val="D68A00"/>
          </a:solidFill>
          <a:ln w="19050">
            <a:solidFill>
              <a:srgbClr val="222222"/>
            </a:solidFill>
            <a:prstDash val="solid"/>
          </a:ln>
        </p:spPr>
      </p:sp>
      <p:sp>
        <p:nvSpPr>
          <p:cNvPr id="334" name="Text 332"/>
          <p:cNvSpPr/>
          <p:nvPr/>
        </p:nvSpPr>
        <p:spPr>
          <a:xfrm>
            <a:off x="11441887" y="5252466"/>
            <a:ext cx="384048" cy="215646"/>
          </a:xfrm>
          <a:prstGeom prst="rect">
            <a:avLst/>
          </a:prstGeom>
          <a:noFill/>
          <a:ln/>
        </p:spPr>
        <p:txBody>
          <a:bodyPr wrap="square" lIns="0" tIns="0" rIns="0" bIns="0" rtlCol="0" anchor="ctr">
            <a:normAutofit/>
          </a:bodyPr>
          <a:lstStyle/>
          <a:p>
            <a:pPr rtl="1" algn="ctr" indent="0" marL="0">
              <a:buNone/>
            </a:pPr>
            <a:r>
              <a:rPr lang="ar-SA" altLang="en-US" sz="850" b="1" dirty="0">
                <a:solidFill>
                  <a:srgbClr val="FFFFFF"/>
                </a:solidFill>
                <a:latin typeface="Arial" pitchFamily="34" charset="0"/>
                <a:ea typeface="Arial" pitchFamily="34" charset="-122"/>
                <a:cs typeface="Arial" pitchFamily="34" charset="-120"/>
              </a:rPr>
              <a:t>G</a:t>
            </a:r>
            <a:endParaRPr lang="ar-SA" sz="850" dirty="0"/>
          </a:p>
        </p:txBody>
      </p:sp>
      <p:sp>
        <p:nvSpPr>
          <p:cNvPr id="335" name="Text 333"/>
          <p:cNvSpPr/>
          <p:nvPr/>
        </p:nvSpPr>
        <p:spPr>
          <a:xfrm>
            <a:off x="8762695" y="5252466"/>
            <a:ext cx="2606040" cy="215646"/>
          </a:xfrm>
          <a:prstGeom prst="rect">
            <a:avLst/>
          </a:prstGeom>
          <a:noFill/>
          <a:ln/>
        </p:spPr>
        <p:txBody>
          <a:bodyPr wrap="square" lIns="0" tIns="0" rIns="0" bIns="0" rtlCol="0" anchor="ctr">
            <a:normAutofit/>
          </a:bodyPr>
          <a:lstStyle/>
          <a:p>
            <a:pPr rtl="1" algn="r" indent="0" marL="0">
              <a:buNone/>
            </a:pPr>
            <a:r>
              <a:rPr lang="ar-SA" altLang="en-US" sz="750" b="1" dirty="0">
                <a:solidFill>
                  <a:srgbClr val="222222"/>
                </a:solidFill>
                <a:latin typeface="Arial" pitchFamily="34" charset="0"/>
                <a:ea typeface="Arial" pitchFamily="34" charset="-122"/>
                <a:cs typeface="Arial" pitchFamily="34" charset="-120"/>
              </a:rPr>
              <a:t>أعمال الردم للمبنى</a:t>
            </a:r>
            <a:endParaRPr lang="ar-SA" sz="750" dirty="0"/>
          </a:p>
        </p:txBody>
      </p:sp>
      <p:sp>
        <p:nvSpPr>
          <p:cNvPr id="336" name="Text 334"/>
          <p:cNvSpPr/>
          <p:nvPr/>
        </p:nvSpPr>
        <p:spPr>
          <a:xfrm>
            <a:off x="7967167" y="5252466"/>
            <a:ext cx="777240" cy="215646"/>
          </a:xfrm>
          <a:prstGeom prst="rect">
            <a:avLst/>
          </a:prstGeom>
          <a:noFill/>
          <a:ln/>
        </p:spPr>
        <p:txBody>
          <a:bodyPr wrap="square" lIns="0" tIns="0" rIns="0" bIns="0" rtlCol="0" anchor="ctr">
            <a:normAutofit/>
          </a:bodyPr>
          <a:lstStyle/>
          <a:p>
            <a:pPr rtl="1" algn="ctr" indent="0" marL="0">
              <a:buNone/>
            </a:pPr>
            <a:r>
              <a:rPr lang="ar-SA" altLang="en-US" sz="700" dirty="0">
                <a:solidFill>
                  <a:srgbClr val="444444"/>
                </a:solidFill>
                <a:latin typeface="Arial" pitchFamily="34" charset="0"/>
                <a:ea typeface="Arial" pitchFamily="34" charset="-122"/>
                <a:cs typeface="Arial" pitchFamily="34" charset="-120"/>
              </a:rPr>
              <a:t>F · FS</a:t>
            </a:r>
            <a:endParaRPr lang="ar-SA" sz="700" dirty="0"/>
          </a:p>
        </p:txBody>
      </p:sp>
      <p:sp>
        <p:nvSpPr>
          <p:cNvPr id="337" name="Text 335"/>
          <p:cNvSpPr/>
          <p:nvPr/>
        </p:nvSpPr>
        <p:spPr>
          <a:xfrm>
            <a:off x="7464247" y="5252466"/>
            <a:ext cx="502920" cy="215646"/>
          </a:xfrm>
          <a:prstGeom prst="rect">
            <a:avLst/>
          </a:prstGeom>
          <a:noFill/>
          <a:ln/>
        </p:spPr>
        <p:txBody>
          <a:bodyPr wrap="square" lIns="0" tIns="0" rIns="0" bIns="0" rtlCol="0" anchor="ctr">
            <a:normAutofit/>
          </a:bodyPr>
          <a:lstStyle/>
          <a:p>
            <a:pPr rtl="1" algn="ctr" indent="0" marL="0">
              <a:buNone/>
            </a:pPr>
            <a:r>
              <a:rPr lang="ar-SA" altLang="en-US" sz="900" b="1" dirty="0">
                <a:solidFill>
                  <a:srgbClr val="222222"/>
                </a:solidFill>
                <a:latin typeface="Arial" pitchFamily="34" charset="0"/>
                <a:ea typeface="Arial" pitchFamily="34" charset="-122"/>
                <a:cs typeface="Arial" pitchFamily="34" charset="-120"/>
              </a:rPr>
              <a:t>5</a:t>
            </a:r>
            <a:endParaRPr lang="ar-SA" sz="900" dirty="0"/>
          </a:p>
        </p:txBody>
      </p:sp>
      <p:sp>
        <p:nvSpPr>
          <p:cNvPr id="338" name="Text 336"/>
          <p:cNvSpPr/>
          <p:nvPr/>
        </p:nvSpPr>
        <p:spPr>
          <a:xfrm>
            <a:off x="6805879" y="5252466"/>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19 نوفمبر</a:t>
            </a:r>
            <a:endParaRPr lang="ar-SA" sz="700" dirty="0"/>
          </a:p>
        </p:txBody>
      </p:sp>
      <p:sp>
        <p:nvSpPr>
          <p:cNvPr id="339" name="Text 337"/>
          <p:cNvSpPr/>
          <p:nvPr/>
        </p:nvSpPr>
        <p:spPr>
          <a:xfrm>
            <a:off x="6147511" y="5252466"/>
            <a:ext cx="658368" cy="215646"/>
          </a:xfrm>
          <a:prstGeom prst="rect">
            <a:avLst/>
          </a:prstGeom>
          <a:noFill/>
          <a:ln/>
        </p:spPr>
        <p:txBody>
          <a:bodyPr wrap="square" lIns="0" tIns="0" rIns="0" bIns="0" rtlCol="0" anchor="ctr">
            <a:normAutofit/>
          </a:bodyPr>
          <a:lstStyle/>
          <a:p>
            <a:pPr rtl="1" algn="ctr" indent="0" marL="0">
              <a:buNone/>
            </a:pPr>
            <a:r>
              <a:rPr lang="ar-SA" altLang="en-US" sz="700" b="1" dirty="0">
                <a:solidFill>
                  <a:srgbClr val="222222"/>
                </a:solidFill>
                <a:latin typeface="Arial" pitchFamily="34" charset="0"/>
                <a:ea typeface="Arial" pitchFamily="34" charset="-122"/>
                <a:cs typeface="Arial" pitchFamily="34" charset="-120"/>
              </a:rPr>
              <a:t>24 نوفمبر</a:t>
            </a:r>
            <a:endParaRPr lang="ar-SA" sz="700" dirty="0"/>
          </a:p>
        </p:txBody>
      </p:sp>
      <p:sp>
        <p:nvSpPr>
          <p:cNvPr id="340" name="Shape 338"/>
          <p:cNvSpPr/>
          <p:nvPr/>
        </p:nvSpPr>
        <p:spPr>
          <a:xfrm>
            <a:off x="606666" y="5297752"/>
            <a:ext cx="722719" cy="125075"/>
          </a:xfrm>
          <a:prstGeom prst="roundRect">
            <a:avLst>
              <a:gd name="adj" fmla="val 29243"/>
            </a:avLst>
          </a:prstGeom>
          <a:solidFill>
            <a:srgbClr val="D68A00"/>
          </a:solidFill>
          <a:ln w="19050">
            <a:solidFill>
              <a:srgbClr val="222222"/>
            </a:solidFill>
            <a:prstDash val="solid"/>
          </a:ln>
          <a:effectLst>
            <a:outerShdw sx="100000" sy="100000" kx="0" ky="0" algn="bl" rotWithShape="0" blurRad="38100" dist="12700" dir="5400000">
              <a:srgbClr val="000000">
                <a:alpha val="20000"/>
              </a:srgbClr>
            </a:outerShdw>
          </a:effectLst>
        </p:spPr>
      </p:sp>
      <p:sp>
        <p:nvSpPr>
          <p:cNvPr id="341" name="Text 339"/>
          <p:cNvSpPr/>
          <p:nvPr/>
        </p:nvSpPr>
        <p:spPr>
          <a:xfrm>
            <a:off x="606666" y="5297752"/>
            <a:ext cx="722719" cy="125075"/>
          </a:xfrm>
          <a:prstGeom prst="rect">
            <a:avLst/>
          </a:prstGeom>
          <a:noFill/>
          <a:ln/>
        </p:spPr>
        <p:txBody>
          <a:bodyPr wrap="square" lIns="0" tIns="0" rIns="0" bIns="0" rtlCol="0" anchor="ctr">
            <a:normAutofit/>
          </a:bodyPr>
          <a:lstStyle/>
          <a:p>
            <a:pPr rtl="1" algn="ctr" indent="0" marL="0">
              <a:buNone/>
            </a:pPr>
            <a:r>
              <a:rPr lang="ar-SA" altLang="en-US" sz="700" b="1" dirty="0">
                <a:solidFill>
                  <a:srgbClr val="FFFFFF"/>
                </a:solidFill>
                <a:latin typeface="Arial" pitchFamily="34" charset="0"/>
                <a:ea typeface="Arial" pitchFamily="34" charset="-122"/>
                <a:cs typeface="Arial" pitchFamily="34" charset="-120"/>
              </a:rPr>
              <a:t>5 يوم</a:t>
            </a:r>
            <a:endParaRPr lang="ar-SA" sz="700" dirty="0"/>
          </a:p>
        </p:txBody>
      </p:sp>
      <p:sp>
        <p:nvSpPr>
          <p:cNvPr id="342" name="Shape 340"/>
          <p:cNvSpPr/>
          <p:nvPr/>
        </p:nvSpPr>
        <p:spPr>
          <a:xfrm>
            <a:off x="5731288" y="3266366"/>
            <a:ext cx="0" cy="153109"/>
          </a:xfrm>
          <a:prstGeom prst="line">
            <a:avLst/>
          </a:prstGeom>
          <a:noFill/>
          <a:ln w="13970">
            <a:solidFill>
              <a:srgbClr val="2D3338"/>
            </a:solidFill>
            <a:prstDash val="solid"/>
          </a:ln>
        </p:spPr>
      </p:sp>
      <p:sp>
        <p:nvSpPr>
          <p:cNvPr id="343" name="Shape 341"/>
          <p:cNvSpPr/>
          <p:nvPr/>
        </p:nvSpPr>
        <p:spPr>
          <a:xfrm flipH="1">
            <a:off x="5674843" y="3419475"/>
            <a:ext cx="56445" cy="0"/>
          </a:xfrm>
          <a:prstGeom prst="line">
            <a:avLst/>
          </a:prstGeom>
          <a:noFill/>
          <a:ln w="13970">
            <a:solidFill>
              <a:srgbClr val="2D3338"/>
            </a:solidFill>
            <a:prstDash val="solid"/>
            <a:tailEnd type="triangle"/>
          </a:ln>
        </p:spPr>
      </p:sp>
      <p:sp>
        <p:nvSpPr>
          <p:cNvPr id="344" name="Shape 342"/>
          <p:cNvSpPr/>
          <p:nvPr/>
        </p:nvSpPr>
        <p:spPr>
          <a:xfrm>
            <a:off x="5610835" y="3482012"/>
            <a:ext cx="0" cy="153109"/>
          </a:xfrm>
          <a:prstGeom prst="line">
            <a:avLst/>
          </a:prstGeom>
          <a:noFill/>
          <a:ln w="13970">
            <a:solidFill>
              <a:srgbClr val="2D3338"/>
            </a:solidFill>
            <a:prstDash val="solid"/>
          </a:ln>
        </p:spPr>
      </p:sp>
      <p:sp>
        <p:nvSpPr>
          <p:cNvPr id="345" name="Shape 343"/>
          <p:cNvSpPr/>
          <p:nvPr/>
        </p:nvSpPr>
        <p:spPr>
          <a:xfrm flipH="1">
            <a:off x="5554389" y="3635121"/>
            <a:ext cx="56445" cy="0"/>
          </a:xfrm>
          <a:prstGeom prst="line">
            <a:avLst/>
          </a:prstGeom>
          <a:noFill/>
          <a:ln w="13970">
            <a:solidFill>
              <a:srgbClr val="2D3338"/>
            </a:solidFill>
            <a:prstDash val="solid"/>
            <a:tailEnd type="triangle"/>
          </a:ln>
        </p:spPr>
      </p:sp>
      <p:sp>
        <p:nvSpPr>
          <p:cNvPr id="346" name="Shape 344"/>
          <p:cNvSpPr/>
          <p:nvPr/>
        </p:nvSpPr>
        <p:spPr>
          <a:xfrm>
            <a:off x="5490381" y="3697658"/>
            <a:ext cx="0" cy="153109"/>
          </a:xfrm>
          <a:prstGeom prst="line">
            <a:avLst/>
          </a:prstGeom>
          <a:noFill/>
          <a:ln w="13970">
            <a:solidFill>
              <a:srgbClr val="2D3338"/>
            </a:solidFill>
            <a:prstDash val="solid"/>
          </a:ln>
        </p:spPr>
      </p:sp>
      <p:sp>
        <p:nvSpPr>
          <p:cNvPr id="347" name="Shape 345"/>
          <p:cNvSpPr/>
          <p:nvPr/>
        </p:nvSpPr>
        <p:spPr>
          <a:xfrm flipH="1">
            <a:off x="5313483" y="3850767"/>
            <a:ext cx="176898" cy="0"/>
          </a:xfrm>
          <a:prstGeom prst="line">
            <a:avLst/>
          </a:prstGeom>
          <a:noFill/>
          <a:ln w="13970">
            <a:solidFill>
              <a:srgbClr val="2D3338"/>
            </a:solidFill>
            <a:prstDash val="solid"/>
            <a:tailEnd type="triangle"/>
          </a:ln>
        </p:spPr>
      </p:sp>
      <p:sp>
        <p:nvSpPr>
          <p:cNvPr id="348" name="Shape 346"/>
          <p:cNvSpPr/>
          <p:nvPr/>
        </p:nvSpPr>
        <p:spPr>
          <a:xfrm>
            <a:off x="5249475" y="3913304"/>
            <a:ext cx="0" cy="153109"/>
          </a:xfrm>
          <a:prstGeom prst="line">
            <a:avLst/>
          </a:prstGeom>
          <a:noFill/>
          <a:ln w="13970">
            <a:solidFill>
              <a:srgbClr val="2D3338"/>
            </a:solidFill>
            <a:prstDash val="solid"/>
          </a:ln>
        </p:spPr>
      </p:sp>
      <p:sp>
        <p:nvSpPr>
          <p:cNvPr id="349" name="Shape 347"/>
          <p:cNvSpPr/>
          <p:nvPr/>
        </p:nvSpPr>
        <p:spPr>
          <a:xfrm flipH="1">
            <a:off x="5193030" y="4066413"/>
            <a:ext cx="56445" cy="0"/>
          </a:xfrm>
          <a:prstGeom prst="line">
            <a:avLst/>
          </a:prstGeom>
          <a:noFill/>
          <a:ln w="13970">
            <a:solidFill>
              <a:srgbClr val="2D3338"/>
            </a:solidFill>
            <a:prstDash val="solid"/>
            <a:tailEnd type="triangle"/>
          </a:ln>
        </p:spPr>
      </p:sp>
      <p:sp>
        <p:nvSpPr>
          <p:cNvPr id="350" name="Shape 348"/>
          <p:cNvSpPr/>
          <p:nvPr/>
        </p:nvSpPr>
        <p:spPr>
          <a:xfrm>
            <a:off x="5731288" y="3050720"/>
            <a:ext cx="0" cy="1231339"/>
          </a:xfrm>
          <a:prstGeom prst="line">
            <a:avLst/>
          </a:prstGeom>
          <a:noFill/>
          <a:ln w="13970">
            <a:solidFill>
              <a:srgbClr val="2D3338"/>
            </a:solidFill>
            <a:prstDash val="solid"/>
          </a:ln>
        </p:spPr>
      </p:sp>
      <p:sp>
        <p:nvSpPr>
          <p:cNvPr id="351" name="Shape 349"/>
          <p:cNvSpPr/>
          <p:nvPr/>
        </p:nvSpPr>
        <p:spPr>
          <a:xfrm flipH="1">
            <a:off x="4952124" y="4282059"/>
            <a:ext cx="779164" cy="0"/>
          </a:xfrm>
          <a:prstGeom prst="line">
            <a:avLst/>
          </a:prstGeom>
          <a:noFill/>
          <a:ln w="13970">
            <a:solidFill>
              <a:srgbClr val="2D3338"/>
            </a:solidFill>
            <a:prstDash val="solid"/>
            <a:tailEnd type="triangle"/>
          </a:ln>
        </p:spPr>
      </p:sp>
      <p:sp>
        <p:nvSpPr>
          <p:cNvPr id="352" name="Shape 350"/>
          <p:cNvSpPr/>
          <p:nvPr/>
        </p:nvSpPr>
        <p:spPr>
          <a:xfrm>
            <a:off x="4942980" y="2988183"/>
            <a:ext cx="45720" cy="0"/>
          </a:xfrm>
          <a:prstGeom prst="line">
            <a:avLst/>
          </a:prstGeom>
          <a:noFill/>
          <a:ln w="13970">
            <a:solidFill>
              <a:srgbClr val="2D3338"/>
            </a:solidFill>
            <a:prstDash val="solid"/>
          </a:ln>
        </p:spPr>
      </p:sp>
      <p:sp>
        <p:nvSpPr>
          <p:cNvPr id="353" name="Shape 351"/>
          <p:cNvSpPr/>
          <p:nvPr/>
        </p:nvSpPr>
        <p:spPr>
          <a:xfrm>
            <a:off x="4988700" y="2988183"/>
            <a:ext cx="0" cy="1509522"/>
          </a:xfrm>
          <a:prstGeom prst="line">
            <a:avLst/>
          </a:prstGeom>
          <a:noFill/>
          <a:ln w="13970">
            <a:solidFill>
              <a:srgbClr val="2D3338"/>
            </a:solidFill>
            <a:prstDash val="solid"/>
          </a:ln>
        </p:spPr>
      </p:sp>
      <p:sp>
        <p:nvSpPr>
          <p:cNvPr id="354" name="Shape 352"/>
          <p:cNvSpPr/>
          <p:nvPr/>
        </p:nvSpPr>
        <p:spPr>
          <a:xfrm flipH="1">
            <a:off x="4952124" y="4497705"/>
            <a:ext cx="36576" cy="0"/>
          </a:xfrm>
          <a:prstGeom prst="line">
            <a:avLst/>
          </a:prstGeom>
          <a:noFill/>
          <a:ln w="13970">
            <a:solidFill>
              <a:srgbClr val="2D3338"/>
            </a:solidFill>
            <a:prstDash val="solid"/>
            <a:tailEnd type="triangle"/>
          </a:ln>
        </p:spPr>
      </p:sp>
      <p:sp>
        <p:nvSpPr>
          <p:cNvPr id="355" name="Shape 353"/>
          <p:cNvSpPr/>
          <p:nvPr/>
        </p:nvSpPr>
        <p:spPr>
          <a:xfrm>
            <a:off x="4340714" y="4497705"/>
            <a:ext cx="45720" cy="0"/>
          </a:xfrm>
          <a:prstGeom prst="line">
            <a:avLst/>
          </a:prstGeom>
          <a:noFill/>
          <a:ln w="13970">
            <a:solidFill>
              <a:srgbClr val="2D3338"/>
            </a:solidFill>
            <a:prstDash val="solid"/>
          </a:ln>
        </p:spPr>
      </p:sp>
      <p:sp>
        <p:nvSpPr>
          <p:cNvPr id="356" name="Shape 354"/>
          <p:cNvSpPr/>
          <p:nvPr/>
        </p:nvSpPr>
        <p:spPr>
          <a:xfrm>
            <a:off x="4386434" y="4497705"/>
            <a:ext cx="0" cy="215646"/>
          </a:xfrm>
          <a:prstGeom prst="line">
            <a:avLst/>
          </a:prstGeom>
          <a:noFill/>
          <a:ln w="13970">
            <a:solidFill>
              <a:srgbClr val="2D3338"/>
            </a:solidFill>
            <a:prstDash val="solid"/>
          </a:ln>
        </p:spPr>
      </p:sp>
      <p:sp>
        <p:nvSpPr>
          <p:cNvPr id="357" name="Shape 355"/>
          <p:cNvSpPr/>
          <p:nvPr/>
        </p:nvSpPr>
        <p:spPr>
          <a:xfrm flipH="1">
            <a:off x="4349858" y="4713351"/>
            <a:ext cx="36576" cy="0"/>
          </a:xfrm>
          <a:prstGeom prst="line">
            <a:avLst/>
          </a:prstGeom>
          <a:noFill/>
          <a:ln w="13970">
            <a:solidFill>
              <a:srgbClr val="2D3338"/>
            </a:solidFill>
            <a:prstDash val="solid"/>
            <a:tailEnd type="triangle"/>
          </a:ln>
        </p:spPr>
      </p:sp>
      <p:sp>
        <p:nvSpPr>
          <p:cNvPr id="358" name="Shape 356"/>
          <p:cNvSpPr/>
          <p:nvPr/>
        </p:nvSpPr>
        <p:spPr>
          <a:xfrm>
            <a:off x="3015729" y="4713351"/>
            <a:ext cx="45720" cy="0"/>
          </a:xfrm>
          <a:prstGeom prst="line">
            <a:avLst/>
          </a:prstGeom>
          <a:noFill/>
          <a:ln w="13970">
            <a:solidFill>
              <a:srgbClr val="2D3338"/>
            </a:solidFill>
            <a:prstDash val="solid"/>
          </a:ln>
        </p:spPr>
      </p:sp>
      <p:sp>
        <p:nvSpPr>
          <p:cNvPr id="359" name="Shape 357"/>
          <p:cNvSpPr/>
          <p:nvPr/>
        </p:nvSpPr>
        <p:spPr>
          <a:xfrm>
            <a:off x="3061449" y="4713351"/>
            <a:ext cx="0" cy="215646"/>
          </a:xfrm>
          <a:prstGeom prst="line">
            <a:avLst/>
          </a:prstGeom>
          <a:noFill/>
          <a:ln w="13970">
            <a:solidFill>
              <a:srgbClr val="2D3338"/>
            </a:solidFill>
            <a:prstDash val="solid"/>
          </a:ln>
        </p:spPr>
      </p:sp>
      <p:sp>
        <p:nvSpPr>
          <p:cNvPr id="360" name="Shape 358"/>
          <p:cNvSpPr/>
          <p:nvPr/>
        </p:nvSpPr>
        <p:spPr>
          <a:xfrm flipH="1">
            <a:off x="3024873" y="4928997"/>
            <a:ext cx="36576" cy="0"/>
          </a:xfrm>
          <a:prstGeom prst="line">
            <a:avLst/>
          </a:prstGeom>
          <a:noFill/>
          <a:ln w="13970">
            <a:solidFill>
              <a:srgbClr val="2D3338"/>
            </a:solidFill>
            <a:prstDash val="solid"/>
            <a:tailEnd type="triangle"/>
          </a:ln>
        </p:spPr>
      </p:sp>
      <p:sp>
        <p:nvSpPr>
          <p:cNvPr id="361" name="Shape 359"/>
          <p:cNvSpPr/>
          <p:nvPr/>
        </p:nvSpPr>
        <p:spPr>
          <a:xfrm>
            <a:off x="3015729" y="4713351"/>
            <a:ext cx="45720" cy="0"/>
          </a:xfrm>
          <a:prstGeom prst="line">
            <a:avLst/>
          </a:prstGeom>
          <a:noFill/>
          <a:ln w="13970">
            <a:solidFill>
              <a:srgbClr val="2D3338"/>
            </a:solidFill>
            <a:prstDash val="solid"/>
          </a:ln>
        </p:spPr>
      </p:sp>
      <p:sp>
        <p:nvSpPr>
          <p:cNvPr id="362" name="Shape 360"/>
          <p:cNvSpPr/>
          <p:nvPr/>
        </p:nvSpPr>
        <p:spPr>
          <a:xfrm>
            <a:off x="3061449" y="4713351"/>
            <a:ext cx="0" cy="431292"/>
          </a:xfrm>
          <a:prstGeom prst="line">
            <a:avLst/>
          </a:prstGeom>
          <a:noFill/>
          <a:ln w="13970">
            <a:solidFill>
              <a:srgbClr val="2D3338"/>
            </a:solidFill>
            <a:prstDash val="solid"/>
          </a:ln>
        </p:spPr>
      </p:sp>
      <p:sp>
        <p:nvSpPr>
          <p:cNvPr id="363" name="Shape 361"/>
          <p:cNvSpPr/>
          <p:nvPr/>
        </p:nvSpPr>
        <p:spPr>
          <a:xfrm flipH="1">
            <a:off x="3024873" y="5144643"/>
            <a:ext cx="36576" cy="0"/>
          </a:xfrm>
          <a:prstGeom prst="line">
            <a:avLst/>
          </a:prstGeom>
          <a:noFill/>
          <a:ln w="13970">
            <a:solidFill>
              <a:srgbClr val="2D3338"/>
            </a:solidFill>
            <a:prstDash val="solid"/>
            <a:tailEnd type="triangle"/>
          </a:ln>
        </p:spPr>
      </p:sp>
      <p:sp>
        <p:nvSpPr>
          <p:cNvPr id="364" name="Shape 362"/>
          <p:cNvSpPr/>
          <p:nvPr/>
        </p:nvSpPr>
        <p:spPr>
          <a:xfrm>
            <a:off x="1329385" y="5144643"/>
            <a:ext cx="45720" cy="0"/>
          </a:xfrm>
          <a:prstGeom prst="line">
            <a:avLst/>
          </a:prstGeom>
          <a:noFill/>
          <a:ln w="13970">
            <a:solidFill>
              <a:srgbClr val="2D3338"/>
            </a:solidFill>
            <a:prstDash val="solid"/>
          </a:ln>
        </p:spPr>
      </p:sp>
      <p:sp>
        <p:nvSpPr>
          <p:cNvPr id="365" name="Shape 363"/>
          <p:cNvSpPr/>
          <p:nvPr/>
        </p:nvSpPr>
        <p:spPr>
          <a:xfrm>
            <a:off x="1375105" y="5144643"/>
            <a:ext cx="0" cy="215646"/>
          </a:xfrm>
          <a:prstGeom prst="line">
            <a:avLst/>
          </a:prstGeom>
          <a:noFill/>
          <a:ln w="13970">
            <a:solidFill>
              <a:srgbClr val="2D3338"/>
            </a:solidFill>
            <a:prstDash val="solid"/>
          </a:ln>
        </p:spPr>
      </p:sp>
      <p:sp>
        <p:nvSpPr>
          <p:cNvPr id="366" name="Shape 364"/>
          <p:cNvSpPr/>
          <p:nvPr/>
        </p:nvSpPr>
        <p:spPr>
          <a:xfrm flipH="1">
            <a:off x="1338529" y="5360289"/>
            <a:ext cx="36576" cy="0"/>
          </a:xfrm>
          <a:prstGeom prst="line">
            <a:avLst/>
          </a:prstGeom>
          <a:noFill/>
          <a:ln w="13970">
            <a:solidFill>
              <a:srgbClr val="2D3338"/>
            </a:solidFill>
            <a:prstDash val="solid"/>
            <a:tailEnd type="triangle"/>
          </a:ln>
        </p:spPr>
      </p:sp>
      <p:sp>
        <p:nvSpPr>
          <p:cNvPr id="367" name="Shape 365"/>
          <p:cNvSpPr/>
          <p:nvPr/>
        </p:nvSpPr>
        <p:spPr>
          <a:xfrm>
            <a:off x="4762300" y="1947672"/>
            <a:ext cx="0" cy="3520440"/>
          </a:xfrm>
          <a:prstGeom prst="line">
            <a:avLst/>
          </a:prstGeom>
          <a:noFill/>
          <a:ln w="22225">
            <a:solidFill>
              <a:srgbClr val="C8503F"/>
            </a:solidFill>
            <a:prstDash val="dash"/>
          </a:ln>
        </p:spPr>
      </p:sp>
      <p:sp>
        <p:nvSpPr>
          <p:cNvPr id="368" name="Shape 366"/>
          <p:cNvSpPr/>
          <p:nvPr/>
        </p:nvSpPr>
        <p:spPr>
          <a:xfrm>
            <a:off x="3665020" y="2240280"/>
            <a:ext cx="1143000" cy="155448"/>
          </a:xfrm>
          <a:prstGeom prst="roundRect">
            <a:avLst>
              <a:gd name="adj" fmla="val 47059"/>
            </a:avLst>
          </a:prstGeom>
          <a:solidFill>
            <a:srgbClr val="C8503F"/>
          </a:solidFill>
          <a:ln w="12700">
            <a:solidFill>
              <a:srgbClr val="C8503F"/>
            </a:solidFill>
            <a:prstDash val="solid"/>
          </a:ln>
        </p:spPr>
      </p:sp>
      <p:sp>
        <p:nvSpPr>
          <p:cNvPr id="369" name="Text 367"/>
          <p:cNvSpPr/>
          <p:nvPr/>
        </p:nvSpPr>
        <p:spPr>
          <a:xfrm>
            <a:off x="3665020" y="2240280"/>
            <a:ext cx="1143000" cy="155448"/>
          </a:xfrm>
          <a:prstGeom prst="rect">
            <a:avLst/>
          </a:prstGeom>
          <a:noFill/>
          <a:ln/>
        </p:spPr>
        <p:txBody>
          <a:bodyPr wrap="square" lIns="0" tIns="0" rIns="0" bIns="0" rtlCol="0" anchor="ctr">
            <a:normAutofit/>
          </a:bodyPr>
          <a:lstStyle/>
          <a:p>
            <a:pPr rtl="1" algn="ctr" indent="0" marL="0">
              <a:buNone/>
            </a:pPr>
            <a:r>
              <a:rPr lang="ar-SA" altLang="en-US" sz="650" b="1" dirty="0">
                <a:solidFill>
                  <a:srgbClr val="FFFFFF"/>
                </a:solidFill>
                <a:latin typeface="Arial" pitchFamily="34" charset="0"/>
                <a:ea typeface="Arial" pitchFamily="34" charset="-122"/>
                <a:cs typeface="Arial" pitchFamily="34" charset="-120"/>
              </a:rPr>
              <a:t>تاريخ الموقف · 21 أكتوبر</a:t>
            </a:r>
            <a:endParaRPr lang="ar-SA" sz="650" dirty="0"/>
          </a:p>
        </p:txBody>
      </p:sp>
      <p:sp>
        <p:nvSpPr>
          <p:cNvPr id="370" name="Shape 368"/>
          <p:cNvSpPr/>
          <p:nvPr/>
        </p:nvSpPr>
        <p:spPr>
          <a:xfrm>
            <a:off x="365760" y="1325880"/>
            <a:ext cx="11460175" cy="4142232"/>
          </a:xfrm>
          <a:prstGeom prst="rect">
            <a:avLst/>
          </a:prstGeom>
          <a:solidFill>
            <a:srgbClr val="FFFFFF">
              <a:alpha val="0"/>
            </a:srgbClr>
          </a:solidFill>
          <a:ln w="9525">
            <a:solidFill>
              <a:srgbClr val="B9C6CC"/>
            </a:solidFill>
            <a:prstDash val="solid"/>
          </a:ln>
        </p:spPr>
      </p:sp>
      <p:sp>
        <p:nvSpPr>
          <p:cNvPr id="371" name="Shape 369"/>
          <p:cNvSpPr/>
          <p:nvPr/>
        </p:nvSpPr>
        <p:spPr>
          <a:xfrm>
            <a:off x="9621683" y="5577840"/>
            <a:ext cx="2204253" cy="822960"/>
          </a:xfrm>
          <a:prstGeom prst="roundRect">
            <a:avLst>
              <a:gd name="adj" fmla="val 7778"/>
            </a:avLst>
          </a:prstGeom>
          <a:solidFill>
            <a:srgbClr val="FFFFFF"/>
          </a:solidFill>
          <a:ln w="9525">
            <a:solidFill>
              <a:srgbClr val="DFE6EA"/>
            </a:solidFill>
            <a:prstDash val="solid"/>
          </a:ln>
          <a:effectLst>
            <a:outerShdw sx="100000" sy="100000" kx="0" ky="0" algn="bl" rotWithShape="0" blurRad="63500" dist="25400" dir="5400000">
              <a:srgbClr val="000000">
                <a:alpha val="12000"/>
              </a:srgbClr>
            </a:outerShdw>
          </a:effectLst>
        </p:spPr>
      </p:sp>
      <p:sp>
        <p:nvSpPr>
          <p:cNvPr id="372" name="Shape 370"/>
          <p:cNvSpPr/>
          <p:nvPr/>
        </p:nvSpPr>
        <p:spPr>
          <a:xfrm>
            <a:off x="9676547" y="5577840"/>
            <a:ext cx="2094525" cy="54864"/>
          </a:xfrm>
          <a:prstGeom prst="rect">
            <a:avLst/>
          </a:prstGeom>
          <a:solidFill>
            <a:srgbClr val="3D3935"/>
          </a:solidFill>
          <a:ln w="12700">
            <a:solidFill>
              <a:srgbClr val="3D3935"/>
            </a:solidFill>
            <a:prstDash val="solid"/>
          </a:ln>
        </p:spPr>
      </p:sp>
      <p:sp>
        <p:nvSpPr>
          <p:cNvPr id="373" name="Text 371"/>
          <p:cNvSpPr/>
          <p:nvPr/>
        </p:nvSpPr>
        <p:spPr>
          <a:xfrm>
            <a:off x="9731411" y="5669280"/>
            <a:ext cx="1984797" cy="201168"/>
          </a:xfrm>
          <a:prstGeom prst="rect">
            <a:avLst/>
          </a:prstGeom>
          <a:noFill/>
          <a:ln/>
        </p:spPr>
        <p:txBody>
          <a:bodyPr wrap="square" lIns="0" tIns="0" rIns="0" bIns="0" rtlCol="0" anchor="ctr">
            <a:normAutofit/>
          </a:bodyPr>
          <a:lstStyle/>
          <a:p>
            <a:pPr rtl="1" algn="r" indent="0" marL="0">
              <a:buNone/>
            </a:pPr>
            <a:r>
              <a:rPr lang="ar-SA" altLang="en-US" sz="850" b="1" dirty="0">
                <a:solidFill>
                  <a:srgbClr val="66707A"/>
                </a:solidFill>
                <a:latin typeface="Arial" pitchFamily="34" charset="0"/>
                <a:ea typeface="Arial" pitchFamily="34" charset="-122"/>
                <a:cs typeface="Arial" pitchFamily="34" charset="-120"/>
              </a:rPr>
              <a:t>بدء الأعمال</a:t>
            </a:r>
            <a:endParaRPr lang="ar-SA" sz="850" dirty="0"/>
          </a:p>
        </p:txBody>
      </p:sp>
      <p:sp>
        <p:nvSpPr>
          <p:cNvPr id="374" name="Text 372"/>
          <p:cNvSpPr/>
          <p:nvPr/>
        </p:nvSpPr>
        <p:spPr>
          <a:xfrm>
            <a:off x="9731411" y="5870448"/>
            <a:ext cx="1984797" cy="292608"/>
          </a:xfrm>
          <a:prstGeom prst="rect">
            <a:avLst/>
          </a:prstGeom>
          <a:noFill/>
          <a:ln/>
        </p:spPr>
        <p:txBody>
          <a:bodyPr wrap="square" lIns="0" tIns="0" rIns="0" bIns="0" rtlCol="0" anchor="ctr">
            <a:normAutofit/>
          </a:bodyPr>
          <a:lstStyle/>
          <a:p>
            <a:pPr rtl="1" algn="r" indent="0" marL="0">
              <a:buNone/>
            </a:pPr>
            <a:r>
              <a:rPr lang="ar-SA" altLang="en-US" sz="1300" b="1" dirty="0">
                <a:solidFill>
                  <a:srgbClr val="3D3935"/>
                </a:solidFill>
                <a:latin typeface="Arial" pitchFamily="34" charset="0"/>
                <a:ea typeface="Arial" pitchFamily="34" charset="-122"/>
                <a:cs typeface="Arial" pitchFamily="34" charset="-120"/>
              </a:rPr>
              <a:t>ثلاثاء 13 أكتوبر 2026</a:t>
            </a:r>
            <a:endParaRPr lang="ar-SA" sz="1300" dirty="0"/>
          </a:p>
        </p:txBody>
      </p:sp>
      <p:sp>
        <p:nvSpPr>
          <p:cNvPr id="375" name="Text 373"/>
          <p:cNvSpPr/>
          <p:nvPr/>
        </p:nvSpPr>
        <p:spPr>
          <a:xfrm>
            <a:off x="9731411" y="6163056"/>
            <a:ext cx="1984797" cy="182880"/>
          </a:xfrm>
          <a:prstGeom prst="rect">
            <a:avLst/>
          </a:prstGeom>
          <a:noFill/>
          <a:ln/>
        </p:spPr>
        <p:txBody>
          <a:bodyPr wrap="square" lIns="0" tIns="0" rIns="0" bIns="0" rtlCol="0" anchor="ctr">
            <a:normAutofit/>
          </a:bodyPr>
          <a:lstStyle/>
          <a:p>
            <a:pPr rtl="1" algn="r" indent="0" marL="0">
              <a:buNone/>
            </a:pPr>
            <a:r>
              <a:rPr lang="ar-SA" altLang="en-US" sz="750" b="1" dirty="0">
                <a:solidFill>
                  <a:srgbClr val="66707A"/>
                </a:solidFill>
                <a:latin typeface="Arial" pitchFamily="34" charset="0"/>
                <a:ea typeface="Arial" pitchFamily="34" charset="-122"/>
                <a:cs typeface="Arial" pitchFamily="34" charset="-120"/>
              </a:rPr>
              <a:t>يوم العمل 1 / 37</a:t>
            </a:r>
            <a:endParaRPr lang="ar-SA" sz="750" dirty="0"/>
          </a:p>
        </p:txBody>
      </p:sp>
      <p:sp>
        <p:nvSpPr>
          <p:cNvPr id="376" name="Shape 374"/>
          <p:cNvSpPr/>
          <p:nvPr/>
        </p:nvSpPr>
        <p:spPr>
          <a:xfrm>
            <a:off x="7307702" y="5577840"/>
            <a:ext cx="2204253" cy="822960"/>
          </a:xfrm>
          <a:prstGeom prst="roundRect">
            <a:avLst>
              <a:gd name="adj" fmla="val 7778"/>
            </a:avLst>
          </a:prstGeom>
          <a:solidFill>
            <a:srgbClr val="FFFFFF"/>
          </a:solidFill>
          <a:ln w="9525">
            <a:solidFill>
              <a:srgbClr val="DFE6EA"/>
            </a:solidFill>
            <a:prstDash val="solid"/>
          </a:ln>
          <a:effectLst>
            <a:outerShdw sx="100000" sy="100000" kx="0" ky="0" algn="bl" rotWithShape="0" blurRad="63500" dist="25400" dir="5400000">
              <a:srgbClr val="000000">
                <a:alpha val="12000"/>
              </a:srgbClr>
            </a:outerShdw>
          </a:effectLst>
        </p:spPr>
      </p:sp>
      <p:sp>
        <p:nvSpPr>
          <p:cNvPr id="377" name="Shape 375"/>
          <p:cNvSpPr/>
          <p:nvPr/>
        </p:nvSpPr>
        <p:spPr>
          <a:xfrm>
            <a:off x="7362566" y="5577840"/>
            <a:ext cx="2094525" cy="54864"/>
          </a:xfrm>
          <a:prstGeom prst="rect">
            <a:avLst/>
          </a:prstGeom>
          <a:solidFill>
            <a:srgbClr val="C8503F"/>
          </a:solidFill>
          <a:ln w="12700">
            <a:solidFill>
              <a:srgbClr val="C8503F"/>
            </a:solidFill>
            <a:prstDash val="solid"/>
          </a:ln>
        </p:spPr>
      </p:sp>
      <p:sp>
        <p:nvSpPr>
          <p:cNvPr id="378" name="Text 376"/>
          <p:cNvSpPr/>
          <p:nvPr/>
        </p:nvSpPr>
        <p:spPr>
          <a:xfrm>
            <a:off x="7417430" y="5669280"/>
            <a:ext cx="1984797" cy="201168"/>
          </a:xfrm>
          <a:prstGeom prst="rect">
            <a:avLst/>
          </a:prstGeom>
          <a:noFill/>
          <a:ln/>
        </p:spPr>
        <p:txBody>
          <a:bodyPr wrap="square" lIns="0" tIns="0" rIns="0" bIns="0" rtlCol="0" anchor="ctr">
            <a:normAutofit/>
          </a:bodyPr>
          <a:lstStyle/>
          <a:p>
            <a:pPr rtl="1" algn="r" indent="0" marL="0">
              <a:buNone/>
            </a:pPr>
            <a:r>
              <a:rPr lang="ar-SA" altLang="en-US" sz="850" b="1" dirty="0">
                <a:solidFill>
                  <a:srgbClr val="66707A"/>
                </a:solidFill>
                <a:latin typeface="Arial" pitchFamily="34" charset="0"/>
                <a:ea typeface="Arial" pitchFamily="34" charset="-122"/>
                <a:cs typeface="Arial" pitchFamily="34" charset="-120"/>
              </a:rPr>
              <a:t>اكتمال تركيب نظام الدعم</a:t>
            </a:r>
            <a:endParaRPr lang="ar-SA" sz="850" dirty="0"/>
          </a:p>
        </p:txBody>
      </p:sp>
      <p:sp>
        <p:nvSpPr>
          <p:cNvPr id="379" name="Text 377"/>
          <p:cNvSpPr/>
          <p:nvPr/>
        </p:nvSpPr>
        <p:spPr>
          <a:xfrm>
            <a:off x="7417430" y="5870448"/>
            <a:ext cx="1984797" cy="292608"/>
          </a:xfrm>
          <a:prstGeom prst="rect">
            <a:avLst/>
          </a:prstGeom>
          <a:noFill/>
          <a:ln/>
        </p:spPr>
        <p:txBody>
          <a:bodyPr wrap="square" lIns="0" tIns="0" rIns="0" bIns="0" rtlCol="0" anchor="ctr">
            <a:normAutofit/>
          </a:bodyPr>
          <a:lstStyle/>
          <a:p>
            <a:pPr rtl="1" algn="r" indent="0" marL="0">
              <a:buNone/>
            </a:pPr>
            <a:r>
              <a:rPr lang="ar-SA" altLang="en-US" sz="1300" b="1" dirty="0">
                <a:solidFill>
                  <a:srgbClr val="3D3935"/>
                </a:solidFill>
                <a:latin typeface="Arial" pitchFamily="34" charset="0"/>
                <a:ea typeface="Arial" pitchFamily="34" charset="-122"/>
                <a:cs typeface="Arial" pitchFamily="34" charset="-120"/>
              </a:rPr>
              <a:t>اثنين 19 أكتوبر 2026</a:t>
            </a:r>
            <a:endParaRPr lang="ar-SA" sz="1300" dirty="0"/>
          </a:p>
        </p:txBody>
      </p:sp>
      <p:sp>
        <p:nvSpPr>
          <p:cNvPr id="380" name="Text 378"/>
          <p:cNvSpPr/>
          <p:nvPr/>
        </p:nvSpPr>
        <p:spPr>
          <a:xfrm>
            <a:off x="7417430" y="6163056"/>
            <a:ext cx="1984797" cy="182880"/>
          </a:xfrm>
          <a:prstGeom prst="rect">
            <a:avLst/>
          </a:prstGeom>
          <a:noFill/>
          <a:ln/>
        </p:spPr>
        <p:txBody>
          <a:bodyPr wrap="square" lIns="0" tIns="0" rIns="0" bIns="0" rtlCol="0" anchor="ctr">
            <a:normAutofit/>
          </a:bodyPr>
          <a:lstStyle/>
          <a:p>
            <a:pPr rtl="1" algn="r" indent="0" marL="0">
              <a:buNone/>
            </a:pPr>
            <a:r>
              <a:rPr lang="ar-SA" altLang="en-US" sz="750" b="1" dirty="0">
                <a:solidFill>
                  <a:srgbClr val="66707A"/>
                </a:solidFill>
                <a:latin typeface="Arial" pitchFamily="34" charset="0"/>
                <a:ea typeface="Arial" pitchFamily="34" charset="-122"/>
                <a:cs typeface="Arial" pitchFamily="34" charset="-120"/>
              </a:rPr>
              <a:t>يوم العمل 6 / 37</a:t>
            </a:r>
            <a:endParaRPr lang="ar-SA" sz="750" dirty="0"/>
          </a:p>
        </p:txBody>
      </p:sp>
      <p:sp>
        <p:nvSpPr>
          <p:cNvPr id="381" name="Shape 379"/>
          <p:cNvSpPr/>
          <p:nvPr/>
        </p:nvSpPr>
        <p:spPr>
          <a:xfrm>
            <a:off x="4993721" y="5577840"/>
            <a:ext cx="2204253" cy="822960"/>
          </a:xfrm>
          <a:prstGeom prst="roundRect">
            <a:avLst>
              <a:gd name="adj" fmla="val 7778"/>
            </a:avLst>
          </a:prstGeom>
          <a:solidFill>
            <a:srgbClr val="FFFFFF"/>
          </a:solidFill>
          <a:ln w="9525">
            <a:solidFill>
              <a:srgbClr val="DFE6EA"/>
            </a:solidFill>
            <a:prstDash val="solid"/>
          </a:ln>
          <a:effectLst>
            <a:outerShdw sx="100000" sy="100000" kx="0" ky="0" algn="bl" rotWithShape="0" blurRad="63500" dist="25400" dir="5400000">
              <a:srgbClr val="000000">
                <a:alpha val="12000"/>
              </a:srgbClr>
            </a:outerShdw>
          </a:effectLst>
        </p:spPr>
      </p:sp>
      <p:sp>
        <p:nvSpPr>
          <p:cNvPr id="382" name="Shape 380"/>
          <p:cNvSpPr/>
          <p:nvPr/>
        </p:nvSpPr>
        <p:spPr>
          <a:xfrm>
            <a:off x="5048585" y="5577840"/>
            <a:ext cx="2094525" cy="54864"/>
          </a:xfrm>
          <a:prstGeom prst="rect">
            <a:avLst/>
          </a:prstGeom>
          <a:solidFill>
            <a:srgbClr val="00778B"/>
          </a:solidFill>
          <a:ln w="12700">
            <a:solidFill>
              <a:srgbClr val="00778B"/>
            </a:solidFill>
            <a:prstDash val="solid"/>
          </a:ln>
        </p:spPr>
      </p:sp>
      <p:sp>
        <p:nvSpPr>
          <p:cNvPr id="383" name="Text 381"/>
          <p:cNvSpPr/>
          <p:nvPr/>
        </p:nvSpPr>
        <p:spPr>
          <a:xfrm>
            <a:off x="5103449" y="5669280"/>
            <a:ext cx="1984797" cy="201168"/>
          </a:xfrm>
          <a:prstGeom prst="rect">
            <a:avLst/>
          </a:prstGeom>
          <a:noFill/>
          <a:ln/>
        </p:spPr>
        <p:txBody>
          <a:bodyPr wrap="square" lIns="0" tIns="0" rIns="0" bIns="0" rtlCol="0" anchor="ctr">
            <a:normAutofit/>
          </a:bodyPr>
          <a:lstStyle/>
          <a:p>
            <a:pPr rtl="1" algn="r" indent="0" marL="0">
              <a:buNone/>
            </a:pPr>
            <a:r>
              <a:rPr lang="ar-SA" altLang="en-US" sz="850" b="1" dirty="0">
                <a:solidFill>
                  <a:srgbClr val="66707A"/>
                </a:solidFill>
                <a:latin typeface="Arial" pitchFamily="34" charset="0"/>
                <a:ea typeface="Arial" pitchFamily="34" charset="-122"/>
                <a:cs typeface="Arial" pitchFamily="34" charset="-120"/>
              </a:rPr>
              <a:t>اكتمال أعمال الحفرة (جدار الحفرة)</a:t>
            </a:r>
            <a:endParaRPr lang="ar-SA" sz="850" dirty="0"/>
          </a:p>
        </p:txBody>
      </p:sp>
      <p:sp>
        <p:nvSpPr>
          <p:cNvPr id="384" name="Text 382"/>
          <p:cNvSpPr/>
          <p:nvPr/>
        </p:nvSpPr>
        <p:spPr>
          <a:xfrm>
            <a:off x="5103449" y="5870448"/>
            <a:ext cx="1984797" cy="292608"/>
          </a:xfrm>
          <a:prstGeom prst="rect">
            <a:avLst/>
          </a:prstGeom>
          <a:noFill/>
          <a:ln/>
        </p:spPr>
        <p:txBody>
          <a:bodyPr wrap="square" lIns="0" tIns="0" rIns="0" bIns="0" rtlCol="0" anchor="ctr">
            <a:normAutofit/>
          </a:bodyPr>
          <a:lstStyle/>
          <a:p>
            <a:pPr rtl="1" algn="r" indent="0" marL="0">
              <a:buNone/>
            </a:pPr>
            <a:r>
              <a:rPr lang="ar-SA" altLang="en-US" sz="1300" b="1" dirty="0">
                <a:solidFill>
                  <a:srgbClr val="3D3935"/>
                </a:solidFill>
                <a:latin typeface="Arial" pitchFamily="34" charset="0"/>
                <a:ea typeface="Arial" pitchFamily="34" charset="-122"/>
                <a:cs typeface="Arial" pitchFamily="34" charset="-120"/>
              </a:rPr>
              <a:t>أربعاء 11 نوفمبر 2026</a:t>
            </a:r>
            <a:endParaRPr lang="ar-SA" sz="1300" dirty="0"/>
          </a:p>
        </p:txBody>
      </p:sp>
      <p:sp>
        <p:nvSpPr>
          <p:cNvPr id="385" name="Text 383"/>
          <p:cNvSpPr/>
          <p:nvPr/>
        </p:nvSpPr>
        <p:spPr>
          <a:xfrm>
            <a:off x="5103449" y="6163056"/>
            <a:ext cx="1984797" cy="182880"/>
          </a:xfrm>
          <a:prstGeom prst="rect">
            <a:avLst/>
          </a:prstGeom>
          <a:noFill/>
          <a:ln/>
        </p:spPr>
        <p:txBody>
          <a:bodyPr wrap="square" lIns="0" tIns="0" rIns="0" bIns="0" rtlCol="0" anchor="ctr">
            <a:normAutofit/>
          </a:bodyPr>
          <a:lstStyle/>
          <a:p>
            <a:pPr rtl="1" algn="r" indent="0" marL="0">
              <a:buNone/>
            </a:pPr>
            <a:r>
              <a:rPr lang="ar-SA" altLang="en-US" sz="750" b="1" dirty="0">
                <a:solidFill>
                  <a:srgbClr val="66707A"/>
                </a:solidFill>
                <a:latin typeface="Arial" pitchFamily="34" charset="0"/>
                <a:ea typeface="Arial" pitchFamily="34" charset="-122"/>
                <a:cs typeface="Arial" pitchFamily="34" charset="-120"/>
              </a:rPr>
              <a:t>يوم العمل 26 / 37</a:t>
            </a:r>
            <a:endParaRPr lang="ar-SA" sz="750" dirty="0"/>
          </a:p>
        </p:txBody>
      </p:sp>
      <p:sp>
        <p:nvSpPr>
          <p:cNvPr id="386" name="Shape 384"/>
          <p:cNvSpPr/>
          <p:nvPr/>
        </p:nvSpPr>
        <p:spPr>
          <a:xfrm>
            <a:off x="2679741" y="5577840"/>
            <a:ext cx="2204253" cy="822960"/>
          </a:xfrm>
          <a:prstGeom prst="roundRect">
            <a:avLst>
              <a:gd name="adj" fmla="val 7778"/>
            </a:avLst>
          </a:prstGeom>
          <a:solidFill>
            <a:srgbClr val="FFFFFF"/>
          </a:solidFill>
          <a:ln w="9525">
            <a:solidFill>
              <a:srgbClr val="DFE6EA"/>
            </a:solidFill>
            <a:prstDash val="solid"/>
          </a:ln>
          <a:effectLst>
            <a:outerShdw sx="100000" sy="100000" kx="0" ky="0" algn="bl" rotWithShape="0" blurRad="63500" dist="25400" dir="5400000">
              <a:srgbClr val="000000">
                <a:alpha val="12000"/>
              </a:srgbClr>
            </a:outerShdw>
          </a:effectLst>
        </p:spPr>
      </p:sp>
      <p:sp>
        <p:nvSpPr>
          <p:cNvPr id="387" name="Shape 385"/>
          <p:cNvSpPr/>
          <p:nvPr/>
        </p:nvSpPr>
        <p:spPr>
          <a:xfrm>
            <a:off x="2734605" y="5577840"/>
            <a:ext cx="2094525" cy="54864"/>
          </a:xfrm>
          <a:prstGeom prst="rect">
            <a:avLst/>
          </a:prstGeom>
          <a:solidFill>
            <a:srgbClr val="2E9E6B"/>
          </a:solidFill>
          <a:ln w="12700">
            <a:solidFill>
              <a:srgbClr val="2E9E6B"/>
            </a:solidFill>
            <a:prstDash val="solid"/>
          </a:ln>
        </p:spPr>
      </p:sp>
      <p:sp>
        <p:nvSpPr>
          <p:cNvPr id="388" name="Text 386"/>
          <p:cNvSpPr/>
          <p:nvPr/>
        </p:nvSpPr>
        <p:spPr>
          <a:xfrm>
            <a:off x="2789469" y="5669280"/>
            <a:ext cx="1984797" cy="201168"/>
          </a:xfrm>
          <a:prstGeom prst="rect">
            <a:avLst/>
          </a:prstGeom>
          <a:noFill/>
          <a:ln/>
        </p:spPr>
        <p:txBody>
          <a:bodyPr wrap="square" lIns="0" tIns="0" rIns="0" bIns="0" rtlCol="0" anchor="ctr">
            <a:normAutofit/>
          </a:bodyPr>
          <a:lstStyle/>
          <a:p>
            <a:pPr rtl="1" algn="r" indent="0" marL="0">
              <a:buNone/>
            </a:pPr>
            <a:r>
              <a:rPr lang="ar-SA" altLang="en-US" sz="850" b="1" dirty="0">
                <a:solidFill>
                  <a:srgbClr val="66707A"/>
                </a:solidFill>
                <a:latin typeface="Arial" pitchFamily="34" charset="0"/>
                <a:ea typeface="Arial" pitchFamily="34" charset="-122"/>
                <a:cs typeface="Arial" pitchFamily="34" charset="-120"/>
              </a:rPr>
              <a:t>اكتمال أساسات المبنى</a:t>
            </a:r>
            <a:endParaRPr lang="ar-SA" sz="850" dirty="0"/>
          </a:p>
        </p:txBody>
      </p:sp>
      <p:sp>
        <p:nvSpPr>
          <p:cNvPr id="389" name="Text 387"/>
          <p:cNvSpPr/>
          <p:nvPr/>
        </p:nvSpPr>
        <p:spPr>
          <a:xfrm>
            <a:off x="2789469" y="5870448"/>
            <a:ext cx="1984797" cy="292608"/>
          </a:xfrm>
          <a:prstGeom prst="rect">
            <a:avLst/>
          </a:prstGeom>
          <a:noFill/>
          <a:ln/>
        </p:spPr>
        <p:txBody>
          <a:bodyPr wrap="square" lIns="0" tIns="0" rIns="0" bIns="0" rtlCol="0" anchor="ctr">
            <a:normAutofit/>
          </a:bodyPr>
          <a:lstStyle/>
          <a:p>
            <a:pPr rtl="1" algn="r" indent="0" marL="0">
              <a:buNone/>
            </a:pPr>
            <a:r>
              <a:rPr lang="ar-SA" altLang="en-US" sz="1300" b="1" dirty="0">
                <a:solidFill>
                  <a:srgbClr val="3D3935"/>
                </a:solidFill>
                <a:latin typeface="Arial" pitchFamily="34" charset="0"/>
                <a:ea typeface="Arial" pitchFamily="34" charset="-122"/>
                <a:cs typeface="Arial" pitchFamily="34" charset="-120"/>
              </a:rPr>
              <a:t>أربعاء 18 نوفمبر 2026</a:t>
            </a:r>
            <a:endParaRPr lang="ar-SA" sz="1300" dirty="0"/>
          </a:p>
        </p:txBody>
      </p:sp>
      <p:sp>
        <p:nvSpPr>
          <p:cNvPr id="390" name="Text 388"/>
          <p:cNvSpPr/>
          <p:nvPr/>
        </p:nvSpPr>
        <p:spPr>
          <a:xfrm>
            <a:off x="2789469" y="6163056"/>
            <a:ext cx="1984797" cy="182880"/>
          </a:xfrm>
          <a:prstGeom prst="rect">
            <a:avLst/>
          </a:prstGeom>
          <a:noFill/>
          <a:ln/>
        </p:spPr>
        <p:txBody>
          <a:bodyPr wrap="square" lIns="0" tIns="0" rIns="0" bIns="0" rtlCol="0" anchor="ctr">
            <a:normAutofit/>
          </a:bodyPr>
          <a:lstStyle/>
          <a:p>
            <a:pPr rtl="1" algn="r" indent="0" marL="0">
              <a:buNone/>
            </a:pPr>
            <a:r>
              <a:rPr lang="ar-SA" altLang="en-US" sz="750" b="1" dirty="0">
                <a:solidFill>
                  <a:srgbClr val="66707A"/>
                </a:solidFill>
                <a:latin typeface="Arial" pitchFamily="34" charset="0"/>
                <a:ea typeface="Arial" pitchFamily="34" charset="-122"/>
                <a:cs typeface="Arial" pitchFamily="34" charset="-120"/>
              </a:rPr>
              <a:t>يوم العمل 32 / 37</a:t>
            </a:r>
            <a:endParaRPr lang="ar-SA" sz="750" dirty="0"/>
          </a:p>
        </p:txBody>
      </p:sp>
      <p:sp>
        <p:nvSpPr>
          <p:cNvPr id="391" name="Shape 389"/>
          <p:cNvSpPr/>
          <p:nvPr/>
        </p:nvSpPr>
        <p:spPr>
          <a:xfrm>
            <a:off x="365760" y="5577840"/>
            <a:ext cx="2204253" cy="822960"/>
          </a:xfrm>
          <a:prstGeom prst="roundRect">
            <a:avLst>
              <a:gd name="adj" fmla="val 7778"/>
            </a:avLst>
          </a:prstGeom>
          <a:solidFill>
            <a:srgbClr val="3D3935"/>
          </a:solidFill>
          <a:ln w="9525">
            <a:solidFill>
              <a:srgbClr val="DFE6EA"/>
            </a:solidFill>
            <a:prstDash val="solid"/>
          </a:ln>
          <a:effectLst>
            <a:outerShdw sx="100000" sy="100000" kx="0" ky="0" algn="bl" rotWithShape="0" blurRad="63500" dist="25400" dir="5400000">
              <a:srgbClr val="000000">
                <a:alpha val="12000"/>
              </a:srgbClr>
            </a:outerShdw>
          </a:effectLst>
        </p:spPr>
      </p:sp>
      <p:sp>
        <p:nvSpPr>
          <p:cNvPr id="392" name="Shape 390"/>
          <p:cNvSpPr/>
          <p:nvPr/>
        </p:nvSpPr>
        <p:spPr>
          <a:xfrm>
            <a:off x="420624" y="5577840"/>
            <a:ext cx="2094525" cy="54864"/>
          </a:xfrm>
          <a:prstGeom prst="rect">
            <a:avLst/>
          </a:prstGeom>
          <a:solidFill>
            <a:srgbClr val="D68A00"/>
          </a:solidFill>
          <a:ln w="12700">
            <a:solidFill>
              <a:srgbClr val="D68A00"/>
            </a:solidFill>
            <a:prstDash val="solid"/>
          </a:ln>
        </p:spPr>
      </p:sp>
      <p:sp>
        <p:nvSpPr>
          <p:cNvPr id="393" name="Text 391"/>
          <p:cNvSpPr/>
          <p:nvPr/>
        </p:nvSpPr>
        <p:spPr>
          <a:xfrm>
            <a:off x="475488" y="5669280"/>
            <a:ext cx="1984797" cy="201168"/>
          </a:xfrm>
          <a:prstGeom prst="rect">
            <a:avLst/>
          </a:prstGeom>
          <a:noFill/>
          <a:ln/>
        </p:spPr>
        <p:txBody>
          <a:bodyPr wrap="square" lIns="0" tIns="0" rIns="0" bIns="0" rtlCol="0" anchor="ctr">
            <a:normAutofit/>
          </a:bodyPr>
          <a:lstStyle/>
          <a:p>
            <a:pPr rtl="1" algn="r" indent="0" marL="0">
              <a:buNone/>
            </a:pPr>
            <a:r>
              <a:rPr lang="ar-SA" altLang="en-US" sz="850" b="1" dirty="0">
                <a:solidFill>
                  <a:srgbClr val="CFD8DC"/>
                </a:solidFill>
                <a:latin typeface="Arial" pitchFamily="34" charset="0"/>
                <a:ea typeface="Arial" pitchFamily="34" charset="-122"/>
                <a:cs typeface="Arial" pitchFamily="34" charset="-120"/>
              </a:rPr>
              <a:t>الإنجاز الكلي</a:t>
            </a:r>
            <a:endParaRPr lang="ar-SA" sz="850" dirty="0"/>
          </a:p>
        </p:txBody>
      </p:sp>
      <p:sp>
        <p:nvSpPr>
          <p:cNvPr id="394" name="Text 392"/>
          <p:cNvSpPr/>
          <p:nvPr/>
        </p:nvSpPr>
        <p:spPr>
          <a:xfrm>
            <a:off x="475488" y="5870448"/>
            <a:ext cx="1984797" cy="292608"/>
          </a:xfrm>
          <a:prstGeom prst="rect">
            <a:avLst/>
          </a:prstGeom>
          <a:noFill/>
          <a:ln/>
        </p:spPr>
        <p:txBody>
          <a:bodyPr wrap="square" lIns="0" tIns="0" rIns="0" bIns="0" rtlCol="0" anchor="ctr">
            <a:normAutofit/>
          </a:bodyPr>
          <a:lstStyle/>
          <a:p>
            <a:pPr rtl="1" algn="r" indent="0" marL="0">
              <a:buNone/>
            </a:pPr>
            <a:r>
              <a:rPr lang="ar-SA" altLang="en-US" sz="1300" b="1" dirty="0">
                <a:solidFill>
                  <a:srgbClr val="FFFFFF"/>
                </a:solidFill>
                <a:latin typeface="Arial" pitchFamily="34" charset="0"/>
                <a:ea typeface="Arial" pitchFamily="34" charset="-122"/>
                <a:cs typeface="Arial" pitchFamily="34" charset="-120"/>
              </a:rPr>
              <a:t>ثلاثاء 24 نوفمبر 2026</a:t>
            </a:r>
            <a:endParaRPr lang="ar-SA" sz="1300" dirty="0"/>
          </a:p>
        </p:txBody>
      </p:sp>
      <p:sp>
        <p:nvSpPr>
          <p:cNvPr id="395" name="Text 393"/>
          <p:cNvSpPr/>
          <p:nvPr/>
        </p:nvSpPr>
        <p:spPr>
          <a:xfrm>
            <a:off x="475488" y="6163056"/>
            <a:ext cx="1984797" cy="182880"/>
          </a:xfrm>
          <a:prstGeom prst="rect">
            <a:avLst/>
          </a:prstGeom>
          <a:noFill/>
          <a:ln/>
        </p:spPr>
        <p:txBody>
          <a:bodyPr wrap="square" lIns="0" tIns="0" rIns="0" bIns="0" rtlCol="0" anchor="ctr">
            <a:normAutofit/>
          </a:bodyPr>
          <a:lstStyle/>
          <a:p>
            <a:pPr rtl="1" algn="r" indent="0" marL="0">
              <a:buNone/>
            </a:pPr>
            <a:r>
              <a:rPr lang="ar-SA" altLang="en-US" sz="750" b="1" dirty="0">
                <a:solidFill>
                  <a:srgbClr val="CFD8DC"/>
                </a:solidFill>
                <a:latin typeface="Arial" pitchFamily="34" charset="0"/>
                <a:ea typeface="Arial" pitchFamily="34" charset="-122"/>
                <a:cs typeface="Arial" pitchFamily="34" charset="-120"/>
              </a:rPr>
              <a:t>يوم العمل 37 / 37</a:t>
            </a:r>
            <a:endParaRPr lang="ar-SA" sz="750" dirty="0"/>
          </a:p>
        </p:txBody>
      </p:sp>
      <p:sp>
        <p:nvSpPr>
          <p:cNvPr id="25" name="Slide Number Placeholder 0"/>
          <p:cNvSpPr>
            <a:spLocks noGrp="1"/>
          </p:cNvSpPr>
          <p:nvPr>
            <p:ph type="sldNum" sz="quarter" idx="4294967295"/>
          </p:nvPr>
        </p:nvSpPr>
        <p:spPr>
          <a:xfrm>
            <a:off x="320040" y="6519672"/>
            <a:ext cx="548640" cy="310896"/>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Arial"/>
                <a:ea typeface="Arial"/>
                <a:cs typeface="Arial"/>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1691640" y="109728"/>
            <a:ext cx="10134295" cy="457200"/>
          </a:xfrm>
          <a:prstGeom prst="rect">
            <a:avLst/>
          </a:prstGeom>
          <a:noFill/>
          <a:ln/>
        </p:spPr>
        <p:txBody>
          <a:bodyPr wrap="square" lIns="0" tIns="0" rIns="0" bIns="0" rtlCol="0" anchor="ctr">
            <a:normAutofit/>
          </a:bodyPr>
          <a:lstStyle/>
          <a:p>
            <a:pPr rtl="1" algn="r" indent="0" marL="0">
              <a:buNone/>
            </a:pPr>
            <a:r>
              <a:rPr lang="ar-SA" altLang="en-US" sz="2400" b="1" dirty="0">
                <a:solidFill>
                  <a:srgbClr val="3D3935"/>
                </a:solidFill>
                <a:latin typeface="Arial" pitchFamily="34" charset="0"/>
                <a:ea typeface="Arial" pitchFamily="34" charset="-122"/>
                <a:cs typeface="Arial" pitchFamily="34" charset="-120"/>
              </a:rPr>
              <a:t>أنشطة الدعم (Shoring) وأسس الجدول</a:t>
            </a:r>
            <a:endParaRPr lang="ar-SA" sz="2400" dirty="0"/>
          </a:p>
        </p:txBody>
      </p:sp>
      <p:sp>
        <p:nvSpPr>
          <p:cNvPr id="3" name="Text 1"/>
          <p:cNvSpPr/>
          <p:nvPr/>
        </p:nvSpPr>
        <p:spPr>
          <a:xfrm>
            <a:off x="1691640" y="548640"/>
            <a:ext cx="10134295" cy="256032"/>
          </a:xfrm>
          <a:prstGeom prst="rect">
            <a:avLst/>
          </a:prstGeom>
          <a:noFill/>
          <a:ln/>
        </p:spPr>
        <p:txBody>
          <a:bodyPr wrap="square" lIns="0" tIns="0" rIns="0" bIns="0" rtlCol="0" anchor="ctr">
            <a:normAutofit/>
          </a:bodyPr>
          <a:lstStyle/>
          <a:p>
            <a:pPr rtl="1" algn="r" indent="0" marL="0">
              <a:buNone/>
            </a:pPr>
            <a:r>
              <a:rPr lang="ar-SA" altLang="en-US" sz="1200" dirty="0">
                <a:solidFill>
                  <a:srgbClr val="66707A"/>
                </a:solidFill>
                <a:latin typeface="Arial" pitchFamily="34" charset="0"/>
                <a:ea typeface="Arial" pitchFamily="34" charset="-122"/>
                <a:cs typeface="Arial" pitchFamily="34" charset="-120"/>
              </a:rPr>
              <a:t>تسلسل أعمال الدعم والتواريخ الرئيسية وشروط البرنامج المقترح</a:t>
            </a:r>
            <a:endParaRPr lang="ar-SA" sz="1200" dirty="0"/>
          </a:p>
        </p:txBody>
      </p:sp>
      <p:sp>
        <p:nvSpPr>
          <p:cNvPr id="4" name="Shape 2"/>
          <p:cNvSpPr/>
          <p:nvPr/>
        </p:nvSpPr>
        <p:spPr>
          <a:xfrm>
            <a:off x="11771071" y="1133856"/>
            <a:ext cx="54864" cy="256032"/>
          </a:xfrm>
          <a:prstGeom prst="rect">
            <a:avLst/>
          </a:prstGeom>
          <a:solidFill>
            <a:srgbClr val="00778B"/>
          </a:solidFill>
          <a:ln w="12700">
            <a:solidFill>
              <a:srgbClr val="00778B"/>
            </a:solidFill>
            <a:prstDash val="solid"/>
          </a:ln>
        </p:spPr>
      </p:sp>
      <p:sp>
        <p:nvSpPr>
          <p:cNvPr id="5" name="Text 3"/>
          <p:cNvSpPr/>
          <p:nvPr/>
        </p:nvSpPr>
        <p:spPr>
          <a:xfrm>
            <a:off x="4364431" y="1097280"/>
            <a:ext cx="7315200" cy="329184"/>
          </a:xfrm>
          <a:prstGeom prst="rect">
            <a:avLst/>
          </a:prstGeom>
          <a:noFill/>
          <a:ln/>
        </p:spPr>
        <p:txBody>
          <a:bodyPr wrap="square" lIns="0" tIns="0" rIns="0" bIns="0" rtlCol="0" anchor="ctr">
            <a:normAutofit/>
          </a:bodyPr>
          <a:lstStyle/>
          <a:p>
            <a:pPr rtl="1" algn="r" indent="0" marL="0">
              <a:buNone/>
            </a:pPr>
            <a:r>
              <a:rPr lang="ar-SA" altLang="en-US" sz="1500" b="1" dirty="0">
                <a:solidFill>
                  <a:srgbClr val="3D3935"/>
                </a:solidFill>
                <a:latin typeface="Arial" pitchFamily="34" charset="0"/>
                <a:ea typeface="Arial" pitchFamily="34" charset="-122"/>
                <a:cs typeface="Arial" pitchFamily="34" charset="-120"/>
              </a:rPr>
              <a:t>تسلسل أعمال الدعم (النشاط A)</a:t>
            </a:r>
            <a:endParaRPr lang="ar-SA" sz="1500" dirty="0"/>
          </a:p>
        </p:txBody>
      </p:sp>
      <p:sp>
        <p:nvSpPr>
          <p:cNvPr id="6" name="Text 4"/>
          <p:cNvSpPr/>
          <p:nvPr/>
        </p:nvSpPr>
        <p:spPr>
          <a:xfrm>
            <a:off x="3450031" y="1417320"/>
            <a:ext cx="8229600" cy="256032"/>
          </a:xfrm>
          <a:prstGeom prst="rect">
            <a:avLst/>
          </a:prstGeom>
          <a:noFill/>
          <a:ln/>
        </p:spPr>
        <p:txBody>
          <a:bodyPr wrap="square" lIns="0" tIns="0" rIns="0" bIns="0" rtlCol="0" anchor="ctr">
            <a:normAutofit/>
          </a:bodyPr>
          <a:lstStyle/>
          <a:p>
            <a:pPr rtl="1" algn="r" indent="0" marL="0">
              <a:buNone/>
            </a:pPr>
            <a:r>
              <a:rPr lang="ar-SA" altLang="en-US" sz="1100" b="1" dirty="0">
                <a:solidFill>
                  <a:srgbClr val="C8503F"/>
                </a:solidFill>
                <a:latin typeface="Arial" pitchFamily="34" charset="0"/>
                <a:ea typeface="Arial" pitchFamily="34" charset="-122"/>
                <a:cs typeface="Arial" pitchFamily="34" charset="-120"/>
              </a:rPr>
              <a:t>13 أكتوبر 2026 → 19 أكتوبر 2026 · 6 يوم عمل</a:t>
            </a:r>
            <a:endParaRPr lang="ar-SA" sz="1100" dirty="0"/>
          </a:p>
        </p:txBody>
      </p:sp>
      <p:sp>
        <p:nvSpPr>
          <p:cNvPr id="7" name="Shape 5"/>
          <p:cNvSpPr/>
          <p:nvPr/>
        </p:nvSpPr>
        <p:spPr>
          <a:xfrm flipH="1">
            <a:off x="9460748" y="1783080"/>
            <a:ext cx="2365187" cy="1051560"/>
          </a:xfrm>
          <a:prstGeom prst="chevron">
            <a:avLst/>
          </a:prstGeom>
          <a:solidFill>
            <a:srgbClr val="F4DAD6"/>
          </a:solidFill>
          <a:ln w="12700">
            <a:solidFill>
              <a:srgbClr val="F4DAD6"/>
            </a:solidFill>
            <a:prstDash val="solid"/>
          </a:ln>
        </p:spPr>
      </p:sp>
      <p:sp>
        <p:nvSpPr>
          <p:cNvPr id="8" name="Shape 6"/>
          <p:cNvSpPr/>
          <p:nvPr/>
        </p:nvSpPr>
        <p:spPr>
          <a:xfrm>
            <a:off x="11185855" y="1874520"/>
            <a:ext cx="274320" cy="274320"/>
          </a:xfrm>
          <a:prstGeom prst="ellipse">
            <a:avLst/>
          </a:prstGeom>
          <a:solidFill>
            <a:srgbClr val="C8503F"/>
          </a:solidFill>
          <a:ln w="12700">
            <a:solidFill>
              <a:srgbClr val="C8503F"/>
            </a:solidFill>
            <a:prstDash val="solid"/>
          </a:ln>
        </p:spPr>
      </p:sp>
      <p:sp>
        <p:nvSpPr>
          <p:cNvPr id="9" name="Text 7"/>
          <p:cNvSpPr/>
          <p:nvPr/>
        </p:nvSpPr>
        <p:spPr>
          <a:xfrm>
            <a:off x="11185855" y="1874520"/>
            <a:ext cx="274320" cy="274320"/>
          </a:xfrm>
          <a:prstGeom prst="rect">
            <a:avLst/>
          </a:prstGeom>
          <a:noFill/>
          <a:ln/>
        </p:spPr>
        <p:txBody>
          <a:bodyPr wrap="square" lIns="0" tIns="0" rIns="0" bIns="0" rtlCol="0" anchor="ctr">
            <a:normAutofit/>
          </a:bodyPr>
          <a:lstStyle/>
          <a:p>
            <a:pPr rtl="1" algn="ctr" indent="0" marL="0">
              <a:buNone/>
            </a:pPr>
            <a:r>
              <a:rPr lang="ar-SA" altLang="en-US" sz="1000" b="1" dirty="0">
                <a:solidFill>
                  <a:srgbClr val="FFFFFF"/>
                </a:solidFill>
                <a:latin typeface="Arial" pitchFamily="34" charset="0"/>
                <a:ea typeface="Arial" pitchFamily="34" charset="-122"/>
                <a:cs typeface="Arial" pitchFamily="34" charset="-120"/>
              </a:rPr>
              <a:t>1</a:t>
            </a:r>
            <a:endParaRPr lang="ar-SA" sz="1000" dirty="0"/>
          </a:p>
        </p:txBody>
      </p:sp>
      <p:sp>
        <p:nvSpPr>
          <p:cNvPr id="10" name="Text 8"/>
          <p:cNvSpPr/>
          <p:nvPr/>
        </p:nvSpPr>
        <p:spPr>
          <a:xfrm>
            <a:off x="9835652" y="2157984"/>
            <a:ext cx="1606235" cy="411480"/>
          </a:xfrm>
          <a:prstGeom prst="rect">
            <a:avLst/>
          </a:prstGeom>
          <a:noFill/>
          <a:ln/>
        </p:spPr>
        <p:txBody>
          <a:bodyPr wrap="square" lIns="0" tIns="0" rIns="0" bIns="0" rtlCol="0" anchor="t">
            <a:normAutofit/>
          </a:bodyPr>
          <a:lstStyle/>
          <a:p>
            <a:pPr rtl="1" algn="r" indent="0" marL="0">
              <a:buNone/>
            </a:pPr>
            <a:r>
              <a:rPr lang="ar-SA" altLang="en-US" sz="1100" b="1" dirty="0">
                <a:solidFill>
                  <a:srgbClr val="3D3935"/>
                </a:solidFill>
                <a:latin typeface="Arial" pitchFamily="34" charset="0"/>
                <a:ea typeface="Arial" pitchFamily="34" charset="-122"/>
                <a:cs typeface="Arial" pitchFamily="34" charset="-120"/>
              </a:rPr>
              <a:t>الحفر لأعمدة H-Beam</a:t>
            </a:r>
            <a:endParaRPr lang="ar-SA" sz="1100" dirty="0"/>
          </a:p>
        </p:txBody>
      </p:sp>
      <p:sp>
        <p:nvSpPr>
          <p:cNvPr id="11" name="Text 9"/>
          <p:cNvSpPr/>
          <p:nvPr/>
        </p:nvSpPr>
        <p:spPr>
          <a:xfrm>
            <a:off x="9835652" y="2542032"/>
            <a:ext cx="1606235" cy="228600"/>
          </a:xfrm>
          <a:prstGeom prst="rect">
            <a:avLst/>
          </a:prstGeom>
          <a:noFill/>
          <a:ln/>
        </p:spPr>
        <p:txBody>
          <a:bodyPr wrap="square" lIns="0" tIns="0" rIns="0" bIns="0" rtlCol="0" anchor="t">
            <a:normAutofit/>
          </a:bodyPr>
          <a:lstStyle/>
          <a:p>
            <a:pPr rtl="1" algn="r" indent="0" marL="0">
              <a:buNone/>
            </a:pPr>
            <a:r>
              <a:rPr lang="ar-SA" altLang="en-US" sz="750" b="1" dirty="0">
                <a:solidFill>
                  <a:srgbClr val="7A3A30"/>
                </a:solidFill>
                <a:latin typeface="Arial" pitchFamily="34" charset="0"/>
                <a:ea typeface="Arial" pitchFamily="34" charset="-122"/>
                <a:cs typeface="Arial" pitchFamily="34" charset="-120"/>
              </a:rPr>
              <a:t>13 أكتوبر → 14 أكتوبر · 2 يوم</a:t>
            </a:r>
            <a:endParaRPr lang="ar-SA" sz="750" dirty="0"/>
          </a:p>
        </p:txBody>
      </p:sp>
      <p:sp>
        <p:nvSpPr>
          <p:cNvPr id="12" name="Shape 10"/>
          <p:cNvSpPr/>
          <p:nvPr/>
        </p:nvSpPr>
        <p:spPr>
          <a:xfrm flipH="1">
            <a:off x="7168713" y="1783080"/>
            <a:ext cx="2365187" cy="1051560"/>
          </a:xfrm>
          <a:prstGeom prst="chevron">
            <a:avLst/>
          </a:prstGeom>
          <a:solidFill>
            <a:srgbClr val="F4DAD6"/>
          </a:solidFill>
          <a:ln w="12700">
            <a:solidFill>
              <a:srgbClr val="F4DAD6"/>
            </a:solidFill>
            <a:prstDash val="solid"/>
          </a:ln>
        </p:spPr>
      </p:sp>
      <p:sp>
        <p:nvSpPr>
          <p:cNvPr id="13" name="Shape 11"/>
          <p:cNvSpPr/>
          <p:nvPr/>
        </p:nvSpPr>
        <p:spPr>
          <a:xfrm>
            <a:off x="8893820" y="1874520"/>
            <a:ext cx="274320" cy="274320"/>
          </a:xfrm>
          <a:prstGeom prst="ellipse">
            <a:avLst/>
          </a:prstGeom>
          <a:solidFill>
            <a:srgbClr val="C8503F"/>
          </a:solidFill>
          <a:ln w="12700">
            <a:solidFill>
              <a:srgbClr val="C8503F"/>
            </a:solidFill>
            <a:prstDash val="solid"/>
          </a:ln>
        </p:spPr>
      </p:sp>
      <p:sp>
        <p:nvSpPr>
          <p:cNvPr id="14" name="Text 12"/>
          <p:cNvSpPr/>
          <p:nvPr/>
        </p:nvSpPr>
        <p:spPr>
          <a:xfrm>
            <a:off x="8893820" y="1874520"/>
            <a:ext cx="274320" cy="274320"/>
          </a:xfrm>
          <a:prstGeom prst="rect">
            <a:avLst/>
          </a:prstGeom>
          <a:noFill/>
          <a:ln/>
        </p:spPr>
        <p:txBody>
          <a:bodyPr wrap="square" lIns="0" tIns="0" rIns="0" bIns="0" rtlCol="0" anchor="ctr">
            <a:normAutofit/>
          </a:bodyPr>
          <a:lstStyle/>
          <a:p>
            <a:pPr rtl="1" algn="ctr" indent="0" marL="0">
              <a:buNone/>
            </a:pPr>
            <a:r>
              <a:rPr lang="ar-SA" altLang="en-US" sz="1000" b="1" dirty="0">
                <a:solidFill>
                  <a:srgbClr val="FFFFFF"/>
                </a:solidFill>
                <a:latin typeface="Arial" pitchFamily="34" charset="0"/>
                <a:ea typeface="Arial" pitchFamily="34" charset="-122"/>
                <a:cs typeface="Arial" pitchFamily="34" charset="-120"/>
              </a:rPr>
              <a:t>2</a:t>
            </a:r>
            <a:endParaRPr lang="ar-SA" sz="1000" dirty="0"/>
          </a:p>
        </p:txBody>
      </p:sp>
      <p:sp>
        <p:nvSpPr>
          <p:cNvPr id="15" name="Text 13"/>
          <p:cNvSpPr/>
          <p:nvPr/>
        </p:nvSpPr>
        <p:spPr>
          <a:xfrm>
            <a:off x="7543617" y="2157984"/>
            <a:ext cx="1606235" cy="411480"/>
          </a:xfrm>
          <a:prstGeom prst="rect">
            <a:avLst/>
          </a:prstGeom>
          <a:noFill/>
          <a:ln/>
        </p:spPr>
        <p:txBody>
          <a:bodyPr wrap="square" lIns="0" tIns="0" rIns="0" bIns="0" rtlCol="0" anchor="t">
            <a:normAutofit/>
          </a:bodyPr>
          <a:lstStyle/>
          <a:p>
            <a:pPr rtl="1" algn="r" indent="0" marL="0">
              <a:buNone/>
            </a:pPr>
            <a:r>
              <a:rPr lang="ar-SA" altLang="en-US" sz="1100" b="1" dirty="0">
                <a:solidFill>
                  <a:srgbClr val="3D3935"/>
                </a:solidFill>
                <a:latin typeface="Arial" pitchFamily="34" charset="0"/>
                <a:ea typeface="Arial" pitchFamily="34" charset="-122"/>
                <a:cs typeface="Arial" pitchFamily="34" charset="-120"/>
              </a:rPr>
              <a:t>تركيب أعمدة H-Beam</a:t>
            </a:r>
            <a:endParaRPr lang="ar-SA" sz="1100" dirty="0"/>
          </a:p>
        </p:txBody>
      </p:sp>
      <p:sp>
        <p:nvSpPr>
          <p:cNvPr id="16" name="Text 14"/>
          <p:cNvSpPr/>
          <p:nvPr/>
        </p:nvSpPr>
        <p:spPr>
          <a:xfrm>
            <a:off x="7543617" y="2542032"/>
            <a:ext cx="1606235" cy="228600"/>
          </a:xfrm>
          <a:prstGeom prst="rect">
            <a:avLst/>
          </a:prstGeom>
          <a:noFill/>
          <a:ln/>
        </p:spPr>
        <p:txBody>
          <a:bodyPr wrap="square" lIns="0" tIns="0" rIns="0" bIns="0" rtlCol="0" anchor="t">
            <a:normAutofit/>
          </a:bodyPr>
          <a:lstStyle/>
          <a:p>
            <a:pPr rtl="1" algn="r" indent="0" marL="0">
              <a:buNone/>
            </a:pPr>
            <a:r>
              <a:rPr lang="ar-SA" altLang="en-US" sz="750" b="1" dirty="0">
                <a:solidFill>
                  <a:srgbClr val="7A3A30"/>
                </a:solidFill>
                <a:latin typeface="Arial" pitchFamily="34" charset="0"/>
                <a:ea typeface="Arial" pitchFamily="34" charset="-122"/>
                <a:cs typeface="Arial" pitchFamily="34" charset="-120"/>
              </a:rPr>
              <a:t>14 أكتوبر → 17 أكتوبر · 3 يوم · A1 SS +1</a:t>
            </a:r>
            <a:endParaRPr lang="ar-SA" sz="750" dirty="0"/>
          </a:p>
        </p:txBody>
      </p:sp>
      <p:sp>
        <p:nvSpPr>
          <p:cNvPr id="17" name="Shape 15"/>
          <p:cNvSpPr/>
          <p:nvPr/>
        </p:nvSpPr>
        <p:spPr>
          <a:xfrm flipH="1">
            <a:off x="4876678" y="1783080"/>
            <a:ext cx="2365187" cy="1051560"/>
          </a:xfrm>
          <a:prstGeom prst="chevron">
            <a:avLst/>
          </a:prstGeom>
          <a:solidFill>
            <a:srgbClr val="F4DAD6"/>
          </a:solidFill>
          <a:ln w="12700">
            <a:solidFill>
              <a:srgbClr val="F4DAD6"/>
            </a:solidFill>
            <a:prstDash val="solid"/>
          </a:ln>
        </p:spPr>
      </p:sp>
      <p:sp>
        <p:nvSpPr>
          <p:cNvPr id="18" name="Shape 16"/>
          <p:cNvSpPr/>
          <p:nvPr/>
        </p:nvSpPr>
        <p:spPr>
          <a:xfrm>
            <a:off x="6601785" y="1874520"/>
            <a:ext cx="274320" cy="274320"/>
          </a:xfrm>
          <a:prstGeom prst="ellipse">
            <a:avLst/>
          </a:prstGeom>
          <a:solidFill>
            <a:srgbClr val="C8503F"/>
          </a:solidFill>
          <a:ln w="12700">
            <a:solidFill>
              <a:srgbClr val="C8503F"/>
            </a:solidFill>
            <a:prstDash val="solid"/>
          </a:ln>
        </p:spPr>
      </p:sp>
      <p:sp>
        <p:nvSpPr>
          <p:cNvPr id="19" name="Text 17"/>
          <p:cNvSpPr/>
          <p:nvPr/>
        </p:nvSpPr>
        <p:spPr>
          <a:xfrm>
            <a:off x="6601785" y="1874520"/>
            <a:ext cx="274320" cy="274320"/>
          </a:xfrm>
          <a:prstGeom prst="rect">
            <a:avLst/>
          </a:prstGeom>
          <a:noFill/>
          <a:ln/>
        </p:spPr>
        <p:txBody>
          <a:bodyPr wrap="square" lIns="0" tIns="0" rIns="0" bIns="0" rtlCol="0" anchor="ctr">
            <a:normAutofit/>
          </a:bodyPr>
          <a:lstStyle/>
          <a:p>
            <a:pPr rtl="1" algn="ctr" indent="0" marL="0">
              <a:buNone/>
            </a:pPr>
            <a:r>
              <a:rPr lang="ar-SA" altLang="en-US" sz="1000" b="1" dirty="0">
                <a:solidFill>
                  <a:srgbClr val="FFFFFF"/>
                </a:solidFill>
                <a:latin typeface="Arial" pitchFamily="34" charset="0"/>
                <a:ea typeface="Arial" pitchFamily="34" charset="-122"/>
                <a:cs typeface="Arial" pitchFamily="34" charset="-120"/>
              </a:rPr>
              <a:t>3</a:t>
            </a:r>
            <a:endParaRPr lang="ar-SA" sz="1000" dirty="0"/>
          </a:p>
        </p:txBody>
      </p:sp>
      <p:sp>
        <p:nvSpPr>
          <p:cNvPr id="20" name="Text 18"/>
          <p:cNvSpPr/>
          <p:nvPr/>
        </p:nvSpPr>
        <p:spPr>
          <a:xfrm>
            <a:off x="5251582" y="2157984"/>
            <a:ext cx="1606235" cy="411480"/>
          </a:xfrm>
          <a:prstGeom prst="rect">
            <a:avLst/>
          </a:prstGeom>
          <a:noFill/>
          <a:ln/>
        </p:spPr>
        <p:txBody>
          <a:bodyPr wrap="square" lIns="0" tIns="0" rIns="0" bIns="0" rtlCol="0" anchor="t">
            <a:normAutofit/>
          </a:bodyPr>
          <a:lstStyle/>
          <a:p>
            <a:pPr rtl="1" algn="r" indent="0" marL="0">
              <a:buNone/>
            </a:pPr>
            <a:r>
              <a:rPr lang="ar-SA" altLang="en-US" sz="1100" b="1" dirty="0">
                <a:solidFill>
                  <a:srgbClr val="3D3935"/>
                </a:solidFill>
                <a:latin typeface="Arial" pitchFamily="34" charset="0"/>
                <a:ea typeface="Arial" pitchFamily="34" charset="-122"/>
                <a:cs typeface="Arial" pitchFamily="34" charset="-120"/>
              </a:rPr>
              <a:t>أعمال الخرسانة لأعمدة H-Beam</a:t>
            </a:r>
            <a:endParaRPr lang="ar-SA" sz="1100" dirty="0"/>
          </a:p>
        </p:txBody>
      </p:sp>
      <p:sp>
        <p:nvSpPr>
          <p:cNvPr id="21" name="Text 19"/>
          <p:cNvSpPr/>
          <p:nvPr/>
        </p:nvSpPr>
        <p:spPr>
          <a:xfrm>
            <a:off x="5251582" y="2542032"/>
            <a:ext cx="1606235" cy="228600"/>
          </a:xfrm>
          <a:prstGeom prst="rect">
            <a:avLst/>
          </a:prstGeom>
          <a:noFill/>
          <a:ln/>
        </p:spPr>
        <p:txBody>
          <a:bodyPr wrap="square" lIns="0" tIns="0" rIns="0" bIns="0" rtlCol="0" anchor="t">
            <a:normAutofit/>
          </a:bodyPr>
          <a:lstStyle/>
          <a:p>
            <a:pPr rtl="1" algn="r" indent="0" marL="0">
              <a:buNone/>
            </a:pPr>
            <a:r>
              <a:rPr lang="ar-SA" altLang="en-US" sz="750" b="1" dirty="0">
                <a:solidFill>
                  <a:srgbClr val="7A3A30"/>
                </a:solidFill>
                <a:latin typeface="Arial" pitchFamily="34" charset="0"/>
                <a:ea typeface="Arial" pitchFamily="34" charset="-122"/>
                <a:cs typeface="Arial" pitchFamily="34" charset="-120"/>
              </a:rPr>
              <a:t>15 أكتوبر → 18 أكتوبر · 3 يوم · A2 SS +1</a:t>
            </a:r>
            <a:endParaRPr lang="ar-SA" sz="750" dirty="0"/>
          </a:p>
        </p:txBody>
      </p:sp>
      <p:sp>
        <p:nvSpPr>
          <p:cNvPr id="22" name="Shape 20"/>
          <p:cNvSpPr/>
          <p:nvPr/>
        </p:nvSpPr>
        <p:spPr>
          <a:xfrm flipH="1">
            <a:off x="2584643" y="1783080"/>
            <a:ext cx="2365187" cy="1051560"/>
          </a:xfrm>
          <a:prstGeom prst="chevron">
            <a:avLst/>
          </a:prstGeom>
          <a:solidFill>
            <a:srgbClr val="F4DAD6"/>
          </a:solidFill>
          <a:ln w="12700">
            <a:solidFill>
              <a:srgbClr val="F4DAD6"/>
            </a:solidFill>
            <a:prstDash val="solid"/>
          </a:ln>
        </p:spPr>
      </p:sp>
      <p:sp>
        <p:nvSpPr>
          <p:cNvPr id="23" name="Shape 21"/>
          <p:cNvSpPr/>
          <p:nvPr/>
        </p:nvSpPr>
        <p:spPr>
          <a:xfrm>
            <a:off x="4309750" y="1874520"/>
            <a:ext cx="274320" cy="274320"/>
          </a:xfrm>
          <a:prstGeom prst="ellipse">
            <a:avLst/>
          </a:prstGeom>
          <a:solidFill>
            <a:srgbClr val="C8503F"/>
          </a:solidFill>
          <a:ln w="12700">
            <a:solidFill>
              <a:srgbClr val="C8503F"/>
            </a:solidFill>
            <a:prstDash val="solid"/>
          </a:ln>
        </p:spPr>
      </p:sp>
      <p:sp>
        <p:nvSpPr>
          <p:cNvPr id="24" name="Text 22"/>
          <p:cNvSpPr/>
          <p:nvPr/>
        </p:nvSpPr>
        <p:spPr>
          <a:xfrm>
            <a:off x="4309750" y="1874520"/>
            <a:ext cx="274320" cy="274320"/>
          </a:xfrm>
          <a:prstGeom prst="rect">
            <a:avLst/>
          </a:prstGeom>
          <a:noFill/>
          <a:ln/>
        </p:spPr>
        <p:txBody>
          <a:bodyPr wrap="square" lIns="0" tIns="0" rIns="0" bIns="0" rtlCol="0" anchor="ctr">
            <a:normAutofit/>
          </a:bodyPr>
          <a:lstStyle/>
          <a:p>
            <a:pPr rtl="1" algn="ctr" indent="0" marL="0">
              <a:buNone/>
            </a:pPr>
            <a:r>
              <a:rPr lang="ar-SA" altLang="en-US" sz="1000" b="1" dirty="0">
                <a:solidFill>
                  <a:srgbClr val="FFFFFF"/>
                </a:solidFill>
                <a:latin typeface="Arial" pitchFamily="34" charset="0"/>
                <a:ea typeface="Arial" pitchFamily="34" charset="-122"/>
                <a:cs typeface="Arial" pitchFamily="34" charset="-120"/>
              </a:rPr>
              <a:t>4</a:t>
            </a:r>
            <a:endParaRPr lang="ar-SA" sz="1000" dirty="0"/>
          </a:p>
        </p:txBody>
      </p:sp>
      <p:sp>
        <p:nvSpPr>
          <p:cNvPr id="25" name="Text 23"/>
          <p:cNvSpPr/>
          <p:nvPr/>
        </p:nvSpPr>
        <p:spPr>
          <a:xfrm>
            <a:off x="2959547" y="2157984"/>
            <a:ext cx="1606235" cy="411480"/>
          </a:xfrm>
          <a:prstGeom prst="rect">
            <a:avLst/>
          </a:prstGeom>
          <a:noFill/>
          <a:ln/>
        </p:spPr>
        <p:txBody>
          <a:bodyPr wrap="square" lIns="0" tIns="0" rIns="0" bIns="0" rtlCol="0" anchor="t">
            <a:normAutofit/>
          </a:bodyPr>
          <a:lstStyle/>
          <a:p>
            <a:pPr rtl="1" algn="r" indent="0" marL="0">
              <a:buNone/>
            </a:pPr>
            <a:r>
              <a:rPr lang="ar-SA" altLang="en-US" sz="1100" b="1" dirty="0">
                <a:solidFill>
                  <a:srgbClr val="3D3935"/>
                </a:solidFill>
                <a:latin typeface="Arial" pitchFamily="34" charset="0"/>
                <a:ea typeface="Arial" pitchFamily="34" charset="-122"/>
                <a:cs typeface="Arial" pitchFamily="34" charset="-120"/>
              </a:rPr>
              <a:t>التدعيم (Bracing) لنظام الدعم</a:t>
            </a:r>
            <a:endParaRPr lang="ar-SA" sz="1100" dirty="0"/>
          </a:p>
        </p:txBody>
      </p:sp>
      <p:sp>
        <p:nvSpPr>
          <p:cNvPr id="26" name="Text 24"/>
          <p:cNvSpPr/>
          <p:nvPr/>
        </p:nvSpPr>
        <p:spPr>
          <a:xfrm>
            <a:off x="2959547" y="2542032"/>
            <a:ext cx="1606235" cy="228600"/>
          </a:xfrm>
          <a:prstGeom prst="rect">
            <a:avLst/>
          </a:prstGeom>
          <a:noFill/>
          <a:ln/>
        </p:spPr>
        <p:txBody>
          <a:bodyPr wrap="square" lIns="0" tIns="0" rIns="0" bIns="0" rtlCol="0" anchor="t">
            <a:normAutofit/>
          </a:bodyPr>
          <a:lstStyle/>
          <a:p>
            <a:pPr rtl="1" algn="r" indent="0" marL="0">
              <a:buNone/>
            </a:pPr>
            <a:r>
              <a:rPr lang="ar-SA" altLang="en-US" sz="750" b="1" dirty="0">
                <a:solidFill>
                  <a:srgbClr val="7A3A30"/>
                </a:solidFill>
                <a:latin typeface="Arial" pitchFamily="34" charset="0"/>
                <a:ea typeface="Arial" pitchFamily="34" charset="-122"/>
                <a:cs typeface="Arial" pitchFamily="34" charset="-120"/>
              </a:rPr>
              <a:t>17 أكتوبر → 19 أكتوبر · 3 يوم · A3 SS +1</a:t>
            </a:r>
            <a:endParaRPr lang="ar-SA" sz="750" dirty="0"/>
          </a:p>
        </p:txBody>
      </p:sp>
      <p:sp>
        <p:nvSpPr>
          <p:cNvPr id="27" name="Shape 25"/>
          <p:cNvSpPr/>
          <p:nvPr/>
        </p:nvSpPr>
        <p:spPr>
          <a:xfrm flipH="1">
            <a:off x="292608" y="1783080"/>
            <a:ext cx="2365187" cy="1051560"/>
          </a:xfrm>
          <a:prstGeom prst="chevron">
            <a:avLst/>
          </a:prstGeom>
          <a:solidFill>
            <a:srgbClr val="F4DAD6"/>
          </a:solidFill>
          <a:ln w="12700">
            <a:solidFill>
              <a:srgbClr val="F4DAD6"/>
            </a:solidFill>
            <a:prstDash val="solid"/>
          </a:ln>
        </p:spPr>
      </p:sp>
      <p:sp>
        <p:nvSpPr>
          <p:cNvPr id="28" name="Shape 26"/>
          <p:cNvSpPr/>
          <p:nvPr/>
        </p:nvSpPr>
        <p:spPr>
          <a:xfrm>
            <a:off x="2017715" y="1874520"/>
            <a:ext cx="274320" cy="274320"/>
          </a:xfrm>
          <a:prstGeom prst="ellipse">
            <a:avLst/>
          </a:prstGeom>
          <a:solidFill>
            <a:srgbClr val="C8503F"/>
          </a:solidFill>
          <a:ln w="12700">
            <a:solidFill>
              <a:srgbClr val="C8503F"/>
            </a:solidFill>
            <a:prstDash val="solid"/>
          </a:ln>
        </p:spPr>
      </p:sp>
      <p:sp>
        <p:nvSpPr>
          <p:cNvPr id="29" name="Text 27"/>
          <p:cNvSpPr/>
          <p:nvPr/>
        </p:nvSpPr>
        <p:spPr>
          <a:xfrm>
            <a:off x="2017715" y="1874520"/>
            <a:ext cx="274320" cy="274320"/>
          </a:xfrm>
          <a:prstGeom prst="rect">
            <a:avLst/>
          </a:prstGeom>
          <a:noFill/>
          <a:ln/>
        </p:spPr>
        <p:txBody>
          <a:bodyPr wrap="square" lIns="0" tIns="0" rIns="0" bIns="0" rtlCol="0" anchor="ctr">
            <a:normAutofit/>
          </a:bodyPr>
          <a:lstStyle/>
          <a:p>
            <a:pPr rtl="1" algn="ctr" indent="0" marL="0">
              <a:buNone/>
            </a:pPr>
            <a:r>
              <a:rPr lang="ar-SA" altLang="en-US" sz="1000" b="1" dirty="0">
                <a:solidFill>
                  <a:srgbClr val="FFFFFF"/>
                </a:solidFill>
                <a:latin typeface="Arial" pitchFamily="34" charset="0"/>
                <a:ea typeface="Arial" pitchFamily="34" charset="-122"/>
                <a:cs typeface="Arial" pitchFamily="34" charset="-120"/>
              </a:rPr>
              <a:t>5</a:t>
            </a:r>
            <a:endParaRPr lang="ar-SA" sz="1000" dirty="0"/>
          </a:p>
        </p:txBody>
      </p:sp>
      <p:sp>
        <p:nvSpPr>
          <p:cNvPr id="30" name="Text 28"/>
          <p:cNvSpPr/>
          <p:nvPr/>
        </p:nvSpPr>
        <p:spPr>
          <a:xfrm>
            <a:off x="667512" y="2157984"/>
            <a:ext cx="1606235" cy="411480"/>
          </a:xfrm>
          <a:prstGeom prst="rect">
            <a:avLst/>
          </a:prstGeom>
          <a:noFill/>
          <a:ln/>
        </p:spPr>
        <p:txBody>
          <a:bodyPr wrap="square" lIns="0" tIns="0" rIns="0" bIns="0" rtlCol="0" anchor="t">
            <a:normAutofit/>
          </a:bodyPr>
          <a:lstStyle/>
          <a:p>
            <a:pPr rtl="1" algn="r" indent="0" marL="0">
              <a:buNone/>
            </a:pPr>
            <a:r>
              <a:rPr lang="ar-SA" altLang="en-US" sz="1100" b="1" dirty="0">
                <a:solidFill>
                  <a:srgbClr val="3D3935"/>
                </a:solidFill>
                <a:latin typeface="Arial" pitchFamily="34" charset="0"/>
                <a:ea typeface="Arial" pitchFamily="34" charset="-122"/>
                <a:cs typeface="Arial" pitchFamily="34" charset="-120"/>
              </a:rPr>
              <a:t>تركيب / إدخال الألواح المضلعة (Corrugated sheets)</a:t>
            </a:r>
            <a:endParaRPr lang="ar-SA" sz="1100" dirty="0"/>
          </a:p>
        </p:txBody>
      </p:sp>
      <p:sp>
        <p:nvSpPr>
          <p:cNvPr id="31" name="Text 29"/>
          <p:cNvSpPr/>
          <p:nvPr/>
        </p:nvSpPr>
        <p:spPr>
          <a:xfrm>
            <a:off x="667512" y="2542032"/>
            <a:ext cx="1606235" cy="228600"/>
          </a:xfrm>
          <a:prstGeom prst="rect">
            <a:avLst/>
          </a:prstGeom>
          <a:noFill/>
          <a:ln/>
        </p:spPr>
        <p:txBody>
          <a:bodyPr wrap="square" lIns="0" tIns="0" rIns="0" bIns="0" rtlCol="0" anchor="t">
            <a:normAutofit/>
          </a:bodyPr>
          <a:lstStyle/>
          <a:p>
            <a:pPr rtl="1" algn="r" indent="0" marL="0">
              <a:buNone/>
            </a:pPr>
            <a:r>
              <a:rPr lang="ar-SA" altLang="en-US" sz="750" b="1" dirty="0">
                <a:solidFill>
                  <a:srgbClr val="7A3A30"/>
                </a:solidFill>
                <a:latin typeface="Arial" pitchFamily="34" charset="0"/>
                <a:ea typeface="Arial" pitchFamily="34" charset="-122"/>
                <a:cs typeface="Arial" pitchFamily="34" charset="-120"/>
              </a:rPr>
              <a:t>18 أكتوبر → 19 أكتوبر · 2 يوم · A4 SS +1</a:t>
            </a:r>
            <a:endParaRPr lang="ar-SA" sz="750" dirty="0"/>
          </a:p>
        </p:txBody>
      </p:sp>
      <p:sp>
        <p:nvSpPr>
          <p:cNvPr id="32" name="Text 30"/>
          <p:cNvSpPr/>
          <p:nvPr/>
        </p:nvSpPr>
        <p:spPr>
          <a:xfrm>
            <a:off x="365760" y="2852928"/>
            <a:ext cx="11460175" cy="182880"/>
          </a:xfrm>
          <a:prstGeom prst="rect">
            <a:avLst/>
          </a:prstGeom>
          <a:noFill/>
          <a:ln/>
        </p:spPr>
        <p:txBody>
          <a:bodyPr wrap="square" lIns="0" tIns="0" rIns="0" bIns="0" rtlCol="0" anchor="ctr">
            <a:normAutofit/>
          </a:bodyPr>
          <a:lstStyle/>
          <a:p>
            <a:pPr rtl="1" algn="r" indent="0" marL="0">
              <a:buNone/>
            </a:pPr>
            <a:r>
              <a:rPr lang="ar-SA" altLang="en-US" sz="750" dirty="0">
                <a:solidFill>
                  <a:srgbClr val="66707A"/>
                </a:solidFill>
                <a:latin typeface="Arial" pitchFamily="34" charset="0"/>
                <a:ea typeface="Arial" pitchFamily="34" charset="-122"/>
                <a:cs typeface="Arial" pitchFamily="34" charset="-120"/>
              </a:rPr>
              <a:t>مدد وعلاقات الأنشطة الخمسة الفرعية مقترحة لتقع ضمن 6 أيام عمل للنشاط A (قابلة للتعديل).</a:t>
            </a:r>
            <a:endParaRPr lang="ar-SA" sz="750" dirty="0"/>
          </a:p>
        </p:txBody>
      </p:sp>
      <p:sp>
        <p:nvSpPr>
          <p:cNvPr id="33" name="Shape 31"/>
          <p:cNvSpPr/>
          <p:nvPr/>
        </p:nvSpPr>
        <p:spPr>
          <a:xfrm>
            <a:off x="11771071" y="3099816"/>
            <a:ext cx="54864" cy="256032"/>
          </a:xfrm>
          <a:prstGeom prst="rect">
            <a:avLst/>
          </a:prstGeom>
          <a:solidFill>
            <a:srgbClr val="00778B"/>
          </a:solidFill>
          <a:ln w="12700">
            <a:solidFill>
              <a:srgbClr val="00778B"/>
            </a:solidFill>
            <a:prstDash val="solid"/>
          </a:ln>
        </p:spPr>
      </p:sp>
      <p:sp>
        <p:nvSpPr>
          <p:cNvPr id="34" name="Text 32"/>
          <p:cNvSpPr/>
          <p:nvPr/>
        </p:nvSpPr>
        <p:spPr>
          <a:xfrm>
            <a:off x="8022031" y="3063240"/>
            <a:ext cx="3657600" cy="329184"/>
          </a:xfrm>
          <a:prstGeom prst="rect">
            <a:avLst/>
          </a:prstGeom>
          <a:noFill/>
          <a:ln/>
        </p:spPr>
        <p:txBody>
          <a:bodyPr wrap="square" lIns="0" tIns="0" rIns="0" bIns="0" rtlCol="0" anchor="ctr">
            <a:normAutofit/>
          </a:bodyPr>
          <a:lstStyle/>
          <a:p>
            <a:pPr rtl="1" algn="r" indent="0" marL="0">
              <a:buNone/>
            </a:pPr>
            <a:r>
              <a:rPr lang="ar-SA" altLang="en-US" sz="1500" b="1" dirty="0">
                <a:solidFill>
                  <a:srgbClr val="3D3935"/>
                </a:solidFill>
                <a:latin typeface="Arial" pitchFamily="34" charset="0"/>
                <a:ea typeface="Arial" pitchFamily="34" charset="-122"/>
                <a:cs typeface="Arial" pitchFamily="34" charset="-120"/>
              </a:rPr>
              <a:t>التواريخ الرئيسية (تلقائية)</a:t>
            </a:r>
            <a:endParaRPr lang="ar-SA" sz="1500" dirty="0"/>
          </a:p>
        </p:txBody>
      </p:sp>
      <p:sp>
        <p:nvSpPr>
          <p:cNvPr id="35" name="Shape 33"/>
          <p:cNvSpPr/>
          <p:nvPr/>
        </p:nvSpPr>
        <p:spPr>
          <a:xfrm>
            <a:off x="7619695" y="3493008"/>
            <a:ext cx="4206240" cy="310896"/>
          </a:xfrm>
          <a:prstGeom prst="rect">
            <a:avLst/>
          </a:prstGeom>
          <a:solidFill>
            <a:srgbClr val="FFFFFF"/>
          </a:solidFill>
          <a:ln w="6350">
            <a:solidFill>
              <a:srgbClr val="DFE6EA"/>
            </a:solidFill>
            <a:prstDash val="solid"/>
          </a:ln>
        </p:spPr>
      </p:sp>
      <p:sp>
        <p:nvSpPr>
          <p:cNvPr id="36" name="Text 34"/>
          <p:cNvSpPr/>
          <p:nvPr/>
        </p:nvSpPr>
        <p:spPr>
          <a:xfrm>
            <a:off x="9448495" y="3493008"/>
            <a:ext cx="2286000" cy="310896"/>
          </a:xfrm>
          <a:prstGeom prst="rect">
            <a:avLst/>
          </a:prstGeom>
          <a:noFill/>
          <a:ln/>
        </p:spPr>
        <p:txBody>
          <a:bodyPr wrap="square" lIns="0" tIns="0" rIns="0" bIns="0" rtlCol="0" anchor="ctr">
            <a:normAutofit/>
          </a:bodyPr>
          <a:lstStyle/>
          <a:p>
            <a:pPr rtl="1" algn="r" indent="0" marL="0">
              <a:buNone/>
            </a:pPr>
            <a:r>
              <a:rPr lang="ar-SA" altLang="en-US" sz="950" dirty="0">
                <a:solidFill>
                  <a:srgbClr val="4A555D"/>
                </a:solidFill>
                <a:latin typeface="Arial" pitchFamily="34" charset="0"/>
                <a:ea typeface="Arial" pitchFamily="34" charset="-122"/>
                <a:cs typeface="Arial" pitchFamily="34" charset="-120"/>
              </a:rPr>
              <a:t>بدء الأعمال</a:t>
            </a:r>
            <a:endParaRPr lang="ar-SA" sz="950" dirty="0"/>
          </a:p>
        </p:txBody>
      </p:sp>
      <p:sp>
        <p:nvSpPr>
          <p:cNvPr id="37" name="Text 35"/>
          <p:cNvSpPr/>
          <p:nvPr/>
        </p:nvSpPr>
        <p:spPr>
          <a:xfrm>
            <a:off x="7711135" y="3493008"/>
            <a:ext cx="1828800" cy="310896"/>
          </a:xfrm>
          <a:prstGeom prst="rect">
            <a:avLst/>
          </a:prstGeom>
          <a:noFill/>
          <a:ln/>
        </p:spPr>
        <p:txBody>
          <a:bodyPr wrap="square" lIns="0" tIns="0" rIns="0" bIns="0" rtlCol="0" anchor="ctr">
            <a:normAutofit/>
          </a:bodyPr>
          <a:lstStyle/>
          <a:p>
            <a:pPr rtl="1" algn="l" indent="0" marL="0">
              <a:buNone/>
            </a:pPr>
            <a:r>
              <a:rPr lang="ar-SA" altLang="en-US" sz="950" b="1" dirty="0">
                <a:solidFill>
                  <a:srgbClr val="3D3935"/>
                </a:solidFill>
                <a:latin typeface="Arial" pitchFamily="34" charset="0"/>
                <a:ea typeface="Arial" pitchFamily="34" charset="-122"/>
                <a:cs typeface="Arial" pitchFamily="34" charset="-120"/>
              </a:rPr>
              <a:t>ثلاثاء 13 أكتوبر 2026</a:t>
            </a:r>
            <a:endParaRPr lang="ar-SA" sz="950" dirty="0"/>
          </a:p>
        </p:txBody>
      </p:sp>
      <p:sp>
        <p:nvSpPr>
          <p:cNvPr id="38" name="Shape 36"/>
          <p:cNvSpPr/>
          <p:nvPr/>
        </p:nvSpPr>
        <p:spPr>
          <a:xfrm>
            <a:off x="7619695" y="3803904"/>
            <a:ext cx="4206240" cy="310896"/>
          </a:xfrm>
          <a:prstGeom prst="rect">
            <a:avLst/>
          </a:prstGeom>
          <a:solidFill>
            <a:srgbClr val="F6F9FA"/>
          </a:solidFill>
          <a:ln w="6350">
            <a:solidFill>
              <a:srgbClr val="DFE6EA"/>
            </a:solidFill>
            <a:prstDash val="solid"/>
          </a:ln>
        </p:spPr>
      </p:sp>
      <p:sp>
        <p:nvSpPr>
          <p:cNvPr id="39" name="Text 37"/>
          <p:cNvSpPr/>
          <p:nvPr/>
        </p:nvSpPr>
        <p:spPr>
          <a:xfrm>
            <a:off x="9448495" y="3803904"/>
            <a:ext cx="2286000" cy="310896"/>
          </a:xfrm>
          <a:prstGeom prst="rect">
            <a:avLst/>
          </a:prstGeom>
          <a:noFill/>
          <a:ln/>
        </p:spPr>
        <p:txBody>
          <a:bodyPr wrap="square" lIns="0" tIns="0" rIns="0" bIns="0" rtlCol="0" anchor="ctr">
            <a:normAutofit/>
          </a:bodyPr>
          <a:lstStyle/>
          <a:p>
            <a:pPr rtl="1" algn="r" indent="0" marL="0">
              <a:buNone/>
            </a:pPr>
            <a:r>
              <a:rPr lang="ar-SA" altLang="en-US" sz="950" dirty="0">
                <a:solidFill>
                  <a:srgbClr val="4A555D"/>
                </a:solidFill>
                <a:latin typeface="Arial" pitchFamily="34" charset="0"/>
                <a:ea typeface="Arial" pitchFamily="34" charset="-122"/>
                <a:cs typeface="Arial" pitchFamily="34" charset="-120"/>
              </a:rPr>
              <a:t>اكتمال تركيب نظام الدعم</a:t>
            </a:r>
            <a:endParaRPr lang="ar-SA" sz="950" dirty="0"/>
          </a:p>
        </p:txBody>
      </p:sp>
      <p:sp>
        <p:nvSpPr>
          <p:cNvPr id="40" name="Text 38"/>
          <p:cNvSpPr/>
          <p:nvPr/>
        </p:nvSpPr>
        <p:spPr>
          <a:xfrm>
            <a:off x="7711135" y="3803904"/>
            <a:ext cx="1828800" cy="310896"/>
          </a:xfrm>
          <a:prstGeom prst="rect">
            <a:avLst/>
          </a:prstGeom>
          <a:noFill/>
          <a:ln/>
        </p:spPr>
        <p:txBody>
          <a:bodyPr wrap="square" lIns="0" tIns="0" rIns="0" bIns="0" rtlCol="0" anchor="ctr">
            <a:normAutofit/>
          </a:bodyPr>
          <a:lstStyle/>
          <a:p>
            <a:pPr rtl="1" algn="l" indent="0" marL="0">
              <a:buNone/>
            </a:pPr>
            <a:r>
              <a:rPr lang="ar-SA" altLang="en-US" sz="950" b="1" dirty="0">
                <a:solidFill>
                  <a:srgbClr val="3D3935"/>
                </a:solidFill>
                <a:latin typeface="Arial" pitchFamily="34" charset="0"/>
                <a:ea typeface="Arial" pitchFamily="34" charset="-122"/>
                <a:cs typeface="Arial" pitchFamily="34" charset="-120"/>
              </a:rPr>
              <a:t>اثنين 19 أكتوبر 2026</a:t>
            </a:r>
            <a:endParaRPr lang="ar-SA" sz="950" dirty="0"/>
          </a:p>
        </p:txBody>
      </p:sp>
      <p:sp>
        <p:nvSpPr>
          <p:cNvPr id="41" name="Shape 39"/>
          <p:cNvSpPr/>
          <p:nvPr/>
        </p:nvSpPr>
        <p:spPr>
          <a:xfrm>
            <a:off x="7619695" y="4114800"/>
            <a:ext cx="4206240" cy="310896"/>
          </a:xfrm>
          <a:prstGeom prst="rect">
            <a:avLst/>
          </a:prstGeom>
          <a:solidFill>
            <a:srgbClr val="FFFFFF"/>
          </a:solidFill>
          <a:ln w="6350">
            <a:solidFill>
              <a:srgbClr val="DFE6EA"/>
            </a:solidFill>
            <a:prstDash val="solid"/>
          </a:ln>
        </p:spPr>
      </p:sp>
      <p:sp>
        <p:nvSpPr>
          <p:cNvPr id="42" name="Text 40"/>
          <p:cNvSpPr/>
          <p:nvPr/>
        </p:nvSpPr>
        <p:spPr>
          <a:xfrm>
            <a:off x="9448495" y="4114800"/>
            <a:ext cx="2286000" cy="310896"/>
          </a:xfrm>
          <a:prstGeom prst="rect">
            <a:avLst/>
          </a:prstGeom>
          <a:noFill/>
          <a:ln/>
        </p:spPr>
        <p:txBody>
          <a:bodyPr wrap="square" lIns="0" tIns="0" rIns="0" bIns="0" rtlCol="0" anchor="ctr">
            <a:normAutofit/>
          </a:bodyPr>
          <a:lstStyle/>
          <a:p>
            <a:pPr rtl="1" algn="r" indent="0" marL="0">
              <a:buNone/>
            </a:pPr>
            <a:r>
              <a:rPr lang="ar-SA" altLang="en-US" sz="950" dirty="0">
                <a:solidFill>
                  <a:srgbClr val="4A555D"/>
                </a:solidFill>
                <a:latin typeface="Arial" pitchFamily="34" charset="0"/>
                <a:ea typeface="Arial" pitchFamily="34" charset="-122"/>
                <a:cs typeface="Arial" pitchFamily="34" charset="-120"/>
              </a:rPr>
              <a:t>اكتمال أعمال الحفرة (جدار الحفرة)</a:t>
            </a:r>
            <a:endParaRPr lang="ar-SA" sz="950" dirty="0"/>
          </a:p>
        </p:txBody>
      </p:sp>
      <p:sp>
        <p:nvSpPr>
          <p:cNvPr id="43" name="Text 41"/>
          <p:cNvSpPr/>
          <p:nvPr/>
        </p:nvSpPr>
        <p:spPr>
          <a:xfrm>
            <a:off x="7711135" y="4114800"/>
            <a:ext cx="1828800" cy="310896"/>
          </a:xfrm>
          <a:prstGeom prst="rect">
            <a:avLst/>
          </a:prstGeom>
          <a:noFill/>
          <a:ln/>
        </p:spPr>
        <p:txBody>
          <a:bodyPr wrap="square" lIns="0" tIns="0" rIns="0" bIns="0" rtlCol="0" anchor="ctr">
            <a:normAutofit/>
          </a:bodyPr>
          <a:lstStyle/>
          <a:p>
            <a:pPr rtl="1" algn="l" indent="0" marL="0">
              <a:buNone/>
            </a:pPr>
            <a:r>
              <a:rPr lang="ar-SA" altLang="en-US" sz="950" b="1" dirty="0">
                <a:solidFill>
                  <a:srgbClr val="3D3935"/>
                </a:solidFill>
                <a:latin typeface="Arial" pitchFamily="34" charset="0"/>
                <a:ea typeface="Arial" pitchFamily="34" charset="-122"/>
                <a:cs typeface="Arial" pitchFamily="34" charset="-120"/>
              </a:rPr>
              <a:t>أربعاء 11 نوفمبر 2026</a:t>
            </a:r>
            <a:endParaRPr lang="ar-SA" sz="950" dirty="0"/>
          </a:p>
        </p:txBody>
      </p:sp>
      <p:sp>
        <p:nvSpPr>
          <p:cNvPr id="44" name="Shape 42"/>
          <p:cNvSpPr/>
          <p:nvPr/>
        </p:nvSpPr>
        <p:spPr>
          <a:xfrm>
            <a:off x="7619695" y="4425696"/>
            <a:ext cx="4206240" cy="310896"/>
          </a:xfrm>
          <a:prstGeom prst="rect">
            <a:avLst/>
          </a:prstGeom>
          <a:solidFill>
            <a:srgbClr val="F6F9FA"/>
          </a:solidFill>
          <a:ln w="6350">
            <a:solidFill>
              <a:srgbClr val="DFE6EA"/>
            </a:solidFill>
            <a:prstDash val="solid"/>
          </a:ln>
        </p:spPr>
      </p:sp>
      <p:sp>
        <p:nvSpPr>
          <p:cNvPr id="45" name="Text 43"/>
          <p:cNvSpPr/>
          <p:nvPr/>
        </p:nvSpPr>
        <p:spPr>
          <a:xfrm>
            <a:off x="9448495" y="4425696"/>
            <a:ext cx="2286000" cy="310896"/>
          </a:xfrm>
          <a:prstGeom prst="rect">
            <a:avLst/>
          </a:prstGeom>
          <a:noFill/>
          <a:ln/>
        </p:spPr>
        <p:txBody>
          <a:bodyPr wrap="square" lIns="0" tIns="0" rIns="0" bIns="0" rtlCol="0" anchor="ctr">
            <a:normAutofit/>
          </a:bodyPr>
          <a:lstStyle/>
          <a:p>
            <a:pPr rtl="1" algn="r" indent="0" marL="0">
              <a:buNone/>
            </a:pPr>
            <a:r>
              <a:rPr lang="ar-SA" altLang="en-US" sz="950" dirty="0">
                <a:solidFill>
                  <a:srgbClr val="4A555D"/>
                </a:solidFill>
                <a:latin typeface="Arial" pitchFamily="34" charset="0"/>
                <a:ea typeface="Arial" pitchFamily="34" charset="-122"/>
                <a:cs typeface="Arial" pitchFamily="34" charset="-120"/>
              </a:rPr>
              <a:t>اكتمال أساسات المبنى</a:t>
            </a:r>
            <a:endParaRPr lang="ar-SA" sz="950" dirty="0"/>
          </a:p>
        </p:txBody>
      </p:sp>
      <p:sp>
        <p:nvSpPr>
          <p:cNvPr id="46" name="Text 44"/>
          <p:cNvSpPr/>
          <p:nvPr/>
        </p:nvSpPr>
        <p:spPr>
          <a:xfrm>
            <a:off x="7711135" y="4425696"/>
            <a:ext cx="1828800" cy="310896"/>
          </a:xfrm>
          <a:prstGeom prst="rect">
            <a:avLst/>
          </a:prstGeom>
          <a:noFill/>
          <a:ln/>
        </p:spPr>
        <p:txBody>
          <a:bodyPr wrap="square" lIns="0" tIns="0" rIns="0" bIns="0" rtlCol="0" anchor="ctr">
            <a:normAutofit/>
          </a:bodyPr>
          <a:lstStyle/>
          <a:p>
            <a:pPr rtl="1" algn="l" indent="0" marL="0">
              <a:buNone/>
            </a:pPr>
            <a:r>
              <a:rPr lang="ar-SA" altLang="en-US" sz="950" b="1" dirty="0">
                <a:solidFill>
                  <a:srgbClr val="3D3935"/>
                </a:solidFill>
                <a:latin typeface="Arial" pitchFamily="34" charset="0"/>
                <a:ea typeface="Arial" pitchFamily="34" charset="-122"/>
                <a:cs typeface="Arial" pitchFamily="34" charset="-120"/>
              </a:rPr>
              <a:t>أربعاء 18 نوفمبر 2026</a:t>
            </a:r>
            <a:endParaRPr lang="ar-SA" sz="950" dirty="0"/>
          </a:p>
        </p:txBody>
      </p:sp>
      <p:sp>
        <p:nvSpPr>
          <p:cNvPr id="47" name="Shape 45"/>
          <p:cNvSpPr/>
          <p:nvPr/>
        </p:nvSpPr>
        <p:spPr>
          <a:xfrm>
            <a:off x="7619695" y="4736592"/>
            <a:ext cx="4206240" cy="310896"/>
          </a:xfrm>
          <a:prstGeom prst="rect">
            <a:avLst/>
          </a:prstGeom>
          <a:solidFill>
            <a:srgbClr val="FFFFFF"/>
          </a:solidFill>
          <a:ln w="6350">
            <a:solidFill>
              <a:srgbClr val="DFE6EA"/>
            </a:solidFill>
            <a:prstDash val="solid"/>
          </a:ln>
        </p:spPr>
      </p:sp>
      <p:sp>
        <p:nvSpPr>
          <p:cNvPr id="48" name="Text 46"/>
          <p:cNvSpPr/>
          <p:nvPr/>
        </p:nvSpPr>
        <p:spPr>
          <a:xfrm>
            <a:off x="9448495" y="4736592"/>
            <a:ext cx="2286000" cy="310896"/>
          </a:xfrm>
          <a:prstGeom prst="rect">
            <a:avLst/>
          </a:prstGeom>
          <a:noFill/>
          <a:ln/>
        </p:spPr>
        <p:txBody>
          <a:bodyPr wrap="square" lIns="0" tIns="0" rIns="0" bIns="0" rtlCol="0" anchor="ctr">
            <a:normAutofit/>
          </a:bodyPr>
          <a:lstStyle/>
          <a:p>
            <a:pPr rtl="1" algn="r" indent="0" marL="0">
              <a:buNone/>
            </a:pPr>
            <a:r>
              <a:rPr lang="ar-SA" altLang="en-US" sz="950" dirty="0">
                <a:solidFill>
                  <a:srgbClr val="4A555D"/>
                </a:solidFill>
                <a:latin typeface="Arial" pitchFamily="34" charset="0"/>
                <a:ea typeface="Arial" pitchFamily="34" charset="-122"/>
                <a:cs typeface="Arial" pitchFamily="34" charset="-120"/>
              </a:rPr>
              <a:t>الإنجاز الكلي</a:t>
            </a:r>
            <a:endParaRPr lang="ar-SA" sz="950" dirty="0"/>
          </a:p>
        </p:txBody>
      </p:sp>
      <p:sp>
        <p:nvSpPr>
          <p:cNvPr id="49" name="Text 47"/>
          <p:cNvSpPr/>
          <p:nvPr/>
        </p:nvSpPr>
        <p:spPr>
          <a:xfrm>
            <a:off x="7711135" y="4736592"/>
            <a:ext cx="1828800" cy="310896"/>
          </a:xfrm>
          <a:prstGeom prst="rect">
            <a:avLst/>
          </a:prstGeom>
          <a:noFill/>
          <a:ln/>
        </p:spPr>
        <p:txBody>
          <a:bodyPr wrap="square" lIns="0" tIns="0" rIns="0" bIns="0" rtlCol="0" anchor="ctr">
            <a:normAutofit/>
          </a:bodyPr>
          <a:lstStyle/>
          <a:p>
            <a:pPr rtl="1" algn="l" indent="0" marL="0">
              <a:buNone/>
            </a:pPr>
            <a:r>
              <a:rPr lang="ar-SA" altLang="en-US" sz="950" b="1" dirty="0">
                <a:solidFill>
                  <a:srgbClr val="3D3935"/>
                </a:solidFill>
                <a:latin typeface="Arial" pitchFamily="34" charset="0"/>
                <a:ea typeface="Arial" pitchFamily="34" charset="-122"/>
                <a:cs typeface="Arial" pitchFamily="34" charset="-120"/>
              </a:rPr>
              <a:t>ثلاثاء 24 نوفمبر 2026</a:t>
            </a:r>
            <a:endParaRPr lang="ar-SA" sz="950" dirty="0"/>
          </a:p>
        </p:txBody>
      </p:sp>
      <p:sp>
        <p:nvSpPr>
          <p:cNvPr id="50" name="Shape 48"/>
          <p:cNvSpPr/>
          <p:nvPr/>
        </p:nvSpPr>
        <p:spPr>
          <a:xfrm>
            <a:off x="7619695" y="5166360"/>
            <a:ext cx="4206240" cy="960120"/>
          </a:xfrm>
          <a:prstGeom prst="roundRect">
            <a:avLst>
              <a:gd name="adj" fmla="val 7619"/>
            </a:avLst>
          </a:prstGeom>
          <a:solidFill>
            <a:srgbClr val="FFF6E5"/>
          </a:solidFill>
          <a:ln w="12700">
            <a:solidFill>
              <a:srgbClr val="F0C36D"/>
            </a:solidFill>
            <a:prstDash val="solid"/>
          </a:ln>
        </p:spPr>
      </p:sp>
      <p:sp>
        <p:nvSpPr>
          <p:cNvPr id="51" name="Text 49"/>
          <p:cNvSpPr/>
          <p:nvPr/>
        </p:nvSpPr>
        <p:spPr>
          <a:xfrm>
            <a:off x="7756855" y="5212080"/>
            <a:ext cx="3931920" cy="228600"/>
          </a:xfrm>
          <a:prstGeom prst="rect">
            <a:avLst/>
          </a:prstGeom>
          <a:noFill/>
          <a:ln/>
        </p:spPr>
        <p:txBody>
          <a:bodyPr wrap="square" lIns="0" tIns="0" rIns="0" bIns="0" rtlCol="0" anchor="ctr">
            <a:normAutofit/>
          </a:bodyPr>
          <a:lstStyle/>
          <a:p>
            <a:pPr rtl="1" algn="r" indent="0" marL="0">
              <a:buNone/>
            </a:pPr>
            <a:r>
              <a:rPr lang="ar-SA" altLang="en-US" sz="950" b="1" dirty="0">
                <a:solidFill>
                  <a:srgbClr val="9A6A00"/>
                </a:solidFill>
                <a:latin typeface="Arial" pitchFamily="34" charset="0"/>
                <a:ea typeface="Arial" pitchFamily="34" charset="-122"/>
                <a:cs typeface="Arial" pitchFamily="34" charset="-120"/>
              </a:rPr>
              <a:t>سيناريو افتراضي</a:t>
            </a:r>
            <a:endParaRPr lang="ar-SA" sz="950" dirty="0"/>
          </a:p>
        </p:txBody>
      </p:sp>
      <p:sp>
        <p:nvSpPr>
          <p:cNvPr id="52" name="Text 50"/>
          <p:cNvSpPr/>
          <p:nvPr/>
        </p:nvSpPr>
        <p:spPr>
          <a:xfrm>
            <a:off x="7756855" y="5440680"/>
            <a:ext cx="3931920" cy="658368"/>
          </a:xfrm>
          <a:prstGeom prst="rect">
            <a:avLst/>
          </a:prstGeom>
          <a:noFill/>
          <a:ln/>
        </p:spPr>
        <p:txBody>
          <a:bodyPr wrap="square" lIns="0" tIns="0" rIns="0" bIns="0" rtlCol="0" anchor="t">
            <a:normAutofit/>
          </a:bodyPr>
          <a:lstStyle/>
          <a:p>
            <a:pPr rtl="1" algn="r" indent="0" marL="0">
              <a:buNone/>
            </a:pPr>
            <a:r>
              <a:rPr lang="ar-SA" altLang="en-US" sz="950" dirty="0">
                <a:solidFill>
                  <a:srgbClr val="3D3935"/>
                </a:solidFill>
                <a:latin typeface="Arial" pitchFamily="34" charset="0"/>
                <a:ea typeface="Arial" pitchFamily="34" charset="-122"/>
                <a:cs typeface="Arial" pitchFamily="34" charset="-120"/>
              </a:rPr>
              <a:t>إذا بدأت الأعمال في 21 أكتوبر 2026 (تاريخ جاهزية التصريح) → فسيكون الإنجاز الكلي 2 ديسمبر 2026 (+8 يوماً (تقويمياً) بعد المقترح).</a:t>
            </a:r>
            <a:endParaRPr lang="ar-SA" sz="950" dirty="0"/>
          </a:p>
        </p:txBody>
      </p:sp>
      <p:sp>
        <p:nvSpPr>
          <p:cNvPr id="53" name="Shape 51"/>
          <p:cNvSpPr/>
          <p:nvPr/>
        </p:nvSpPr>
        <p:spPr>
          <a:xfrm>
            <a:off x="7199071" y="3099816"/>
            <a:ext cx="54864" cy="256032"/>
          </a:xfrm>
          <a:prstGeom prst="rect">
            <a:avLst/>
          </a:prstGeom>
          <a:solidFill>
            <a:srgbClr val="00778B"/>
          </a:solidFill>
          <a:ln w="12700">
            <a:solidFill>
              <a:srgbClr val="00778B"/>
            </a:solidFill>
            <a:prstDash val="solid"/>
          </a:ln>
        </p:spPr>
      </p:sp>
      <p:sp>
        <p:nvSpPr>
          <p:cNvPr id="54" name="Text 52"/>
          <p:cNvSpPr/>
          <p:nvPr/>
        </p:nvSpPr>
        <p:spPr>
          <a:xfrm>
            <a:off x="1621231" y="3063240"/>
            <a:ext cx="5486400" cy="329184"/>
          </a:xfrm>
          <a:prstGeom prst="rect">
            <a:avLst/>
          </a:prstGeom>
          <a:noFill/>
          <a:ln/>
        </p:spPr>
        <p:txBody>
          <a:bodyPr wrap="square" lIns="0" tIns="0" rIns="0" bIns="0" rtlCol="0" anchor="ctr">
            <a:normAutofit/>
          </a:bodyPr>
          <a:lstStyle/>
          <a:p>
            <a:pPr rtl="1" algn="r" indent="0" marL="0">
              <a:buNone/>
            </a:pPr>
            <a:r>
              <a:rPr lang="ar-SA" altLang="en-US" sz="1500" b="1" dirty="0">
                <a:solidFill>
                  <a:srgbClr val="3D3935"/>
                </a:solidFill>
                <a:latin typeface="Arial" pitchFamily="34" charset="0"/>
                <a:ea typeface="Arial" pitchFamily="34" charset="-122"/>
                <a:cs typeface="Arial" pitchFamily="34" charset="-120"/>
              </a:rPr>
              <a:t>ملاحظات وشروط</a:t>
            </a:r>
            <a:endParaRPr lang="ar-SA" sz="1500" dirty="0"/>
          </a:p>
        </p:txBody>
      </p:sp>
      <p:sp>
        <p:nvSpPr>
          <p:cNvPr id="55" name="Text 53"/>
          <p:cNvSpPr/>
          <p:nvPr/>
        </p:nvSpPr>
        <p:spPr>
          <a:xfrm>
            <a:off x="395935" y="3474720"/>
            <a:ext cx="6766560" cy="2697480"/>
          </a:xfrm>
          <a:prstGeom prst="rect">
            <a:avLst/>
          </a:prstGeom>
          <a:noFill/>
          <a:ln/>
        </p:spPr>
        <p:txBody>
          <a:bodyPr wrap="square" lIns="0" tIns="0" rIns="0" bIns="0" rtlCol="0" anchor="t">
            <a:normAutofit/>
          </a:bodyPr>
          <a:lstStyle/>
          <a:p>
            <a:pPr algn="r" marL="342900" indent="-342900">
              <a:spcAft>
                <a:spcPts val="600"/>
              </a:spcAft>
              <a:buSzPct val="100000"/>
              <a:buFont typeface="+mj-lt"/>
              <a:buAutoNum type="arabicPeriod" startAt="1"/>
            </a:pPr>
            <a:r>
              <a:rPr lang="ar-SA" altLang="en-US" sz="1050" dirty="0">
                <a:solidFill>
                  <a:srgbClr val="333333"/>
                </a:solidFill>
                <a:latin typeface="Arial" pitchFamily="34" charset="0"/>
                <a:ea typeface="Arial" pitchFamily="34" charset="-122"/>
                <a:cs typeface="Arial" pitchFamily="34" charset="-120"/>
              </a:rPr>
              <a:t>بدء كل نشاط مشروط بإصدار تصريح العمل والموافقة في الوقت المناسب على طلبات فحص الأعمال (WIR) وطلبات فحص المواد (MIR). أي تأخير في إصدار التصريح أو اعتماد الطلبات يزيح النشاط المتأثر وكل الأنشطة اللاحقة له.</a:t>
            </a:r>
            <a:endParaRPr lang="ar-SA" sz="1050" dirty="0"/>
          </a:p>
          <a:p>
            <a:pPr algn="r" marL="342900" indent="-342900">
              <a:spcAft>
                <a:spcPts val="600"/>
              </a:spcAft>
              <a:buSzPct val="100000"/>
              <a:buFont typeface="+mj-lt"/>
              <a:buAutoNum type="arabicPeriod" startAt="1"/>
            </a:pPr>
            <a:r>
              <a:rPr lang="ar-SA" altLang="en-US" sz="1050" dirty="0">
                <a:solidFill>
                  <a:srgbClr val="333333"/>
                </a:solidFill>
                <a:latin typeface="Arial" pitchFamily="34" charset="0"/>
                <a:ea typeface="Arial" pitchFamily="34" charset="-122"/>
                <a:cs typeface="Arial" pitchFamily="34" charset="-120"/>
              </a:rPr>
              <a:t>أسبوع العمل من السبت إلى الخميس، والجمعة إجازة.</a:t>
            </a:r>
            <a:endParaRPr lang="ar-SA" sz="1050" dirty="0"/>
          </a:p>
          <a:p>
            <a:pPr algn="r" marL="342900" indent="-342900">
              <a:spcAft>
                <a:spcPts val="600"/>
              </a:spcAft>
              <a:buSzPct val="100000"/>
              <a:buFont typeface="+mj-lt"/>
              <a:buAutoNum type="arabicPeriod" startAt="1"/>
            </a:pPr>
            <a:r>
              <a:rPr lang="ar-SA" altLang="en-US" sz="1050" dirty="0">
                <a:solidFill>
                  <a:srgbClr val="333333"/>
                </a:solidFill>
                <a:latin typeface="Arial" pitchFamily="34" charset="0"/>
                <a:ea typeface="Arial" pitchFamily="34" charset="-122"/>
                <a:cs typeface="Arial" pitchFamily="34" charset="-120"/>
              </a:rPr>
              <a:t>الخرسانة العادية تسير بالتوازي مع الدعم (علاقة SS) وتُصب فقط في الأجزاء التي تم تركيب الدعم فيها.</a:t>
            </a:r>
            <a:endParaRPr lang="ar-SA" sz="1050" dirty="0"/>
          </a:p>
          <a:p>
            <a:pPr algn="r" marL="342900" indent="-342900">
              <a:spcAft>
                <a:spcPts val="600"/>
              </a:spcAft>
              <a:buSzPct val="100000"/>
              <a:buFont typeface="+mj-lt"/>
              <a:buAutoNum type="arabicPeriod" startAt="1"/>
            </a:pPr>
            <a:r>
              <a:rPr lang="ar-SA" altLang="en-US" sz="1050" dirty="0">
                <a:solidFill>
                  <a:srgbClr val="333333"/>
                </a:solidFill>
                <a:latin typeface="Arial" pitchFamily="34" charset="0"/>
                <a:ea typeface="Arial" pitchFamily="34" charset="-122"/>
                <a:cs typeface="Arial" pitchFamily="34" charset="-120"/>
              </a:rPr>
              <a:t>أساسات المبنى مرتبطة بإنجاز بلاطة / لبشة الحفرة (علاقة FS) وتسير بالتوازي مع جدار الحفرة. يمكن تغيير سابقها إلى E إذا لزم أن تلي جدار الحفرة.</a:t>
            </a:r>
            <a:endParaRPr lang="ar-SA" sz="1050" dirty="0"/>
          </a:p>
        </p:txBody>
      </p:sp>
      <p:sp>
        <p:nvSpPr>
          <p:cNvPr id="56" name="Text 54"/>
          <p:cNvSpPr/>
          <p:nvPr/>
        </p:nvSpPr>
        <p:spPr>
          <a:xfrm>
            <a:off x="365760" y="6199632"/>
            <a:ext cx="11460175" cy="228600"/>
          </a:xfrm>
          <a:prstGeom prst="rect">
            <a:avLst/>
          </a:prstGeom>
          <a:noFill/>
          <a:ln/>
        </p:spPr>
        <p:txBody>
          <a:bodyPr wrap="square" lIns="0" tIns="0" rIns="0" bIns="0" rtlCol="0" anchor="ctr">
            <a:normAutofit/>
          </a:bodyPr>
          <a:lstStyle/>
          <a:p>
            <a:pPr rtl="1" algn="r" indent="0" marL="0">
              <a:buNone/>
            </a:pPr>
            <a:r>
              <a:rPr lang="ar-SA" altLang="en-US" sz="750" dirty="0">
                <a:solidFill>
                  <a:srgbClr val="66707A"/>
                </a:solidFill>
                <a:latin typeface="Arial" pitchFamily="34" charset="0"/>
                <a:ea typeface="Arial" pitchFamily="34" charset="-122"/>
                <a:cs typeface="Arial" pitchFamily="34" charset="-120"/>
              </a:rPr>
              <a:t>المصدر: برنامج شركة الخليج للتطوير للمقاولات – المراجعة 01 (12 أكتوبر 2026)، مُحال من مدير الإنشاءات في SAR</a:t>
            </a:r>
            <a:endParaRPr lang="ar-SA" sz="750" dirty="0"/>
          </a:p>
        </p:txBody>
      </p:sp>
      <p:sp>
        <p:nvSpPr>
          <p:cNvPr id="25" name="Slide Number Placeholder 0"/>
          <p:cNvSpPr>
            <a:spLocks noGrp="1"/>
          </p:cNvSpPr>
          <p:nvPr>
            <p:ph type="sldNum" sz="quarter" idx="4294967295"/>
          </p:nvPr>
        </p:nvSpPr>
        <p:spPr>
          <a:xfrm>
            <a:off x="320040" y="6519672"/>
            <a:ext cx="548640" cy="310896"/>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latin typeface="Arial"/>
                <a:ea typeface="Arial"/>
                <a:cs typeface="Arial"/>
              </a:defRPr>
            </a:lvl1pPr>
          </a:lstStyle>
          <a:p>
            <a:pPr algn="ct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SAR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مشروع UFWL – مخطط جانت</dc:title>
  <dc:subject>PptxGenJS Presentation</dc:subject>
  <dc:creator>UFWL Project</dc:creator>
  <cp:lastModifiedBy>UFWL Project</cp:lastModifiedBy>
  <cp:revision>1</cp:revision>
  <dcterms:created xsi:type="dcterms:W3CDTF">2026-10-21T13:10:55Z</dcterms:created>
  <dcterms:modified xsi:type="dcterms:W3CDTF">2026-10-21T13:10:55Z</dcterms:modified>
</cp:coreProperties>
</file>