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إيقاف الموقع والأعمال المتبقية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26980" y="1005840"/>
            <a:ext cx="13880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98160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6738" y="1005840"/>
            <a:ext cx="2024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74258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9180" y="1005840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45582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1079" y="1005840"/>
            <a:ext cx="181234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11317636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679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596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6512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42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34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261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17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09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600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92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84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75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67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59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550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2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17636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0732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10732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33" name="Shape 31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 2026</a:t>
            </a:r>
            <a:endParaRPr lang="ar-SA" sz="950" dirty="0"/>
          </a:p>
        </p:txBody>
      </p:sp>
      <p:sp>
        <p:nvSpPr>
          <p:cNvPr id="36" name="Text 34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650" dirty="0"/>
          </a:p>
        </p:txBody>
      </p:sp>
      <p:sp>
        <p:nvSpPr>
          <p:cNvPr id="37" name="Shape 35"/>
          <p:cNvSpPr/>
          <p:nvPr/>
        </p:nvSpPr>
        <p:spPr>
          <a:xfrm>
            <a:off x="10666799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5648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45648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40" name="Shape 38"/>
          <p:cNvSpPr/>
          <p:nvPr/>
        </p:nvSpPr>
        <p:spPr>
          <a:xfrm>
            <a:off x="965800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731152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4944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 2026</a:t>
            </a:r>
            <a:endParaRPr lang="ar-SA" sz="950" dirty="0"/>
          </a:p>
        </p:txBody>
      </p:sp>
      <p:sp>
        <p:nvSpPr>
          <p:cNvPr id="43" name="Text 41"/>
          <p:cNvSpPr/>
          <p:nvPr/>
        </p:nvSpPr>
        <p:spPr>
          <a:xfrm>
            <a:off x="974944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650" dirty="0"/>
          </a:p>
        </p:txBody>
      </p:sp>
      <p:sp>
        <p:nvSpPr>
          <p:cNvPr id="44" name="Shape 42"/>
          <p:cNvSpPr/>
          <p:nvPr/>
        </p:nvSpPr>
        <p:spPr>
          <a:xfrm>
            <a:off x="10015961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05649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8056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47" name="Shape 45"/>
          <p:cNvSpPr/>
          <p:nvPr/>
        </p:nvSpPr>
        <p:spPr>
          <a:xfrm>
            <a:off x="9007163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080315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98603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 2026</a:t>
            </a:r>
            <a:endParaRPr lang="ar-SA" sz="950" dirty="0"/>
          </a:p>
        </p:txBody>
      </p:sp>
      <p:sp>
        <p:nvSpPr>
          <p:cNvPr id="50" name="Text 48"/>
          <p:cNvSpPr/>
          <p:nvPr/>
        </p:nvSpPr>
        <p:spPr>
          <a:xfrm>
            <a:off x="9098603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650" dirty="0"/>
          </a:p>
        </p:txBody>
      </p:sp>
      <p:sp>
        <p:nvSpPr>
          <p:cNvPr id="51" name="Shape 49"/>
          <p:cNvSpPr/>
          <p:nvPr/>
        </p:nvSpPr>
        <p:spPr>
          <a:xfrm>
            <a:off x="9365123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154811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5481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54" name="Shape 52"/>
          <p:cNvSpPr/>
          <p:nvPr/>
        </p:nvSpPr>
        <p:spPr>
          <a:xfrm>
            <a:off x="83563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429477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477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 2026</a:t>
            </a:r>
            <a:endParaRPr lang="ar-SA" sz="950" dirty="0"/>
          </a:p>
        </p:txBody>
      </p:sp>
      <p:sp>
        <p:nvSpPr>
          <p:cNvPr id="57" name="Text 55"/>
          <p:cNvSpPr/>
          <p:nvPr/>
        </p:nvSpPr>
        <p:spPr>
          <a:xfrm>
            <a:off x="84477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650" dirty="0"/>
          </a:p>
        </p:txBody>
      </p:sp>
      <p:sp>
        <p:nvSpPr>
          <p:cNvPr id="58" name="Shape 56"/>
          <p:cNvSpPr/>
          <p:nvPr/>
        </p:nvSpPr>
        <p:spPr>
          <a:xfrm>
            <a:off x="8714286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3974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5039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100" dirty="0"/>
          </a:p>
        </p:txBody>
      </p:sp>
      <p:sp>
        <p:nvSpPr>
          <p:cNvPr id="61" name="Shape 59"/>
          <p:cNvSpPr/>
          <p:nvPr/>
        </p:nvSpPr>
        <p:spPr>
          <a:xfrm>
            <a:off x="770548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778639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9692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 2026</a:t>
            </a:r>
            <a:endParaRPr lang="ar-SA" sz="950" dirty="0"/>
          </a:p>
        </p:txBody>
      </p:sp>
      <p:sp>
        <p:nvSpPr>
          <p:cNvPr id="64" name="Text 62"/>
          <p:cNvSpPr/>
          <p:nvPr/>
        </p:nvSpPr>
        <p:spPr>
          <a:xfrm>
            <a:off x="779692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650" dirty="0"/>
          </a:p>
        </p:txBody>
      </p:sp>
      <p:sp>
        <p:nvSpPr>
          <p:cNvPr id="65" name="Shape 63"/>
          <p:cNvSpPr/>
          <p:nvPr/>
        </p:nvSpPr>
        <p:spPr>
          <a:xfrm>
            <a:off x="8063448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853136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8531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1100" dirty="0"/>
          </a:p>
        </p:txBody>
      </p:sp>
      <p:sp>
        <p:nvSpPr>
          <p:cNvPr id="68" name="Shape 66"/>
          <p:cNvSpPr/>
          <p:nvPr/>
        </p:nvSpPr>
        <p:spPr>
          <a:xfrm>
            <a:off x="70546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7127802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460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 2026</a:t>
            </a:r>
            <a:endParaRPr lang="ar-SA" sz="950" dirty="0"/>
          </a:p>
        </p:txBody>
      </p:sp>
      <p:sp>
        <p:nvSpPr>
          <p:cNvPr id="71" name="Text 69"/>
          <p:cNvSpPr/>
          <p:nvPr/>
        </p:nvSpPr>
        <p:spPr>
          <a:xfrm>
            <a:off x="71460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650" dirty="0"/>
          </a:p>
        </p:txBody>
      </p:sp>
      <p:sp>
        <p:nvSpPr>
          <p:cNvPr id="72" name="Shape 70"/>
          <p:cNvSpPr/>
          <p:nvPr/>
        </p:nvSpPr>
        <p:spPr>
          <a:xfrm>
            <a:off x="741261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20229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720229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1100" dirty="0"/>
          </a:p>
        </p:txBody>
      </p:sp>
      <p:sp>
        <p:nvSpPr>
          <p:cNvPr id="75" name="Shape 73"/>
          <p:cNvSpPr/>
          <p:nvPr/>
        </p:nvSpPr>
        <p:spPr>
          <a:xfrm>
            <a:off x="640381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47696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9525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78" name="Text 76"/>
          <p:cNvSpPr/>
          <p:nvPr/>
        </p:nvSpPr>
        <p:spPr>
          <a:xfrm>
            <a:off x="649525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650" dirty="0"/>
          </a:p>
        </p:txBody>
      </p:sp>
      <p:sp>
        <p:nvSpPr>
          <p:cNvPr id="79" name="Shape 77"/>
          <p:cNvSpPr/>
          <p:nvPr/>
        </p:nvSpPr>
        <p:spPr>
          <a:xfrm>
            <a:off x="6761773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51461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5514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1100" dirty="0"/>
          </a:p>
        </p:txBody>
      </p:sp>
      <p:sp>
        <p:nvSpPr>
          <p:cNvPr id="82" name="Shape 80"/>
          <p:cNvSpPr/>
          <p:nvPr/>
        </p:nvSpPr>
        <p:spPr>
          <a:xfrm>
            <a:off x="575297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582612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84441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85" name="Text 83"/>
          <p:cNvSpPr/>
          <p:nvPr/>
        </p:nvSpPr>
        <p:spPr>
          <a:xfrm>
            <a:off x="584441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650" dirty="0"/>
          </a:p>
        </p:txBody>
      </p:sp>
      <p:sp>
        <p:nvSpPr>
          <p:cNvPr id="86" name="Shape 84"/>
          <p:cNvSpPr/>
          <p:nvPr/>
        </p:nvSpPr>
        <p:spPr>
          <a:xfrm>
            <a:off x="6110935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9006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9006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1100" dirty="0"/>
          </a:p>
        </p:txBody>
      </p:sp>
      <p:sp>
        <p:nvSpPr>
          <p:cNvPr id="89" name="Shape 87"/>
          <p:cNvSpPr/>
          <p:nvPr/>
        </p:nvSpPr>
        <p:spPr>
          <a:xfrm>
            <a:off x="510213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75289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9357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 2026</a:t>
            </a:r>
            <a:endParaRPr lang="ar-SA" sz="950" dirty="0"/>
          </a:p>
        </p:txBody>
      </p:sp>
      <p:sp>
        <p:nvSpPr>
          <p:cNvPr id="92" name="Text 90"/>
          <p:cNvSpPr/>
          <p:nvPr/>
        </p:nvSpPr>
        <p:spPr>
          <a:xfrm>
            <a:off x="519357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650" dirty="0"/>
          </a:p>
        </p:txBody>
      </p:sp>
      <p:sp>
        <p:nvSpPr>
          <p:cNvPr id="93" name="Shape 91"/>
          <p:cNvSpPr/>
          <p:nvPr/>
        </p:nvSpPr>
        <p:spPr>
          <a:xfrm>
            <a:off x="54600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97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52497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1100" dirty="0"/>
          </a:p>
        </p:txBody>
      </p:sp>
      <p:sp>
        <p:nvSpPr>
          <p:cNvPr id="96" name="Shape 94"/>
          <p:cNvSpPr/>
          <p:nvPr/>
        </p:nvSpPr>
        <p:spPr>
          <a:xfrm>
            <a:off x="44512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45244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5427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 2026</a:t>
            </a:r>
            <a:endParaRPr lang="ar-SA" sz="950" dirty="0"/>
          </a:p>
        </p:txBody>
      </p:sp>
      <p:sp>
        <p:nvSpPr>
          <p:cNvPr id="99" name="Text 97"/>
          <p:cNvSpPr/>
          <p:nvPr/>
        </p:nvSpPr>
        <p:spPr>
          <a:xfrm>
            <a:off x="45427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650" dirty="0"/>
          </a:p>
        </p:txBody>
      </p:sp>
      <p:sp>
        <p:nvSpPr>
          <p:cNvPr id="100" name="Shape 98"/>
          <p:cNvSpPr/>
          <p:nvPr/>
        </p:nvSpPr>
        <p:spPr>
          <a:xfrm>
            <a:off x="480926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989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45989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1100" dirty="0"/>
          </a:p>
        </p:txBody>
      </p:sp>
      <p:sp>
        <p:nvSpPr>
          <p:cNvPr id="103" name="Shape 101"/>
          <p:cNvSpPr/>
          <p:nvPr/>
        </p:nvSpPr>
        <p:spPr>
          <a:xfrm>
            <a:off x="380046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387361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9190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 2026</a:t>
            </a:r>
            <a:endParaRPr lang="ar-SA" sz="950" dirty="0"/>
          </a:p>
        </p:txBody>
      </p:sp>
      <p:sp>
        <p:nvSpPr>
          <p:cNvPr id="106" name="Text 104"/>
          <p:cNvSpPr/>
          <p:nvPr/>
        </p:nvSpPr>
        <p:spPr>
          <a:xfrm>
            <a:off x="389190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650" dirty="0"/>
          </a:p>
        </p:txBody>
      </p:sp>
      <p:sp>
        <p:nvSpPr>
          <p:cNvPr id="107" name="Shape 105"/>
          <p:cNvSpPr/>
          <p:nvPr/>
        </p:nvSpPr>
        <p:spPr>
          <a:xfrm>
            <a:off x="415842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94811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39481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1100" dirty="0"/>
          </a:p>
        </p:txBody>
      </p:sp>
      <p:sp>
        <p:nvSpPr>
          <p:cNvPr id="110" name="Shape 108"/>
          <p:cNvSpPr/>
          <p:nvPr/>
        </p:nvSpPr>
        <p:spPr>
          <a:xfrm>
            <a:off x="31496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3222776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410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950" dirty="0"/>
          </a:p>
        </p:txBody>
      </p:sp>
      <p:sp>
        <p:nvSpPr>
          <p:cNvPr id="113" name="Text 111"/>
          <p:cNvSpPr/>
          <p:nvPr/>
        </p:nvSpPr>
        <p:spPr>
          <a:xfrm>
            <a:off x="32410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650" dirty="0"/>
          </a:p>
        </p:txBody>
      </p:sp>
      <p:sp>
        <p:nvSpPr>
          <p:cNvPr id="114" name="Shape 112"/>
          <p:cNvSpPr/>
          <p:nvPr/>
        </p:nvSpPr>
        <p:spPr>
          <a:xfrm>
            <a:off x="3507585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297273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32972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1100" dirty="0"/>
          </a:p>
        </p:txBody>
      </p:sp>
      <p:sp>
        <p:nvSpPr>
          <p:cNvPr id="117" name="Shape 115"/>
          <p:cNvSpPr/>
          <p:nvPr/>
        </p:nvSpPr>
        <p:spPr>
          <a:xfrm>
            <a:off x="2498786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2571938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590226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 2026</a:t>
            </a:r>
            <a:endParaRPr lang="ar-SA" sz="950" dirty="0"/>
          </a:p>
        </p:txBody>
      </p:sp>
      <p:sp>
        <p:nvSpPr>
          <p:cNvPr id="120" name="Text 118"/>
          <p:cNvSpPr/>
          <p:nvPr/>
        </p:nvSpPr>
        <p:spPr>
          <a:xfrm>
            <a:off x="2590226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650" dirty="0"/>
          </a:p>
        </p:txBody>
      </p:sp>
      <p:sp>
        <p:nvSpPr>
          <p:cNvPr id="121" name="Shape 119"/>
          <p:cNvSpPr/>
          <p:nvPr/>
        </p:nvSpPr>
        <p:spPr>
          <a:xfrm>
            <a:off x="2856747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646435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26464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100" dirty="0"/>
          </a:p>
        </p:txBody>
      </p:sp>
      <p:sp>
        <p:nvSpPr>
          <p:cNvPr id="124" name="Shape 122"/>
          <p:cNvSpPr/>
          <p:nvPr/>
        </p:nvSpPr>
        <p:spPr>
          <a:xfrm>
            <a:off x="18479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1921101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393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 2026</a:t>
            </a:r>
            <a:endParaRPr lang="ar-SA" sz="950" dirty="0"/>
          </a:p>
        </p:txBody>
      </p:sp>
      <p:sp>
        <p:nvSpPr>
          <p:cNvPr id="127" name="Text 125"/>
          <p:cNvSpPr/>
          <p:nvPr/>
        </p:nvSpPr>
        <p:spPr>
          <a:xfrm>
            <a:off x="19393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650" dirty="0"/>
          </a:p>
        </p:txBody>
      </p:sp>
      <p:sp>
        <p:nvSpPr>
          <p:cNvPr id="128" name="Shape 126"/>
          <p:cNvSpPr/>
          <p:nvPr/>
        </p:nvSpPr>
        <p:spPr>
          <a:xfrm>
            <a:off x="2205909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995597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19955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1100" dirty="0"/>
          </a:p>
        </p:txBody>
      </p:sp>
      <p:sp>
        <p:nvSpPr>
          <p:cNvPr id="131" name="Shape 129"/>
          <p:cNvSpPr/>
          <p:nvPr/>
        </p:nvSpPr>
        <p:spPr>
          <a:xfrm>
            <a:off x="1197111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1270263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288551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950" dirty="0"/>
          </a:p>
        </p:txBody>
      </p:sp>
      <p:sp>
        <p:nvSpPr>
          <p:cNvPr id="134" name="Text 132"/>
          <p:cNvSpPr/>
          <p:nvPr/>
        </p:nvSpPr>
        <p:spPr>
          <a:xfrm>
            <a:off x="1288551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650" dirty="0"/>
          </a:p>
        </p:txBody>
      </p:sp>
      <p:sp>
        <p:nvSpPr>
          <p:cNvPr id="135" name="Shape 133"/>
          <p:cNvSpPr/>
          <p:nvPr/>
        </p:nvSpPr>
        <p:spPr>
          <a:xfrm>
            <a:off x="155507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34476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3447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38" name="Shape 136"/>
          <p:cNvSpPr/>
          <p:nvPr/>
        </p:nvSpPr>
        <p:spPr>
          <a:xfrm>
            <a:off x="5462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619425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377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 2026</a:t>
            </a:r>
            <a:endParaRPr lang="ar-SA" sz="950" dirty="0"/>
          </a:p>
        </p:txBody>
      </p:sp>
      <p:sp>
        <p:nvSpPr>
          <p:cNvPr id="141" name="Text 139"/>
          <p:cNvSpPr/>
          <p:nvPr/>
        </p:nvSpPr>
        <p:spPr>
          <a:xfrm>
            <a:off x="6377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650" dirty="0"/>
          </a:p>
        </p:txBody>
      </p:sp>
      <p:sp>
        <p:nvSpPr>
          <p:cNvPr id="142" name="Shape 140"/>
          <p:cNvSpPr/>
          <p:nvPr/>
        </p:nvSpPr>
        <p:spPr>
          <a:xfrm>
            <a:off x="904234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9392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6939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1100" dirty="0"/>
          </a:p>
        </p:txBody>
      </p:sp>
      <p:sp>
        <p:nvSpPr>
          <p:cNvPr id="145" name="Shape 143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 2026</a:t>
            </a:r>
            <a:endParaRPr lang="ar-SA" sz="950" dirty="0"/>
          </a:p>
        </p:txBody>
      </p:sp>
      <p:sp>
        <p:nvSpPr>
          <p:cNvPr id="148" name="Text 146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الأعمال المتبقية – برنامج أعمال الدعم والحفرة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حفرة RYDN-WLB · التصور الأولي المعاد تخطيطه بناءً على برنامج المقاول (Rev 01) · البدء 22 أكتوبر 2026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51615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94569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الحرج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10275113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22538" y="1005840"/>
            <a:ext cx="17977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(اللون = مجموعة العمل)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8349386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58177" y="1005840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ميل ستون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7230161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34710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غير 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6143854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858207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</a:t>
            </a:r>
            <a:endParaRPr lang="ar-SA" sz="900" dirty="0"/>
          </a:p>
        </p:txBody>
      </p:sp>
      <p:sp>
        <p:nvSpPr>
          <p:cNvPr id="14" name="Text 12"/>
          <p:cNvSpPr/>
          <p:nvPr/>
        </p:nvSpPr>
        <p:spPr>
          <a:xfrm>
            <a:off x="3274466" y="1005840"/>
            <a:ext cx="163860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علاقة ارتباط (FS / SS)</a:t>
            </a:r>
            <a:endParaRPr lang="ar-SA" sz="900" dirty="0"/>
          </a:p>
        </p:txBody>
      </p:sp>
      <p:sp>
        <p:nvSpPr>
          <p:cNvPr id="15" name="Shape 13"/>
          <p:cNvSpPr/>
          <p:nvPr/>
        </p:nvSpPr>
        <p:spPr>
          <a:xfrm>
            <a:off x="6147511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41887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" dirty="0"/>
          </a:p>
        </p:txBody>
      </p:sp>
      <p:sp>
        <p:nvSpPr>
          <p:cNvPr id="17" name="Text 15"/>
          <p:cNvSpPr/>
          <p:nvPr/>
        </p:nvSpPr>
        <p:spPr>
          <a:xfrm>
            <a:off x="8762695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النشاط</a:t>
            </a:r>
            <a:endParaRPr lang="ar-SA" sz="900" dirty="0"/>
          </a:p>
        </p:txBody>
      </p:sp>
      <p:sp>
        <p:nvSpPr>
          <p:cNvPr id="18" name="Text 16"/>
          <p:cNvSpPr/>
          <p:nvPr/>
        </p:nvSpPr>
        <p:spPr>
          <a:xfrm>
            <a:off x="7967167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السابق</a:t>
            </a:r>
            <a:endParaRPr lang="ar-SA" sz="900" dirty="0"/>
          </a:p>
        </p:txBody>
      </p:sp>
      <p:sp>
        <p:nvSpPr>
          <p:cNvPr id="19" name="Text 17"/>
          <p:cNvSpPr/>
          <p:nvPr/>
        </p:nvSpPr>
        <p:spPr>
          <a:xfrm>
            <a:off x="7464247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(أيام عمل)</a:t>
            </a:r>
            <a:endParaRPr lang="ar-SA" sz="750" dirty="0"/>
          </a:p>
        </p:txBody>
      </p:sp>
      <p:sp>
        <p:nvSpPr>
          <p:cNvPr id="20" name="Text 18"/>
          <p:cNvSpPr/>
          <p:nvPr/>
        </p:nvSpPr>
        <p:spPr>
          <a:xfrm>
            <a:off x="6805879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البداية</a:t>
            </a:r>
            <a:endParaRPr lang="ar-SA" sz="900" dirty="0"/>
          </a:p>
        </p:txBody>
      </p:sp>
      <p:sp>
        <p:nvSpPr>
          <p:cNvPr id="21" name="Text 19"/>
          <p:cNvSpPr/>
          <p:nvPr/>
        </p:nvSpPr>
        <p:spPr>
          <a:xfrm>
            <a:off x="6147511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النهاية</a:t>
            </a:r>
            <a:endParaRPr lang="ar-SA" sz="900" dirty="0"/>
          </a:p>
        </p:txBody>
      </p:sp>
      <p:sp>
        <p:nvSpPr>
          <p:cNvPr id="22" name="Shape 20"/>
          <p:cNvSpPr/>
          <p:nvPr/>
        </p:nvSpPr>
        <p:spPr>
          <a:xfrm>
            <a:off x="4023603" y="1325880"/>
            <a:ext cx="2123909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23603" y="1325880"/>
            <a:ext cx="21239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850" dirty="0"/>
          </a:p>
        </p:txBody>
      </p:sp>
      <p:sp>
        <p:nvSpPr>
          <p:cNvPr id="24" name="Shape 22"/>
          <p:cNvSpPr/>
          <p:nvPr/>
        </p:nvSpPr>
        <p:spPr>
          <a:xfrm>
            <a:off x="483755" y="1325880"/>
            <a:ext cx="3539848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3755" y="1325880"/>
            <a:ext cx="353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نوفمبر 2026</a:t>
            </a:r>
            <a:endParaRPr lang="ar-SA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1325880"/>
            <a:ext cx="117995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1325880"/>
            <a:ext cx="1179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ديسمبر</a:t>
            </a:r>
            <a:endParaRPr lang="ar-SA" sz="850" dirty="0"/>
          </a:p>
        </p:txBody>
      </p:sp>
      <p:sp>
        <p:nvSpPr>
          <p:cNvPr id="28" name="Shape 26"/>
          <p:cNvSpPr/>
          <p:nvPr/>
        </p:nvSpPr>
        <p:spPr>
          <a:xfrm>
            <a:off x="5793526" y="1508760"/>
            <a:ext cx="35398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67562" y="1508760"/>
            <a:ext cx="825964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67562" y="1508760"/>
            <a:ext cx="82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2</a:t>
            </a:r>
            <a:endParaRPr lang="ar-SA" sz="650" dirty="0"/>
          </a:p>
        </p:txBody>
      </p:sp>
      <p:sp>
        <p:nvSpPr>
          <p:cNvPr id="31" name="Shape 29"/>
          <p:cNvSpPr/>
          <p:nvPr/>
        </p:nvSpPr>
        <p:spPr>
          <a:xfrm>
            <a:off x="4141598" y="1508760"/>
            <a:ext cx="825964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1598" y="1508760"/>
            <a:ext cx="82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3</a:t>
            </a:r>
            <a:endParaRPr lang="ar-SA" sz="650" dirty="0"/>
          </a:p>
        </p:txBody>
      </p:sp>
      <p:sp>
        <p:nvSpPr>
          <p:cNvPr id="33" name="Shape 31"/>
          <p:cNvSpPr/>
          <p:nvPr/>
        </p:nvSpPr>
        <p:spPr>
          <a:xfrm>
            <a:off x="3315633" y="1508760"/>
            <a:ext cx="825964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15633" y="1508760"/>
            <a:ext cx="82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4</a:t>
            </a:r>
            <a:endParaRPr lang="ar-SA" sz="650" dirty="0"/>
          </a:p>
        </p:txBody>
      </p:sp>
      <p:sp>
        <p:nvSpPr>
          <p:cNvPr id="35" name="Shape 33"/>
          <p:cNvSpPr/>
          <p:nvPr/>
        </p:nvSpPr>
        <p:spPr>
          <a:xfrm>
            <a:off x="2489669" y="1508760"/>
            <a:ext cx="825964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89669" y="1508760"/>
            <a:ext cx="82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5</a:t>
            </a:r>
            <a:endParaRPr lang="ar-SA" sz="650" dirty="0"/>
          </a:p>
        </p:txBody>
      </p:sp>
      <p:sp>
        <p:nvSpPr>
          <p:cNvPr id="37" name="Shape 35"/>
          <p:cNvSpPr/>
          <p:nvPr/>
        </p:nvSpPr>
        <p:spPr>
          <a:xfrm>
            <a:off x="1663704" y="1508760"/>
            <a:ext cx="825964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63704" y="1508760"/>
            <a:ext cx="82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6</a:t>
            </a:r>
            <a:endParaRPr lang="ar-SA" sz="650" dirty="0"/>
          </a:p>
        </p:txBody>
      </p:sp>
      <p:sp>
        <p:nvSpPr>
          <p:cNvPr id="39" name="Shape 37"/>
          <p:cNvSpPr/>
          <p:nvPr/>
        </p:nvSpPr>
        <p:spPr>
          <a:xfrm>
            <a:off x="837740" y="1508760"/>
            <a:ext cx="825964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7740" y="1508760"/>
            <a:ext cx="82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7</a:t>
            </a:r>
            <a:endParaRPr lang="ar-SA" sz="650" dirty="0"/>
          </a:p>
        </p:txBody>
      </p:sp>
      <p:sp>
        <p:nvSpPr>
          <p:cNvPr id="41" name="Shape 39"/>
          <p:cNvSpPr/>
          <p:nvPr/>
        </p:nvSpPr>
        <p:spPr>
          <a:xfrm>
            <a:off x="365760" y="1508760"/>
            <a:ext cx="471980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1508760"/>
            <a:ext cx="4719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8</a:t>
            </a:r>
            <a:endParaRPr lang="ar-SA" sz="650" dirty="0"/>
          </a:p>
        </p:txBody>
      </p:sp>
      <p:sp>
        <p:nvSpPr>
          <p:cNvPr id="43" name="Shape 41"/>
          <p:cNvSpPr/>
          <p:nvPr/>
        </p:nvSpPr>
        <p:spPr>
          <a:xfrm>
            <a:off x="6029516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29516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45" name="Text 43"/>
          <p:cNvSpPr/>
          <p:nvPr/>
        </p:nvSpPr>
        <p:spPr>
          <a:xfrm>
            <a:off x="6029516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46" name="Shape 44"/>
          <p:cNvSpPr/>
          <p:nvPr/>
        </p:nvSpPr>
        <p:spPr>
          <a:xfrm>
            <a:off x="5911521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11521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48" name="Text 46"/>
          <p:cNvSpPr/>
          <p:nvPr/>
        </p:nvSpPr>
        <p:spPr>
          <a:xfrm>
            <a:off x="5911521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49" name="Shape 47"/>
          <p:cNvSpPr/>
          <p:nvPr/>
        </p:nvSpPr>
        <p:spPr>
          <a:xfrm>
            <a:off x="5793526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93526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51" name="Text 49"/>
          <p:cNvSpPr/>
          <p:nvPr/>
        </p:nvSpPr>
        <p:spPr>
          <a:xfrm>
            <a:off x="5793526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52" name="Shape 50"/>
          <p:cNvSpPr/>
          <p:nvPr/>
        </p:nvSpPr>
        <p:spPr>
          <a:xfrm>
            <a:off x="5793526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675532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7553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55" name="Text 53"/>
          <p:cNvSpPr/>
          <p:nvPr/>
        </p:nvSpPr>
        <p:spPr>
          <a:xfrm>
            <a:off x="567553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56" name="Shape 54"/>
          <p:cNvSpPr/>
          <p:nvPr/>
        </p:nvSpPr>
        <p:spPr>
          <a:xfrm>
            <a:off x="579352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557537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57537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59" name="Text 57"/>
          <p:cNvSpPr/>
          <p:nvPr/>
        </p:nvSpPr>
        <p:spPr>
          <a:xfrm>
            <a:off x="5557537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60" name="Shape 58"/>
          <p:cNvSpPr/>
          <p:nvPr/>
        </p:nvSpPr>
        <p:spPr>
          <a:xfrm>
            <a:off x="5439542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3954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62" name="Text 60"/>
          <p:cNvSpPr/>
          <p:nvPr/>
        </p:nvSpPr>
        <p:spPr>
          <a:xfrm>
            <a:off x="543954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63" name="Shape 61"/>
          <p:cNvSpPr/>
          <p:nvPr/>
        </p:nvSpPr>
        <p:spPr>
          <a:xfrm>
            <a:off x="5321547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21547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65" name="Text 63"/>
          <p:cNvSpPr/>
          <p:nvPr/>
        </p:nvSpPr>
        <p:spPr>
          <a:xfrm>
            <a:off x="5321547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66" name="Shape 64"/>
          <p:cNvSpPr/>
          <p:nvPr/>
        </p:nvSpPr>
        <p:spPr>
          <a:xfrm>
            <a:off x="5203552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20355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68" name="Text 66"/>
          <p:cNvSpPr/>
          <p:nvPr/>
        </p:nvSpPr>
        <p:spPr>
          <a:xfrm>
            <a:off x="520355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69" name="Shape 67"/>
          <p:cNvSpPr/>
          <p:nvPr/>
        </p:nvSpPr>
        <p:spPr>
          <a:xfrm>
            <a:off x="5085557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85557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71" name="Text 69"/>
          <p:cNvSpPr/>
          <p:nvPr/>
        </p:nvSpPr>
        <p:spPr>
          <a:xfrm>
            <a:off x="5085557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72" name="Shape 70"/>
          <p:cNvSpPr/>
          <p:nvPr/>
        </p:nvSpPr>
        <p:spPr>
          <a:xfrm>
            <a:off x="4967562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96756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74" name="Text 72"/>
          <p:cNvSpPr/>
          <p:nvPr/>
        </p:nvSpPr>
        <p:spPr>
          <a:xfrm>
            <a:off x="496756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75" name="Shape 73"/>
          <p:cNvSpPr/>
          <p:nvPr/>
        </p:nvSpPr>
        <p:spPr>
          <a:xfrm>
            <a:off x="4967562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849567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49567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78" name="Text 76"/>
          <p:cNvSpPr/>
          <p:nvPr/>
        </p:nvSpPr>
        <p:spPr>
          <a:xfrm>
            <a:off x="4849567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79" name="Shape 77"/>
          <p:cNvSpPr/>
          <p:nvPr/>
        </p:nvSpPr>
        <p:spPr>
          <a:xfrm>
            <a:off x="4967562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31572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3157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82" name="Text 80"/>
          <p:cNvSpPr/>
          <p:nvPr/>
        </p:nvSpPr>
        <p:spPr>
          <a:xfrm>
            <a:off x="473157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83" name="Shape 81"/>
          <p:cNvSpPr/>
          <p:nvPr/>
        </p:nvSpPr>
        <p:spPr>
          <a:xfrm>
            <a:off x="4613577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613577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85" name="Text 83"/>
          <p:cNvSpPr/>
          <p:nvPr/>
        </p:nvSpPr>
        <p:spPr>
          <a:xfrm>
            <a:off x="4613577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86" name="Shape 84"/>
          <p:cNvSpPr/>
          <p:nvPr/>
        </p:nvSpPr>
        <p:spPr>
          <a:xfrm>
            <a:off x="4495582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49558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88" name="Text 86"/>
          <p:cNvSpPr/>
          <p:nvPr/>
        </p:nvSpPr>
        <p:spPr>
          <a:xfrm>
            <a:off x="449558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550" dirty="0"/>
          </a:p>
        </p:txBody>
      </p:sp>
      <p:sp>
        <p:nvSpPr>
          <p:cNvPr id="89" name="Shape 87"/>
          <p:cNvSpPr/>
          <p:nvPr/>
        </p:nvSpPr>
        <p:spPr>
          <a:xfrm>
            <a:off x="4377587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377587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91" name="Text 89"/>
          <p:cNvSpPr/>
          <p:nvPr/>
        </p:nvSpPr>
        <p:spPr>
          <a:xfrm>
            <a:off x="4377587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550" dirty="0"/>
          </a:p>
        </p:txBody>
      </p:sp>
      <p:sp>
        <p:nvSpPr>
          <p:cNvPr id="92" name="Shape 90"/>
          <p:cNvSpPr/>
          <p:nvPr/>
        </p:nvSpPr>
        <p:spPr>
          <a:xfrm>
            <a:off x="4259592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259592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94" name="Text 92"/>
          <p:cNvSpPr/>
          <p:nvPr/>
        </p:nvSpPr>
        <p:spPr>
          <a:xfrm>
            <a:off x="4259592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550" dirty="0"/>
          </a:p>
        </p:txBody>
      </p:sp>
      <p:sp>
        <p:nvSpPr>
          <p:cNvPr id="95" name="Shape 93"/>
          <p:cNvSpPr/>
          <p:nvPr/>
        </p:nvSpPr>
        <p:spPr>
          <a:xfrm>
            <a:off x="4141598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4159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97" name="Text 95"/>
          <p:cNvSpPr/>
          <p:nvPr/>
        </p:nvSpPr>
        <p:spPr>
          <a:xfrm>
            <a:off x="414159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550" dirty="0"/>
          </a:p>
        </p:txBody>
      </p:sp>
      <p:sp>
        <p:nvSpPr>
          <p:cNvPr id="98" name="Shape 96"/>
          <p:cNvSpPr/>
          <p:nvPr/>
        </p:nvSpPr>
        <p:spPr>
          <a:xfrm>
            <a:off x="4141598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023603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023603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01" name="Text 99"/>
          <p:cNvSpPr/>
          <p:nvPr/>
        </p:nvSpPr>
        <p:spPr>
          <a:xfrm>
            <a:off x="4023603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ar-SA" sz="550" dirty="0"/>
          </a:p>
        </p:txBody>
      </p:sp>
      <p:sp>
        <p:nvSpPr>
          <p:cNvPr id="102" name="Shape 100"/>
          <p:cNvSpPr/>
          <p:nvPr/>
        </p:nvSpPr>
        <p:spPr>
          <a:xfrm>
            <a:off x="4141598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905608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90560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05" name="Text 103"/>
          <p:cNvSpPr/>
          <p:nvPr/>
        </p:nvSpPr>
        <p:spPr>
          <a:xfrm>
            <a:off x="390560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550" dirty="0"/>
          </a:p>
        </p:txBody>
      </p:sp>
      <p:sp>
        <p:nvSpPr>
          <p:cNvPr id="106" name="Shape 104"/>
          <p:cNvSpPr/>
          <p:nvPr/>
        </p:nvSpPr>
        <p:spPr>
          <a:xfrm>
            <a:off x="3787613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787613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08" name="Text 106"/>
          <p:cNvSpPr/>
          <p:nvPr/>
        </p:nvSpPr>
        <p:spPr>
          <a:xfrm>
            <a:off x="3787613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550" dirty="0"/>
          </a:p>
        </p:txBody>
      </p:sp>
      <p:sp>
        <p:nvSpPr>
          <p:cNvPr id="109" name="Shape 107"/>
          <p:cNvSpPr/>
          <p:nvPr/>
        </p:nvSpPr>
        <p:spPr>
          <a:xfrm>
            <a:off x="3669618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66961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11" name="Text 109"/>
          <p:cNvSpPr/>
          <p:nvPr/>
        </p:nvSpPr>
        <p:spPr>
          <a:xfrm>
            <a:off x="366961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550" dirty="0"/>
          </a:p>
        </p:txBody>
      </p:sp>
      <p:sp>
        <p:nvSpPr>
          <p:cNvPr id="112" name="Shape 110"/>
          <p:cNvSpPr/>
          <p:nvPr/>
        </p:nvSpPr>
        <p:spPr>
          <a:xfrm>
            <a:off x="3551623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551623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14" name="Text 112"/>
          <p:cNvSpPr/>
          <p:nvPr/>
        </p:nvSpPr>
        <p:spPr>
          <a:xfrm>
            <a:off x="3551623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550" dirty="0"/>
          </a:p>
        </p:txBody>
      </p:sp>
      <p:sp>
        <p:nvSpPr>
          <p:cNvPr id="115" name="Shape 113"/>
          <p:cNvSpPr/>
          <p:nvPr/>
        </p:nvSpPr>
        <p:spPr>
          <a:xfrm>
            <a:off x="3433628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43362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17" name="Text 115"/>
          <p:cNvSpPr/>
          <p:nvPr/>
        </p:nvSpPr>
        <p:spPr>
          <a:xfrm>
            <a:off x="343362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550" dirty="0"/>
          </a:p>
        </p:txBody>
      </p:sp>
      <p:sp>
        <p:nvSpPr>
          <p:cNvPr id="118" name="Shape 116"/>
          <p:cNvSpPr/>
          <p:nvPr/>
        </p:nvSpPr>
        <p:spPr>
          <a:xfrm>
            <a:off x="3315633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315633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20" name="Text 118"/>
          <p:cNvSpPr/>
          <p:nvPr/>
        </p:nvSpPr>
        <p:spPr>
          <a:xfrm>
            <a:off x="3315633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550" dirty="0"/>
          </a:p>
        </p:txBody>
      </p:sp>
      <p:sp>
        <p:nvSpPr>
          <p:cNvPr id="121" name="Shape 119"/>
          <p:cNvSpPr/>
          <p:nvPr/>
        </p:nvSpPr>
        <p:spPr>
          <a:xfrm>
            <a:off x="3315633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197638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19763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24" name="Text 122"/>
          <p:cNvSpPr/>
          <p:nvPr/>
        </p:nvSpPr>
        <p:spPr>
          <a:xfrm>
            <a:off x="319763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550" dirty="0"/>
          </a:p>
        </p:txBody>
      </p:sp>
      <p:sp>
        <p:nvSpPr>
          <p:cNvPr id="125" name="Shape 123"/>
          <p:cNvSpPr/>
          <p:nvPr/>
        </p:nvSpPr>
        <p:spPr>
          <a:xfrm>
            <a:off x="3315633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079643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3079643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28" name="Text 126"/>
          <p:cNvSpPr/>
          <p:nvPr/>
        </p:nvSpPr>
        <p:spPr>
          <a:xfrm>
            <a:off x="3079643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550" dirty="0"/>
          </a:p>
        </p:txBody>
      </p:sp>
      <p:sp>
        <p:nvSpPr>
          <p:cNvPr id="129" name="Shape 127"/>
          <p:cNvSpPr/>
          <p:nvPr/>
        </p:nvSpPr>
        <p:spPr>
          <a:xfrm>
            <a:off x="2961648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296164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31" name="Text 129"/>
          <p:cNvSpPr/>
          <p:nvPr/>
        </p:nvSpPr>
        <p:spPr>
          <a:xfrm>
            <a:off x="296164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550" dirty="0"/>
          </a:p>
        </p:txBody>
      </p:sp>
      <p:sp>
        <p:nvSpPr>
          <p:cNvPr id="132" name="Shape 130"/>
          <p:cNvSpPr/>
          <p:nvPr/>
        </p:nvSpPr>
        <p:spPr>
          <a:xfrm>
            <a:off x="2843653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2843653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34" name="Text 132"/>
          <p:cNvSpPr/>
          <p:nvPr/>
        </p:nvSpPr>
        <p:spPr>
          <a:xfrm>
            <a:off x="2843653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550" dirty="0"/>
          </a:p>
        </p:txBody>
      </p:sp>
      <p:sp>
        <p:nvSpPr>
          <p:cNvPr id="135" name="Shape 133"/>
          <p:cNvSpPr/>
          <p:nvPr/>
        </p:nvSpPr>
        <p:spPr>
          <a:xfrm>
            <a:off x="2725658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725658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37" name="Text 135"/>
          <p:cNvSpPr/>
          <p:nvPr/>
        </p:nvSpPr>
        <p:spPr>
          <a:xfrm>
            <a:off x="2725658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550" dirty="0"/>
          </a:p>
        </p:txBody>
      </p:sp>
      <p:sp>
        <p:nvSpPr>
          <p:cNvPr id="138" name="Shape 136"/>
          <p:cNvSpPr/>
          <p:nvPr/>
        </p:nvSpPr>
        <p:spPr>
          <a:xfrm>
            <a:off x="2607664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2607664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40" name="Text 138"/>
          <p:cNvSpPr/>
          <p:nvPr/>
        </p:nvSpPr>
        <p:spPr>
          <a:xfrm>
            <a:off x="2607664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550" dirty="0"/>
          </a:p>
        </p:txBody>
      </p:sp>
      <p:sp>
        <p:nvSpPr>
          <p:cNvPr id="141" name="Shape 139"/>
          <p:cNvSpPr/>
          <p:nvPr/>
        </p:nvSpPr>
        <p:spPr>
          <a:xfrm>
            <a:off x="2489669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2489669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43" name="Text 141"/>
          <p:cNvSpPr/>
          <p:nvPr/>
        </p:nvSpPr>
        <p:spPr>
          <a:xfrm>
            <a:off x="2489669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550" dirty="0"/>
          </a:p>
        </p:txBody>
      </p:sp>
      <p:sp>
        <p:nvSpPr>
          <p:cNvPr id="144" name="Shape 142"/>
          <p:cNvSpPr/>
          <p:nvPr/>
        </p:nvSpPr>
        <p:spPr>
          <a:xfrm>
            <a:off x="2489669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371674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2371674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47" name="Text 145"/>
          <p:cNvSpPr/>
          <p:nvPr/>
        </p:nvSpPr>
        <p:spPr>
          <a:xfrm>
            <a:off x="2371674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148" name="Shape 146"/>
          <p:cNvSpPr/>
          <p:nvPr/>
        </p:nvSpPr>
        <p:spPr>
          <a:xfrm>
            <a:off x="248966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253679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2253679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51" name="Text 149"/>
          <p:cNvSpPr/>
          <p:nvPr/>
        </p:nvSpPr>
        <p:spPr>
          <a:xfrm>
            <a:off x="2253679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152" name="Shape 150"/>
          <p:cNvSpPr/>
          <p:nvPr/>
        </p:nvSpPr>
        <p:spPr>
          <a:xfrm>
            <a:off x="2135684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2135684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54" name="Text 152"/>
          <p:cNvSpPr/>
          <p:nvPr/>
        </p:nvSpPr>
        <p:spPr>
          <a:xfrm>
            <a:off x="2135684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155" name="Shape 153"/>
          <p:cNvSpPr/>
          <p:nvPr/>
        </p:nvSpPr>
        <p:spPr>
          <a:xfrm>
            <a:off x="2017689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2017689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57" name="Text 155"/>
          <p:cNvSpPr/>
          <p:nvPr/>
        </p:nvSpPr>
        <p:spPr>
          <a:xfrm>
            <a:off x="2017689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158" name="Shape 156"/>
          <p:cNvSpPr/>
          <p:nvPr/>
        </p:nvSpPr>
        <p:spPr>
          <a:xfrm>
            <a:off x="1899694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1899694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60" name="Text 158"/>
          <p:cNvSpPr/>
          <p:nvPr/>
        </p:nvSpPr>
        <p:spPr>
          <a:xfrm>
            <a:off x="1899694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161" name="Shape 159"/>
          <p:cNvSpPr/>
          <p:nvPr/>
        </p:nvSpPr>
        <p:spPr>
          <a:xfrm>
            <a:off x="1781699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1781699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63" name="Text 161"/>
          <p:cNvSpPr/>
          <p:nvPr/>
        </p:nvSpPr>
        <p:spPr>
          <a:xfrm>
            <a:off x="1781699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164" name="Shape 162"/>
          <p:cNvSpPr/>
          <p:nvPr/>
        </p:nvSpPr>
        <p:spPr>
          <a:xfrm>
            <a:off x="1663704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663704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66" name="Text 164"/>
          <p:cNvSpPr/>
          <p:nvPr/>
        </p:nvSpPr>
        <p:spPr>
          <a:xfrm>
            <a:off x="1663704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167" name="Shape 165"/>
          <p:cNvSpPr/>
          <p:nvPr/>
        </p:nvSpPr>
        <p:spPr>
          <a:xfrm>
            <a:off x="1663704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1545709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545709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70" name="Text 168"/>
          <p:cNvSpPr/>
          <p:nvPr/>
        </p:nvSpPr>
        <p:spPr>
          <a:xfrm>
            <a:off x="1545709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171" name="Shape 169"/>
          <p:cNvSpPr/>
          <p:nvPr/>
        </p:nvSpPr>
        <p:spPr>
          <a:xfrm>
            <a:off x="1663704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427714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427714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74" name="Text 172"/>
          <p:cNvSpPr/>
          <p:nvPr/>
        </p:nvSpPr>
        <p:spPr>
          <a:xfrm>
            <a:off x="1427714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175" name="Shape 173"/>
          <p:cNvSpPr/>
          <p:nvPr/>
        </p:nvSpPr>
        <p:spPr>
          <a:xfrm>
            <a:off x="1309719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309719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77" name="Text 175"/>
          <p:cNvSpPr/>
          <p:nvPr/>
        </p:nvSpPr>
        <p:spPr>
          <a:xfrm>
            <a:off x="1309719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178" name="Shape 176"/>
          <p:cNvSpPr/>
          <p:nvPr/>
        </p:nvSpPr>
        <p:spPr>
          <a:xfrm>
            <a:off x="1191724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191724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80" name="Text 178"/>
          <p:cNvSpPr/>
          <p:nvPr/>
        </p:nvSpPr>
        <p:spPr>
          <a:xfrm>
            <a:off x="1191724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181" name="Shape 179"/>
          <p:cNvSpPr/>
          <p:nvPr/>
        </p:nvSpPr>
        <p:spPr>
          <a:xfrm>
            <a:off x="1073730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1073730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83" name="Text 181"/>
          <p:cNvSpPr/>
          <p:nvPr/>
        </p:nvSpPr>
        <p:spPr>
          <a:xfrm>
            <a:off x="1073730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184" name="Shape 182"/>
          <p:cNvSpPr/>
          <p:nvPr/>
        </p:nvSpPr>
        <p:spPr>
          <a:xfrm>
            <a:off x="955735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955735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86" name="Text 184"/>
          <p:cNvSpPr/>
          <p:nvPr/>
        </p:nvSpPr>
        <p:spPr>
          <a:xfrm>
            <a:off x="955735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187" name="Shape 185"/>
          <p:cNvSpPr/>
          <p:nvPr/>
        </p:nvSpPr>
        <p:spPr>
          <a:xfrm>
            <a:off x="837740" y="1664208"/>
            <a:ext cx="117995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837740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89" name="Text 187"/>
          <p:cNvSpPr/>
          <p:nvPr/>
        </p:nvSpPr>
        <p:spPr>
          <a:xfrm>
            <a:off x="837740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550" dirty="0"/>
          </a:p>
        </p:txBody>
      </p:sp>
      <p:sp>
        <p:nvSpPr>
          <p:cNvPr id="190" name="Shape 188"/>
          <p:cNvSpPr/>
          <p:nvPr/>
        </p:nvSpPr>
        <p:spPr>
          <a:xfrm>
            <a:off x="837740" y="1965960"/>
            <a:ext cx="117995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719745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719745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93" name="Text 191"/>
          <p:cNvSpPr/>
          <p:nvPr/>
        </p:nvSpPr>
        <p:spPr>
          <a:xfrm>
            <a:off x="719745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550" dirty="0"/>
          </a:p>
        </p:txBody>
      </p:sp>
      <p:sp>
        <p:nvSpPr>
          <p:cNvPr id="194" name="Shape 192"/>
          <p:cNvSpPr/>
          <p:nvPr/>
        </p:nvSpPr>
        <p:spPr>
          <a:xfrm>
            <a:off x="837740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01750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601750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97" name="Text 195"/>
          <p:cNvSpPr/>
          <p:nvPr/>
        </p:nvSpPr>
        <p:spPr>
          <a:xfrm>
            <a:off x="601750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550" dirty="0"/>
          </a:p>
        </p:txBody>
      </p:sp>
      <p:sp>
        <p:nvSpPr>
          <p:cNvPr id="198" name="Shape 196"/>
          <p:cNvSpPr/>
          <p:nvPr/>
        </p:nvSpPr>
        <p:spPr>
          <a:xfrm>
            <a:off x="483755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83755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200" name="Text 198"/>
          <p:cNvSpPr/>
          <p:nvPr/>
        </p:nvSpPr>
        <p:spPr>
          <a:xfrm>
            <a:off x="483755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550" dirty="0"/>
          </a:p>
        </p:txBody>
      </p:sp>
      <p:sp>
        <p:nvSpPr>
          <p:cNvPr id="201" name="Shape 199"/>
          <p:cNvSpPr/>
          <p:nvPr/>
        </p:nvSpPr>
        <p:spPr>
          <a:xfrm>
            <a:off x="365760" y="1664208"/>
            <a:ext cx="11799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365760" y="1664208"/>
            <a:ext cx="11799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203" name="Text 201"/>
          <p:cNvSpPr/>
          <p:nvPr/>
        </p:nvSpPr>
        <p:spPr>
          <a:xfrm>
            <a:off x="365760" y="1801368"/>
            <a:ext cx="1179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550" dirty="0"/>
          </a:p>
        </p:txBody>
      </p:sp>
      <p:sp>
        <p:nvSpPr>
          <p:cNvPr id="204" name="Shape 202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11515039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11441887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ar-SA" sz="900" dirty="0"/>
          </a:p>
        </p:txBody>
      </p:sp>
      <p:sp>
        <p:nvSpPr>
          <p:cNvPr id="207" name="Text 205"/>
          <p:cNvSpPr/>
          <p:nvPr/>
        </p:nvSpPr>
        <p:spPr>
          <a:xfrm>
            <a:off x="8762695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الإجمالية للمشروع</a:t>
            </a:r>
            <a:endParaRPr lang="ar-SA" sz="1000" dirty="0"/>
          </a:p>
        </p:txBody>
      </p:sp>
      <p:sp>
        <p:nvSpPr>
          <p:cNvPr id="208" name="Text 206"/>
          <p:cNvSpPr/>
          <p:nvPr/>
        </p:nvSpPr>
        <p:spPr>
          <a:xfrm>
            <a:off x="7464247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ar-SA" sz="1100" dirty="0"/>
          </a:p>
        </p:txBody>
      </p:sp>
      <p:sp>
        <p:nvSpPr>
          <p:cNvPr id="209" name="Text 207"/>
          <p:cNvSpPr/>
          <p:nvPr/>
        </p:nvSpPr>
        <p:spPr>
          <a:xfrm>
            <a:off x="6805879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850" dirty="0"/>
          </a:p>
        </p:txBody>
      </p:sp>
      <p:sp>
        <p:nvSpPr>
          <p:cNvPr id="210" name="Text 208"/>
          <p:cNvSpPr/>
          <p:nvPr/>
        </p:nvSpPr>
        <p:spPr>
          <a:xfrm>
            <a:off x="6147511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نوفمبر</a:t>
            </a:r>
            <a:endParaRPr lang="ar-SA" sz="850" dirty="0"/>
          </a:p>
        </p:txBody>
      </p:sp>
      <p:sp>
        <p:nvSpPr>
          <p:cNvPr id="211" name="Shape 209"/>
          <p:cNvSpPr/>
          <p:nvPr/>
        </p:nvSpPr>
        <p:spPr>
          <a:xfrm>
            <a:off x="601750" y="2011680"/>
            <a:ext cx="4601802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601750" y="2011680"/>
            <a:ext cx="46018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يوم عمل · 22 أكتوبر → 29 نوفمبر</a:t>
            </a:r>
            <a:endParaRPr lang="ar-SA" sz="850" dirty="0"/>
          </a:p>
        </p:txBody>
      </p:sp>
      <p:sp>
        <p:nvSpPr>
          <p:cNvPr id="213" name="Shape 211"/>
          <p:cNvSpPr/>
          <p:nvPr/>
        </p:nvSpPr>
        <p:spPr>
          <a:xfrm>
            <a:off x="6147511" y="2240280"/>
            <a:ext cx="5678424" cy="640080"/>
          </a:xfrm>
          <a:prstGeom prst="rect">
            <a:avLst/>
          </a:prstGeom>
          <a:solidFill>
            <a:srgbClr val="FBFDFD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6238951" y="2240280"/>
            <a:ext cx="5495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ميل ستون</a:t>
            </a:r>
            <a:endParaRPr lang="ar-SA" sz="1000" dirty="0"/>
          </a:p>
        </p:txBody>
      </p:sp>
      <p:sp>
        <p:nvSpPr>
          <p:cNvPr id="215" name="Shape 213"/>
          <p:cNvSpPr/>
          <p:nvPr/>
        </p:nvSpPr>
        <p:spPr>
          <a:xfrm>
            <a:off x="5062258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4321594" y="265176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550" dirty="0"/>
          </a:p>
        </p:txBody>
      </p:sp>
      <p:sp>
        <p:nvSpPr>
          <p:cNvPr id="217" name="Text 215"/>
          <p:cNvSpPr/>
          <p:nvPr/>
        </p:nvSpPr>
        <p:spPr>
          <a:xfrm>
            <a:off x="4321594" y="274320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750" dirty="0"/>
          </a:p>
        </p:txBody>
      </p:sp>
      <p:sp>
        <p:nvSpPr>
          <p:cNvPr id="218" name="Shape 216"/>
          <p:cNvSpPr/>
          <p:nvPr/>
        </p:nvSpPr>
        <p:spPr>
          <a:xfrm>
            <a:off x="4590279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9" name="Text 217"/>
          <p:cNvSpPr/>
          <p:nvPr/>
        </p:nvSpPr>
        <p:spPr>
          <a:xfrm>
            <a:off x="3849615" y="224028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550" dirty="0"/>
          </a:p>
        </p:txBody>
      </p:sp>
      <p:sp>
        <p:nvSpPr>
          <p:cNvPr id="220" name="Text 218"/>
          <p:cNvSpPr/>
          <p:nvPr/>
        </p:nvSpPr>
        <p:spPr>
          <a:xfrm>
            <a:off x="3849615" y="2350008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50" dirty="0"/>
          </a:p>
        </p:txBody>
      </p:sp>
      <p:sp>
        <p:nvSpPr>
          <p:cNvPr id="221" name="Shape 219"/>
          <p:cNvSpPr/>
          <p:nvPr/>
        </p:nvSpPr>
        <p:spPr>
          <a:xfrm>
            <a:off x="2230380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1489716" y="265176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أعمال الحفرة (جدار الحفرة)</a:t>
            </a:r>
            <a:endParaRPr lang="ar-SA" sz="550" dirty="0"/>
          </a:p>
        </p:txBody>
      </p:sp>
      <p:sp>
        <p:nvSpPr>
          <p:cNvPr id="223" name="Text 221"/>
          <p:cNvSpPr/>
          <p:nvPr/>
        </p:nvSpPr>
        <p:spPr>
          <a:xfrm>
            <a:off x="1489716" y="274320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نوفمبر</a:t>
            </a:r>
            <a:endParaRPr lang="ar-SA" sz="750" dirty="0"/>
          </a:p>
        </p:txBody>
      </p:sp>
      <p:sp>
        <p:nvSpPr>
          <p:cNvPr id="224" name="Shape 222"/>
          <p:cNvSpPr/>
          <p:nvPr/>
        </p:nvSpPr>
        <p:spPr>
          <a:xfrm>
            <a:off x="1286421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545757" y="224028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550" dirty="0"/>
          </a:p>
        </p:txBody>
      </p:sp>
      <p:sp>
        <p:nvSpPr>
          <p:cNvPr id="226" name="Text 224"/>
          <p:cNvSpPr/>
          <p:nvPr/>
        </p:nvSpPr>
        <p:spPr>
          <a:xfrm>
            <a:off x="545757" y="2350008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نوفمبر</a:t>
            </a:r>
            <a:endParaRPr lang="ar-SA" sz="750" dirty="0"/>
          </a:p>
        </p:txBody>
      </p:sp>
      <p:sp>
        <p:nvSpPr>
          <p:cNvPr id="227" name="Shape 225"/>
          <p:cNvSpPr/>
          <p:nvPr/>
        </p:nvSpPr>
        <p:spPr>
          <a:xfrm>
            <a:off x="578451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-162213" y="265176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550" dirty="0"/>
          </a:p>
        </p:txBody>
      </p:sp>
      <p:sp>
        <p:nvSpPr>
          <p:cNvPr id="229" name="Text 227"/>
          <p:cNvSpPr/>
          <p:nvPr/>
        </p:nvSpPr>
        <p:spPr>
          <a:xfrm>
            <a:off x="-162213" y="274320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نوفمبر</a:t>
            </a:r>
            <a:endParaRPr lang="ar-SA" sz="750" dirty="0"/>
          </a:p>
        </p:txBody>
      </p:sp>
      <p:sp>
        <p:nvSpPr>
          <p:cNvPr id="230" name="Shape 228"/>
          <p:cNvSpPr/>
          <p:nvPr/>
        </p:nvSpPr>
        <p:spPr>
          <a:xfrm>
            <a:off x="365760" y="288036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515039" y="2869311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441887" y="288036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ar-SA" sz="850" dirty="0"/>
          </a:p>
        </p:txBody>
      </p:sp>
      <p:sp>
        <p:nvSpPr>
          <p:cNvPr id="233" name="Text 231"/>
          <p:cNvSpPr/>
          <p:nvPr/>
        </p:nvSpPr>
        <p:spPr>
          <a:xfrm>
            <a:off x="8762695" y="288036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نظام الدعم (Shoring)</a:t>
            </a:r>
            <a:endParaRPr lang="ar-SA" sz="750" dirty="0"/>
          </a:p>
        </p:txBody>
      </p:sp>
      <p:sp>
        <p:nvSpPr>
          <p:cNvPr id="234" name="Text 232"/>
          <p:cNvSpPr/>
          <p:nvPr/>
        </p:nvSpPr>
        <p:spPr>
          <a:xfrm>
            <a:off x="7967167" y="288036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235" name="Text 233"/>
          <p:cNvSpPr/>
          <p:nvPr/>
        </p:nvSpPr>
        <p:spPr>
          <a:xfrm>
            <a:off x="7464247" y="288036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900" dirty="0"/>
          </a:p>
        </p:txBody>
      </p:sp>
      <p:sp>
        <p:nvSpPr>
          <p:cNvPr id="236" name="Text 234"/>
          <p:cNvSpPr/>
          <p:nvPr/>
        </p:nvSpPr>
        <p:spPr>
          <a:xfrm>
            <a:off x="6805879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700" dirty="0"/>
          </a:p>
        </p:txBody>
      </p:sp>
      <p:sp>
        <p:nvSpPr>
          <p:cNvPr id="237" name="Text 235"/>
          <p:cNvSpPr/>
          <p:nvPr/>
        </p:nvSpPr>
        <p:spPr>
          <a:xfrm>
            <a:off x="6147511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38" name="Shape 236"/>
          <p:cNvSpPr/>
          <p:nvPr/>
        </p:nvSpPr>
        <p:spPr>
          <a:xfrm>
            <a:off x="4613577" y="2928747"/>
            <a:ext cx="589975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 flipV="1">
            <a:off x="5139544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 flipV="1">
            <a:off x="4613577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4019217" y="2880360"/>
            <a:ext cx="5486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يوم</a:t>
            </a:r>
            <a:endParaRPr lang="ar-SA" sz="750" dirty="0"/>
          </a:p>
        </p:txBody>
      </p:sp>
      <p:sp>
        <p:nvSpPr>
          <p:cNvPr id="242" name="Shape 240"/>
          <p:cNvSpPr/>
          <p:nvPr/>
        </p:nvSpPr>
        <p:spPr>
          <a:xfrm>
            <a:off x="365760" y="309600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11441887" y="312610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4" name="Text 242"/>
          <p:cNvSpPr/>
          <p:nvPr/>
        </p:nvSpPr>
        <p:spPr>
          <a:xfrm>
            <a:off x="11414455" y="309600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A.1</a:t>
            </a:r>
            <a:endParaRPr lang="ar-SA" sz="650" dirty="0"/>
          </a:p>
        </p:txBody>
      </p:sp>
      <p:sp>
        <p:nvSpPr>
          <p:cNvPr id="245" name="Text 243"/>
          <p:cNvSpPr/>
          <p:nvPr/>
        </p:nvSpPr>
        <p:spPr>
          <a:xfrm>
            <a:off x="8762695" y="3096006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الحفر لأعمدة H-Beam</a:t>
            </a:r>
            <a:endParaRPr lang="ar-SA" sz="700" dirty="0"/>
          </a:p>
        </p:txBody>
      </p:sp>
      <p:sp>
        <p:nvSpPr>
          <p:cNvPr id="246" name="Text 244"/>
          <p:cNvSpPr/>
          <p:nvPr/>
        </p:nvSpPr>
        <p:spPr>
          <a:xfrm>
            <a:off x="7967167" y="309600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247" name="Text 245"/>
          <p:cNvSpPr/>
          <p:nvPr/>
        </p:nvSpPr>
        <p:spPr>
          <a:xfrm>
            <a:off x="7464247" y="309600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48" name="Text 246"/>
          <p:cNvSpPr/>
          <p:nvPr/>
        </p:nvSpPr>
        <p:spPr>
          <a:xfrm>
            <a:off x="6805879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أكتوبر</a:t>
            </a:r>
            <a:endParaRPr lang="ar-SA" sz="700" dirty="0"/>
          </a:p>
        </p:txBody>
      </p:sp>
      <p:sp>
        <p:nvSpPr>
          <p:cNvPr id="249" name="Text 247"/>
          <p:cNvSpPr/>
          <p:nvPr/>
        </p:nvSpPr>
        <p:spPr>
          <a:xfrm>
            <a:off x="6147511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أكتوبر</a:t>
            </a:r>
            <a:endParaRPr lang="ar-SA" sz="700" dirty="0"/>
          </a:p>
        </p:txBody>
      </p:sp>
      <p:sp>
        <p:nvSpPr>
          <p:cNvPr id="250" name="Shape 248"/>
          <p:cNvSpPr/>
          <p:nvPr/>
        </p:nvSpPr>
        <p:spPr>
          <a:xfrm>
            <a:off x="4849567" y="3141292"/>
            <a:ext cx="353985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1" name="Text 249"/>
          <p:cNvSpPr/>
          <p:nvPr/>
        </p:nvSpPr>
        <p:spPr>
          <a:xfrm>
            <a:off x="4849567" y="3141292"/>
            <a:ext cx="353985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252" name="Shape 250"/>
          <p:cNvSpPr/>
          <p:nvPr/>
        </p:nvSpPr>
        <p:spPr>
          <a:xfrm>
            <a:off x="365760" y="3311652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1441887" y="334175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54" name="Text 252"/>
          <p:cNvSpPr/>
          <p:nvPr/>
        </p:nvSpPr>
        <p:spPr>
          <a:xfrm>
            <a:off x="11414455" y="331165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A.2</a:t>
            </a:r>
            <a:endParaRPr lang="ar-SA" sz="650" dirty="0"/>
          </a:p>
        </p:txBody>
      </p:sp>
      <p:sp>
        <p:nvSpPr>
          <p:cNvPr id="255" name="Text 253"/>
          <p:cNvSpPr/>
          <p:nvPr/>
        </p:nvSpPr>
        <p:spPr>
          <a:xfrm>
            <a:off x="8762695" y="3311652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أعمدة H-Beam</a:t>
            </a:r>
            <a:endParaRPr lang="ar-SA" sz="700" dirty="0"/>
          </a:p>
        </p:txBody>
      </p:sp>
      <p:sp>
        <p:nvSpPr>
          <p:cNvPr id="256" name="Text 254"/>
          <p:cNvSpPr/>
          <p:nvPr/>
        </p:nvSpPr>
        <p:spPr>
          <a:xfrm>
            <a:off x="7967167" y="331165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· SS +1</a:t>
            </a:r>
            <a:endParaRPr lang="ar-SA" sz="700" dirty="0"/>
          </a:p>
        </p:txBody>
      </p:sp>
      <p:sp>
        <p:nvSpPr>
          <p:cNvPr id="257" name="Text 255"/>
          <p:cNvSpPr/>
          <p:nvPr/>
        </p:nvSpPr>
        <p:spPr>
          <a:xfrm>
            <a:off x="7464247" y="331165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58" name="Text 256"/>
          <p:cNvSpPr/>
          <p:nvPr/>
        </p:nvSpPr>
        <p:spPr>
          <a:xfrm>
            <a:off x="6805879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أكتوبر</a:t>
            </a:r>
            <a:endParaRPr lang="ar-SA" sz="700" dirty="0"/>
          </a:p>
        </p:txBody>
      </p:sp>
      <p:sp>
        <p:nvSpPr>
          <p:cNvPr id="259" name="Text 257"/>
          <p:cNvSpPr/>
          <p:nvPr/>
        </p:nvSpPr>
        <p:spPr>
          <a:xfrm>
            <a:off x="6147511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أكتوبر</a:t>
            </a:r>
            <a:endParaRPr lang="ar-SA" sz="700" dirty="0"/>
          </a:p>
        </p:txBody>
      </p:sp>
      <p:sp>
        <p:nvSpPr>
          <p:cNvPr id="260" name="Shape 258"/>
          <p:cNvSpPr/>
          <p:nvPr/>
        </p:nvSpPr>
        <p:spPr>
          <a:xfrm>
            <a:off x="4731572" y="3356938"/>
            <a:ext cx="235990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1" name="Shape 259"/>
          <p:cNvSpPr/>
          <p:nvPr/>
        </p:nvSpPr>
        <p:spPr>
          <a:xfrm>
            <a:off x="365760" y="3527298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11441887" y="355739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63" name="Text 261"/>
          <p:cNvSpPr/>
          <p:nvPr/>
        </p:nvSpPr>
        <p:spPr>
          <a:xfrm>
            <a:off x="11414455" y="352729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A.3</a:t>
            </a:r>
            <a:endParaRPr lang="ar-SA" sz="650" dirty="0"/>
          </a:p>
        </p:txBody>
      </p:sp>
      <p:sp>
        <p:nvSpPr>
          <p:cNvPr id="264" name="Text 262"/>
          <p:cNvSpPr/>
          <p:nvPr/>
        </p:nvSpPr>
        <p:spPr>
          <a:xfrm>
            <a:off x="8762695" y="3527298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الخرسانة لأعمدة H-Beam</a:t>
            </a:r>
            <a:endParaRPr lang="ar-SA" sz="700" dirty="0"/>
          </a:p>
        </p:txBody>
      </p:sp>
      <p:sp>
        <p:nvSpPr>
          <p:cNvPr id="265" name="Text 263"/>
          <p:cNvSpPr/>
          <p:nvPr/>
        </p:nvSpPr>
        <p:spPr>
          <a:xfrm>
            <a:off x="7967167" y="352729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· SS +1</a:t>
            </a:r>
            <a:endParaRPr lang="ar-SA" sz="700" dirty="0"/>
          </a:p>
        </p:txBody>
      </p:sp>
      <p:sp>
        <p:nvSpPr>
          <p:cNvPr id="266" name="Text 264"/>
          <p:cNvSpPr/>
          <p:nvPr/>
        </p:nvSpPr>
        <p:spPr>
          <a:xfrm>
            <a:off x="7464247" y="352729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67" name="Text 265"/>
          <p:cNvSpPr/>
          <p:nvPr/>
        </p:nvSpPr>
        <p:spPr>
          <a:xfrm>
            <a:off x="6805879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أكتوبر</a:t>
            </a:r>
            <a:endParaRPr lang="ar-SA" sz="700" dirty="0"/>
          </a:p>
        </p:txBody>
      </p:sp>
      <p:sp>
        <p:nvSpPr>
          <p:cNvPr id="268" name="Text 266"/>
          <p:cNvSpPr/>
          <p:nvPr/>
        </p:nvSpPr>
        <p:spPr>
          <a:xfrm>
            <a:off x="6147511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69" name="Shape 267"/>
          <p:cNvSpPr/>
          <p:nvPr/>
        </p:nvSpPr>
        <p:spPr>
          <a:xfrm>
            <a:off x="4613577" y="3572584"/>
            <a:ext cx="235990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0" name="Shape 268"/>
          <p:cNvSpPr/>
          <p:nvPr/>
        </p:nvSpPr>
        <p:spPr>
          <a:xfrm>
            <a:off x="365760" y="3742944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11441887" y="377304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72" name="Text 270"/>
          <p:cNvSpPr/>
          <p:nvPr/>
        </p:nvSpPr>
        <p:spPr>
          <a:xfrm>
            <a:off x="11414455" y="374294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A.4</a:t>
            </a:r>
            <a:endParaRPr lang="ar-SA" sz="650" dirty="0"/>
          </a:p>
        </p:txBody>
      </p:sp>
      <p:sp>
        <p:nvSpPr>
          <p:cNvPr id="273" name="Text 271"/>
          <p:cNvSpPr/>
          <p:nvPr/>
        </p:nvSpPr>
        <p:spPr>
          <a:xfrm>
            <a:off x="8762695" y="3742944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التدعيم (Bracing) لنظام الدعم</a:t>
            </a:r>
            <a:endParaRPr lang="ar-SA" sz="700" dirty="0"/>
          </a:p>
        </p:txBody>
      </p:sp>
      <p:sp>
        <p:nvSpPr>
          <p:cNvPr id="274" name="Text 272"/>
          <p:cNvSpPr/>
          <p:nvPr/>
        </p:nvSpPr>
        <p:spPr>
          <a:xfrm>
            <a:off x="7967167" y="374294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· SS +1</a:t>
            </a:r>
            <a:endParaRPr lang="ar-SA" sz="700" dirty="0"/>
          </a:p>
        </p:txBody>
      </p:sp>
      <p:sp>
        <p:nvSpPr>
          <p:cNvPr id="275" name="Text 273"/>
          <p:cNvSpPr/>
          <p:nvPr/>
        </p:nvSpPr>
        <p:spPr>
          <a:xfrm>
            <a:off x="7464247" y="374294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76" name="Text 274"/>
          <p:cNvSpPr/>
          <p:nvPr/>
        </p:nvSpPr>
        <p:spPr>
          <a:xfrm>
            <a:off x="6805879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77" name="Text 275"/>
          <p:cNvSpPr/>
          <p:nvPr/>
        </p:nvSpPr>
        <p:spPr>
          <a:xfrm>
            <a:off x="6147511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78" name="Shape 276"/>
          <p:cNvSpPr/>
          <p:nvPr/>
        </p:nvSpPr>
        <p:spPr>
          <a:xfrm>
            <a:off x="4613577" y="3788230"/>
            <a:ext cx="117995" cy="125075"/>
          </a:xfrm>
          <a:prstGeom prst="roundRect">
            <a:avLst>
              <a:gd name="adj" fmla="val 30998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9" name="Shape 277"/>
          <p:cNvSpPr/>
          <p:nvPr/>
        </p:nvSpPr>
        <p:spPr>
          <a:xfrm>
            <a:off x="365760" y="3958590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11441887" y="398868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11414455" y="395859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A.5</a:t>
            </a:r>
            <a:endParaRPr lang="ar-SA" sz="650" dirty="0"/>
          </a:p>
        </p:txBody>
      </p:sp>
      <p:sp>
        <p:nvSpPr>
          <p:cNvPr id="282" name="Text 280"/>
          <p:cNvSpPr/>
          <p:nvPr/>
        </p:nvSpPr>
        <p:spPr>
          <a:xfrm>
            <a:off x="8762695" y="3958590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/ إدخال الألواح المضلعة (Corrugated sheets)</a:t>
            </a:r>
            <a:endParaRPr lang="ar-SA" sz="700" dirty="0"/>
          </a:p>
        </p:txBody>
      </p:sp>
      <p:sp>
        <p:nvSpPr>
          <p:cNvPr id="283" name="Text 281"/>
          <p:cNvSpPr/>
          <p:nvPr/>
        </p:nvSpPr>
        <p:spPr>
          <a:xfrm>
            <a:off x="7967167" y="395859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· SS +0</a:t>
            </a:r>
            <a:endParaRPr lang="ar-SA" sz="700" dirty="0"/>
          </a:p>
        </p:txBody>
      </p:sp>
      <p:sp>
        <p:nvSpPr>
          <p:cNvPr id="284" name="Text 282"/>
          <p:cNvSpPr/>
          <p:nvPr/>
        </p:nvSpPr>
        <p:spPr>
          <a:xfrm>
            <a:off x="7464247" y="395859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85" name="Text 283"/>
          <p:cNvSpPr/>
          <p:nvPr/>
        </p:nvSpPr>
        <p:spPr>
          <a:xfrm>
            <a:off x="6805879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86" name="Text 284"/>
          <p:cNvSpPr/>
          <p:nvPr/>
        </p:nvSpPr>
        <p:spPr>
          <a:xfrm>
            <a:off x="6147511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أكتوبر</a:t>
            </a:r>
            <a:endParaRPr lang="ar-SA" sz="700" dirty="0"/>
          </a:p>
        </p:txBody>
      </p:sp>
      <p:sp>
        <p:nvSpPr>
          <p:cNvPr id="287" name="Shape 285"/>
          <p:cNvSpPr/>
          <p:nvPr/>
        </p:nvSpPr>
        <p:spPr>
          <a:xfrm>
            <a:off x="4613577" y="4003876"/>
            <a:ext cx="117995" cy="125075"/>
          </a:xfrm>
          <a:prstGeom prst="roundRect">
            <a:avLst>
              <a:gd name="adj" fmla="val 30998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88" name="Shape 286"/>
          <p:cNvSpPr/>
          <p:nvPr/>
        </p:nvSpPr>
        <p:spPr>
          <a:xfrm>
            <a:off x="365760" y="4174236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11515039" y="4163187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90" name="Text 288"/>
          <p:cNvSpPr/>
          <p:nvPr/>
        </p:nvSpPr>
        <p:spPr>
          <a:xfrm>
            <a:off x="11441887" y="417423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ar-SA" sz="850" dirty="0"/>
          </a:p>
        </p:txBody>
      </p:sp>
      <p:sp>
        <p:nvSpPr>
          <p:cNvPr id="291" name="Text 289"/>
          <p:cNvSpPr/>
          <p:nvPr/>
        </p:nvSpPr>
        <p:spPr>
          <a:xfrm>
            <a:off x="8762695" y="417423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الخرسانة العادية (Lean concrete)</a:t>
            </a:r>
            <a:endParaRPr lang="ar-SA" sz="750" dirty="0"/>
          </a:p>
        </p:txBody>
      </p:sp>
      <p:sp>
        <p:nvSpPr>
          <p:cNvPr id="292" name="Text 290"/>
          <p:cNvSpPr/>
          <p:nvPr/>
        </p:nvSpPr>
        <p:spPr>
          <a:xfrm>
            <a:off x="7967167" y="417423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SS +4</a:t>
            </a:r>
            <a:endParaRPr lang="ar-SA" sz="700" dirty="0"/>
          </a:p>
        </p:txBody>
      </p:sp>
      <p:sp>
        <p:nvSpPr>
          <p:cNvPr id="293" name="Text 291"/>
          <p:cNvSpPr/>
          <p:nvPr/>
        </p:nvSpPr>
        <p:spPr>
          <a:xfrm>
            <a:off x="7464247" y="417423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94" name="Text 292"/>
          <p:cNvSpPr/>
          <p:nvPr/>
        </p:nvSpPr>
        <p:spPr>
          <a:xfrm>
            <a:off x="6805879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700" dirty="0"/>
          </a:p>
        </p:txBody>
      </p:sp>
      <p:sp>
        <p:nvSpPr>
          <p:cNvPr id="295" name="Text 293"/>
          <p:cNvSpPr/>
          <p:nvPr/>
        </p:nvSpPr>
        <p:spPr>
          <a:xfrm>
            <a:off x="6147511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700" dirty="0"/>
          </a:p>
        </p:txBody>
      </p:sp>
      <p:sp>
        <p:nvSpPr>
          <p:cNvPr id="296" name="Shape 294"/>
          <p:cNvSpPr/>
          <p:nvPr/>
        </p:nvSpPr>
        <p:spPr>
          <a:xfrm>
            <a:off x="4495582" y="4219522"/>
            <a:ext cx="117995" cy="125075"/>
          </a:xfrm>
          <a:prstGeom prst="roundRect">
            <a:avLst>
              <a:gd name="adj" fmla="val 30998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97" name="Shape 295"/>
          <p:cNvSpPr/>
          <p:nvPr/>
        </p:nvSpPr>
        <p:spPr>
          <a:xfrm>
            <a:off x="365760" y="4389882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11515039" y="4378833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99" name="Text 297"/>
          <p:cNvSpPr/>
          <p:nvPr/>
        </p:nvSpPr>
        <p:spPr>
          <a:xfrm>
            <a:off x="11441887" y="438988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ar-SA" sz="850" dirty="0"/>
          </a:p>
        </p:txBody>
      </p:sp>
      <p:sp>
        <p:nvSpPr>
          <p:cNvPr id="300" name="Text 298"/>
          <p:cNvSpPr/>
          <p:nvPr/>
        </p:nvSpPr>
        <p:spPr>
          <a:xfrm>
            <a:off x="8762695" y="4389882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خندق الحفرة – حديد التسليح والشدات والخرسانة</a:t>
            </a:r>
            <a:endParaRPr lang="ar-SA" sz="750" dirty="0"/>
          </a:p>
        </p:txBody>
      </p:sp>
      <p:sp>
        <p:nvSpPr>
          <p:cNvPr id="301" name="Text 299"/>
          <p:cNvSpPr/>
          <p:nvPr/>
        </p:nvSpPr>
        <p:spPr>
          <a:xfrm>
            <a:off x="7967167" y="438988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FS</a:t>
            </a:r>
            <a:endParaRPr lang="ar-SA" sz="700" dirty="0"/>
          </a:p>
        </p:txBody>
      </p:sp>
      <p:sp>
        <p:nvSpPr>
          <p:cNvPr id="302" name="Text 300"/>
          <p:cNvSpPr/>
          <p:nvPr/>
        </p:nvSpPr>
        <p:spPr>
          <a:xfrm>
            <a:off x="7464247" y="438988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303" name="Text 301"/>
          <p:cNvSpPr/>
          <p:nvPr/>
        </p:nvSpPr>
        <p:spPr>
          <a:xfrm>
            <a:off x="6805879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أكتوبر</a:t>
            </a:r>
            <a:endParaRPr lang="ar-SA" sz="700" dirty="0"/>
          </a:p>
        </p:txBody>
      </p:sp>
      <p:sp>
        <p:nvSpPr>
          <p:cNvPr id="304" name="Text 302"/>
          <p:cNvSpPr/>
          <p:nvPr/>
        </p:nvSpPr>
        <p:spPr>
          <a:xfrm>
            <a:off x="6147511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أكتوبر</a:t>
            </a:r>
            <a:endParaRPr lang="ar-SA" sz="700" dirty="0"/>
          </a:p>
        </p:txBody>
      </p:sp>
      <p:sp>
        <p:nvSpPr>
          <p:cNvPr id="305" name="Shape 303"/>
          <p:cNvSpPr/>
          <p:nvPr/>
        </p:nvSpPr>
        <p:spPr>
          <a:xfrm>
            <a:off x="4259592" y="4435168"/>
            <a:ext cx="353985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06" name="Text 304"/>
          <p:cNvSpPr/>
          <p:nvPr/>
        </p:nvSpPr>
        <p:spPr>
          <a:xfrm>
            <a:off x="4259592" y="4435168"/>
            <a:ext cx="353985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307" name="Shape 305"/>
          <p:cNvSpPr/>
          <p:nvPr/>
        </p:nvSpPr>
        <p:spPr>
          <a:xfrm>
            <a:off x="365760" y="4605528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11515039" y="4594479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09" name="Text 307"/>
          <p:cNvSpPr/>
          <p:nvPr/>
        </p:nvSpPr>
        <p:spPr>
          <a:xfrm>
            <a:off x="11441887" y="460552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ar-SA" sz="850" dirty="0"/>
          </a:p>
        </p:txBody>
      </p:sp>
      <p:sp>
        <p:nvSpPr>
          <p:cNvPr id="310" name="Text 308"/>
          <p:cNvSpPr/>
          <p:nvPr/>
        </p:nvSpPr>
        <p:spPr>
          <a:xfrm>
            <a:off x="8762695" y="4605528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بلاطة / لبشة الحفرة – حديد التسليح والشدات والخرسانة</a:t>
            </a:r>
            <a:endParaRPr lang="ar-SA" sz="750" dirty="0"/>
          </a:p>
        </p:txBody>
      </p:sp>
      <p:sp>
        <p:nvSpPr>
          <p:cNvPr id="311" name="Text 309"/>
          <p:cNvSpPr/>
          <p:nvPr/>
        </p:nvSpPr>
        <p:spPr>
          <a:xfrm>
            <a:off x="7967167" y="460552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FS</a:t>
            </a:r>
            <a:endParaRPr lang="ar-SA" sz="700" dirty="0"/>
          </a:p>
        </p:txBody>
      </p:sp>
      <p:sp>
        <p:nvSpPr>
          <p:cNvPr id="312" name="Text 310"/>
          <p:cNvSpPr/>
          <p:nvPr/>
        </p:nvSpPr>
        <p:spPr>
          <a:xfrm>
            <a:off x="7464247" y="460552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900" dirty="0"/>
          </a:p>
        </p:txBody>
      </p:sp>
      <p:sp>
        <p:nvSpPr>
          <p:cNvPr id="313" name="Text 311"/>
          <p:cNvSpPr/>
          <p:nvPr/>
        </p:nvSpPr>
        <p:spPr>
          <a:xfrm>
            <a:off x="6805879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أكتوبر</a:t>
            </a:r>
            <a:endParaRPr lang="ar-SA" sz="700" dirty="0"/>
          </a:p>
        </p:txBody>
      </p:sp>
      <p:sp>
        <p:nvSpPr>
          <p:cNvPr id="314" name="Text 312"/>
          <p:cNvSpPr/>
          <p:nvPr/>
        </p:nvSpPr>
        <p:spPr>
          <a:xfrm>
            <a:off x="6147511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نوفمبر</a:t>
            </a:r>
            <a:endParaRPr lang="ar-SA" sz="700" dirty="0"/>
          </a:p>
        </p:txBody>
      </p:sp>
      <p:sp>
        <p:nvSpPr>
          <p:cNvPr id="315" name="Shape 313"/>
          <p:cNvSpPr/>
          <p:nvPr/>
        </p:nvSpPr>
        <p:spPr>
          <a:xfrm>
            <a:off x="2961648" y="4650814"/>
            <a:ext cx="1179949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16" name="Text 314"/>
          <p:cNvSpPr/>
          <p:nvPr/>
        </p:nvSpPr>
        <p:spPr>
          <a:xfrm>
            <a:off x="2961648" y="4650814"/>
            <a:ext cx="117994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يوم</a:t>
            </a:r>
            <a:endParaRPr lang="ar-SA" sz="700" dirty="0"/>
          </a:p>
        </p:txBody>
      </p:sp>
      <p:sp>
        <p:nvSpPr>
          <p:cNvPr id="317" name="Shape 315"/>
          <p:cNvSpPr/>
          <p:nvPr/>
        </p:nvSpPr>
        <p:spPr>
          <a:xfrm>
            <a:off x="365760" y="4821174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11515039" y="4810125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319" name="Text 317"/>
          <p:cNvSpPr/>
          <p:nvPr/>
        </p:nvSpPr>
        <p:spPr>
          <a:xfrm>
            <a:off x="11441887" y="482117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ar-SA" sz="850" dirty="0"/>
          </a:p>
        </p:txBody>
      </p:sp>
      <p:sp>
        <p:nvSpPr>
          <p:cNvPr id="320" name="Text 318"/>
          <p:cNvSpPr/>
          <p:nvPr/>
        </p:nvSpPr>
        <p:spPr>
          <a:xfrm>
            <a:off x="8762695" y="4821174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جدار الحفرة – حديد التسليح والشدات والخرسانة</a:t>
            </a:r>
            <a:endParaRPr lang="ar-SA" sz="750" dirty="0"/>
          </a:p>
        </p:txBody>
      </p:sp>
      <p:sp>
        <p:nvSpPr>
          <p:cNvPr id="321" name="Text 319"/>
          <p:cNvSpPr/>
          <p:nvPr/>
        </p:nvSpPr>
        <p:spPr>
          <a:xfrm>
            <a:off x="7967167" y="482117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322" name="Text 320"/>
          <p:cNvSpPr/>
          <p:nvPr/>
        </p:nvSpPr>
        <p:spPr>
          <a:xfrm>
            <a:off x="7464247" y="482117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900" dirty="0"/>
          </a:p>
        </p:txBody>
      </p:sp>
      <p:sp>
        <p:nvSpPr>
          <p:cNvPr id="323" name="Text 321"/>
          <p:cNvSpPr/>
          <p:nvPr/>
        </p:nvSpPr>
        <p:spPr>
          <a:xfrm>
            <a:off x="6805879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نوفمبر</a:t>
            </a:r>
            <a:endParaRPr lang="ar-SA" sz="700" dirty="0"/>
          </a:p>
        </p:txBody>
      </p:sp>
      <p:sp>
        <p:nvSpPr>
          <p:cNvPr id="324" name="Text 322"/>
          <p:cNvSpPr/>
          <p:nvPr/>
        </p:nvSpPr>
        <p:spPr>
          <a:xfrm>
            <a:off x="6147511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نوفمبر</a:t>
            </a:r>
            <a:endParaRPr lang="ar-SA" sz="700" dirty="0"/>
          </a:p>
        </p:txBody>
      </p:sp>
      <p:sp>
        <p:nvSpPr>
          <p:cNvPr id="325" name="Shape 323"/>
          <p:cNvSpPr/>
          <p:nvPr/>
        </p:nvSpPr>
        <p:spPr>
          <a:xfrm>
            <a:off x="2253679" y="4866460"/>
            <a:ext cx="707970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26" name="Text 324"/>
          <p:cNvSpPr/>
          <p:nvPr/>
        </p:nvSpPr>
        <p:spPr>
          <a:xfrm>
            <a:off x="2253679" y="4866460"/>
            <a:ext cx="707970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يوم</a:t>
            </a:r>
            <a:endParaRPr lang="ar-SA" sz="700" dirty="0"/>
          </a:p>
        </p:txBody>
      </p:sp>
      <p:sp>
        <p:nvSpPr>
          <p:cNvPr id="327" name="Shape 325"/>
          <p:cNvSpPr/>
          <p:nvPr/>
        </p:nvSpPr>
        <p:spPr>
          <a:xfrm>
            <a:off x="365760" y="503682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11515039" y="5025771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29" name="Text 327"/>
          <p:cNvSpPr/>
          <p:nvPr/>
        </p:nvSpPr>
        <p:spPr>
          <a:xfrm>
            <a:off x="11441887" y="503682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ar-SA" sz="850" dirty="0"/>
          </a:p>
        </p:txBody>
      </p:sp>
      <p:sp>
        <p:nvSpPr>
          <p:cNvPr id="330" name="Text 328"/>
          <p:cNvSpPr/>
          <p:nvPr/>
        </p:nvSpPr>
        <p:spPr>
          <a:xfrm>
            <a:off x="8762695" y="503682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أساسات المبنى – حفر ودمك / اختبار وحديد تسليح وخرسانة</a:t>
            </a:r>
            <a:endParaRPr lang="ar-SA" sz="750" dirty="0"/>
          </a:p>
        </p:txBody>
      </p:sp>
      <p:sp>
        <p:nvSpPr>
          <p:cNvPr id="331" name="Text 329"/>
          <p:cNvSpPr/>
          <p:nvPr/>
        </p:nvSpPr>
        <p:spPr>
          <a:xfrm>
            <a:off x="7967167" y="503682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332" name="Text 330"/>
          <p:cNvSpPr/>
          <p:nvPr/>
        </p:nvSpPr>
        <p:spPr>
          <a:xfrm>
            <a:off x="7464247" y="503682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900" dirty="0"/>
          </a:p>
        </p:txBody>
      </p:sp>
      <p:sp>
        <p:nvSpPr>
          <p:cNvPr id="333" name="Text 331"/>
          <p:cNvSpPr/>
          <p:nvPr/>
        </p:nvSpPr>
        <p:spPr>
          <a:xfrm>
            <a:off x="6805879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نوفمبر</a:t>
            </a:r>
            <a:endParaRPr lang="ar-SA" sz="700" dirty="0"/>
          </a:p>
        </p:txBody>
      </p:sp>
      <p:sp>
        <p:nvSpPr>
          <p:cNvPr id="334" name="Text 332"/>
          <p:cNvSpPr/>
          <p:nvPr/>
        </p:nvSpPr>
        <p:spPr>
          <a:xfrm>
            <a:off x="6147511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نوفمبر</a:t>
            </a:r>
            <a:endParaRPr lang="ar-SA" sz="700" dirty="0"/>
          </a:p>
        </p:txBody>
      </p:sp>
      <p:sp>
        <p:nvSpPr>
          <p:cNvPr id="335" name="Shape 333"/>
          <p:cNvSpPr/>
          <p:nvPr/>
        </p:nvSpPr>
        <p:spPr>
          <a:xfrm>
            <a:off x="1309719" y="5082106"/>
            <a:ext cx="1651929" cy="125075"/>
          </a:xfrm>
          <a:prstGeom prst="roundRect">
            <a:avLst>
              <a:gd name="adj" fmla="val 29243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36" name="Text 334"/>
          <p:cNvSpPr/>
          <p:nvPr/>
        </p:nvSpPr>
        <p:spPr>
          <a:xfrm>
            <a:off x="1309719" y="5082106"/>
            <a:ext cx="165192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يوم</a:t>
            </a:r>
            <a:endParaRPr lang="ar-SA" sz="700" dirty="0"/>
          </a:p>
        </p:txBody>
      </p:sp>
      <p:sp>
        <p:nvSpPr>
          <p:cNvPr id="337" name="Shape 335"/>
          <p:cNvSpPr/>
          <p:nvPr/>
        </p:nvSpPr>
        <p:spPr>
          <a:xfrm>
            <a:off x="365760" y="525246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11515039" y="5241417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39" name="Text 337"/>
          <p:cNvSpPr/>
          <p:nvPr/>
        </p:nvSpPr>
        <p:spPr>
          <a:xfrm>
            <a:off x="11441887" y="525246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ar-SA" sz="850" dirty="0"/>
          </a:p>
        </p:txBody>
      </p:sp>
      <p:sp>
        <p:nvSpPr>
          <p:cNvPr id="340" name="Text 338"/>
          <p:cNvSpPr/>
          <p:nvPr/>
        </p:nvSpPr>
        <p:spPr>
          <a:xfrm>
            <a:off x="8762695" y="525246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الردم للمبنى</a:t>
            </a:r>
            <a:endParaRPr lang="ar-SA" sz="750" dirty="0"/>
          </a:p>
        </p:txBody>
      </p:sp>
      <p:sp>
        <p:nvSpPr>
          <p:cNvPr id="341" name="Text 339"/>
          <p:cNvSpPr/>
          <p:nvPr/>
        </p:nvSpPr>
        <p:spPr>
          <a:xfrm>
            <a:off x="7967167" y="525246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FS</a:t>
            </a:r>
            <a:endParaRPr lang="ar-SA" sz="700" dirty="0"/>
          </a:p>
        </p:txBody>
      </p:sp>
      <p:sp>
        <p:nvSpPr>
          <p:cNvPr id="342" name="Text 340"/>
          <p:cNvSpPr/>
          <p:nvPr/>
        </p:nvSpPr>
        <p:spPr>
          <a:xfrm>
            <a:off x="7464247" y="525246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900" dirty="0"/>
          </a:p>
        </p:txBody>
      </p:sp>
      <p:sp>
        <p:nvSpPr>
          <p:cNvPr id="343" name="Text 341"/>
          <p:cNvSpPr/>
          <p:nvPr/>
        </p:nvSpPr>
        <p:spPr>
          <a:xfrm>
            <a:off x="6805879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نوفمبر</a:t>
            </a:r>
            <a:endParaRPr lang="ar-SA" sz="700" dirty="0"/>
          </a:p>
        </p:txBody>
      </p:sp>
      <p:sp>
        <p:nvSpPr>
          <p:cNvPr id="344" name="Text 342"/>
          <p:cNvSpPr/>
          <p:nvPr/>
        </p:nvSpPr>
        <p:spPr>
          <a:xfrm>
            <a:off x="6147511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نوفمبر</a:t>
            </a:r>
            <a:endParaRPr lang="ar-SA" sz="700" dirty="0"/>
          </a:p>
        </p:txBody>
      </p:sp>
      <p:sp>
        <p:nvSpPr>
          <p:cNvPr id="345" name="Shape 343"/>
          <p:cNvSpPr/>
          <p:nvPr/>
        </p:nvSpPr>
        <p:spPr>
          <a:xfrm>
            <a:off x="601750" y="5297752"/>
            <a:ext cx="707970" cy="125075"/>
          </a:xfrm>
          <a:prstGeom prst="roundRect">
            <a:avLst>
              <a:gd name="adj" fmla="val 29243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46" name="Text 344"/>
          <p:cNvSpPr/>
          <p:nvPr/>
        </p:nvSpPr>
        <p:spPr>
          <a:xfrm>
            <a:off x="601750" y="5297752"/>
            <a:ext cx="707970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يوم</a:t>
            </a:r>
            <a:endParaRPr lang="ar-SA" sz="700" dirty="0"/>
          </a:p>
        </p:txBody>
      </p:sp>
      <p:sp>
        <p:nvSpPr>
          <p:cNvPr id="347" name="Shape 345"/>
          <p:cNvSpPr/>
          <p:nvPr/>
        </p:nvSpPr>
        <p:spPr>
          <a:xfrm>
            <a:off x="5148688" y="3266366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 flipH="1">
            <a:off x="4976706" y="3419475"/>
            <a:ext cx="171982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9" name="Shape 347"/>
          <p:cNvSpPr/>
          <p:nvPr/>
        </p:nvSpPr>
        <p:spPr>
          <a:xfrm>
            <a:off x="4912698" y="3482012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 flipH="1">
            <a:off x="4858711" y="3635121"/>
            <a:ext cx="53987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1" name="Shape 349"/>
          <p:cNvSpPr/>
          <p:nvPr/>
        </p:nvSpPr>
        <p:spPr>
          <a:xfrm>
            <a:off x="4794703" y="3697658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 flipH="1">
            <a:off x="4740716" y="3850767"/>
            <a:ext cx="53987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3" name="Shape 351"/>
          <p:cNvSpPr/>
          <p:nvPr/>
        </p:nvSpPr>
        <p:spPr>
          <a:xfrm>
            <a:off x="4676708" y="3913304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 flipH="1">
            <a:off x="4676708" y="4066413"/>
            <a:ext cx="6400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5" name="Shape 353"/>
          <p:cNvSpPr/>
          <p:nvPr/>
        </p:nvSpPr>
        <p:spPr>
          <a:xfrm>
            <a:off x="5148688" y="3050720"/>
            <a:ext cx="0" cy="123133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 flipH="1">
            <a:off x="4622721" y="4282059"/>
            <a:ext cx="525967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7" name="Shape 355"/>
          <p:cNvSpPr/>
          <p:nvPr/>
        </p:nvSpPr>
        <p:spPr>
          <a:xfrm>
            <a:off x="4613577" y="298818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4659297" y="2988183"/>
            <a:ext cx="0" cy="150952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 flipH="1">
            <a:off x="4622721" y="449770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0" name="Shape 358"/>
          <p:cNvSpPr/>
          <p:nvPr/>
        </p:nvSpPr>
        <p:spPr>
          <a:xfrm>
            <a:off x="4200595" y="4497705"/>
            <a:ext cx="58997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4200595" y="4497705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 flipH="1">
            <a:off x="4150742" y="4713351"/>
            <a:ext cx="49853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3" name="Shape 361"/>
          <p:cNvSpPr/>
          <p:nvPr/>
        </p:nvSpPr>
        <p:spPr>
          <a:xfrm>
            <a:off x="2961648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007368" y="4713351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 flipH="1">
            <a:off x="2970792" y="492899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6" name="Shape 364"/>
          <p:cNvSpPr/>
          <p:nvPr/>
        </p:nvSpPr>
        <p:spPr>
          <a:xfrm>
            <a:off x="2961648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007368" y="4713351"/>
            <a:ext cx="0" cy="43129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 flipH="1">
            <a:off x="2970792" y="514464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9" name="Shape 367"/>
          <p:cNvSpPr/>
          <p:nvPr/>
        </p:nvSpPr>
        <p:spPr>
          <a:xfrm>
            <a:off x="1309719" y="514464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1355439" y="5144643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 flipH="1">
            <a:off x="1318863" y="536028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72" name="Shape 370"/>
          <p:cNvSpPr/>
          <p:nvPr/>
        </p:nvSpPr>
        <p:spPr>
          <a:xfrm>
            <a:off x="5262549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73" name="Shape 371"/>
          <p:cNvSpPr/>
          <p:nvPr/>
        </p:nvSpPr>
        <p:spPr>
          <a:xfrm>
            <a:off x="5289981" y="2020824"/>
            <a:ext cx="841248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74" name="Text 372"/>
          <p:cNvSpPr/>
          <p:nvPr/>
        </p:nvSpPr>
        <p:spPr>
          <a:xfrm>
            <a:off x="5289981" y="202082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 · 21 أكتوبر</a:t>
            </a:r>
            <a:endParaRPr lang="ar-SA" sz="650" dirty="0"/>
          </a:p>
        </p:txBody>
      </p:sp>
      <p:sp>
        <p:nvSpPr>
          <p:cNvPr id="375" name="Shape 373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77" name="Shape 375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850" dirty="0"/>
          </a:p>
        </p:txBody>
      </p:sp>
      <p:sp>
        <p:nvSpPr>
          <p:cNvPr id="379" name="Text 377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22 أكتوبر 2026</a:t>
            </a:r>
            <a:endParaRPr lang="ar-SA" sz="1300" dirty="0"/>
          </a:p>
        </p:txBody>
      </p:sp>
      <p:sp>
        <p:nvSpPr>
          <p:cNvPr id="380" name="Text 378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 / 33</a:t>
            </a:r>
            <a:endParaRPr lang="ar-SA" sz="750" dirty="0"/>
          </a:p>
        </p:txBody>
      </p:sp>
      <p:sp>
        <p:nvSpPr>
          <p:cNvPr id="381" name="Shape 379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2" name="Shape 380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83" name="Text 381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850" dirty="0"/>
          </a:p>
        </p:txBody>
      </p:sp>
      <p:sp>
        <p:nvSpPr>
          <p:cNvPr id="384" name="Text 382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26 أكتوبر 2026</a:t>
            </a:r>
            <a:endParaRPr lang="ar-SA" sz="1300" dirty="0"/>
          </a:p>
        </p:txBody>
      </p:sp>
      <p:sp>
        <p:nvSpPr>
          <p:cNvPr id="385" name="Text 383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4 / 33</a:t>
            </a:r>
            <a:endParaRPr lang="ar-SA" sz="750" dirty="0"/>
          </a:p>
        </p:txBody>
      </p:sp>
      <p:sp>
        <p:nvSpPr>
          <p:cNvPr id="386" name="Shape 384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7" name="Shape 385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88" name="Text 386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أعمال الحفرة (جدار الحفرة)</a:t>
            </a:r>
            <a:endParaRPr lang="ar-SA" sz="850" dirty="0"/>
          </a:p>
        </p:txBody>
      </p:sp>
      <p:sp>
        <p:nvSpPr>
          <p:cNvPr id="389" name="Text 387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15 نوفمبر 2026</a:t>
            </a:r>
            <a:endParaRPr lang="ar-SA" sz="1300" dirty="0"/>
          </a:p>
        </p:txBody>
      </p:sp>
      <p:sp>
        <p:nvSpPr>
          <p:cNvPr id="390" name="Text 388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21 / 33</a:t>
            </a:r>
            <a:endParaRPr lang="ar-SA" sz="750" dirty="0"/>
          </a:p>
        </p:txBody>
      </p:sp>
      <p:sp>
        <p:nvSpPr>
          <p:cNvPr id="391" name="Shape 389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92" name="Shape 390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850" dirty="0"/>
          </a:p>
        </p:txBody>
      </p:sp>
      <p:sp>
        <p:nvSpPr>
          <p:cNvPr id="394" name="Text 392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23 نوفمبر 2026</a:t>
            </a:r>
            <a:endParaRPr lang="ar-SA" sz="1300" dirty="0"/>
          </a:p>
        </p:txBody>
      </p:sp>
      <p:sp>
        <p:nvSpPr>
          <p:cNvPr id="395" name="Text 393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28 / 33</a:t>
            </a:r>
            <a:endParaRPr lang="ar-SA" sz="750" dirty="0"/>
          </a:p>
        </p:txBody>
      </p:sp>
      <p:sp>
        <p:nvSpPr>
          <p:cNvPr id="396" name="Shape 394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97" name="Shape 395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398" name="Text 396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850" dirty="0"/>
          </a:p>
        </p:txBody>
      </p:sp>
      <p:sp>
        <p:nvSpPr>
          <p:cNvPr id="399" name="Text 397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29 نوفمبر 2026</a:t>
            </a:r>
            <a:endParaRPr lang="ar-SA" sz="1300" dirty="0"/>
          </a:p>
        </p:txBody>
      </p:sp>
      <p:sp>
        <p:nvSpPr>
          <p:cNvPr id="400" name="Text 398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33 / 33</a:t>
            </a:r>
            <a:endParaRPr lang="ar-SA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2026-10-21T13:43:15Z</dcterms:created>
  <dcterms:modified xsi:type="dcterms:W3CDTF">2026-10-21T13:43:15Z</dcterms:modified>
</cp:coreProperties>
</file>