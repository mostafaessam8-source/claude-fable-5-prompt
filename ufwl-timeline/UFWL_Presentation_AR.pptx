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R">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FFFFFF"/>
          </a:solidFill>
          <a:ln/>
        </p:spPr>
      </p:sp>
      <p:sp>
        <p:nvSpPr>
          <p:cNvPr id="3" name="Shape 1"/>
          <p:cNvSpPr/>
          <p:nvPr/>
        </p:nvSpPr>
        <p:spPr>
          <a:xfrm>
            <a:off x="0" y="868680"/>
            <a:ext cx="12191695" cy="45720"/>
          </a:xfrm>
          <a:prstGeom prst="rect">
            <a:avLst/>
          </a:prstGeom>
          <a:solidFill>
            <a:srgbClr val="00778B"/>
          </a:solidFill>
          <a:ln/>
        </p:spPr>
      </p:sp>
      <p:sp>
        <p:nvSpPr>
          <p:cNvPr id="4" name="Shape 2"/>
          <p:cNvSpPr/>
          <p:nvPr/>
        </p:nvSpPr>
        <p:spPr>
          <a:xfrm>
            <a:off x="10180015" y="868680"/>
            <a:ext cx="2011680" cy="45720"/>
          </a:xfrm>
          <a:prstGeom prst="rect">
            <a:avLst/>
          </a:prstGeom>
          <a:solidFill>
            <a:srgbClr val="3D3935"/>
          </a:solidFill>
          <a:ln/>
        </p:spPr>
      </p:sp>
      <p:pic>
        <p:nvPicPr>
          <p:cNvPr id="5" name="Image 0" descr="preencoded.png">    </p:cNvPr>
          <p:cNvPicPr>
            <a:picLocks noChangeAspect="1"/>
          </p:cNvPicPr>
          <p:nvPr/>
        </p:nvPicPr>
        <p:blipFill>
          <a:blip r:embed="rId1"/>
          <a:stretch>
            <a:fillRect/>
          </a:stretch>
        </p:blipFill>
        <p:spPr>
          <a:xfrm>
            <a:off x="365760" y="142875"/>
            <a:ext cx="1051560" cy="582930"/>
          </a:xfrm>
          <a:prstGeom prst="rect">
            <a:avLst/>
          </a:prstGeom>
        </p:spPr>
      </p:pic>
      <p:sp>
        <p:nvSpPr>
          <p:cNvPr id="6" name="Shape 3"/>
          <p:cNvSpPr/>
          <p:nvPr/>
        </p:nvSpPr>
        <p:spPr>
          <a:xfrm>
            <a:off x="0" y="6492240"/>
            <a:ext cx="12191695" cy="365760"/>
          </a:xfrm>
          <a:prstGeom prst="rect">
            <a:avLst/>
          </a:prstGeom>
          <a:solidFill>
            <a:srgbClr val="3D3935"/>
          </a:solidFill>
          <a:ln/>
        </p:spPr>
      </p:sp>
      <p:sp>
        <p:nvSpPr>
          <p:cNvPr id="7" name="Text 4"/>
          <p:cNvSpPr/>
          <p:nvPr/>
        </p:nvSpPr>
        <p:spPr>
          <a:xfrm>
            <a:off x="2681935" y="6492240"/>
            <a:ext cx="9144000" cy="365760"/>
          </a:xfrm>
          <a:prstGeom prst="rect">
            <a:avLst/>
          </a:prstGeom>
          <a:noFill/>
          <a:ln/>
        </p:spPr>
        <p:txBody>
          <a:bodyPr wrap="square" lIns="0" tIns="0" rIns="0" bIns="0" rtlCol="0" anchor="ctr"/>
          <a:lstStyle/>
          <a:p>
            <a:pPr algn="r" indent="0" marL="0">
              <a:buNone/>
            </a:pPr>
            <a:r>
              <a:rPr lang="en-US" sz="1000" dirty="0">
                <a:solidFill>
                  <a:srgbClr val="FFFFFF"/>
                </a:solidFill>
                <a:latin typeface="Arial" pitchFamily="34" charset="0"/>
                <a:ea typeface="Arial" pitchFamily="34" charset="-122"/>
                <a:cs typeface="Arial" pitchFamily="34" charset="-120"/>
              </a:rPr>
              <a:t>مشروع UFWL – إيقاف الموقع والأعمال المتبقية</a:t>
            </a:r>
            <a:endParaRPr lang="en-US" sz="1000" dirty="0"/>
          </a:p>
        </p:txBody>
      </p:sp>
      <p:sp>
        <p:nvSpPr>
          <p:cNvPr id="25" name="Slide Number Placeholder 0"/>
          <p:cNvSpPr>
            <a:spLocks noGrp="1"/>
          </p:cNvSpPr>
          <p:nvPr>
            <p:ph type="sldNum" sz="quarter" idx="4294967295"/>
          </p:nvPr>
        </p:nvSpPr>
        <p:spPr>
          <a:xfrm>
            <a:off x="320040"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ct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0040"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91640" y="109728"/>
            <a:ext cx="10134295" cy="457200"/>
          </a:xfrm>
          <a:prstGeom prst="rect">
            <a:avLst/>
          </a:prstGeom>
          <a:noFill/>
          <a:ln/>
        </p:spPr>
        <p:txBody>
          <a:bodyPr wrap="square" lIns="0" tIns="0" rIns="0" bIns="0" rtlCol="0" anchor="ctr">
            <a:normAutofit/>
          </a:bodyPr>
          <a:lstStyle/>
          <a:p>
            <a:pPr rtl="1" algn="r" indent="0" marL="0">
              <a:buNone/>
            </a:pPr>
            <a:r>
              <a:rPr lang="ar-SA" altLang="en-US" sz="2400" b="1" dirty="0">
                <a:solidFill>
                  <a:srgbClr val="3D3935"/>
                </a:solidFill>
                <a:latin typeface="Arial" pitchFamily="34" charset="0"/>
                <a:ea typeface="Arial" pitchFamily="34" charset="-122"/>
                <a:cs typeface="Arial" pitchFamily="34" charset="-120"/>
              </a:rPr>
              <a:t>مشروع UFWL – الخط الزمني</a:t>
            </a:r>
            <a:endParaRPr lang="ar-SA" sz="2400" dirty="0"/>
          </a:p>
        </p:txBody>
      </p:sp>
      <p:sp>
        <p:nvSpPr>
          <p:cNvPr id="3" name="Text 1"/>
          <p:cNvSpPr/>
          <p:nvPr/>
        </p:nvSpPr>
        <p:spPr>
          <a:xfrm>
            <a:off x="1691640" y="548640"/>
            <a:ext cx="10134295" cy="256032"/>
          </a:xfrm>
          <a:prstGeom prst="rect">
            <a:avLst/>
          </a:prstGeom>
          <a:noFill/>
          <a:ln/>
        </p:spPr>
        <p:txBody>
          <a:bodyPr wrap="square" lIns="0" tIns="0" rIns="0" bIns="0" rtlCol="0" anchor="ctr">
            <a:normAutofit/>
          </a:bodyPr>
          <a:lstStyle/>
          <a:p>
            <a:pPr rtl="1" algn="r" indent="0" marL="0">
              <a:buNone/>
            </a:pPr>
            <a:r>
              <a:rPr lang="ar-SA" altLang="en-US" sz="1200" dirty="0">
                <a:solidFill>
                  <a:srgbClr val="66707A"/>
                </a:solidFill>
                <a:latin typeface="Arial" pitchFamily="34" charset="0"/>
                <a:ea typeface="Arial" pitchFamily="34" charset="-122"/>
                <a:cs typeface="Arial" pitchFamily="34" charset="-120"/>
              </a:rPr>
              <a:t>الجدول الزمني لأنشطة المشروع · إيقاف الموقع وأعمال الدعم</a:t>
            </a:r>
            <a:endParaRPr lang="ar-SA" sz="1200" dirty="0"/>
          </a:p>
        </p:txBody>
      </p:sp>
      <p:sp>
        <p:nvSpPr>
          <p:cNvPr id="4" name="Shape 2"/>
          <p:cNvSpPr/>
          <p:nvPr/>
        </p:nvSpPr>
        <p:spPr>
          <a:xfrm>
            <a:off x="11569903" y="1069848"/>
            <a:ext cx="256032" cy="109728"/>
          </a:xfrm>
          <a:prstGeom prst="roundRect">
            <a:avLst>
              <a:gd name="adj" fmla="val 25000"/>
            </a:avLst>
          </a:prstGeom>
          <a:solidFill>
            <a:srgbClr val="7A8791"/>
          </a:solidFill>
          <a:ln w="12700">
            <a:solidFill>
              <a:srgbClr val="7A8791"/>
            </a:solidFill>
            <a:prstDash val="solid"/>
          </a:ln>
        </p:spPr>
      </p:sp>
      <p:sp>
        <p:nvSpPr>
          <p:cNvPr id="5" name="Text 3"/>
          <p:cNvSpPr/>
          <p:nvPr/>
        </p:nvSpPr>
        <p:spPr>
          <a:xfrm>
            <a:off x="10126980" y="1005840"/>
            <a:ext cx="1388059" cy="237744"/>
          </a:xfrm>
          <a:prstGeom prst="rect">
            <a:avLst/>
          </a:prstGeom>
          <a:noFill/>
          <a:ln/>
        </p:spPr>
        <p:txBody>
          <a:bodyPr wrap="square" lIns="0" tIns="0" rIns="0" bIns="0" rtlCol="0" anchor="ctr">
            <a:normAutofit/>
          </a:bodyPr>
          <a:lstStyle/>
          <a:p>
            <a:pPr rtl="1" algn="r" indent="0" marL="0">
              <a:buNone/>
            </a:pPr>
            <a:r>
              <a:rPr lang="ar-SA" altLang="en-US" sz="900" b="1" dirty="0">
                <a:solidFill>
                  <a:srgbClr val="333333"/>
                </a:solidFill>
                <a:latin typeface="Arial" pitchFamily="34" charset="0"/>
                <a:ea typeface="Arial" pitchFamily="34" charset="-122"/>
                <a:cs typeface="Arial" pitchFamily="34" charset="-120"/>
              </a:rPr>
              <a:t>الخلفية – طلب التصريح</a:t>
            </a:r>
            <a:endParaRPr lang="ar-SA" sz="900" dirty="0"/>
          </a:p>
        </p:txBody>
      </p:sp>
      <p:sp>
        <p:nvSpPr>
          <p:cNvPr id="6" name="Shape 4"/>
          <p:cNvSpPr/>
          <p:nvPr/>
        </p:nvSpPr>
        <p:spPr>
          <a:xfrm>
            <a:off x="9816084" y="1069848"/>
            <a:ext cx="256032" cy="109728"/>
          </a:xfrm>
          <a:prstGeom prst="roundRect">
            <a:avLst>
              <a:gd name="adj" fmla="val 25000"/>
            </a:avLst>
          </a:prstGeom>
          <a:solidFill>
            <a:srgbClr val="C8503F"/>
          </a:solidFill>
          <a:ln w="12700">
            <a:solidFill>
              <a:srgbClr val="C8503F"/>
            </a:solidFill>
            <a:prstDash val="solid"/>
          </a:ln>
        </p:spPr>
      </p:sp>
      <p:sp>
        <p:nvSpPr>
          <p:cNvPr id="7" name="Text 5"/>
          <p:cNvSpPr/>
          <p:nvPr/>
        </p:nvSpPr>
        <p:spPr>
          <a:xfrm>
            <a:off x="7736738" y="1005840"/>
            <a:ext cx="2024482" cy="237744"/>
          </a:xfrm>
          <a:prstGeom prst="rect">
            <a:avLst/>
          </a:prstGeom>
          <a:noFill/>
          <a:ln/>
        </p:spPr>
        <p:txBody>
          <a:bodyPr wrap="square" lIns="0" tIns="0" rIns="0" bIns="0" rtlCol="0" anchor="ctr">
            <a:normAutofit/>
          </a:bodyPr>
          <a:lstStyle/>
          <a:p>
            <a:pPr rtl="1" algn="r" indent="0" marL="0">
              <a:buNone/>
            </a:pPr>
            <a:r>
              <a:rPr lang="ar-SA" altLang="en-US" sz="900" b="1" dirty="0">
                <a:solidFill>
                  <a:srgbClr val="333333"/>
                </a:solidFill>
                <a:latin typeface="Arial" pitchFamily="34" charset="0"/>
                <a:ea typeface="Arial" pitchFamily="34" charset="-122"/>
                <a:cs typeface="Arial" pitchFamily="34" charset="-120"/>
              </a:rPr>
              <a:t>المرحلة 1 – الإيقاف وتقييم الموقع</a:t>
            </a:r>
            <a:endParaRPr lang="ar-SA" sz="900" dirty="0"/>
          </a:p>
        </p:txBody>
      </p:sp>
      <p:sp>
        <p:nvSpPr>
          <p:cNvPr id="8" name="Shape 6"/>
          <p:cNvSpPr/>
          <p:nvPr/>
        </p:nvSpPr>
        <p:spPr>
          <a:xfrm>
            <a:off x="7425842" y="1069848"/>
            <a:ext cx="256032" cy="109728"/>
          </a:xfrm>
          <a:prstGeom prst="roundRect">
            <a:avLst>
              <a:gd name="adj" fmla="val 25000"/>
            </a:avLst>
          </a:prstGeom>
          <a:solidFill>
            <a:srgbClr val="00778B"/>
          </a:solidFill>
          <a:ln w="12700">
            <a:solidFill>
              <a:srgbClr val="00778B"/>
            </a:solidFill>
            <a:prstDash val="solid"/>
          </a:ln>
        </p:spPr>
      </p:sp>
      <p:sp>
        <p:nvSpPr>
          <p:cNvPr id="9" name="Text 7"/>
          <p:cNvSpPr/>
          <p:nvPr/>
        </p:nvSpPr>
        <p:spPr>
          <a:xfrm>
            <a:off x="4869180" y="1005840"/>
            <a:ext cx="2501798" cy="237744"/>
          </a:xfrm>
          <a:prstGeom prst="rect">
            <a:avLst/>
          </a:prstGeom>
          <a:noFill/>
          <a:ln/>
        </p:spPr>
        <p:txBody>
          <a:bodyPr wrap="square" lIns="0" tIns="0" rIns="0" bIns="0" rtlCol="0" anchor="ctr">
            <a:normAutofit/>
          </a:bodyPr>
          <a:lstStyle/>
          <a:p>
            <a:pPr rtl="1" algn="r" indent="0" marL="0">
              <a:buNone/>
            </a:pPr>
            <a:r>
              <a:rPr lang="ar-SA" altLang="en-US" sz="900" b="1" dirty="0">
                <a:solidFill>
                  <a:srgbClr val="333333"/>
                </a:solidFill>
                <a:latin typeface="Arial" pitchFamily="34" charset="0"/>
                <a:ea typeface="Arial" pitchFamily="34" charset="-122"/>
                <a:cs typeface="Arial" pitchFamily="34" charset="-120"/>
              </a:rPr>
              <a:t>المرحلة 2 – إعداد ومراجعة بيان طريقة العمل</a:t>
            </a:r>
            <a:endParaRPr lang="ar-SA" sz="900" dirty="0"/>
          </a:p>
        </p:txBody>
      </p:sp>
      <p:sp>
        <p:nvSpPr>
          <p:cNvPr id="10" name="Shape 8"/>
          <p:cNvSpPr/>
          <p:nvPr/>
        </p:nvSpPr>
        <p:spPr>
          <a:xfrm>
            <a:off x="4558284" y="1069848"/>
            <a:ext cx="256032" cy="109728"/>
          </a:xfrm>
          <a:prstGeom prst="roundRect">
            <a:avLst>
              <a:gd name="adj" fmla="val 25000"/>
            </a:avLst>
          </a:prstGeom>
          <a:solidFill>
            <a:srgbClr val="2E9E6B"/>
          </a:solidFill>
          <a:ln w="12700">
            <a:solidFill>
              <a:srgbClr val="2E9E6B"/>
            </a:solidFill>
            <a:prstDash val="solid"/>
          </a:ln>
        </p:spPr>
      </p:sp>
      <p:sp>
        <p:nvSpPr>
          <p:cNvPr id="11" name="Text 9"/>
          <p:cNvSpPr/>
          <p:nvPr/>
        </p:nvSpPr>
        <p:spPr>
          <a:xfrm>
            <a:off x="2691079" y="1005840"/>
            <a:ext cx="1812341" cy="237744"/>
          </a:xfrm>
          <a:prstGeom prst="rect">
            <a:avLst/>
          </a:prstGeom>
          <a:noFill/>
          <a:ln/>
        </p:spPr>
        <p:txBody>
          <a:bodyPr wrap="square" lIns="0" tIns="0" rIns="0" bIns="0" rtlCol="0" anchor="ctr">
            <a:normAutofit/>
          </a:bodyPr>
          <a:lstStyle/>
          <a:p>
            <a:pPr rtl="1" algn="r" indent="0" marL="0">
              <a:buNone/>
            </a:pPr>
            <a:r>
              <a:rPr lang="ar-SA" altLang="en-US" sz="900" b="1" dirty="0">
                <a:solidFill>
                  <a:srgbClr val="333333"/>
                </a:solidFill>
                <a:latin typeface="Arial" pitchFamily="34" charset="0"/>
                <a:ea typeface="Arial" pitchFamily="34" charset="-122"/>
                <a:cs typeface="Arial" pitchFamily="34" charset="-120"/>
              </a:rPr>
              <a:t>المرحلة 3 – إصدار تصريح العمل</a:t>
            </a:r>
            <a:endParaRPr lang="ar-SA" sz="900" dirty="0"/>
          </a:p>
        </p:txBody>
      </p:sp>
      <p:sp>
        <p:nvSpPr>
          <p:cNvPr id="12" name="Shape 10"/>
          <p:cNvSpPr/>
          <p:nvPr/>
        </p:nvSpPr>
        <p:spPr>
          <a:xfrm>
            <a:off x="11317636" y="3803904"/>
            <a:ext cx="325419" cy="73152"/>
          </a:xfrm>
          <a:prstGeom prst="roundRect">
            <a:avLst>
              <a:gd name="adj" fmla="val 50000"/>
            </a:avLst>
          </a:prstGeom>
          <a:solidFill>
            <a:srgbClr val="7A8791"/>
          </a:solidFill>
          <a:ln w="12700">
            <a:solidFill>
              <a:srgbClr val="7A8791"/>
            </a:solidFill>
            <a:prstDash val="solid"/>
          </a:ln>
        </p:spPr>
      </p:sp>
      <p:sp>
        <p:nvSpPr>
          <p:cNvPr id="13" name="Shape 11"/>
          <p:cNvSpPr/>
          <p:nvPr/>
        </p:nvSpPr>
        <p:spPr>
          <a:xfrm>
            <a:off x="10666799" y="3803904"/>
            <a:ext cx="650838" cy="73152"/>
          </a:xfrm>
          <a:prstGeom prst="roundRect">
            <a:avLst>
              <a:gd name="adj" fmla="val 50000"/>
            </a:avLst>
          </a:prstGeom>
          <a:solidFill>
            <a:srgbClr val="7A8791"/>
          </a:solidFill>
          <a:ln w="12700">
            <a:solidFill>
              <a:srgbClr val="7A8791"/>
            </a:solidFill>
            <a:prstDash val="solid"/>
          </a:ln>
        </p:spPr>
      </p:sp>
      <p:sp>
        <p:nvSpPr>
          <p:cNvPr id="14" name="Shape 12"/>
          <p:cNvSpPr/>
          <p:nvPr/>
        </p:nvSpPr>
        <p:spPr>
          <a:xfrm>
            <a:off x="10015961" y="3803904"/>
            <a:ext cx="650838" cy="73152"/>
          </a:xfrm>
          <a:prstGeom prst="roundRect">
            <a:avLst>
              <a:gd name="adj" fmla="val 50000"/>
            </a:avLst>
          </a:prstGeom>
          <a:solidFill>
            <a:srgbClr val="C8503F"/>
          </a:solidFill>
          <a:ln w="12700">
            <a:solidFill>
              <a:srgbClr val="C8503F"/>
            </a:solidFill>
            <a:prstDash val="solid"/>
          </a:ln>
        </p:spPr>
      </p:sp>
      <p:sp>
        <p:nvSpPr>
          <p:cNvPr id="15" name="Shape 13"/>
          <p:cNvSpPr/>
          <p:nvPr/>
        </p:nvSpPr>
        <p:spPr>
          <a:xfrm>
            <a:off x="9365123" y="3803904"/>
            <a:ext cx="650838" cy="73152"/>
          </a:xfrm>
          <a:prstGeom prst="roundRect">
            <a:avLst>
              <a:gd name="adj" fmla="val 50000"/>
            </a:avLst>
          </a:prstGeom>
          <a:solidFill>
            <a:srgbClr val="C8503F"/>
          </a:solidFill>
          <a:ln w="12700">
            <a:solidFill>
              <a:srgbClr val="C8503F"/>
            </a:solidFill>
            <a:prstDash val="solid"/>
          </a:ln>
        </p:spPr>
      </p:sp>
      <p:sp>
        <p:nvSpPr>
          <p:cNvPr id="16" name="Shape 14"/>
          <p:cNvSpPr/>
          <p:nvPr/>
        </p:nvSpPr>
        <p:spPr>
          <a:xfrm>
            <a:off x="8714286" y="3803904"/>
            <a:ext cx="650838" cy="73152"/>
          </a:xfrm>
          <a:prstGeom prst="roundRect">
            <a:avLst>
              <a:gd name="adj" fmla="val 50000"/>
            </a:avLst>
          </a:prstGeom>
          <a:solidFill>
            <a:srgbClr val="C8503F"/>
          </a:solidFill>
          <a:ln w="12700">
            <a:solidFill>
              <a:srgbClr val="C8503F"/>
            </a:solidFill>
            <a:prstDash val="solid"/>
          </a:ln>
        </p:spPr>
      </p:sp>
      <p:sp>
        <p:nvSpPr>
          <p:cNvPr id="17" name="Shape 15"/>
          <p:cNvSpPr/>
          <p:nvPr/>
        </p:nvSpPr>
        <p:spPr>
          <a:xfrm>
            <a:off x="8063448" y="3803904"/>
            <a:ext cx="650838" cy="73152"/>
          </a:xfrm>
          <a:prstGeom prst="roundRect">
            <a:avLst>
              <a:gd name="adj" fmla="val 50000"/>
            </a:avLst>
          </a:prstGeom>
          <a:solidFill>
            <a:srgbClr val="C8503F"/>
          </a:solidFill>
          <a:ln w="12700">
            <a:solidFill>
              <a:srgbClr val="C8503F"/>
            </a:solidFill>
            <a:prstDash val="solid"/>
          </a:ln>
        </p:spPr>
      </p:sp>
      <p:sp>
        <p:nvSpPr>
          <p:cNvPr id="18" name="Shape 16"/>
          <p:cNvSpPr/>
          <p:nvPr/>
        </p:nvSpPr>
        <p:spPr>
          <a:xfrm>
            <a:off x="7412610" y="3803904"/>
            <a:ext cx="650838" cy="73152"/>
          </a:xfrm>
          <a:prstGeom prst="roundRect">
            <a:avLst>
              <a:gd name="adj" fmla="val 50000"/>
            </a:avLst>
          </a:prstGeom>
          <a:solidFill>
            <a:srgbClr val="00778B"/>
          </a:solidFill>
          <a:ln w="12700">
            <a:solidFill>
              <a:srgbClr val="00778B"/>
            </a:solidFill>
            <a:prstDash val="solid"/>
          </a:ln>
        </p:spPr>
      </p:sp>
      <p:sp>
        <p:nvSpPr>
          <p:cNvPr id="19" name="Shape 17"/>
          <p:cNvSpPr/>
          <p:nvPr/>
        </p:nvSpPr>
        <p:spPr>
          <a:xfrm>
            <a:off x="6761773" y="3803904"/>
            <a:ext cx="650838" cy="73152"/>
          </a:xfrm>
          <a:prstGeom prst="roundRect">
            <a:avLst>
              <a:gd name="adj" fmla="val 50000"/>
            </a:avLst>
          </a:prstGeom>
          <a:solidFill>
            <a:srgbClr val="00778B"/>
          </a:solidFill>
          <a:ln w="12700">
            <a:solidFill>
              <a:srgbClr val="00778B"/>
            </a:solidFill>
            <a:prstDash val="solid"/>
          </a:ln>
        </p:spPr>
      </p:sp>
      <p:sp>
        <p:nvSpPr>
          <p:cNvPr id="20" name="Shape 18"/>
          <p:cNvSpPr/>
          <p:nvPr/>
        </p:nvSpPr>
        <p:spPr>
          <a:xfrm>
            <a:off x="6110935" y="3803904"/>
            <a:ext cx="650838" cy="73152"/>
          </a:xfrm>
          <a:prstGeom prst="roundRect">
            <a:avLst>
              <a:gd name="adj" fmla="val 50000"/>
            </a:avLst>
          </a:prstGeom>
          <a:solidFill>
            <a:srgbClr val="00778B"/>
          </a:solidFill>
          <a:ln w="12700">
            <a:solidFill>
              <a:srgbClr val="00778B"/>
            </a:solidFill>
            <a:prstDash val="solid"/>
          </a:ln>
        </p:spPr>
      </p:sp>
      <p:sp>
        <p:nvSpPr>
          <p:cNvPr id="21" name="Shape 19"/>
          <p:cNvSpPr/>
          <p:nvPr/>
        </p:nvSpPr>
        <p:spPr>
          <a:xfrm>
            <a:off x="5460098" y="3803904"/>
            <a:ext cx="650838" cy="73152"/>
          </a:xfrm>
          <a:prstGeom prst="roundRect">
            <a:avLst>
              <a:gd name="adj" fmla="val 50000"/>
            </a:avLst>
          </a:prstGeom>
          <a:solidFill>
            <a:srgbClr val="00778B"/>
          </a:solidFill>
          <a:ln w="12700">
            <a:solidFill>
              <a:srgbClr val="00778B"/>
            </a:solidFill>
            <a:prstDash val="solid"/>
          </a:ln>
        </p:spPr>
      </p:sp>
      <p:sp>
        <p:nvSpPr>
          <p:cNvPr id="22" name="Shape 20"/>
          <p:cNvSpPr/>
          <p:nvPr/>
        </p:nvSpPr>
        <p:spPr>
          <a:xfrm>
            <a:off x="4809260" y="3803904"/>
            <a:ext cx="650838" cy="73152"/>
          </a:xfrm>
          <a:prstGeom prst="roundRect">
            <a:avLst>
              <a:gd name="adj" fmla="val 50000"/>
            </a:avLst>
          </a:prstGeom>
          <a:solidFill>
            <a:srgbClr val="00778B"/>
          </a:solidFill>
          <a:ln w="12700">
            <a:solidFill>
              <a:srgbClr val="00778B"/>
            </a:solidFill>
            <a:prstDash val="solid"/>
          </a:ln>
        </p:spPr>
      </p:sp>
      <p:sp>
        <p:nvSpPr>
          <p:cNvPr id="23" name="Shape 21"/>
          <p:cNvSpPr/>
          <p:nvPr/>
        </p:nvSpPr>
        <p:spPr>
          <a:xfrm>
            <a:off x="4158422" y="3803904"/>
            <a:ext cx="650838" cy="73152"/>
          </a:xfrm>
          <a:prstGeom prst="roundRect">
            <a:avLst>
              <a:gd name="adj" fmla="val 50000"/>
            </a:avLst>
          </a:prstGeom>
          <a:solidFill>
            <a:srgbClr val="2E9E6B"/>
          </a:solidFill>
          <a:ln w="12700">
            <a:solidFill>
              <a:srgbClr val="2E9E6B"/>
            </a:solidFill>
            <a:prstDash val="solid"/>
          </a:ln>
        </p:spPr>
      </p:sp>
      <p:sp>
        <p:nvSpPr>
          <p:cNvPr id="24" name="Shape 22"/>
          <p:cNvSpPr/>
          <p:nvPr/>
        </p:nvSpPr>
        <p:spPr>
          <a:xfrm>
            <a:off x="3507585" y="3803904"/>
            <a:ext cx="650838" cy="73152"/>
          </a:xfrm>
          <a:prstGeom prst="roundRect">
            <a:avLst>
              <a:gd name="adj" fmla="val 50000"/>
            </a:avLst>
          </a:prstGeom>
          <a:solidFill>
            <a:srgbClr val="2E9E6B"/>
          </a:solidFill>
          <a:ln w="12700">
            <a:solidFill>
              <a:srgbClr val="2E9E6B"/>
            </a:solidFill>
            <a:prstDash val="solid"/>
          </a:ln>
        </p:spPr>
      </p:sp>
      <p:sp>
        <p:nvSpPr>
          <p:cNvPr id="25" name="Shape 23"/>
          <p:cNvSpPr/>
          <p:nvPr/>
        </p:nvSpPr>
        <p:spPr>
          <a:xfrm>
            <a:off x="2856747" y="3803904"/>
            <a:ext cx="650838" cy="73152"/>
          </a:xfrm>
          <a:prstGeom prst="roundRect">
            <a:avLst>
              <a:gd name="adj" fmla="val 50000"/>
            </a:avLst>
          </a:prstGeom>
          <a:solidFill>
            <a:srgbClr val="2E9E6B"/>
          </a:solidFill>
          <a:ln w="12700">
            <a:solidFill>
              <a:srgbClr val="2E9E6B"/>
            </a:solidFill>
            <a:prstDash val="solid"/>
          </a:ln>
        </p:spPr>
      </p:sp>
      <p:sp>
        <p:nvSpPr>
          <p:cNvPr id="26" name="Shape 24"/>
          <p:cNvSpPr/>
          <p:nvPr/>
        </p:nvSpPr>
        <p:spPr>
          <a:xfrm>
            <a:off x="2205909" y="3803904"/>
            <a:ext cx="650838" cy="73152"/>
          </a:xfrm>
          <a:prstGeom prst="roundRect">
            <a:avLst>
              <a:gd name="adj" fmla="val 50000"/>
            </a:avLst>
          </a:prstGeom>
          <a:solidFill>
            <a:srgbClr val="2E9E6B"/>
          </a:solidFill>
          <a:ln w="12700">
            <a:solidFill>
              <a:srgbClr val="2E9E6B"/>
            </a:solidFill>
            <a:prstDash val="solid"/>
          </a:ln>
        </p:spPr>
      </p:sp>
      <p:sp>
        <p:nvSpPr>
          <p:cNvPr id="27" name="Shape 25"/>
          <p:cNvSpPr/>
          <p:nvPr/>
        </p:nvSpPr>
        <p:spPr>
          <a:xfrm>
            <a:off x="1555072" y="3803904"/>
            <a:ext cx="650838" cy="73152"/>
          </a:xfrm>
          <a:prstGeom prst="roundRect">
            <a:avLst>
              <a:gd name="adj" fmla="val 50000"/>
            </a:avLst>
          </a:prstGeom>
          <a:solidFill>
            <a:srgbClr val="2E9E6B"/>
          </a:solidFill>
          <a:ln w="12700">
            <a:solidFill>
              <a:srgbClr val="2E9E6B"/>
            </a:solidFill>
            <a:prstDash val="solid"/>
          </a:ln>
        </p:spPr>
      </p:sp>
      <p:sp>
        <p:nvSpPr>
          <p:cNvPr id="28" name="Shape 26"/>
          <p:cNvSpPr/>
          <p:nvPr/>
        </p:nvSpPr>
        <p:spPr>
          <a:xfrm>
            <a:off x="904234" y="3803904"/>
            <a:ext cx="650838" cy="73152"/>
          </a:xfrm>
          <a:prstGeom prst="roundRect">
            <a:avLst>
              <a:gd name="adj" fmla="val 50000"/>
            </a:avLst>
          </a:prstGeom>
          <a:solidFill>
            <a:srgbClr val="2E9E6B"/>
          </a:solidFill>
          <a:ln w="12700">
            <a:solidFill>
              <a:srgbClr val="2E9E6B"/>
            </a:solidFill>
            <a:prstDash val="solid"/>
          </a:ln>
        </p:spPr>
      </p:sp>
      <p:sp>
        <p:nvSpPr>
          <p:cNvPr id="29" name="Shape 27"/>
          <p:cNvSpPr/>
          <p:nvPr/>
        </p:nvSpPr>
        <p:spPr>
          <a:xfrm>
            <a:off x="578815" y="3803904"/>
            <a:ext cx="325419" cy="73152"/>
          </a:xfrm>
          <a:prstGeom prst="roundRect">
            <a:avLst>
              <a:gd name="adj" fmla="val 50000"/>
            </a:avLst>
          </a:prstGeom>
          <a:solidFill>
            <a:srgbClr val="C9D3D8"/>
          </a:solidFill>
          <a:ln w="12700">
            <a:solidFill>
              <a:srgbClr val="C9D3D8"/>
            </a:solidFill>
            <a:prstDash val="solid"/>
          </a:ln>
        </p:spPr>
      </p:sp>
      <p:sp>
        <p:nvSpPr>
          <p:cNvPr id="30" name="Shape 28"/>
          <p:cNvSpPr/>
          <p:nvPr/>
        </p:nvSpPr>
        <p:spPr>
          <a:xfrm>
            <a:off x="11317636" y="3447288"/>
            <a:ext cx="0" cy="182880"/>
          </a:xfrm>
          <a:prstGeom prst="line">
            <a:avLst/>
          </a:prstGeom>
          <a:noFill/>
          <a:ln w="19050">
            <a:solidFill>
              <a:srgbClr val="7A8791">
                <a:alpha val="65000"/>
              </a:srgbClr>
            </a:solidFill>
            <a:prstDash val="solid"/>
          </a:ln>
        </p:spPr>
      </p:sp>
      <p:sp>
        <p:nvSpPr>
          <p:cNvPr id="31" name="Shape 29"/>
          <p:cNvSpPr/>
          <p:nvPr/>
        </p:nvSpPr>
        <p:spPr>
          <a:xfrm>
            <a:off x="11107324" y="3630168"/>
            <a:ext cx="420624" cy="420624"/>
          </a:xfrm>
          <a:prstGeom prst="ellipse">
            <a:avLst/>
          </a:prstGeom>
          <a:solidFill>
            <a:srgbClr val="7A8791"/>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32" name="Text 30"/>
          <p:cNvSpPr/>
          <p:nvPr/>
        </p:nvSpPr>
        <p:spPr>
          <a:xfrm>
            <a:off x="11107324"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a:t>
            </a:r>
            <a:endParaRPr lang="ar-SA" sz="1100" dirty="0"/>
          </a:p>
        </p:txBody>
      </p:sp>
      <p:sp>
        <p:nvSpPr>
          <p:cNvPr id="33" name="Shape 31"/>
          <p:cNvSpPr/>
          <p:nvPr/>
        </p:nvSpPr>
        <p:spPr>
          <a:xfrm>
            <a:off x="9899778"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34" name="Shape 32"/>
          <p:cNvSpPr/>
          <p:nvPr/>
        </p:nvSpPr>
        <p:spPr>
          <a:xfrm>
            <a:off x="9972930" y="2734056"/>
            <a:ext cx="1871293" cy="54864"/>
          </a:xfrm>
          <a:prstGeom prst="rect">
            <a:avLst/>
          </a:prstGeom>
          <a:solidFill>
            <a:srgbClr val="7A8791"/>
          </a:solidFill>
          <a:ln w="12700">
            <a:solidFill>
              <a:srgbClr val="7A8791"/>
            </a:solidFill>
            <a:prstDash val="solid"/>
          </a:ln>
        </p:spPr>
      </p:sp>
      <p:sp>
        <p:nvSpPr>
          <p:cNvPr id="35" name="Text 33"/>
          <p:cNvSpPr/>
          <p:nvPr/>
        </p:nvSpPr>
        <p:spPr>
          <a:xfrm>
            <a:off x="9991218" y="280720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اثنين 31 أغسطس 2026</a:t>
            </a:r>
            <a:endParaRPr lang="ar-SA" sz="950" dirty="0"/>
          </a:p>
        </p:txBody>
      </p:sp>
      <p:sp>
        <p:nvSpPr>
          <p:cNvPr id="36" name="Text 34"/>
          <p:cNvSpPr/>
          <p:nvPr/>
        </p:nvSpPr>
        <p:spPr>
          <a:xfrm>
            <a:off x="9991218" y="305409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7A8791"/>
                </a:solidFill>
                <a:latin typeface="Arial" pitchFamily="34" charset="0"/>
                <a:ea typeface="Arial" pitchFamily="34" charset="-122"/>
                <a:cs typeface="Arial" pitchFamily="34" charset="-120"/>
              </a:rPr>
              <a:t>الخلفية – طلب التصريح</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طلب تصريح العمل</a:t>
            </a:r>
            <a:endParaRPr lang="ar-SA" sz="650" dirty="0"/>
          </a:p>
        </p:txBody>
      </p:sp>
      <p:sp>
        <p:nvSpPr>
          <p:cNvPr id="37" name="Shape 35"/>
          <p:cNvSpPr/>
          <p:nvPr/>
        </p:nvSpPr>
        <p:spPr>
          <a:xfrm>
            <a:off x="10666799" y="4050792"/>
            <a:ext cx="0" cy="182880"/>
          </a:xfrm>
          <a:prstGeom prst="line">
            <a:avLst/>
          </a:prstGeom>
          <a:noFill/>
          <a:ln w="19050">
            <a:solidFill>
              <a:srgbClr val="7A8791">
                <a:alpha val="65000"/>
              </a:srgbClr>
            </a:solidFill>
            <a:prstDash val="solid"/>
          </a:ln>
        </p:spPr>
      </p:sp>
      <p:sp>
        <p:nvSpPr>
          <p:cNvPr id="38" name="Shape 36"/>
          <p:cNvSpPr/>
          <p:nvPr/>
        </p:nvSpPr>
        <p:spPr>
          <a:xfrm>
            <a:off x="10456487" y="3630168"/>
            <a:ext cx="420624" cy="420624"/>
          </a:xfrm>
          <a:prstGeom prst="ellipse">
            <a:avLst/>
          </a:prstGeom>
          <a:solidFill>
            <a:srgbClr val="7A8791"/>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39" name="Text 37"/>
          <p:cNvSpPr/>
          <p:nvPr/>
        </p:nvSpPr>
        <p:spPr>
          <a:xfrm>
            <a:off x="10456487"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2</a:t>
            </a:r>
            <a:endParaRPr lang="ar-SA" sz="1100" dirty="0"/>
          </a:p>
        </p:txBody>
      </p:sp>
      <p:sp>
        <p:nvSpPr>
          <p:cNvPr id="40" name="Shape 38"/>
          <p:cNvSpPr/>
          <p:nvPr/>
        </p:nvSpPr>
        <p:spPr>
          <a:xfrm>
            <a:off x="9658000"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41" name="Shape 39"/>
          <p:cNvSpPr/>
          <p:nvPr/>
        </p:nvSpPr>
        <p:spPr>
          <a:xfrm>
            <a:off x="9731152" y="4233672"/>
            <a:ext cx="1871293" cy="54864"/>
          </a:xfrm>
          <a:prstGeom prst="rect">
            <a:avLst/>
          </a:prstGeom>
          <a:solidFill>
            <a:srgbClr val="7A8791"/>
          </a:solidFill>
          <a:ln w="12700">
            <a:solidFill>
              <a:srgbClr val="7A8791"/>
            </a:solidFill>
            <a:prstDash val="solid"/>
          </a:ln>
        </p:spPr>
      </p:sp>
      <p:sp>
        <p:nvSpPr>
          <p:cNvPr id="42" name="Text 40"/>
          <p:cNvSpPr/>
          <p:nvPr/>
        </p:nvSpPr>
        <p:spPr>
          <a:xfrm>
            <a:off x="9749440" y="430682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اثنين 28 سبتمبر 2026</a:t>
            </a:r>
            <a:endParaRPr lang="ar-SA" sz="950" dirty="0"/>
          </a:p>
        </p:txBody>
      </p:sp>
      <p:sp>
        <p:nvSpPr>
          <p:cNvPr id="43" name="Text 41"/>
          <p:cNvSpPr/>
          <p:nvPr/>
        </p:nvSpPr>
        <p:spPr>
          <a:xfrm>
            <a:off x="9749440" y="455371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7A8791"/>
                </a:solidFill>
                <a:latin typeface="Arial" pitchFamily="34" charset="0"/>
                <a:ea typeface="Arial" pitchFamily="34" charset="-122"/>
                <a:cs typeface="Arial" pitchFamily="34" charset="-120"/>
              </a:rPr>
              <a:t>الخلفية – طلب التصريح</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رفض طلب التصريح</a:t>
            </a:r>
            <a:endParaRPr lang="ar-SA" sz="650" dirty="0"/>
          </a:p>
        </p:txBody>
      </p:sp>
      <p:sp>
        <p:nvSpPr>
          <p:cNvPr id="44" name="Shape 42"/>
          <p:cNvSpPr/>
          <p:nvPr/>
        </p:nvSpPr>
        <p:spPr>
          <a:xfrm>
            <a:off x="10015961" y="2624328"/>
            <a:ext cx="0" cy="1005840"/>
          </a:xfrm>
          <a:prstGeom prst="line">
            <a:avLst/>
          </a:prstGeom>
          <a:noFill/>
          <a:ln w="19050">
            <a:solidFill>
              <a:srgbClr val="C8503F">
                <a:alpha val="65000"/>
              </a:srgbClr>
            </a:solidFill>
            <a:prstDash val="solid"/>
          </a:ln>
        </p:spPr>
      </p:sp>
      <p:sp>
        <p:nvSpPr>
          <p:cNvPr id="45" name="Shape 43"/>
          <p:cNvSpPr/>
          <p:nvPr/>
        </p:nvSpPr>
        <p:spPr>
          <a:xfrm>
            <a:off x="9805649"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46" name="Text 44"/>
          <p:cNvSpPr/>
          <p:nvPr/>
        </p:nvSpPr>
        <p:spPr>
          <a:xfrm>
            <a:off x="9805649"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3</a:t>
            </a:r>
            <a:endParaRPr lang="ar-SA" sz="1100" dirty="0"/>
          </a:p>
        </p:txBody>
      </p:sp>
      <p:sp>
        <p:nvSpPr>
          <p:cNvPr id="47" name="Shape 45"/>
          <p:cNvSpPr/>
          <p:nvPr/>
        </p:nvSpPr>
        <p:spPr>
          <a:xfrm>
            <a:off x="9007163"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48" name="Shape 46"/>
          <p:cNvSpPr/>
          <p:nvPr/>
        </p:nvSpPr>
        <p:spPr>
          <a:xfrm>
            <a:off x="9080315" y="1911096"/>
            <a:ext cx="1871293" cy="54864"/>
          </a:xfrm>
          <a:prstGeom prst="rect">
            <a:avLst/>
          </a:prstGeom>
          <a:solidFill>
            <a:srgbClr val="C8503F"/>
          </a:solidFill>
          <a:ln w="12700">
            <a:solidFill>
              <a:srgbClr val="C8503F"/>
            </a:solidFill>
            <a:prstDash val="solid"/>
          </a:ln>
        </p:spPr>
      </p:sp>
      <p:sp>
        <p:nvSpPr>
          <p:cNvPr id="49" name="Text 47"/>
          <p:cNvSpPr/>
          <p:nvPr/>
        </p:nvSpPr>
        <p:spPr>
          <a:xfrm>
            <a:off x="9098603" y="198424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خميس 1 أكتوبر 2026</a:t>
            </a:r>
            <a:endParaRPr lang="ar-SA" sz="950" dirty="0"/>
          </a:p>
        </p:txBody>
      </p:sp>
      <p:sp>
        <p:nvSpPr>
          <p:cNvPr id="50" name="Text 48"/>
          <p:cNvSpPr/>
          <p:nvPr/>
        </p:nvSpPr>
        <p:spPr>
          <a:xfrm>
            <a:off x="9098603" y="223113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C8503F"/>
                </a:solidFill>
                <a:latin typeface="Arial" pitchFamily="34" charset="0"/>
                <a:ea typeface="Arial" pitchFamily="34" charset="-122"/>
                <a:cs typeface="Arial" pitchFamily="34" charset="-120"/>
              </a:rPr>
              <a:t>المرحلة 1 – الإيقاف وتقييم الموقع</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إيقاف أنشطة المشروع</a:t>
            </a:r>
            <a:endParaRPr lang="ar-SA" sz="650" dirty="0"/>
          </a:p>
        </p:txBody>
      </p:sp>
      <p:sp>
        <p:nvSpPr>
          <p:cNvPr id="51" name="Shape 49"/>
          <p:cNvSpPr/>
          <p:nvPr/>
        </p:nvSpPr>
        <p:spPr>
          <a:xfrm>
            <a:off x="9365123" y="4050792"/>
            <a:ext cx="0" cy="1005840"/>
          </a:xfrm>
          <a:prstGeom prst="line">
            <a:avLst/>
          </a:prstGeom>
          <a:noFill/>
          <a:ln w="19050">
            <a:solidFill>
              <a:srgbClr val="C8503F">
                <a:alpha val="65000"/>
              </a:srgbClr>
            </a:solidFill>
            <a:prstDash val="solid"/>
          </a:ln>
        </p:spPr>
      </p:sp>
      <p:sp>
        <p:nvSpPr>
          <p:cNvPr id="52" name="Shape 50"/>
          <p:cNvSpPr/>
          <p:nvPr/>
        </p:nvSpPr>
        <p:spPr>
          <a:xfrm>
            <a:off x="9154811"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53" name="Text 51"/>
          <p:cNvSpPr/>
          <p:nvPr/>
        </p:nvSpPr>
        <p:spPr>
          <a:xfrm>
            <a:off x="9154811"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4</a:t>
            </a:r>
            <a:endParaRPr lang="ar-SA" sz="1100" dirty="0"/>
          </a:p>
        </p:txBody>
      </p:sp>
      <p:sp>
        <p:nvSpPr>
          <p:cNvPr id="54" name="Shape 52"/>
          <p:cNvSpPr/>
          <p:nvPr/>
        </p:nvSpPr>
        <p:spPr>
          <a:xfrm>
            <a:off x="8356325"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55" name="Shape 53"/>
          <p:cNvSpPr/>
          <p:nvPr/>
        </p:nvSpPr>
        <p:spPr>
          <a:xfrm>
            <a:off x="8429477" y="5056632"/>
            <a:ext cx="1871293" cy="54864"/>
          </a:xfrm>
          <a:prstGeom prst="rect">
            <a:avLst/>
          </a:prstGeom>
          <a:solidFill>
            <a:srgbClr val="C8503F"/>
          </a:solidFill>
          <a:ln w="12700">
            <a:solidFill>
              <a:srgbClr val="C8503F"/>
            </a:solidFill>
            <a:prstDash val="solid"/>
          </a:ln>
        </p:spPr>
      </p:sp>
      <p:sp>
        <p:nvSpPr>
          <p:cNvPr id="56" name="Text 54"/>
          <p:cNvSpPr/>
          <p:nvPr/>
        </p:nvSpPr>
        <p:spPr>
          <a:xfrm>
            <a:off x="8447765" y="512978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سبت 3 أكتوبر 2026</a:t>
            </a:r>
            <a:endParaRPr lang="ar-SA" sz="950" dirty="0"/>
          </a:p>
        </p:txBody>
      </p:sp>
      <p:sp>
        <p:nvSpPr>
          <p:cNvPr id="57" name="Text 55"/>
          <p:cNvSpPr/>
          <p:nvPr/>
        </p:nvSpPr>
        <p:spPr>
          <a:xfrm>
            <a:off x="8447765" y="537667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C8503F"/>
                </a:solidFill>
                <a:latin typeface="Arial" pitchFamily="34" charset="0"/>
                <a:ea typeface="Arial" pitchFamily="34" charset="-122"/>
                <a:cs typeface="Arial" pitchFamily="34" charset="-120"/>
              </a:rPr>
              <a:t>المرحلة 1 – الإيقاف وتقييم الموقع</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زيارة ميدانية مشتركة</a:t>
            </a:r>
            <a:endParaRPr lang="ar-SA" sz="650" dirty="0"/>
          </a:p>
        </p:txBody>
      </p:sp>
      <p:sp>
        <p:nvSpPr>
          <p:cNvPr id="58" name="Shape 56"/>
          <p:cNvSpPr/>
          <p:nvPr/>
        </p:nvSpPr>
        <p:spPr>
          <a:xfrm>
            <a:off x="8714286" y="3447288"/>
            <a:ext cx="0" cy="182880"/>
          </a:xfrm>
          <a:prstGeom prst="line">
            <a:avLst/>
          </a:prstGeom>
          <a:noFill/>
          <a:ln w="19050">
            <a:solidFill>
              <a:srgbClr val="C8503F">
                <a:alpha val="65000"/>
              </a:srgbClr>
            </a:solidFill>
            <a:prstDash val="solid"/>
          </a:ln>
        </p:spPr>
      </p:sp>
      <p:sp>
        <p:nvSpPr>
          <p:cNvPr id="59" name="Shape 57"/>
          <p:cNvSpPr/>
          <p:nvPr/>
        </p:nvSpPr>
        <p:spPr>
          <a:xfrm>
            <a:off x="8503974"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60" name="Text 58"/>
          <p:cNvSpPr/>
          <p:nvPr/>
        </p:nvSpPr>
        <p:spPr>
          <a:xfrm>
            <a:off x="8503974"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5</a:t>
            </a:r>
            <a:endParaRPr lang="ar-SA" sz="1100" dirty="0"/>
          </a:p>
        </p:txBody>
      </p:sp>
      <p:sp>
        <p:nvSpPr>
          <p:cNvPr id="61" name="Shape 59"/>
          <p:cNvSpPr/>
          <p:nvPr/>
        </p:nvSpPr>
        <p:spPr>
          <a:xfrm>
            <a:off x="7705487"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62" name="Shape 60"/>
          <p:cNvSpPr/>
          <p:nvPr/>
        </p:nvSpPr>
        <p:spPr>
          <a:xfrm>
            <a:off x="7778639" y="2734056"/>
            <a:ext cx="1871293" cy="54864"/>
          </a:xfrm>
          <a:prstGeom prst="rect">
            <a:avLst/>
          </a:prstGeom>
          <a:solidFill>
            <a:srgbClr val="C8503F"/>
          </a:solidFill>
          <a:ln w="12700">
            <a:solidFill>
              <a:srgbClr val="C8503F"/>
            </a:solidFill>
            <a:prstDash val="solid"/>
          </a:ln>
        </p:spPr>
      </p:sp>
      <p:sp>
        <p:nvSpPr>
          <p:cNvPr id="63" name="Text 61"/>
          <p:cNvSpPr/>
          <p:nvPr/>
        </p:nvSpPr>
        <p:spPr>
          <a:xfrm>
            <a:off x="7796927" y="280720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أحد 4 أكتوبر 2026</a:t>
            </a:r>
            <a:endParaRPr lang="ar-SA" sz="950" dirty="0"/>
          </a:p>
        </p:txBody>
      </p:sp>
      <p:sp>
        <p:nvSpPr>
          <p:cNvPr id="64" name="Text 62"/>
          <p:cNvSpPr/>
          <p:nvPr/>
        </p:nvSpPr>
        <p:spPr>
          <a:xfrm>
            <a:off x="7796927" y="305409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C8503F"/>
                </a:solidFill>
                <a:latin typeface="Arial" pitchFamily="34" charset="0"/>
                <a:ea typeface="Arial" pitchFamily="34" charset="-122"/>
                <a:cs typeface="Arial" pitchFamily="34" charset="-120"/>
              </a:rPr>
              <a:t>المرحلة 1 – الإيقاف وتقييم الموقع</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تقديم تقييم المخاطر وخطة التخفيف</a:t>
            </a:r>
            <a:endParaRPr lang="ar-SA" sz="650" dirty="0"/>
          </a:p>
        </p:txBody>
      </p:sp>
      <p:sp>
        <p:nvSpPr>
          <p:cNvPr id="65" name="Shape 63"/>
          <p:cNvSpPr/>
          <p:nvPr/>
        </p:nvSpPr>
        <p:spPr>
          <a:xfrm>
            <a:off x="8063448" y="4050792"/>
            <a:ext cx="0" cy="182880"/>
          </a:xfrm>
          <a:prstGeom prst="line">
            <a:avLst/>
          </a:prstGeom>
          <a:noFill/>
          <a:ln w="19050">
            <a:solidFill>
              <a:srgbClr val="C8503F">
                <a:alpha val="65000"/>
              </a:srgbClr>
            </a:solidFill>
            <a:prstDash val="solid"/>
          </a:ln>
        </p:spPr>
      </p:sp>
      <p:sp>
        <p:nvSpPr>
          <p:cNvPr id="66" name="Shape 64"/>
          <p:cNvSpPr/>
          <p:nvPr/>
        </p:nvSpPr>
        <p:spPr>
          <a:xfrm>
            <a:off x="7853136"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67" name="Text 65"/>
          <p:cNvSpPr/>
          <p:nvPr/>
        </p:nvSpPr>
        <p:spPr>
          <a:xfrm>
            <a:off x="7853136"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6</a:t>
            </a:r>
            <a:endParaRPr lang="ar-SA" sz="1100" dirty="0"/>
          </a:p>
        </p:txBody>
      </p:sp>
      <p:sp>
        <p:nvSpPr>
          <p:cNvPr id="68" name="Shape 66"/>
          <p:cNvSpPr/>
          <p:nvPr/>
        </p:nvSpPr>
        <p:spPr>
          <a:xfrm>
            <a:off x="7054650"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69" name="Shape 67"/>
          <p:cNvSpPr/>
          <p:nvPr/>
        </p:nvSpPr>
        <p:spPr>
          <a:xfrm>
            <a:off x="7127802" y="4233672"/>
            <a:ext cx="1871293" cy="54864"/>
          </a:xfrm>
          <a:prstGeom prst="rect">
            <a:avLst/>
          </a:prstGeom>
          <a:solidFill>
            <a:srgbClr val="C8503F"/>
          </a:solidFill>
          <a:ln w="12700">
            <a:solidFill>
              <a:srgbClr val="C8503F"/>
            </a:solidFill>
            <a:prstDash val="solid"/>
          </a:ln>
        </p:spPr>
      </p:sp>
      <p:sp>
        <p:nvSpPr>
          <p:cNvPr id="70" name="Text 68"/>
          <p:cNvSpPr/>
          <p:nvPr/>
        </p:nvSpPr>
        <p:spPr>
          <a:xfrm>
            <a:off x="7146090" y="430682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اثنين 5 أكتوبر 2026</a:t>
            </a:r>
            <a:endParaRPr lang="ar-SA" sz="950" dirty="0"/>
          </a:p>
        </p:txBody>
      </p:sp>
      <p:sp>
        <p:nvSpPr>
          <p:cNvPr id="71" name="Text 69"/>
          <p:cNvSpPr/>
          <p:nvPr/>
        </p:nvSpPr>
        <p:spPr>
          <a:xfrm>
            <a:off x="7146090" y="455371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C8503F"/>
                </a:solidFill>
                <a:latin typeface="Arial" pitchFamily="34" charset="0"/>
                <a:ea typeface="Arial" pitchFamily="34" charset="-122"/>
                <a:cs typeface="Arial" pitchFamily="34" charset="-120"/>
              </a:rPr>
              <a:t>المرحلة 1 – الإيقاف وتقييم الموقع</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طلب خطة عمل تفصيلية</a:t>
            </a:r>
            <a:endParaRPr lang="ar-SA" sz="650" dirty="0"/>
          </a:p>
        </p:txBody>
      </p:sp>
      <p:sp>
        <p:nvSpPr>
          <p:cNvPr id="72" name="Shape 70"/>
          <p:cNvSpPr/>
          <p:nvPr/>
        </p:nvSpPr>
        <p:spPr>
          <a:xfrm>
            <a:off x="7412610" y="2624328"/>
            <a:ext cx="0" cy="1005840"/>
          </a:xfrm>
          <a:prstGeom prst="line">
            <a:avLst/>
          </a:prstGeom>
          <a:noFill/>
          <a:ln w="19050">
            <a:solidFill>
              <a:srgbClr val="00778B">
                <a:alpha val="65000"/>
              </a:srgbClr>
            </a:solidFill>
            <a:prstDash val="solid"/>
          </a:ln>
        </p:spPr>
      </p:sp>
      <p:sp>
        <p:nvSpPr>
          <p:cNvPr id="73" name="Shape 71"/>
          <p:cNvSpPr/>
          <p:nvPr/>
        </p:nvSpPr>
        <p:spPr>
          <a:xfrm>
            <a:off x="7202298"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74" name="Text 72"/>
          <p:cNvSpPr/>
          <p:nvPr/>
        </p:nvSpPr>
        <p:spPr>
          <a:xfrm>
            <a:off x="7202298"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7</a:t>
            </a:r>
            <a:endParaRPr lang="ar-SA" sz="1100" dirty="0"/>
          </a:p>
        </p:txBody>
      </p:sp>
      <p:sp>
        <p:nvSpPr>
          <p:cNvPr id="75" name="Shape 73"/>
          <p:cNvSpPr/>
          <p:nvPr/>
        </p:nvSpPr>
        <p:spPr>
          <a:xfrm>
            <a:off x="6403812"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76" name="Shape 74"/>
          <p:cNvSpPr/>
          <p:nvPr/>
        </p:nvSpPr>
        <p:spPr>
          <a:xfrm>
            <a:off x="6476964" y="1911096"/>
            <a:ext cx="1871293" cy="54864"/>
          </a:xfrm>
          <a:prstGeom prst="rect">
            <a:avLst/>
          </a:prstGeom>
          <a:solidFill>
            <a:srgbClr val="00778B"/>
          </a:solidFill>
          <a:ln w="12700">
            <a:solidFill>
              <a:srgbClr val="00778B"/>
            </a:solidFill>
            <a:prstDash val="solid"/>
          </a:ln>
        </p:spPr>
      </p:sp>
      <p:sp>
        <p:nvSpPr>
          <p:cNvPr id="77" name="Text 75"/>
          <p:cNvSpPr/>
          <p:nvPr/>
        </p:nvSpPr>
        <p:spPr>
          <a:xfrm>
            <a:off x="6495252" y="198424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أربعاء 7 أكتوبر 2026</a:t>
            </a:r>
            <a:endParaRPr lang="ar-SA" sz="950" dirty="0"/>
          </a:p>
        </p:txBody>
      </p:sp>
      <p:sp>
        <p:nvSpPr>
          <p:cNvPr id="78" name="Text 76"/>
          <p:cNvSpPr/>
          <p:nvPr/>
        </p:nvSpPr>
        <p:spPr>
          <a:xfrm>
            <a:off x="6495252" y="223113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00778B"/>
                </a:solidFill>
                <a:latin typeface="Arial" pitchFamily="34" charset="0"/>
                <a:ea typeface="Arial" pitchFamily="34" charset="-122"/>
                <a:cs typeface="Arial" pitchFamily="34" charset="-120"/>
              </a:rPr>
              <a:t>المرحلة 2 – إعداد ومراجعة بيان طريقة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تقديم بيان طريقة العمل (MoS)</a:t>
            </a:r>
            <a:endParaRPr lang="ar-SA" sz="650" dirty="0"/>
          </a:p>
        </p:txBody>
      </p:sp>
      <p:sp>
        <p:nvSpPr>
          <p:cNvPr id="79" name="Shape 77"/>
          <p:cNvSpPr/>
          <p:nvPr/>
        </p:nvSpPr>
        <p:spPr>
          <a:xfrm>
            <a:off x="6761773" y="4050792"/>
            <a:ext cx="0" cy="1005840"/>
          </a:xfrm>
          <a:prstGeom prst="line">
            <a:avLst/>
          </a:prstGeom>
          <a:noFill/>
          <a:ln w="19050">
            <a:solidFill>
              <a:srgbClr val="00778B">
                <a:alpha val="65000"/>
              </a:srgbClr>
            </a:solidFill>
            <a:prstDash val="solid"/>
          </a:ln>
        </p:spPr>
      </p:sp>
      <p:sp>
        <p:nvSpPr>
          <p:cNvPr id="80" name="Shape 78"/>
          <p:cNvSpPr/>
          <p:nvPr/>
        </p:nvSpPr>
        <p:spPr>
          <a:xfrm>
            <a:off x="6551461"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81" name="Text 79"/>
          <p:cNvSpPr/>
          <p:nvPr/>
        </p:nvSpPr>
        <p:spPr>
          <a:xfrm>
            <a:off x="6551461"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8</a:t>
            </a:r>
            <a:endParaRPr lang="ar-SA" sz="1100" dirty="0"/>
          </a:p>
        </p:txBody>
      </p:sp>
      <p:sp>
        <p:nvSpPr>
          <p:cNvPr id="82" name="Shape 80"/>
          <p:cNvSpPr/>
          <p:nvPr/>
        </p:nvSpPr>
        <p:spPr>
          <a:xfrm>
            <a:off x="5752974"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83" name="Shape 81"/>
          <p:cNvSpPr/>
          <p:nvPr/>
        </p:nvSpPr>
        <p:spPr>
          <a:xfrm>
            <a:off x="5826126" y="5056632"/>
            <a:ext cx="1871293" cy="54864"/>
          </a:xfrm>
          <a:prstGeom prst="rect">
            <a:avLst/>
          </a:prstGeom>
          <a:solidFill>
            <a:srgbClr val="00778B"/>
          </a:solidFill>
          <a:ln w="12700">
            <a:solidFill>
              <a:srgbClr val="00778B"/>
            </a:solidFill>
            <a:prstDash val="solid"/>
          </a:ln>
        </p:spPr>
      </p:sp>
      <p:sp>
        <p:nvSpPr>
          <p:cNvPr id="84" name="Text 82"/>
          <p:cNvSpPr/>
          <p:nvPr/>
        </p:nvSpPr>
        <p:spPr>
          <a:xfrm>
            <a:off x="5844414" y="512978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أربعاء 7 أكتوبر 2026</a:t>
            </a:r>
            <a:endParaRPr lang="ar-SA" sz="950" dirty="0"/>
          </a:p>
        </p:txBody>
      </p:sp>
      <p:sp>
        <p:nvSpPr>
          <p:cNvPr id="85" name="Text 83"/>
          <p:cNvSpPr/>
          <p:nvPr/>
        </p:nvSpPr>
        <p:spPr>
          <a:xfrm>
            <a:off x="5844414" y="537667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00778B"/>
                </a:solidFill>
                <a:latin typeface="Arial" pitchFamily="34" charset="0"/>
                <a:ea typeface="Arial" pitchFamily="34" charset="-122"/>
                <a:cs typeface="Arial" pitchFamily="34" charset="-120"/>
              </a:rPr>
              <a:t>المرحلة 2 – إعداد ومراجعة بيان طريقة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اجتماع أصحاب المصلحة</a:t>
            </a:r>
            <a:endParaRPr lang="ar-SA" sz="650" dirty="0"/>
          </a:p>
        </p:txBody>
      </p:sp>
      <p:sp>
        <p:nvSpPr>
          <p:cNvPr id="86" name="Shape 84"/>
          <p:cNvSpPr/>
          <p:nvPr/>
        </p:nvSpPr>
        <p:spPr>
          <a:xfrm>
            <a:off x="6110935" y="3447288"/>
            <a:ext cx="0" cy="182880"/>
          </a:xfrm>
          <a:prstGeom prst="line">
            <a:avLst/>
          </a:prstGeom>
          <a:noFill/>
          <a:ln w="19050">
            <a:solidFill>
              <a:srgbClr val="00778B">
                <a:alpha val="65000"/>
              </a:srgbClr>
            </a:solidFill>
            <a:prstDash val="solid"/>
          </a:ln>
        </p:spPr>
      </p:sp>
      <p:sp>
        <p:nvSpPr>
          <p:cNvPr id="87" name="Shape 85"/>
          <p:cNvSpPr/>
          <p:nvPr/>
        </p:nvSpPr>
        <p:spPr>
          <a:xfrm>
            <a:off x="5900623"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88" name="Text 86"/>
          <p:cNvSpPr/>
          <p:nvPr/>
        </p:nvSpPr>
        <p:spPr>
          <a:xfrm>
            <a:off x="5900623"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9</a:t>
            </a:r>
            <a:endParaRPr lang="ar-SA" sz="1100" dirty="0"/>
          </a:p>
        </p:txBody>
      </p:sp>
      <p:sp>
        <p:nvSpPr>
          <p:cNvPr id="89" name="Shape 87"/>
          <p:cNvSpPr/>
          <p:nvPr/>
        </p:nvSpPr>
        <p:spPr>
          <a:xfrm>
            <a:off x="5102137"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90" name="Shape 88"/>
          <p:cNvSpPr/>
          <p:nvPr/>
        </p:nvSpPr>
        <p:spPr>
          <a:xfrm>
            <a:off x="5175289" y="2734056"/>
            <a:ext cx="1871293" cy="54864"/>
          </a:xfrm>
          <a:prstGeom prst="rect">
            <a:avLst/>
          </a:prstGeom>
          <a:solidFill>
            <a:srgbClr val="00778B"/>
          </a:solidFill>
          <a:ln w="12700">
            <a:solidFill>
              <a:srgbClr val="00778B"/>
            </a:solidFill>
            <a:prstDash val="solid"/>
          </a:ln>
        </p:spPr>
      </p:sp>
      <p:sp>
        <p:nvSpPr>
          <p:cNvPr id="91" name="Text 89"/>
          <p:cNvSpPr/>
          <p:nvPr/>
        </p:nvSpPr>
        <p:spPr>
          <a:xfrm>
            <a:off x="5193577" y="280720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خميس 8 أكتوبر 2026</a:t>
            </a:r>
            <a:endParaRPr lang="ar-SA" sz="950" dirty="0"/>
          </a:p>
        </p:txBody>
      </p:sp>
      <p:sp>
        <p:nvSpPr>
          <p:cNvPr id="92" name="Text 90"/>
          <p:cNvSpPr/>
          <p:nvPr/>
        </p:nvSpPr>
        <p:spPr>
          <a:xfrm>
            <a:off x="5193577" y="305409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00778B"/>
                </a:solidFill>
                <a:latin typeface="Arial" pitchFamily="34" charset="0"/>
                <a:ea typeface="Arial" pitchFamily="34" charset="-122"/>
                <a:cs typeface="Arial" pitchFamily="34" charset="-120"/>
              </a:rPr>
              <a:t>المرحلة 2 – إعداد ومراجعة بيان طريقة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الرد على استفسارات أصحاب المصلحة</a:t>
            </a:r>
            <a:endParaRPr lang="ar-SA" sz="650" dirty="0"/>
          </a:p>
        </p:txBody>
      </p:sp>
      <p:sp>
        <p:nvSpPr>
          <p:cNvPr id="93" name="Shape 91"/>
          <p:cNvSpPr/>
          <p:nvPr/>
        </p:nvSpPr>
        <p:spPr>
          <a:xfrm>
            <a:off x="5460098" y="4050792"/>
            <a:ext cx="0" cy="182880"/>
          </a:xfrm>
          <a:prstGeom prst="line">
            <a:avLst/>
          </a:prstGeom>
          <a:noFill/>
          <a:ln w="19050">
            <a:solidFill>
              <a:srgbClr val="00778B">
                <a:alpha val="65000"/>
              </a:srgbClr>
            </a:solidFill>
            <a:prstDash val="solid"/>
          </a:ln>
        </p:spPr>
      </p:sp>
      <p:sp>
        <p:nvSpPr>
          <p:cNvPr id="94" name="Shape 92"/>
          <p:cNvSpPr/>
          <p:nvPr/>
        </p:nvSpPr>
        <p:spPr>
          <a:xfrm>
            <a:off x="5249786"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95" name="Text 93"/>
          <p:cNvSpPr/>
          <p:nvPr/>
        </p:nvSpPr>
        <p:spPr>
          <a:xfrm>
            <a:off x="5249786"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10</a:t>
            </a:r>
            <a:endParaRPr lang="ar-SA" sz="1100" dirty="0"/>
          </a:p>
        </p:txBody>
      </p:sp>
      <p:sp>
        <p:nvSpPr>
          <p:cNvPr id="96" name="Shape 94"/>
          <p:cNvSpPr/>
          <p:nvPr/>
        </p:nvSpPr>
        <p:spPr>
          <a:xfrm>
            <a:off x="4451299"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97" name="Shape 95"/>
          <p:cNvSpPr/>
          <p:nvPr/>
        </p:nvSpPr>
        <p:spPr>
          <a:xfrm>
            <a:off x="4524451" y="4233672"/>
            <a:ext cx="1871293" cy="54864"/>
          </a:xfrm>
          <a:prstGeom prst="rect">
            <a:avLst/>
          </a:prstGeom>
          <a:solidFill>
            <a:srgbClr val="00778B"/>
          </a:solidFill>
          <a:ln w="12700">
            <a:solidFill>
              <a:srgbClr val="00778B"/>
            </a:solidFill>
            <a:prstDash val="solid"/>
          </a:ln>
        </p:spPr>
      </p:sp>
      <p:sp>
        <p:nvSpPr>
          <p:cNvPr id="98" name="Text 96"/>
          <p:cNvSpPr/>
          <p:nvPr/>
        </p:nvSpPr>
        <p:spPr>
          <a:xfrm>
            <a:off x="4542739" y="430682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أحد 11 أكتوبر 2026</a:t>
            </a:r>
            <a:endParaRPr lang="ar-SA" sz="950" dirty="0"/>
          </a:p>
        </p:txBody>
      </p:sp>
      <p:sp>
        <p:nvSpPr>
          <p:cNvPr id="99" name="Text 97"/>
          <p:cNvSpPr/>
          <p:nvPr/>
        </p:nvSpPr>
        <p:spPr>
          <a:xfrm>
            <a:off x="4542739" y="455371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00778B"/>
                </a:solidFill>
                <a:latin typeface="Arial" pitchFamily="34" charset="0"/>
                <a:ea typeface="Arial" pitchFamily="34" charset="-122"/>
                <a:cs typeface="Arial" pitchFamily="34" charset="-120"/>
              </a:rPr>
              <a:t>المرحلة 2 – إعداد ومراجعة بيان طريقة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استلام توضيح من إدارة الهندسة</a:t>
            </a:r>
            <a:endParaRPr lang="ar-SA" sz="650" dirty="0"/>
          </a:p>
        </p:txBody>
      </p:sp>
      <p:sp>
        <p:nvSpPr>
          <p:cNvPr id="100" name="Shape 98"/>
          <p:cNvSpPr/>
          <p:nvPr/>
        </p:nvSpPr>
        <p:spPr>
          <a:xfrm>
            <a:off x="4809260" y="2624328"/>
            <a:ext cx="0" cy="1005840"/>
          </a:xfrm>
          <a:prstGeom prst="line">
            <a:avLst/>
          </a:prstGeom>
          <a:noFill/>
          <a:ln w="19050">
            <a:solidFill>
              <a:srgbClr val="00778B">
                <a:alpha val="65000"/>
              </a:srgbClr>
            </a:solidFill>
            <a:prstDash val="solid"/>
          </a:ln>
        </p:spPr>
      </p:sp>
      <p:sp>
        <p:nvSpPr>
          <p:cNvPr id="101" name="Shape 99"/>
          <p:cNvSpPr/>
          <p:nvPr/>
        </p:nvSpPr>
        <p:spPr>
          <a:xfrm>
            <a:off x="4598948"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02" name="Text 100"/>
          <p:cNvSpPr/>
          <p:nvPr/>
        </p:nvSpPr>
        <p:spPr>
          <a:xfrm>
            <a:off x="4598948"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11</a:t>
            </a:r>
            <a:endParaRPr lang="ar-SA" sz="1100" dirty="0"/>
          </a:p>
        </p:txBody>
      </p:sp>
      <p:sp>
        <p:nvSpPr>
          <p:cNvPr id="103" name="Shape 101"/>
          <p:cNvSpPr/>
          <p:nvPr/>
        </p:nvSpPr>
        <p:spPr>
          <a:xfrm>
            <a:off x="3800462"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04" name="Shape 102"/>
          <p:cNvSpPr/>
          <p:nvPr/>
        </p:nvSpPr>
        <p:spPr>
          <a:xfrm>
            <a:off x="3873614" y="1911096"/>
            <a:ext cx="1871293" cy="54864"/>
          </a:xfrm>
          <a:prstGeom prst="rect">
            <a:avLst/>
          </a:prstGeom>
          <a:solidFill>
            <a:srgbClr val="00778B"/>
          </a:solidFill>
          <a:ln w="12700">
            <a:solidFill>
              <a:srgbClr val="00778B"/>
            </a:solidFill>
            <a:prstDash val="solid"/>
          </a:ln>
        </p:spPr>
      </p:sp>
      <p:sp>
        <p:nvSpPr>
          <p:cNvPr id="105" name="Text 103"/>
          <p:cNvSpPr/>
          <p:nvPr/>
        </p:nvSpPr>
        <p:spPr>
          <a:xfrm>
            <a:off x="3891902" y="198424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اثنين 12 أكتوبر 2026</a:t>
            </a:r>
            <a:endParaRPr lang="ar-SA" sz="950" dirty="0"/>
          </a:p>
        </p:txBody>
      </p:sp>
      <p:sp>
        <p:nvSpPr>
          <p:cNvPr id="106" name="Text 104"/>
          <p:cNvSpPr/>
          <p:nvPr/>
        </p:nvSpPr>
        <p:spPr>
          <a:xfrm>
            <a:off x="3891902" y="223113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00778B"/>
                </a:solidFill>
                <a:latin typeface="Arial" pitchFamily="34" charset="0"/>
                <a:ea typeface="Arial" pitchFamily="34" charset="-122"/>
                <a:cs typeface="Arial" pitchFamily="34" charset="-120"/>
              </a:rPr>
              <a:t>المرحلة 2 – إعداد ومراجعة بيان طريقة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تقديم المراجعة الثانية (MoS)</a:t>
            </a:r>
            <a:endParaRPr lang="ar-SA" sz="650" dirty="0"/>
          </a:p>
        </p:txBody>
      </p:sp>
      <p:sp>
        <p:nvSpPr>
          <p:cNvPr id="107" name="Shape 105"/>
          <p:cNvSpPr/>
          <p:nvPr/>
        </p:nvSpPr>
        <p:spPr>
          <a:xfrm>
            <a:off x="4158422" y="4050792"/>
            <a:ext cx="0" cy="1005840"/>
          </a:xfrm>
          <a:prstGeom prst="line">
            <a:avLst/>
          </a:prstGeom>
          <a:noFill/>
          <a:ln w="19050">
            <a:solidFill>
              <a:srgbClr val="2E9E6B">
                <a:alpha val="65000"/>
              </a:srgbClr>
            </a:solidFill>
            <a:prstDash val="solid"/>
          </a:ln>
        </p:spPr>
      </p:sp>
      <p:sp>
        <p:nvSpPr>
          <p:cNvPr id="108" name="Shape 106"/>
          <p:cNvSpPr/>
          <p:nvPr/>
        </p:nvSpPr>
        <p:spPr>
          <a:xfrm>
            <a:off x="3948110"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09" name="Text 107"/>
          <p:cNvSpPr/>
          <p:nvPr/>
        </p:nvSpPr>
        <p:spPr>
          <a:xfrm>
            <a:off x="3948110"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12</a:t>
            </a:r>
            <a:endParaRPr lang="ar-SA" sz="1100" dirty="0"/>
          </a:p>
        </p:txBody>
      </p:sp>
      <p:sp>
        <p:nvSpPr>
          <p:cNvPr id="110" name="Shape 108"/>
          <p:cNvSpPr/>
          <p:nvPr/>
        </p:nvSpPr>
        <p:spPr>
          <a:xfrm>
            <a:off x="3149624"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11" name="Shape 109"/>
          <p:cNvSpPr/>
          <p:nvPr/>
        </p:nvSpPr>
        <p:spPr>
          <a:xfrm>
            <a:off x="3222776" y="5056632"/>
            <a:ext cx="1871293" cy="54864"/>
          </a:xfrm>
          <a:prstGeom prst="rect">
            <a:avLst/>
          </a:prstGeom>
          <a:solidFill>
            <a:srgbClr val="2E9E6B"/>
          </a:solidFill>
          <a:ln w="12700">
            <a:solidFill>
              <a:srgbClr val="2E9E6B"/>
            </a:solidFill>
            <a:prstDash val="solid"/>
          </a:ln>
        </p:spPr>
      </p:sp>
      <p:sp>
        <p:nvSpPr>
          <p:cNvPr id="112" name="Text 110"/>
          <p:cNvSpPr/>
          <p:nvPr/>
        </p:nvSpPr>
        <p:spPr>
          <a:xfrm>
            <a:off x="3241064" y="512978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ثلاثاء 13 أكتوبر 2026</a:t>
            </a:r>
            <a:endParaRPr lang="ar-SA" sz="950" dirty="0"/>
          </a:p>
        </p:txBody>
      </p:sp>
      <p:sp>
        <p:nvSpPr>
          <p:cNvPr id="113" name="Text 111"/>
          <p:cNvSpPr/>
          <p:nvPr/>
        </p:nvSpPr>
        <p:spPr>
          <a:xfrm>
            <a:off x="3241064" y="537667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2E9E6B"/>
                </a:solidFill>
                <a:latin typeface="Arial" pitchFamily="34" charset="0"/>
                <a:ea typeface="Arial" pitchFamily="34" charset="-122"/>
                <a:cs typeface="Arial" pitchFamily="34" charset="-120"/>
              </a:rPr>
              <a:t>المرحلة 3 – إصدار تصريح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التواصل مع إدارة السلامة</a:t>
            </a:r>
            <a:endParaRPr lang="ar-SA" sz="650" dirty="0"/>
          </a:p>
        </p:txBody>
      </p:sp>
      <p:sp>
        <p:nvSpPr>
          <p:cNvPr id="114" name="Shape 112"/>
          <p:cNvSpPr/>
          <p:nvPr/>
        </p:nvSpPr>
        <p:spPr>
          <a:xfrm>
            <a:off x="3507585" y="3447288"/>
            <a:ext cx="0" cy="182880"/>
          </a:xfrm>
          <a:prstGeom prst="line">
            <a:avLst/>
          </a:prstGeom>
          <a:noFill/>
          <a:ln w="19050">
            <a:solidFill>
              <a:srgbClr val="2E9E6B">
                <a:alpha val="65000"/>
              </a:srgbClr>
            </a:solidFill>
            <a:prstDash val="solid"/>
          </a:ln>
        </p:spPr>
      </p:sp>
      <p:sp>
        <p:nvSpPr>
          <p:cNvPr id="115" name="Shape 113"/>
          <p:cNvSpPr/>
          <p:nvPr/>
        </p:nvSpPr>
        <p:spPr>
          <a:xfrm>
            <a:off x="3297273"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16" name="Text 114"/>
          <p:cNvSpPr/>
          <p:nvPr/>
        </p:nvSpPr>
        <p:spPr>
          <a:xfrm>
            <a:off x="3297273"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13</a:t>
            </a:r>
            <a:endParaRPr lang="ar-SA" sz="1100" dirty="0"/>
          </a:p>
        </p:txBody>
      </p:sp>
      <p:sp>
        <p:nvSpPr>
          <p:cNvPr id="117" name="Shape 115"/>
          <p:cNvSpPr/>
          <p:nvPr/>
        </p:nvSpPr>
        <p:spPr>
          <a:xfrm>
            <a:off x="2498786"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18" name="Shape 116"/>
          <p:cNvSpPr/>
          <p:nvPr/>
        </p:nvSpPr>
        <p:spPr>
          <a:xfrm>
            <a:off x="2571938" y="2734056"/>
            <a:ext cx="1871293" cy="54864"/>
          </a:xfrm>
          <a:prstGeom prst="rect">
            <a:avLst/>
          </a:prstGeom>
          <a:solidFill>
            <a:srgbClr val="2E9E6B"/>
          </a:solidFill>
          <a:ln w="12700">
            <a:solidFill>
              <a:srgbClr val="2E9E6B"/>
            </a:solidFill>
            <a:prstDash val="solid"/>
          </a:ln>
        </p:spPr>
      </p:sp>
      <p:sp>
        <p:nvSpPr>
          <p:cNvPr id="119" name="Text 117"/>
          <p:cNvSpPr/>
          <p:nvPr/>
        </p:nvSpPr>
        <p:spPr>
          <a:xfrm>
            <a:off x="2590226" y="280720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أربعاء 14 أكتوبر 2026</a:t>
            </a:r>
            <a:endParaRPr lang="ar-SA" sz="950" dirty="0"/>
          </a:p>
        </p:txBody>
      </p:sp>
      <p:sp>
        <p:nvSpPr>
          <p:cNvPr id="120" name="Text 118"/>
          <p:cNvSpPr/>
          <p:nvPr/>
        </p:nvSpPr>
        <p:spPr>
          <a:xfrm>
            <a:off x="2590226" y="305409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2E9E6B"/>
                </a:solidFill>
                <a:latin typeface="Arial" pitchFamily="34" charset="0"/>
                <a:ea typeface="Arial" pitchFamily="34" charset="-122"/>
                <a:cs typeface="Arial" pitchFamily="34" charset="-120"/>
              </a:rPr>
              <a:t>المرحلة 3 – إصدار تصريح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تعميم التصريح للموافقات</a:t>
            </a:r>
            <a:endParaRPr lang="ar-SA" sz="650" dirty="0"/>
          </a:p>
        </p:txBody>
      </p:sp>
      <p:sp>
        <p:nvSpPr>
          <p:cNvPr id="121" name="Shape 119"/>
          <p:cNvSpPr/>
          <p:nvPr/>
        </p:nvSpPr>
        <p:spPr>
          <a:xfrm>
            <a:off x="2856747" y="4050792"/>
            <a:ext cx="0" cy="182880"/>
          </a:xfrm>
          <a:prstGeom prst="line">
            <a:avLst/>
          </a:prstGeom>
          <a:noFill/>
          <a:ln w="19050">
            <a:solidFill>
              <a:srgbClr val="2E9E6B">
                <a:alpha val="65000"/>
              </a:srgbClr>
            </a:solidFill>
            <a:prstDash val="solid"/>
          </a:ln>
        </p:spPr>
      </p:sp>
      <p:sp>
        <p:nvSpPr>
          <p:cNvPr id="122" name="Shape 120"/>
          <p:cNvSpPr/>
          <p:nvPr/>
        </p:nvSpPr>
        <p:spPr>
          <a:xfrm>
            <a:off x="2646435"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23" name="Text 121"/>
          <p:cNvSpPr/>
          <p:nvPr/>
        </p:nvSpPr>
        <p:spPr>
          <a:xfrm>
            <a:off x="2646435"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14</a:t>
            </a:r>
            <a:endParaRPr lang="ar-SA" sz="1100" dirty="0"/>
          </a:p>
        </p:txBody>
      </p:sp>
      <p:sp>
        <p:nvSpPr>
          <p:cNvPr id="124" name="Shape 122"/>
          <p:cNvSpPr/>
          <p:nvPr/>
        </p:nvSpPr>
        <p:spPr>
          <a:xfrm>
            <a:off x="1847949"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25" name="Shape 123"/>
          <p:cNvSpPr/>
          <p:nvPr/>
        </p:nvSpPr>
        <p:spPr>
          <a:xfrm>
            <a:off x="1921101" y="4233672"/>
            <a:ext cx="1871293" cy="54864"/>
          </a:xfrm>
          <a:prstGeom prst="rect">
            <a:avLst/>
          </a:prstGeom>
          <a:solidFill>
            <a:srgbClr val="2E9E6B"/>
          </a:solidFill>
          <a:ln w="12700">
            <a:solidFill>
              <a:srgbClr val="2E9E6B"/>
            </a:solidFill>
            <a:prstDash val="solid"/>
          </a:ln>
        </p:spPr>
      </p:sp>
      <p:sp>
        <p:nvSpPr>
          <p:cNvPr id="126" name="Text 124"/>
          <p:cNvSpPr/>
          <p:nvPr/>
        </p:nvSpPr>
        <p:spPr>
          <a:xfrm>
            <a:off x="1939389" y="430682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خميس 15 أكتوبر 2026</a:t>
            </a:r>
            <a:endParaRPr lang="ar-SA" sz="950" dirty="0"/>
          </a:p>
        </p:txBody>
      </p:sp>
      <p:sp>
        <p:nvSpPr>
          <p:cNvPr id="127" name="Text 125"/>
          <p:cNvSpPr/>
          <p:nvPr/>
        </p:nvSpPr>
        <p:spPr>
          <a:xfrm>
            <a:off x="1939389" y="455371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2E9E6B"/>
                </a:solidFill>
                <a:latin typeface="Arial" pitchFamily="34" charset="0"/>
                <a:ea typeface="Arial" pitchFamily="34" charset="-122"/>
                <a:cs typeface="Arial" pitchFamily="34" charset="-120"/>
              </a:rPr>
              <a:t>المرحلة 3 – إصدار تصريح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ملاحظات إضافية من الإدارات</a:t>
            </a:r>
            <a:endParaRPr lang="ar-SA" sz="650" dirty="0"/>
          </a:p>
        </p:txBody>
      </p:sp>
      <p:sp>
        <p:nvSpPr>
          <p:cNvPr id="128" name="Shape 126"/>
          <p:cNvSpPr/>
          <p:nvPr/>
        </p:nvSpPr>
        <p:spPr>
          <a:xfrm>
            <a:off x="2205909" y="2624328"/>
            <a:ext cx="0" cy="1005840"/>
          </a:xfrm>
          <a:prstGeom prst="line">
            <a:avLst/>
          </a:prstGeom>
          <a:noFill/>
          <a:ln w="19050">
            <a:solidFill>
              <a:srgbClr val="2E9E6B">
                <a:alpha val="65000"/>
              </a:srgbClr>
            </a:solidFill>
            <a:prstDash val="solid"/>
          </a:ln>
        </p:spPr>
      </p:sp>
      <p:sp>
        <p:nvSpPr>
          <p:cNvPr id="129" name="Shape 127"/>
          <p:cNvSpPr/>
          <p:nvPr/>
        </p:nvSpPr>
        <p:spPr>
          <a:xfrm>
            <a:off x="1995597"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30" name="Text 128"/>
          <p:cNvSpPr/>
          <p:nvPr/>
        </p:nvSpPr>
        <p:spPr>
          <a:xfrm>
            <a:off x="1995597"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15</a:t>
            </a:r>
            <a:endParaRPr lang="ar-SA" sz="1100" dirty="0"/>
          </a:p>
        </p:txBody>
      </p:sp>
      <p:sp>
        <p:nvSpPr>
          <p:cNvPr id="131" name="Shape 129"/>
          <p:cNvSpPr/>
          <p:nvPr/>
        </p:nvSpPr>
        <p:spPr>
          <a:xfrm>
            <a:off x="1197111"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32" name="Shape 130"/>
          <p:cNvSpPr/>
          <p:nvPr/>
        </p:nvSpPr>
        <p:spPr>
          <a:xfrm>
            <a:off x="1270263" y="1911096"/>
            <a:ext cx="1871293" cy="54864"/>
          </a:xfrm>
          <a:prstGeom prst="rect">
            <a:avLst/>
          </a:prstGeom>
          <a:solidFill>
            <a:srgbClr val="2E9E6B"/>
          </a:solidFill>
          <a:ln w="12700">
            <a:solidFill>
              <a:srgbClr val="2E9E6B"/>
            </a:solidFill>
            <a:prstDash val="solid"/>
          </a:ln>
        </p:spPr>
      </p:sp>
      <p:sp>
        <p:nvSpPr>
          <p:cNvPr id="133" name="Text 131"/>
          <p:cNvSpPr/>
          <p:nvPr/>
        </p:nvSpPr>
        <p:spPr>
          <a:xfrm>
            <a:off x="1288551" y="198424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اثنين 19 أكتوبر 2026</a:t>
            </a:r>
            <a:endParaRPr lang="ar-SA" sz="950" dirty="0"/>
          </a:p>
        </p:txBody>
      </p:sp>
      <p:sp>
        <p:nvSpPr>
          <p:cNvPr id="134" name="Text 132"/>
          <p:cNvSpPr/>
          <p:nvPr/>
        </p:nvSpPr>
        <p:spPr>
          <a:xfrm>
            <a:off x="1288551" y="223113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2E9E6B"/>
                </a:solidFill>
                <a:latin typeface="Arial" pitchFamily="34" charset="0"/>
                <a:ea typeface="Arial" pitchFamily="34" charset="-122"/>
                <a:cs typeface="Arial" pitchFamily="34" charset="-120"/>
              </a:rPr>
              <a:t>المرحلة 3 – إصدار تصريح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تقديم المراجعة الثالثة (MoS)</a:t>
            </a:r>
            <a:endParaRPr lang="ar-SA" sz="650" dirty="0"/>
          </a:p>
        </p:txBody>
      </p:sp>
      <p:sp>
        <p:nvSpPr>
          <p:cNvPr id="135" name="Shape 133"/>
          <p:cNvSpPr/>
          <p:nvPr/>
        </p:nvSpPr>
        <p:spPr>
          <a:xfrm>
            <a:off x="1555072" y="4050792"/>
            <a:ext cx="0" cy="1005840"/>
          </a:xfrm>
          <a:prstGeom prst="line">
            <a:avLst/>
          </a:prstGeom>
          <a:noFill/>
          <a:ln w="19050">
            <a:solidFill>
              <a:srgbClr val="2E9E6B">
                <a:alpha val="65000"/>
              </a:srgbClr>
            </a:solidFill>
            <a:prstDash val="solid"/>
          </a:ln>
        </p:spPr>
      </p:sp>
      <p:sp>
        <p:nvSpPr>
          <p:cNvPr id="136" name="Shape 134"/>
          <p:cNvSpPr/>
          <p:nvPr/>
        </p:nvSpPr>
        <p:spPr>
          <a:xfrm>
            <a:off x="1344760"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37" name="Text 135"/>
          <p:cNvSpPr/>
          <p:nvPr/>
        </p:nvSpPr>
        <p:spPr>
          <a:xfrm>
            <a:off x="1344760"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16</a:t>
            </a:r>
            <a:endParaRPr lang="ar-SA" sz="1100" dirty="0"/>
          </a:p>
        </p:txBody>
      </p:sp>
      <p:sp>
        <p:nvSpPr>
          <p:cNvPr id="138" name="Shape 136"/>
          <p:cNvSpPr/>
          <p:nvPr/>
        </p:nvSpPr>
        <p:spPr>
          <a:xfrm>
            <a:off x="546273"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39" name="Shape 137"/>
          <p:cNvSpPr/>
          <p:nvPr/>
        </p:nvSpPr>
        <p:spPr>
          <a:xfrm>
            <a:off x="619425" y="5056632"/>
            <a:ext cx="1871293" cy="54864"/>
          </a:xfrm>
          <a:prstGeom prst="rect">
            <a:avLst/>
          </a:prstGeom>
          <a:solidFill>
            <a:srgbClr val="2E9E6B"/>
          </a:solidFill>
          <a:ln w="12700">
            <a:solidFill>
              <a:srgbClr val="2E9E6B"/>
            </a:solidFill>
            <a:prstDash val="solid"/>
          </a:ln>
        </p:spPr>
      </p:sp>
      <p:sp>
        <p:nvSpPr>
          <p:cNvPr id="140" name="Text 138"/>
          <p:cNvSpPr/>
          <p:nvPr/>
        </p:nvSpPr>
        <p:spPr>
          <a:xfrm>
            <a:off x="637713" y="5129784"/>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ثلاثاء 20 أكتوبر 2026</a:t>
            </a:r>
            <a:endParaRPr lang="ar-SA" sz="950" dirty="0"/>
          </a:p>
        </p:txBody>
      </p:sp>
      <p:sp>
        <p:nvSpPr>
          <p:cNvPr id="141" name="Text 139"/>
          <p:cNvSpPr/>
          <p:nvPr/>
        </p:nvSpPr>
        <p:spPr>
          <a:xfrm>
            <a:off x="637713" y="5376672"/>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2E9E6B"/>
                </a:solidFill>
                <a:latin typeface="Arial" pitchFamily="34" charset="0"/>
                <a:ea typeface="Arial" pitchFamily="34" charset="-122"/>
                <a:cs typeface="Arial" pitchFamily="34" charset="-120"/>
              </a:rPr>
              <a:t>المرحلة 3 – إصدار تصريح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إغلاق الاستفسار الأخير</a:t>
            </a:r>
            <a:endParaRPr lang="ar-SA" sz="650" dirty="0"/>
          </a:p>
        </p:txBody>
      </p:sp>
      <p:sp>
        <p:nvSpPr>
          <p:cNvPr id="142" name="Shape 140"/>
          <p:cNvSpPr/>
          <p:nvPr/>
        </p:nvSpPr>
        <p:spPr>
          <a:xfrm>
            <a:off x="904234" y="3447288"/>
            <a:ext cx="0" cy="182880"/>
          </a:xfrm>
          <a:prstGeom prst="line">
            <a:avLst/>
          </a:prstGeom>
          <a:noFill/>
          <a:ln w="19050">
            <a:solidFill>
              <a:srgbClr val="2E9E6B">
                <a:alpha val="65000"/>
              </a:srgbClr>
            </a:solidFill>
            <a:prstDash val="solid"/>
          </a:ln>
        </p:spPr>
      </p:sp>
      <p:sp>
        <p:nvSpPr>
          <p:cNvPr id="143" name="Shape 141"/>
          <p:cNvSpPr/>
          <p:nvPr/>
        </p:nvSpPr>
        <p:spPr>
          <a:xfrm>
            <a:off x="693922"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44" name="Text 142"/>
          <p:cNvSpPr/>
          <p:nvPr/>
        </p:nvSpPr>
        <p:spPr>
          <a:xfrm>
            <a:off x="693922" y="3630168"/>
            <a:ext cx="420624" cy="420624"/>
          </a:xfrm>
          <a:prstGeom prst="rect">
            <a:avLst/>
          </a:prstGeom>
          <a:noFill/>
          <a:ln/>
        </p:spPr>
        <p:txBody>
          <a:bodyPr wrap="square" lIns="0" tIns="0" rIns="0" bIns="0" rtlCol="0" anchor="ctr">
            <a:normAutofit/>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17</a:t>
            </a:r>
            <a:endParaRPr lang="ar-SA" sz="1100" dirty="0"/>
          </a:p>
        </p:txBody>
      </p:sp>
      <p:sp>
        <p:nvSpPr>
          <p:cNvPr id="145" name="Shape 143"/>
          <p:cNvSpPr/>
          <p:nvPr/>
        </p:nvSpPr>
        <p:spPr>
          <a:xfrm>
            <a:off x="274320"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46" name="Shape 144"/>
          <p:cNvSpPr/>
          <p:nvPr/>
        </p:nvSpPr>
        <p:spPr>
          <a:xfrm>
            <a:off x="347472" y="2734056"/>
            <a:ext cx="1871293" cy="54864"/>
          </a:xfrm>
          <a:prstGeom prst="rect">
            <a:avLst/>
          </a:prstGeom>
          <a:solidFill>
            <a:srgbClr val="2E9E6B"/>
          </a:solidFill>
          <a:ln w="12700">
            <a:solidFill>
              <a:srgbClr val="2E9E6B"/>
            </a:solidFill>
            <a:prstDash val="solid"/>
          </a:ln>
        </p:spPr>
      </p:sp>
      <p:sp>
        <p:nvSpPr>
          <p:cNvPr id="147" name="Text 145"/>
          <p:cNvSpPr/>
          <p:nvPr/>
        </p:nvSpPr>
        <p:spPr>
          <a:xfrm>
            <a:off x="365760" y="2807208"/>
            <a:ext cx="1834717" cy="210312"/>
          </a:xfrm>
          <a:prstGeom prst="rect">
            <a:avLst/>
          </a:prstGeom>
          <a:noFill/>
          <a:ln/>
        </p:spPr>
        <p:txBody>
          <a:bodyPr wrap="square" lIns="0" tIns="0" rIns="0" bIns="0" rtlCol="0" anchor="ctr">
            <a:normAutofit/>
          </a:bodyPr>
          <a:lstStyle/>
          <a:p>
            <a:pPr rtl="1" algn="r" indent="0" marL="0">
              <a:buNone/>
            </a:pPr>
            <a:r>
              <a:rPr lang="ar-SA" altLang="en-US" sz="950" b="1" dirty="0">
                <a:solidFill>
                  <a:srgbClr val="3D3935"/>
                </a:solidFill>
                <a:latin typeface="Arial" pitchFamily="34" charset="0"/>
                <a:ea typeface="Arial" pitchFamily="34" charset="-122"/>
                <a:cs typeface="Arial" pitchFamily="34" charset="-120"/>
              </a:rPr>
              <a:t>أربعاء 21 أكتوبر 2026</a:t>
            </a:r>
            <a:endParaRPr lang="ar-SA" sz="950" dirty="0"/>
          </a:p>
        </p:txBody>
      </p:sp>
      <p:sp>
        <p:nvSpPr>
          <p:cNvPr id="148" name="Text 146"/>
          <p:cNvSpPr/>
          <p:nvPr/>
        </p:nvSpPr>
        <p:spPr>
          <a:xfrm>
            <a:off x="365760" y="3054096"/>
            <a:ext cx="1834717" cy="338328"/>
          </a:xfrm>
          <a:prstGeom prst="rect">
            <a:avLst/>
          </a:prstGeom>
          <a:noFill/>
          <a:ln/>
        </p:spPr>
        <p:txBody>
          <a:bodyPr wrap="square" lIns="0" tIns="0" rIns="0" bIns="0" rtlCol="0" anchor="t">
            <a:normAutofit/>
          </a:bodyPr>
          <a:lstStyle/>
          <a:p>
            <a:pPr algn="r" indent="0" marL="0">
              <a:spcAft>
                <a:spcPts val="100"/>
              </a:spcAft>
              <a:buNone/>
            </a:pPr>
            <a:r>
              <a:rPr lang="ar-SA" altLang="en-US" sz="650" b="1" dirty="0">
                <a:solidFill>
                  <a:srgbClr val="2E9E6B"/>
                </a:solidFill>
                <a:latin typeface="Arial" pitchFamily="34" charset="0"/>
                <a:ea typeface="Arial" pitchFamily="34" charset="-122"/>
                <a:cs typeface="Arial" pitchFamily="34" charset="-120"/>
              </a:rPr>
              <a:t>المرحلة 3 – إصدار تصريح العمل</a:t>
            </a:r>
            <a:endParaRPr lang="ar-SA" sz="650" dirty="0"/>
          </a:p>
          <a:p>
            <a:pPr algn="r" indent="0" marL="0">
              <a:spcAft>
                <a:spcPts val="100"/>
              </a:spcAft>
              <a:buNone/>
            </a:pPr>
            <a:r>
              <a:rPr lang="ar-SA" altLang="en-US" sz="900" b="1" dirty="0">
                <a:solidFill>
                  <a:srgbClr val="3D3935"/>
                </a:solidFill>
                <a:latin typeface="Arial" pitchFamily="34" charset="0"/>
                <a:ea typeface="Arial" pitchFamily="34" charset="-122"/>
                <a:cs typeface="Arial" pitchFamily="34" charset="-120"/>
              </a:rPr>
              <a:t>تصريح العمل جاهز للتوقيع</a:t>
            </a:r>
            <a:endParaRPr lang="ar-SA" sz="650" dirty="0"/>
          </a:p>
        </p:txBody>
      </p:sp>
      <p:sp>
        <p:nvSpPr>
          <p:cNvPr id="25" name="Slide Number Placeholder 0"/>
          <p:cNvSpPr>
            <a:spLocks noGrp="1"/>
          </p:cNvSpPr>
          <p:nvPr>
            <p:ph type="sldNum" sz="quarter" idx="4294967295"/>
          </p:nvPr>
        </p:nvSpPr>
        <p:spPr>
          <a:xfrm>
            <a:off x="320040"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91640" y="109728"/>
            <a:ext cx="10134295" cy="457200"/>
          </a:xfrm>
          <a:prstGeom prst="rect">
            <a:avLst/>
          </a:prstGeom>
          <a:noFill/>
          <a:ln/>
        </p:spPr>
        <p:txBody>
          <a:bodyPr wrap="square" lIns="0" tIns="0" rIns="0" bIns="0" rtlCol="0" anchor="ctr">
            <a:normAutofit/>
          </a:bodyPr>
          <a:lstStyle/>
          <a:p>
            <a:pPr rtl="1" algn="r" indent="0" marL="0">
              <a:buNone/>
            </a:pPr>
            <a:r>
              <a:rPr lang="ar-SA" altLang="en-US" sz="2400" b="1" dirty="0">
                <a:solidFill>
                  <a:srgbClr val="3D3935"/>
                </a:solidFill>
                <a:latin typeface="Arial" pitchFamily="34" charset="0"/>
                <a:ea typeface="Arial" pitchFamily="34" charset="-122"/>
                <a:cs typeface="Arial" pitchFamily="34" charset="-120"/>
              </a:rPr>
              <a:t>الأعمال المتبقية – برنامج أعمال الدعم والحفرة</a:t>
            </a:r>
            <a:endParaRPr lang="ar-SA" sz="2400" dirty="0"/>
          </a:p>
        </p:txBody>
      </p:sp>
      <p:sp>
        <p:nvSpPr>
          <p:cNvPr id="3" name="Text 1"/>
          <p:cNvSpPr/>
          <p:nvPr/>
        </p:nvSpPr>
        <p:spPr>
          <a:xfrm>
            <a:off x="1691640" y="548640"/>
            <a:ext cx="10134295" cy="256032"/>
          </a:xfrm>
          <a:prstGeom prst="rect">
            <a:avLst/>
          </a:prstGeom>
          <a:noFill/>
          <a:ln/>
        </p:spPr>
        <p:txBody>
          <a:bodyPr wrap="square" lIns="0" tIns="0" rIns="0" bIns="0" rtlCol="0" anchor="ctr">
            <a:normAutofit/>
          </a:bodyPr>
          <a:lstStyle/>
          <a:p>
            <a:pPr rtl="1" algn="r" indent="0" marL="0">
              <a:buNone/>
            </a:pPr>
            <a:r>
              <a:rPr lang="ar-SA" altLang="en-US" sz="1200" dirty="0">
                <a:solidFill>
                  <a:srgbClr val="66707A"/>
                </a:solidFill>
                <a:latin typeface="Arial" pitchFamily="34" charset="0"/>
                <a:ea typeface="Arial" pitchFamily="34" charset="-122"/>
                <a:cs typeface="Arial" pitchFamily="34" charset="-120"/>
              </a:rPr>
              <a:t>أعمال حفرة RYDN-WLB · مقترح شركة الخليج للتطوير للمقاولات · المراجعة 01 · 12 أكتوبر 2026</a:t>
            </a:r>
            <a:endParaRPr lang="ar-SA" sz="1200" dirty="0"/>
          </a:p>
        </p:txBody>
      </p:sp>
      <p:sp>
        <p:nvSpPr>
          <p:cNvPr id="4" name="Shape 2"/>
          <p:cNvSpPr/>
          <p:nvPr/>
        </p:nvSpPr>
        <p:spPr>
          <a:xfrm>
            <a:off x="11551615" y="1069848"/>
            <a:ext cx="274320" cy="109728"/>
          </a:xfrm>
          <a:prstGeom prst="roundRect">
            <a:avLst>
              <a:gd name="adj" fmla="val 25000"/>
            </a:avLst>
          </a:prstGeom>
          <a:solidFill>
            <a:srgbClr val="00778B"/>
          </a:solidFill>
          <a:ln w="19050">
            <a:solidFill>
              <a:srgbClr val="222222"/>
            </a:solidFill>
            <a:prstDash val="solid"/>
          </a:ln>
        </p:spPr>
      </p:sp>
      <p:sp>
        <p:nvSpPr>
          <p:cNvPr id="5" name="Text 3"/>
          <p:cNvSpPr/>
          <p:nvPr/>
        </p:nvSpPr>
        <p:spPr>
          <a:xfrm>
            <a:off x="10494569" y="1005840"/>
            <a:ext cx="1002182" cy="237744"/>
          </a:xfrm>
          <a:prstGeom prst="rect">
            <a:avLst/>
          </a:prstGeom>
          <a:noFill/>
          <a:ln/>
        </p:spPr>
        <p:txBody>
          <a:bodyPr wrap="square" lIns="0" tIns="0" rIns="0" bIns="0" rtlCol="0" anchor="ctr">
            <a:normAutofit/>
          </a:bodyPr>
          <a:lstStyle/>
          <a:p>
            <a:pPr rtl="1" algn="r" indent="0" marL="0">
              <a:buNone/>
            </a:pPr>
            <a:r>
              <a:rPr lang="ar-SA" altLang="en-US" sz="900" dirty="0">
                <a:solidFill>
                  <a:srgbClr val="333333"/>
                </a:solidFill>
                <a:latin typeface="Arial" pitchFamily="34" charset="0"/>
                <a:ea typeface="Arial" pitchFamily="34" charset="-122"/>
                <a:cs typeface="Arial" pitchFamily="34" charset="-120"/>
              </a:rPr>
              <a:t>المسار الحرج</a:t>
            </a:r>
            <a:endParaRPr lang="ar-SA" sz="900" dirty="0"/>
          </a:p>
        </p:txBody>
      </p:sp>
      <p:sp>
        <p:nvSpPr>
          <p:cNvPr id="6" name="Shape 4"/>
          <p:cNvSpPr/>
          <p:nvPr/>
        </p:nvSpPr>
        <p:spPr>
          <a:xfrm>
            <a:off x="10275113" y="1069848"/>
            <a:ext cx="274320" cy="109728"/>
          </a:xfrm>
          <a:prstGeom prst="roundRect">
            <a:avLst>
              <a:gd name="adj" fmla="val 25000"/>
            </a:avLst>
          </a:prstGeom>
          <a:solidFill>
            <a:srgbClr val="00778B"/>
          </a:solidFill>
          <a:ln w="12700">
            <a:solidFill>
              <a:srgbClr val="00778B"/>
            </a:solidFill>
            <a:prstDash val="solid"/>
          </a:ln>
        </p:spPr>
      </p:sp>
      <p:sp>
        <p:nvSpPr>
          <p:cNvPr id="7" name="Text 5"/>
          <p:cNvSpPr/>
          <p:nvPr/>
        </p:nvSpPr>
        <p:spPr>
          <a:xfrm>
            <a:off x="8422538" y="1005840"/>
            <a:ext cx="1797710" cy="237744"/>
          </a:xfrm>
          <a:prstGeom prst="rect">
            <a:avLst/>
          </a:prstGeom>
          <a:noFill/>
          <a:ln/>
        </p:spPr>
        <p:txBody>
          <a:bodyPr wrap="square" lIns="0" tIns="0" rIns="0" bIns="0" rtlCol="0" anchor="ctr">
            <a:normAutofit/>
          </a:bodyPr>
          <a:lstStyle/>
          <a:p>
            <a:pPr rtl="1" algn="r" indent="0" marL="0">
              <a:buNone/>
            </a:pPr>
            <a:r>
              <a:rPr lang="ar-SA" altLang="en-US" sz="900" dirty="0">
                <a:solidFill>
                  <a:srgbClr val="333333"/>
                </a:solidFill>
                <a:latin typeface="Arial" pitchFamily="34" charset="0"/>
                <a:ea typeface="Arial" pitchFamily="34" charset="-122"/>
                <a:cs typeface="Arial" pitchFamily="34" charset="-120"/>
              </a:rPr>
              <a:t>نشاط (اللون = مجموعة العمل)</a:t>
            </a:r>
            <a:endParaRPr lang="ar-SA" sz="900" dirty="0"/>
          </a:p>
        </p:txBody>
      </p:sp>
      <p:sp>
        <p:nvSpPr>
          <p:cNvPr id="8" name="Shape 6"/>
          <p:cNvSpPr/>
          <p:nvPr/>
        </p:nvSpPr>
        <p:spPr>
          <a:xfrm>
            <a:off x="8349386" y="1060704"/>
            <a:ext cx="128016" cy="128016"/>
          </a:xfrm>
          <a:prstGeom prst="diamond">
            <a:avLst/>
          </a:prstGeom>
          <a:solidFill>
            <a:srgbClr val="3D3935"/>
          </a:solidFill>
          <a:ln w="12700">
            <a:solidFill>
              <a:srgbClr val="3D3935"/>
            </a:solidFill>
            <a:prstDash val="solid"/>
          </a:ln>
        </p:spPr>
      </p:sp>
      <p:sp>
        <p:nvSpPr>
          <p:cNvPr id="9" name="Text 7"/>
          <p:cNvSpPr/>
          <p:nvPr/>
        </p:nvSpPr>
        <p:spPr>
          <a:xfrm>
            <a:off x="7358177" y="1005840"/>
            <a:ext cx="790042" cy="237744"/>
          </a:xfrm>
          <a:prstGeom prst="rect">
            <a:avLst/>
          </a:prstGeom>
          <a:noFill/>
          <a:ln/>
        </p:spPr>
        <p:txBody>
          <a:bodyPr wrap="square" lIns="0" tIns="0" rIns="0" bIns="0" rtlCol="0" anchor="ctr">
            <a:normAutofit/>
          </a:bodyPr>
          <a:lstStyle/>
          <a:p>
            <a:pPr rtl="1" algn="r" indent="0" marL="0">
              <a:buNone/>
            </a:pPr>
            <a:r>
              <a:rPr lang="ar-SA" altLang="en-US" sz="900" dirty="0">
                <a:solidFill>
                  <a:srgbClr val="333333"/>
                </a:solidFill>
                <a:latin typeface="Arial" pitchFamily="34" charset="0"/>
                <a:ea typeface="Arial" pitchFamily="34" charset="-122"/>
                <a:cs typeface="Arial" pitchFamily="34" charset="-120"/>
              </a:rPr>
              <a:t>ميل ستون</a:t>
            </a:r>
            <a:endParaRPr lang="ar-SA" sz="900" dirty="0"/>
          </a:p>
        </p:txBody>
      </p:sp>
      <p:sp>
        <p:nvSpPr>
          <p:cNvPr id="10" name="Shape 8"/>
          <p:cNvSpPr/>
          <p:nvPr/>
        </p:nvSpPr>
        <p:spPr>
          <a:xfrm>
            <a:off x="7230161" y="1060704"/>
            <a:ext cx="182880" cy="128016"/>
          </a:xfrm>
          <a:prstGeom prst="rect">
            <a:avLst/>
          </a:prstGeom>
          <a:solidFill>
            <a:srgbClr val="CFD8DC"/>
          </a:solidFill>
          <a:ln w="12700">
            <a:solidFill>
              <a:srgbClr val="CFD8DC"/>
            </a:solidFill>
            <a:prstDash val="solid"/>
          </a:ln>
        </p:spPr>
      </p:sp>
      <p:sp>
        <p:nvSpPr>
          <p:cNvPr id="11" name="Text 9"/>
          <p:cNvSpPr/>
          <p:nvPr/>
        </p:nvSpPr>
        <p:spPr>
          <a:xfrm>
            <a:off x="6134710" y="1005840"/>
            <a:ext cx="949147" cy="237744"/>
          </a:xfrm>
          <a:prstGeom prst="rect">
            <a:avLst/>
          </a:prstGeom>
          <a:noFill/>
          <a:ln/>
        </p:spPr>
        <p:txBody>
          <a:bodyPr wrap="square" lIns="0" tIns="0" rIns="0" bIns="0" rtlCol="0" anchor="ctr">
            <a:normAutofit/>
          </a:bodyPr>
          <a:lstStyle/>
          <a:p>
            <a:pPr rtl="1" algn="r" indent="0" marL="0">
              <a:buNone/>
            </a:pPr>
            <a:r>
              <a:rPr lang="ar-SA" altLang="en-US" sz="900" dirty="0">
                <a:solidFill>
                  <a:srgbClr val="333333"/>
                </a:solidFill>
                <a:latin typeface="Arial" pitchFamily="34" charset="0"/>
                <a:ea typeface="Arial" pitchFamily="34" charset="-122"/>
                <a:cs typeface="Arial" pitchFamily="34" charset="-120"/>
              </a:rPr>
              <a:t>يوم غير عمل</a:t>
            </a:r>
            <a:endParaRPr lang="ar-SA" sz="900" dirty="0"/>
          </a:p>
        </p:txBody>
      </p:sp>
      <p:sp>
        <p:nvSpPr>
          <p:cNvPr id="12" name="Shape 10"/>
          <p:cNvSpPr/>
          <p:nvPr/>
        </p:nvSpPr>
        <p:spPr>
          <a:xfrm>
            <a:off x="6143854" y="1042416"/>
            <a:ext cx="0" cy="164592"/>
          </a:xfrm>
          <a:prstGeom prst="line">
            <a:avLst/>
          </a:prstGeom>
          <a:noFill/>
          <a:ln w="22225">
            <a:solidFill>
              <a:srgbClr val="C8503F"/>
            </a:solidFill>
            <a:prstDash val="dash"/>
          </a:ln>
        </p:spPr>
      </p:sp>
      <p:sp>
        <p:nvSpPr>
          <p:cNvPr id="13" name="Text 11"/>
          <p:cNvSpPr/>
          <p:nvPr/>
        </p:nvSpPr>
        <p:spPr>
          <a:xfrm>
            <a:off x="4858207" y="1005840"/>
            <a:ext cx="1002182" cy="237744"/>
          </a:xfrm>
          <a:prstGeom prst="rect">
            <a:avLst/>
          </a:prstGeom>
          <a:noFill/>
          <a:ln/>
        </p:spPr>
        <p:txBody>
          <a:bodyPr wrap="square" lIns="0" tIns="0" rIns="0" bIns="0" rtlCol="0" anchor="ctr">
            <a:normAutofit/>
          </a:bodyPr>
          <a:lstStyle/>
          <a:p>
            <a:pPr rtl="1" algn="r" indent="0" marL="0">
              <a:buNone/>
            </a:pPr>
            <a:r>
              <a:rPr lang="ar-SA" altLang="en-US" sz="900" dirty="0">
                <a:solidFill>
                  <a:srgbClr val="333333"/>
                </a:solidFill>
                <a:latin typeface="Arial" pitchFamily="34" charset="0"/>
                <a:ea typeface="Arial" pitchFamily="34" charset="-122"/>
                <a:cs typeface="Arial" pitchFamily="34" charset="-120"/>
              </a:rPr>
              <a:t>تاريخ الموقف</a:t>
            </a:r>
            <a:endParaRPr lang="ar-SA" sz="900" dirty="0"/>
          </a:p>
        </p:txBody>
      </p:sp>
      <p:sp>
        <p:nvSpPr>
          <p:cNvPr id="14" name="Text 12"/>
          <p:cNvSpPr/>
          <p:nvPr/>
        </p:nvSpPr>
        <p:spPr>
          <a:xfrm>
            <a:off x="3274466" y="1005840"/>
            <a:ext cx="1638605" cy="237744"/>
          </a:xfrm>
          <a:prstGeom prst="rect">
            <a:avLst/>
          </a:prstGeom>
          <a:noFill/>
          <a:ln/>
        </p:spPr>
        <p:txBody>
          <a:bodyPr wrap="square" lIns="0" tIns="0" rIns="0" bIns="0" rtlCol="0" anchor="ctr">
            <a:normAutofit/>
          </a:bodyPr>
          <a:lstStyle/>
          <a:p>
            <a:pPr rtl="1" algn="r" indent="0" marL="0">
              <a:buNone/>
            </a:pPr>
            <a:r>
              <a:rPr lang="ar-SA" altLang="en-US" sz="900" dirty="0">
                <a:solidFill>
                  <a:srgbClr val="333333"/>
                </a:solidFill>
                <a:latin typeface="Arial" pitchFamily="34" charset="0"/>
                <a:ea typeface="Arial" pitchFamily="34" charset="-122"/>
                <a:cs typeface="Arial" pitchFamily="34" charset="-120"/>
              </a:rPr>
              <a:t>→ علاقة ارتباط (FS / SS)</a:t>
            </a:r>
            <a:endParaRPr lang="ar-SA" sz="900" dirty="0"/>
          </a:p>
        </p:txBody>
      </p:sp>
      <p:sp>
        <p:nvSpPr>
          <p:cNvPr id="15" name="Shape 13"/>
          <p:cNvSpPr/>
          <p:nvPr/>
        </p:nvSpPr>
        <p:spPr>
          <a:xfrm>
            <a:off x="6147511" y="1325880"/>
            <a:ext cx="5678424" cy="640080"/>
          </a:xfrm>
          <a:prstGeom prst="rect">
            <a:avLst/>
          </a:prstGeom>
          <a:solidFill>
            <a:srgbClr val="3D3935"/>
          </a:solidFill>
          <a:ln w="12700">
            <a:solidFill>
              <a:srgbClr val="3D3935"/>
            </a:solidFill>
            <a:prstDash val="solid"/>
          </a:ln>
        </p:spPr>
      </p:sp>
      <p:sp>
        <p:nvSpPr>
          <p:cNvPr id="16" name="Text 14"/>
          <p:cNvSpPr/>
          <p:nvPr/>
        </p:nvSpPr>
        <p:spPr>
          <a:xfrm>
            <a:off x="11441887" y="1325880"/>
            <a:ext cx="384048" cy="640080"/>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م</a:t>
            </a:r>
            <a:endParaRPr lang="ar-SA" sz="900" dirty="0"/>
          </a:p>
        </p:txBody>
      </p:sp>
      <p:sp>
        <p:nvSpPr>
          <p:cNvPr id="17" name="Text 15"/>
          <p:cNvSpPr/>
          <p:nvPr/>
        </p:nvSpPr>
        <p:spPr>
          <a:xfrm>
            <a:off x="8762695" y="1325880"/>
            <a:ext cx="2606040" cy="640080"/>
          </a:xfrm>
          <a:prstGeom prst="rect">
            <a:avLst/>
          </a:prstGeom>
          <a:noFill/>
          <a:ln/>
        </p:spPr>
        <p:txBody>
          <a:bodyPr wrap="square" lIns="0" tIns="0" rIns="0" bIns="0" rtlCol="0" anchor="ctr">
            <a:normAutofit/>
          </a:bodyPr>
          <a:lstStyle/>
          <a:p>
            <a:pPr rtl="1" algn="r" indent="0" marL="0">
              <a:buNone/>
            </a:pPr>
            <a:r>
              <a:rPr lang="ar-SA" altLang="en-US" sz="900" b="1" dirty="0">
                <a:solidFill>
                  <a:srgbClr val="FFFFFF"/>
                </a:solidFill>
                <a:latin typeface="Arial" pitchFamily="34" charset="0"/>
                <a:ea typeface="Arial" pitchFamily="34" charset="-122"/>
                <a:cs typeface="Arial" pitchFamily="34" charset="-120"/>
              </a:rPr>
              <a:t>النشاط</a:t>
            </a:r>
            <a:endParaRPr lang="ar-SA" sz="900" dirty="0"/>
          </a:p>
        </p:txBody>
      </p:sp>
      <p:sp>
        <p:nvSpPr>
          <p:cNvPr id="18" name="Text 16"/>
          <p:cNvSpPr/>
          <p:nvPr/>
        </p:nvSpPr>
        <p:spPr>
          <a:xfrm>
            <a:off x="7967167" y="1325880"/>
            <a:ext cx="777240" cy="640080"/>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السابق</a:t>
            </a:r>
            <a:endParaRPr lang="ar-SA" sz="900" dirty="0"/>
          </a:p>
        </p:txBody>
      </p:sp>
      <p:sp>
        <p:nvSpPr>
          <p:cNvPr id="19" name="Text 17"/>
          <p:cNvSpPr/>
          <p:nvPr/>
        </p:nvSpPr>
        <p:spPr>
          <a:xfrm>
            <a:off x="7464247" y="1325880"/>
            <a:ext cx="502920" cy="640080"/>
          </a:xfrm>
          <a:prstGeom prst="rect">
            <a:avLst/>
          </a:prstGeom>
          <a:noFill/>
          <a:ln/>
        </p:spPr>
        <p:txBody>
          <a:bodyPr wrap="square" lIns="0" tIns="0" rIns="0" bIns="0" rtlCol="0" anchor="ctr">
            <a:normAutofit/>
          </a:bodyPr>
          <a:lstStyle/>
          <a:p>
            <a:pPr rtl="1" algn="ctr" indent="0" marL="0">
              <a:buNone/>
            </a:pPr>
            <a:r>
              <a:rPr lang="ar-SA" altLang="en-US" sz="750" b="1" dirty="0">
                <a:solidFill>
                  <a:srgbClr val="FFFFFF"/>
                </a:solidFill>
                <a:latin typeface="Arial" pitchFamily="34" charset="0"/>
                <a:ea typeface="Arial" pitchFamily="34" charset="-122"/>
                <a:cs typeface="Arial" pitchFamily="34" charset="-120"/>
              </a:rPr>
              <a:t>المدة (أيام عمل)</a:t>
            </a:r>
            <a:endParaRPr lang="ar-SA" sz="750" dirty="0"/>
          </a:p>
        </p:txBody>
      </p:sp>
      <p:sp>
        <p:nvSpPr>
          <p:cNvPr id="20" name="Text 18"/>
          <p:cNvSpPr/>
          <p:nvPr/>
        </p:nvSpPr>
        <p:spPr>
          <a:xfrm>
            <a:off x="6805879" y="1325880"/>
            <a:ext cx="658368" cy="640080"/>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البداية</a:t>
            </a:r>
            <a:endParaRPr lang="ar-SA" sz="900" dirty="0"/>
          </a:p>
        </p:txBody>
      </p:sp>
      <p:sp>
        <p:nvSpPr>
          <p:cNvPr id="21" name="Text 19"/>
          <p:cNvSpPr/>
          <p:nvPr/>
        </p:nvSpPr>
        <p:spPr>
          <a:xfrm>
            <a:off x="6147511" y="1325880"/>
            <a:ext cx="658368" cy="640080"/>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النهاية</a:t>
            </a:r>
            <a:endParaRPr lang="ar-SA" sz="900" dirty="0"/>
          </a:p>
        </p:txBody>
      </p:sp>
      <p:sp>
        <p:nvSpPr>
          <p:cNvPr id="22" name="Shape 20"/>
          <p:cNvSpPr/>
          <p:nvPr/>
        </p:nvSpPr>
        <p:spPr>
          <a:xfrm>
            <a:off x="3497542" y="1325880"/>
            <a:ext cx="2649969" cy="182880"/>
          </a:xfrm>
          <a:prstGeom prst="rect">
            <a:avLst/>
          </a:prstGeom>
          <a:solidFill>
            <a:srgbClr val="DCE8EC"/>
          </a:solidFill>
          <a:ln w="12700">
            <a:solidFill>
              <a:srgbClr val="FFFFFF"/>
            </a:solidFill>
            <a:prstDash val="solid"/>
          </a:ln>
        </p:spPr>
      </p:sp>
      <p:sp>
        <p:nvSpPr>
          <p:cNvPr id="23" name="Text 21"/>
          <p:cNvSpPr/>
          <p:nvPr/>
        </p:nvSpPr>
        <p:spPr>
          <a:xfrm>
            <a:off x="3497542" y="1325880"/>
            <a:ext cx="2649969" cy="182880"/>
          </a:xfrm>
          <a:prstGeom prst="rect">
            <a:avLst/>
          </a:prstGeom>
          <a:noFill/>
          <a:ln/>
        </p:spPr>
        <p:txBody>
          <a:bodyPr wrap="square" lIns="0" tIns="0" rIns="0" bIns="0" rtlCol="0" anchor="ctr">
            <a:normAutofit/>
          </a:bodyPr>
          <a:lstStyle/>
          <a:p>
            <a:pPr rtl="1" algn="ctr" indent="0" marL="0">
              <a:buNone/>
            </a:pPr>
            <a:r>
              <a:rPr lang="ar-SA" altLang="en-US" sz="850" b="1" dirty="0">
                <a:solidFill>
                  <a:srgbClr val="3D3935"/>
                </a:solidFill>
                <a:latin typeface="Arial" pitchFamily="34" charset="0"/>
                <a:ea typeface="Arial" pitchFamily="34" charset="-122"/>
                <a:cs typeface="Arial" pitchFamily="34" charset="-120"/>
              </a:rPr>
              <a:t>أكتوبر 2026</a:t>
            </a:r>
            <a:endParaRPr lang="ar-SA" sz="850" dirty="0"/>
          </a:p>
        </p:txBody>
      </p:sp>
      <p:sp>
        <p:nvSpPr>
          <p:cNvPr id="24" name="Shape 22"/>
          <p:cNvSpPr/>
          <p:nvPr/>
        </p:nvSpPr>
        <p:spPr>
          <a:xfrm>
            <a:off x="365760" y="1325880"/>
            <a:ext cx="3131782" cy="182880"/>
          </a:xfrm>
          <a:prstGeom prst="rect">
            <a:avLst/>
          </a:prstGeom>
          <a:solidFill>
            <a:srgbClr val="DCE8EC"/>
          </a:solidFill>
          <a:ln w="12700">
            <a:solidFill>
              <a:srgbClr val="FFFFFF"/>
            </a:solidFill>
            <a:prstDash val="solid"/>
          </a:ln>
        </p:spPr>
      </p:sp>
      <p:sp>
        <p:nvSpPr>
          <p:cNvPr id="25" name="Text 23"/>
          <p:cNvSpPr/>
          <p:nvPr/>
        </p:nvSpPr>
        <p:spPr>
          <a:xfrm>
            <a:off x="365760" y="1325880"/>
            <a:ext cx="3131782" cy="182880"/>
          </a:xfrm>
          <a:prstGeom prst="rect">
            <a:avLst/>
          </a:prstGeom>
          <a:noFill/>
          <a:ln/>
        </p:spPr>
        <p:txBody>
          <a:bodyPr wrap="square" lIns="0" tIns="0" rIns="0" bIns="0" rtlCol="0" anchor="ctr">
            <a:normAutofit/>
          </a:bodyPr>
          <a:lstStyle/>
          <a:p>
            <a:pPr rtl="1" algn="ctr" indent="0" marL="0">
              <a:buNone/>
            </a:pPr>
            <a:r>
              <a:rPr lang="ar-SA" altLang="en-US" sz="850" b="1" dirty="0">
                <a:solidFill>
                  <a:srgbClr val="3D3935"/>
                </a:solidFill>
                <a:latin typeface="Arial" pitchFamily="34" charset="0"/>
                <a:ea typeface="Arial" pitchFamily="34" charset="-122"/>
                <a:cs typeface="Arial" pitchFamily="34" charset="-120"/>
              </a:rPr>
              <a:t>نوفمبر 2026</a:t>
            </a:r>
            <a:endParaRPr lang="ar-SA" sz="850" dirty="0"/>
          </a:p>
        </p:txBody>
      </p:sp>
      <p:sp>
        <p:nvSpPr>
          <p:cNvPr id="26" name="Shape 24"/>
          <p:cNvSpPr/>
          <p:nvPr/>
        </p:nvSpPr>
        <p:spPr>
          <a:xfrm>
            <a:off x="5304339" y="1508760"/>
            <a:ext cx="843172" cy="155448"/>
          </a:xfrm>
          <a:prstGeom prst="rect">
            <a:avLst/>
          </a:prstGeom>
          <a:solidFill>
            <a:srgbClr val="D5E6EA"/>
          </a:solidFill>
          <a:ln w="12700">
            <a:solidFill>
              <a:srgbClr val="FFFFFF"/>
            </a:solidFill>
            <a:prstDash val="solid"/>
          </a:ln>
        </p:spPr>
      </p:sp>
      <p:sp>
        <p:nvSpPr>
          <p:cNvPr id="27" name="Text 25"/>
          <p:cNvSpPr/>
          <p:nvPr/>
        </p:nvSpPr>
        <p:spPr>
          <a:xfrm>
            <a:off x="5304339" y="1508760"/>
            <a:ext cx="843172"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1</a:t>
            </a:r>
            <a:endParaRPr lang="ar-SA" sz="650" dirty="0"/>
          </a:p>
        </p:txBody>
      </p:sp>
      <p:sp>
        <p:nvSpPr>
          <p:cNvPr id="28" name="Shape 26"/>
          <p:cNvSpPr/>
          <p:nvPr/>
        </p:nvSpPr>
        <p:spPr>
          <a:xfrm>
            <a:off x="4461167" y="1508760"/>
            <a:ext cx="843172" cy="155448"/>
          </a:xfrm>
          <a:prstGeom prst="rect">
            <a:avLst/>
          </a:prstGeom>
          <a:solidFill>
            <a:srgbClr val="E4F0F3"/>
          </a:solidFill>
          <a:ln w="12700">
            <a:solidFill>
              <a:srgbClr val="FFFFFF"/>
            </a:solidFill>
            <a:prstDash val="solid"/>
          </a:ln>
        </p:spPr>
      </p:sp>
      <p:sp>
        <p:nvSpPr>
          <p:cNvPr id="29" name="Text 27"/>
          <p:cNvSpPr/>
          <p:nvPr/>
        </p:nvSpPr>
        <p:spPr>
          <a:xfrm>
            <a:off x="4461167" y="1508760"/>
            <a:ext cx="843172"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2</a:t>
            </a:r>
            <a:endParaRPr lang="ar-SA" sz="650" dirty="0"/>
          </a:p>
        </p:txBody>
      </p:sp>
      <p:sp>
        <p:nvSpPr>
          <p:cNvPr id="30" name="Shape 28"/>
          <p:cNvSpPr/>
          <p:nvPr/>
        </p:nvSpPr>
        <p:spPr>
          <a:xfrm>
            <a:off x="3617995" y="1508760"/>
            <a:ext cx="843172" cy="155448"/>
          </a:xfrm>
          <a:prstGeom prst="rect">
            <a:avLst/>
          </a:prstGeom>
          <a:solidFill>
            <a:srgbClr val="D5E6EA"/>
          </a:solidFill>
          <a:ln w="12700">
            <a:solidFill>
              <a:srgbClr val="FFFFFF"/>
            </a:solidFill>
            <a:prstDash val="solid"/>
          </a:ln>
        </p:spPr>
      </p:sp>
      <p:sp>
        <p:nvSpPr>
          <p:cNvPr id="31" name="Text 29"/>
          <p:cNvSpPr/>
          <p:nvPr/>
        </p:nvSpPr>
        <p:spPr>
          <a:xfrm>
            <a:off x="3617995" y="1508760"/>
            <a:ext cx="843172"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3</a:t>
            </a:r>
            <a:endParaRPr lang="ar-SA" sz="650" dirty="0"/>
          </a:p>
        </p:txBody>
      </p:sp>
      <p:sp>
        <p:nvSpPr>
          <p:cNvPr id="32" name="Shape 30"/>
          <p:cNvSpPr/>
          <p:nvPr/>
        </p:nvSpPr>
        <p:spPr>
          <a:xfrm>
            <a:off x="2774823" y="1508760"/>
            <a:ext cx="843172" cy="155448"/>
          </a:xfrm>
          <a:prstGeom prst="rect">
            <a:avLst/>
          </a:prstGeom>
          <a:solidFill>
            <a:srgbClr val="E4F0F3"/>
          </a:solidFill>
          <a:ln w="12700">
            <a:solidFill>
              <a:srgbClr val="FFFFFF"/>
            </a:solidFill>
            <a:prstDash val="solid"/>
          </a:ln>
        </p:spPr>
      </p:sp>
      <p:sp>
        <p:nvSpPr>
          <p:cNvPr id="33" name="Text 31"/>
          <p:cNvSpPr/>
          <p:nvPr/>
        </p:nvSpPr>
        <p:spPr>
          <a:xfrm>
            <a:off x="2774823" y="1508760"/>
            <a:ext cx="843172"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4</a:t>
            </a:r>
            <a:endParaRPr lang="ar-SA" sz="650" dirty="0"/>
          </a:p>
        </p:txBody>
      </p:sp>
      <p:sp>
        <p:nvSpPr>
          <p:cNvPr id="34" name="Shape 32"/>
          <p:cNvSpPr/>
          <p:nvPr/>
        </p:nvSpPr>
        <p:spPr>
          <a:xfrm>
            <a:off x="1931651" y="1508760"/>
            <a:ext cx="843172" cy="155448"/>
          </a:xfrm>
          <a:prstGeom prst="rect">
            <a:avLst/>
          </a:prstGeom>
          <a:solidFill>
            <a:srgbClr val="D5E6EA"/>
          </a:solidFill>
          <a:ln w="12700">
            <a:solidFill>
              <a:srgbClr val="FFFFFF"/>
            </a:solidFill>
            <a:prstDash val="solid"/>
          </a:ln>
        </p:spPr>
      </p:sp>
      <p:sp>
        <p:nvSpPr>
          <p:cNvPr id="35" name="Text 33"/>
          <p:cNvSpPr/>
          <p:nvPr/>
        </p:nvSpPr>
        <p:spPr>
          <a:xfrm>
            <a:off x="1931651" y="1508760"/>
            <a:ext cx="843172"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5</a:t>
            </a:r>
            <a:endParaRPr lang="ar-SA" sz="650" dirty="0"/>
          </a:p>
        </p:txBody>
      </p:sp>
      <p:sp>
        <p:nvSpPr>
          <p:cNvPr id="36" name="Shape 34"/>
          <p:cNvSpPr/>
          <p:nvPr/>
        </p:nvSpPr>
        <p:spPr>
          <a:xfrm>
            <a:off x="1088479" y="1508760"/>
            <a:ext cx="843172" cy="155448"/>
          </a:xfrm>
          <a:prstGeom prst="rect">
            <a:avLst/>
          </a:prstGeom>
          <a:solidFill>
            <a:srgbClr val="E4F0F3"/>
          </a:solidFill>
          <a:ln w="12700">
            <a:solidFill>
              <a:srgbClr val="FFFFFF"/>
            </a:solidFill>
            <a:prstDash val="solid"/>
          </a:ln>
        </p:spPr>
      </p:sp>
      <p:sp>
        <p:nvSpPr>
          <p:cNvPr id="37" name="Text 35"/>
          <p:cNvSpPr/>
          <p:nvPr/>
        </p:nvSpPr>
        <p:spPr>
          <a:xfrm>
            <a:off x="1088479" y="1508760"/>
            <a:ext cx="843172"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6</a:t>
            </a:r>
            <a:endParaRPr lang="ar-SA" sz="650" dirty="0"/>
          </a:p>
        </p:txBody>
      </p:sp>
      <p:sp>
        <p:nvSpPr>
          <p:cNvPr id="38" name="Shape 36"/>
          <p:cNvSpPr/>
          <p:nvPr/>
        </p:nvSpPr>
        <p:spPr>
          <a:xfrm>
            <a:off x="365760" y="1508760"/>
            <a:ext cx="722719" cy="155448"/>
          </a:xfrm>
          <a:prstGeom prst="rect">
            <a:avLst/>
          </a:prstGeom>
          <a:solidFill>
            <a:srgbClr val="D5E6EA"/>
          </a:solidFill>
          <a:ln w="12700">
            <a:solidFill>
              <a:srgbClr val="FFFFFF"/>
            </a:solidFill>
            <a:prstDash val="solid"/>
          </a:ln>
        </p:spPr>
      </p:sp>
      <p:sp>
        <p:nvSpPr>
          <p:cNvPr id="39" name="Text 37"/>
          <p:cNvSpPr/>
          <p:nvPr/>
        </p:nvSpPr>
        <p:spPr>
          <a:xfrm>
            <a:off x="365760" y="1508760"/>
            <a:ext cx="722719"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34505A"/>
                </a:solidFill>
                <a:latin typeface="Arial" pitchFamily="34" charset="0"/>
                <a:ea typeface="Arial" pitchFamily="34" charset="-122"/>
                <a:cs typeface="Arial" pitchFamily="34" charset="-120"/>
              </a:rPr>
              <a:t>أسبوع 7</a:t>
            </a:r>
            <a:endParaRPr lang="ar-SA" sz="650" dirty="0"/>
          </a:p>
        </p:txBody>
      </p:sp>
      <p:sp>
        <p:nvSpPr>
          <p:cNvPr id="40" name="Shape 38"/>
          <p:cNvSpPr/>
          <p:nvPr/>
        </p:nvSpPr>
        <p:spPr>
          <a:xfrm>
            <a:off x="6027058" y="1664208"/>
            <a:ext cx="120453" cy="301752"/>
          </a:xfrm>
          <a:prstGeom prst="rect">
            <a:avLst/>
          </a:prstGeom>
          <a:solidFill>
            <a:srgbClr val="F4F7F8"/>
          </a:solidFill>
          <a:ln w="6350">
            <a:solidFill>
              <a:srgbClr val="FFFFFF"/>
            </a:solidFill>
            <a:prstDash val="solid"/>
          </a:ln>
        </p:spPr>
      </p:sp>
      <p:sp>
        <p:nvSpPr>
          <p:cNvPr id="41" name="Text 39"/>
          <p:cNvSpPr/>
          <p:nvPr/>
        </p:nvSpPr>
        <p:spPr>
          <a:xfrm>
            <a:off x="6027058"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42" name="Text 40"/>
          <p:cNvSpPr/>
          <p:nvPr/>
        </p:nvSpPr>
        <p:spPr>
          <a:xfrm>
            <a:off x="6027058"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10</a:t>
            </a:r>
            <a:endParaRPr lang="ar-SA" sz="550" dirty="0"/>
          </a:p>
        </p:txBody>
      </p:sp>
      <p:sp>
        <p:nvSpPr>
          <p:cNvPr id="43" name="Shape 41"/>
          <p:cNvSpPr/>
          <p:nvPr/>
        </p:nvSpPr>
        <p:spPr>
          <a:xfrm>
            <a:off x="6147511" y="1965960"/>
            <a:ext cx="0" cy="3429000"/>
          </a:xfrm>
          <a:prstGeom prst="line">
            <a:avLst/>
          </a:prstGeom>
          <a:noFill/>
          <a:ln w="6350">
            <a:solidFill>
              <a:srgbClr val="9DB2BB"/>
            </a:solidFill>
            <a:prstDash val="solid"/>
          </a:ln>
        </p:spPr>
      </p:sp>
      <p:sp>
        <p:nvSpPr>
          <p:cNvPr id="44" name="Shape 42"/>
          <p:cNvSpPr/>
          <p:nvPr/>
        </p:nvSpPr>
        <p:spPr>
          <a:xfrm>
            <a:off x="5906605" y="1664208"/>
            <a:ext cx="120453" cy="301752"/>
          </a:xfrm>
          <a:prstGeom prst="rect">
            <a:avLst/>
          </a:prstGeom>
          <a:solidFill>
            <a:srgbClr val="F4F7F8"/>
          </a:solidFill>
          <a:ln w="6350">
            <a:solidFill>
              <a:srgbClr val="FFFFFF"/>
            </a:solidFill>
            <a:prstDash val="solid"/>
          </a:ln>
        </p:spPr>
      </p:sp>
      <p:sp>
        <p:nvSpPr>
          <p:cNvPr id="45" name="Text 43"/>
          <p:cNvSpPr/>
          <p:nvPr/>
        </p:nvSpPr>
        <p:spPr>
          <a:xfrm>
            <a:off x="5906605"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46" name="Text 44"/>
          <p:cNvSpPr/>
          <p:nvPr/>
        </p:nvSpPr>
        <p:spPr>
          <a:xfrm>
            <a:off x="5906605"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11</a:t>
            </a:r>
            <a:endParaRPr lang="ar-SA" sz="550" dirty="0"/>
          </a:p>
        </p:txBody>
      </p:sp>
      <p:sp>
        <p:nvSpPr>
          <p:cNvPr id="47" name="Shape 45"/>
          <p:cNvSpPr/>
          <p:nvPr/>
        </p:nvSpPr>
        <p:spPr>
          <a:xfrm>
            <a:off x="5786152" y="1664208"/>
            <a:ext cx="120453" cy="301752"/>
          </a:xfrm>
          <a:prstGeom prst="rect">
            <a:avLst/>
          </a:prstGeom>
          <a:solidFill>
            <a:srgbClr val="F4F7F8"/>
          </a:solidFill>
          <a:ln w="6350">
            <a:solidFill>
              <a:srgbClr val="FFFFFF"/>
            </a:solidFill>
            <a:prstDash val="solid"/>
          </a:ln>
        </p:spPr>
      </p:sp>
      <p:sp>
        <p:nvSpPr>
          <p:cNvPr id="48" name="Text 46"/>
          <p:cNvSpPr/>
          <p:nvPr/>
        </p:nvSpPr>
        <p:spPr>
          <a:xfrm>
            <a:off x="5786152"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49" name="Text 47"/>
          <p:cNvSpPr/>
          <p:nvPr/>
        </p:nvSpPr>
        <p:spPr>
          <a:xfrm>
            <a:off x="5786152"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12</a:t>
            </a:r>
            <a:endParaRPr lang="ar-SA" sz="550" dirty="0"/>
          </a:p>
        </p:txBody>
      </p:sp>
      <p:sp>
        <p:nvSpPr>
          <p:cNvPr id="50" name="Shape 48"/>
          <p:cNvSpPr/>
          <p:nvPr/>
        </p:nvSpPr>
        <p:spPr>
          <a:xfrm>
            <a:off x="5665699" y="1664208"/>
            <a:ext cx="120453" cy="301752"/>
          </a:xfrm>
          <a:prstGeom prst="rect">
            <a:avLst/>
          </a:prstGeom>
          <a:solidFill>
            <a:srgbClr val="F4F7F8"/>
          </a:solidFill>
          <a:ln w="6350">
            <a:solidFill>
              <a:srgbClr val="FFFFFF"/>
            </a:solidFill>
            <a:prstDash val="solid"/>
          </a:ln>
        </p:spPr>
      </p:sp>
      <p:sp>
        <p:nvSpPr>
          <p:cNvPr id="51" name="Text 49"/>
          <p:cNvSpPr/>
          <p:nvPr/>
        </p:nvSpPr>
        <p:spPr>
          <a:xfrm>
            <a:off x="5665699"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52" name="Text 50"/>
          <p:cNvSpPr/>
          <p:nvPr/>
        </p:nvSpPr>
        <p:spPr>
          <a:xfrm>
            <a:off x="5665699"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13</a:t>
            </a:r>
            <a:endParaRPr lang="ar-SA" sz="550" dirty="0"/>
          </a:p>
        </p:txBody>
      </p:sp>
      <p:sp>
        <p:nvSpPr>
          <p:cNvPr id="53" name="Shape 51"/>
          <p:cNvSpPr/>
          <p:nvPr/>
        </p:nvSpPr>
        <p:spPr>
          <a:xfrm>
            <a:off x="5545245" y="1664208"/>
            <a:ext cx="120453" cy="301752"/>
          </a:xfrm>
          <a:prstGeom prst="rect">
            <a:avLst/>
          </a:prstGeom>
          <a:solidFill>
            <a:srgbClr val="F4F7F8"/>
          </a:solidFill>
          <a:ln w="6350">
            <a:solidFill>
              <a:srgbClr val="FFFFFF"/>
            </a:solidFill>
            <a:prstDash val="solid"/>
          </a:ln>
        </p:spPr>
      </p:sp>
      <p:sp>
        <p:nvSpPr>
          <p:cNvPr id="54" name="Text 52"/>
          <p:cNvSpPr/>
          <p:nvPr/>
        </p:nvSpPr>
        <p:spPr>
          <a:xfrm>
            <a:off x="5545245"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55" name="Text 53"/>
          <p:cNvSpPr/>
          <p:nvPr/>
        </p:nvSpPr>
        <p:spPr>
          <a:xfrm>
            <a:off x="5545245"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14</a:t>
            </a:r>
            <a:endParaRPr lang="ar-SA" sz="550" dirty="0"/>
          </a:p>
        </p:txBody>
      </p:sp>
      <p:sp>
        <p:nvSpPr>
          <p:cNvPr id="56" name="Shape 54"/>
          <p:cNvSpPr/>
          <p:nvPr/>
        </p:nvSpPr>
        <p:spPr>
          <a:xfrm>
            <a:off x="5424792" y="1664208"/>
            <a:ext cx="120453" cy="301752"/>
          </a:xfrm>
          <a:prstGeom prst="rect">
            <a:avLst/>
          </a:prstGeom>
          <a:solidFill>
            <a:srgbClr val="F4F7F8"/>
          </a:solidFill>
          <a:ln w="6350">
            <a:solidFill>
              <a:srgbClr val="FFFFFF"/>
            </a:solidFill>
            <a:prstDash val="solid"/>
          </a:ln>
        </p:spPr>
      </p:sp>
      <p:sp>
        <p:nvSpPr>
          <p:cNvPr id="57" name="Text 55"/>
          <p:cNvSpPr/>
          <p:nvPr/>
        </p:nvSpPr>
        <p:spPr>
          <a:xfrm>
            <a:off x="5424792"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58" name="Text 56"/>
          <p:cNvSpPr/>
          <p:nvPr/>
        </p:nvSpPr>
        <p:spPr>
          <a:xfrm>
            <a:off x="5424792"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15</a:t>
            </a:r>
            <a:endParaRPr lang="ar-SA" sz="550" dirty="0"/>
          </a:p>
        </p:txBody>
      </p:sp>
      <p:sp>
        <p:nvSpPr>
          <p:cNvPr id="59" name="Shape 57"/>
          <p:cNvSpPr/>
          <p:nvPr/>
        </p:nvSpPr>
        <p:spPr>
          <a:xfrm>
            <a:off x="5304339" y="1664208"/>
            <a:ext cx="120453" cy="301752"/>
          </a:xfrm>
          <a:prstGeom prst="rect">
            <a:avLst/>
          </a:prstGeom>
          <a:solidFill>
            <a:srgbClr val="DBE3E6"/>
          </a:solidFill>
          <a:ln w="6350">
            <a:solidFill>
              <a:srgbClr val="FFFFFF"/>
            </a:solidFill>
            <a:prstDash val="solid"/>
          </a:ln>
        </p:spPr>
      </p:sp>
      <p:sp>
        <p:nvSpPr>
          <p:cNvPr id="60" name="Text 58"/>
          <p:cNvSpPr/>
          <p:nvPr/>
        </p:nvSpPr>
        <p:spPr>
          <a:xfrm>
            <a:off x="5304339"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8A959C"/>
                </a:solidFill>
                <a:latin typeface="Arial" pitchFamily="34" charset="0"/>
                <a:ea typeface="Arial" pitchFamily="34" charset="-122"/>
                <a:cs typeface="Arial" pitchFamily="34" charset="-120"/>
              </a:rPr>
              <a:t>ج</a:t>
            </a:r>
            <a:endParaRPr lang="ar-SA" sz="500" dirty="0"/>
          </a:p>
        </p:txBody>
      </p:sp>
      <p:sp>
        <p:nvSpPr>
          <p:cNvPr id="61" name="Text 59"/>
          <p:cNvSpPr/>
          <p:nvPr/>
        </p:nvSpPr>
        <p:spPr>
          <a:xfrm>
            <a:off x="5304339"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8A959C"/>
                </a:solidFill>
                <a:latin typeface="Arial" pitchFamily="34" charset="0"/>
                <a:ea typeface="Arial" pitchFamily="34" charset="-122"/>
                <a:cs typeface="Arial" pitchFamily="34" charset="-120"/>
              </a:rPr>
              <a:t>16</a:t>
            </a:r>
            <a:endParaRPr lang="ar-SA" sz="550" dirty="0"/>
          </a:p>
        </p:txBody>
      </p:sp>
      <p:sp>
        <p:nvSpPr>
          <p:cNvPr id="62" name="Shape 60"/>
          <p:cNvSpPr/>
          <p:nvPr/>
        </p:nvSpPr>
        <p:spPr>
          <a:xfrm>
            <a:off x="5304339" y="1965960"/>
            <a:ext cx="120453" cy="3429000"/>
          </a:xfrm>
          <a:prstGeom prst="rect">
            <a:avLst/>
          </a:prstGeom>
          <a:solidFill>
            <a:srgbClr val="000000">
              <a:alpha val="6000"/>
            </a:srgbClr>
          </a:solidFill>
          <a:ln w="12700">
            <a:solidFill>
              <a:srgbClr val="000000">
                <a:alpha val="0"/>
              </a:srgbClr>
            </a:solidFill>
            <a:prstDash val="solid"/>
          </a:ln>
        </p:spPr>
      </p:sp>
      <p:sp>
        <p:nvSpPr>
          <p:cNvPr id="63" name="Shape 61"/>
          <p:cNvSpPr/>
          <p:nvPr/>
        </p:nvSpPr>
        <p:spPr>
          <a:xfrm>
            <a:off x="5183886" y="1664208"/>
            <a:ext cx="120453" cy="301752"/>
          </a:xfrm>
          <a:prstGeom prst="rect">
            <a:avLst/>
          </a:prstGeom>
          <a:solidFill>
            <a:srgbClr val="F4F7F8"/>
          </a:solidFill>
          <a:ln w="6350">
            <a:solidFill>
              <a:srgbClr val="FFFFFF"/>
            </a:solidFill>
            <a:prstDash val="solid"/>
          </a:ln>
        </p:spPr>
      </p:sp>
      <p:sp>
        <p:nvSpPr>
          <p:cNvPr id="64" name="Text 62"/>
          <p:cNvSpPr/>
          <p:nvPr/>
        </p:nvSpPr>
        <p:spPr>
          <a:xfrm>
            <a:off x="5183886"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65" name="Text 63"/>
          <p:cNvSpPr/>
          <p:nvPr/>
        </p:nvSpPr>
        <p:spPr>
          <a:xfrm>
            <a:off x="5183886"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17</a:t>
            </a:r>
            <a:endParaRPr lang="ar-SA" sz="550" dirty="0"/>
          </a:p>
        </p:txBody>
      </p:sp>
      <p:sp>
        <p:nvSpPr>
          <p:cNvPr id="66" name="Shape 64"/>
          <p:cNvSpPr/>
          <p:nvPr/>
        </p:nvSpPr>
        <p:spPr>
          <a:xfrm>
            <a:off x="5304339" y="1965960"/>
            <a:ext cx="0" cy="3429000"/>
          </a:xfrm>
          <a:prstGeom prst="line">
            <a:avLst/>
          </a:prstGeom>
          <a:noFill/>
          <a:ln w="6350">
            <a:solidFill>
              <a:srgbClr val="9DB2BB"/>
            </a:solidFill>
            <a:prstDash val="solid"/>
          </a:ln>
        </p:spPr>
      </p:sp>
      <p:sp>
        <p:nvSpPr>
          <p:cNvPr id="67" name="Shape 65"/>
          <p:cNvSpPr/>
          <p:nvPr/>
        </p:nvSpPr>
        <p:spPr>
          <a:xfrm>
            <a:off x="5063433" y="1664208"/>
            <a:ext cx="120453" cy="301752"/>
          </a:xfrm>
          <a:prstGeom prst="rect">
            <a:avLst/>
          </a:prstGeom>
          <a:solidFill>
            <a:srgbClr val="F4F7F8"/>
          </a:solidFill>
          <a:ln w="6350">
            <a:solidFill>
              <a:srgbClr val="FFFFFF"/>
            </a:solidFill>
            <a:prstDash val="solid"/>
          </a:ln>
        </p:spPr>
      </p:sp>
      <p:sp>
        <p:nvSpPr>
          <p:cNvPr id="68" name="Text 66"/>
          <p:cNvSpPr/>
          <p:nvPr/>
        </p:nvSpPr>
        <p:spPr>
          <a:xfrm>
            <a:off x="5063433"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69" name="Text 67"/>
          <p:cNvSpPr/>
          <p:nvPr/>
        </p:nvSpPr>
        <p:spPr>
          <a:xfrm>
            <a:off x="5063433"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18</a:t>
            </a:r>
            <a:endParaRPr lang="ar-SA" sz="550" dirty="0"/>
          </a:p>
        </p:txBody>
      </p:sp>
      <p:sp>
        <p:nvSpPr>
          <p:cNvPr id="70" name="Shape 68"/>
          <p:cNvSpPr/>
          <p:nvPr/>
        </p:nvSpPr>
        <p:spPr>
          <a:xfrm>
            <a:off x="4942980" y="1664208"/>
            <a:ext cx="120453" cy="301752"/>
          </a:xfrm>
          <a:prstGeom prst="rect">
            <a:avLst/>
          </a:prstGeom>
          <a:solidFill>
            <a:srgbClr val="F4F7F8"/>
          </a:solidFill>
          <a:ln w="6350">
            <a:solidFill>
              <a:srgbClr val="FFFFFF"/>
            </a:solidFill>
            <a:prstDash val="solid"/>
          </a:ln>
        </p:spPr>
      </p:sp>
      <p:sp>
        <p:nvSpPr>
          <p:cNvPr id="71" name="Text 69"/>
          <p:cNvSpPr/>
          <p:nvPr/>
        </p:nvSpPr>
        <p:spPr>
          <a:xfrm>
            <a:off x="4942980"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72" name="Text 70"/>
          <p:cNvSpPr/>
          <p:nvPr/>
        </p:nvSpPr>
        <p:spPr>
          <a:xfrm>
            <a:off x="4942980"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19</a:t>
            </a:r>
            <a:endParaRPr lang="ar-SA" sz="550" dirty="0"/>
          </a:p>
        </p:txBody>
      </p:sp>
      <p:sp>
        <p:nvSpPr>
          <p:cNvPr id="73" name="Shape 71"/>
          <p:cNvSpPr/>
          <p:nvPr/>
        </p:nvSpPr>
        <p:spPr>
          <a:xfrm>
            <a:off x="4822527" y="1664208"/>
            <a:ext cx="120453" cy="301752"/>
          </a:xfrm>
          <a:prstGeom prst="rect">
            <a:avLst/>
          </a:prstGeom>
          <a:solidFill>
            <a:srgbClr val="F4F7F8"/>
          </a:solidFill>
          <a:ln w="6350">
            <a:solidFill>
              <a:srgbClr val="FFFFFF"/>
            </a:solidFill>
            <a:prstDash val="solid"/>
          </a:ln>
        </p:spPr>
      </p:sp>
      <p:sp>
        <p:nvSpPr>
          <p:cNvPr id="74" name="Text 72"/>
          <p:cNvSpPr/>
          <p:nvPr/>
        </p:nvSpPr>
        <p:spPr>
          <a:xfrm>
            <a:off x="4822527"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75" name="Text 73"/>
          <p:cNvSpPr/>
          <p:nvPr/>
        </p:nvSpPr>
        <p:spPr>
          <a:xfrm>
            <a:off x="4822527"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20</a:t>
            </a:r>
            <a:endParaRPr lang="ar-SA" sz="550" dirty="0"/>
          </a:p>
        </p:txBody>
      </p:sp>
      <p:sp>
        <p:nvSpPr>
          <p:cNvPr id="76" name="Shape 74"/>
          <p:cNvSpPr/>
          <p:nvPr/>
        </p:nvSpPr>
        <p:spPr>
          <a:xfrm>
            <a:off x="4702073" y="1664208"/>
            <a:ext cx="120453" cy="301752"/>
          </a:xfrm>
          <a:prstGeom prst="rect">
            <a:avLst/>
          </a:prstGeom>
          <a:solidFill>
            <a:srgbClr val="F4F7F8"/>
          </a:solidFill>
          <a:ln w="6350">
            <a:solidFill>
              <a:srgbClr val="FFFFFF"/>
            </a:solidFill>
            <a:prstDash val="solid"/>
          </a:ln>
        </p:spPr>
      </p:sp>
      <p:sp>
        <p:nvSpPr>
          <p:cNvPr id="77" name="Text 75"/>
          <p:cNvSpPr/>
          <p:nvPr/>
        </p:nvSpPr>
        <p:spPr>
          <a:xfrm>
            <a:off x="4702073"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78" name="Text 76"/>
          <p:cNvSpPr/>
          <p:nvPr/>
        </p:nvSpPr>
        <p:spPr>
          <a:xfrm>
            <a:off x="4702073"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21</a:t>
            </a:r>
            <a:endParaRPr lang="ar-SA" sz="550" dirty="0"/>
          </a:p>
        </p:txBody>
      </p:sp>
      <p:sp>
        <p:nvSpPr>
          <p:cNvPr id="79" name="Shape 77"/>
          <p:cNvSpPr/>
          <p:nvPr/>
        </p:nvSpPr>
        <p:spPr>
          <a:xfrm>
            <a:off x="4581620" y="1664208"/>
            <a:ext cx="120453" cy="301752"/>
          </a:xfrm>
          <a:prstGeom prst="rect">
            <a:avLst/>
          </a:prstGeom>
          <a:solidFill>
            <a:srgbClr val="F4F7F8"/>
          </a:solidFill>
          <a:ln w="6350">
            <a:solidFill>
              <a:srgbClr val="FFFFFF"/>
            </a:solidFill>
            <a:prstDash val="solid"/>
          </a:ln>
        </p:spPr>
      </p:sp>
      <p:sp>
        <p:nvSpPr>
          <p:cNvPr id="80" name="Text 78"/>
          <p:cNvSpPr/>
          <p:nvPr/>
        </p:nvSpPr>
        <p:spPr>
          <a:xfrm>
            <a:off x="4581620"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81" name="Text 79"/>
          <p:cNvSpPr/>
          <p:nvPr/>
        </p:nvSpPr>
        <p:spPr>
          <a:xfrm>
            <a:off x="4581620"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22</a:t>
            </a:r>
            <a:endParaRPr lang="ar-SA" sz="550" dirty="0"/>
          </a:p>
        </p:txBody>
      </p:sp>
      <p:sp>
        <p:nvSpPr>
          <p:cNvPr id="82" name="Shape 80"/>
          <p:cNvSpPr/>
          <p:nvPr/>
        </p:nvSpPr>
        <p:spPr>
          <a:xfrm>
            <a:off x="4461167" y="1664208"/>
            <a:ext cx="120453" cy="301752"/>
          </a:xfrm>
          <a:prstGeom prst="rect">
            <a:avLst/>
          </a:prstGeom>
          <a:solidFill>
            <a:srgbClr val="DBE3E6"/>
          </a:solidFill>
          <a:ln w="6350">
            <a:solidFill>
              <a:srgbClr val="FFFFFF"/>
            </a:solidFill>
            <a:prstDash val="solid"/>
          </a:ln>
        </p:spPr>
      </p:sp>
      <p:sp>
        <p:nvSpPr>
          <p:cNvPr id="83" name="Text 81"/>
          <p:cNvSpPr/>
          <p:nvPr/>
        </p:nvSpPr>
        <p:spPr>
          <a:xfrm>
            <a:off x="4461167"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8A959C"/>
                </a:solidFill>
                <a:latin typeface="Arial" pitchFamily="34" charset="0"/>
                <a:ea typeface="Arial" pitchFamily="34" charset="-122"/>
                <a:cs typeface="Arial" pitchFamily="34" charset="-120"/>
              </a:rPr>
              <a:t>ج</a:t>
            </a:r>
            <a:endParaRPr lang="ar-SA" sz="500" dirty="0"/>
          </a:p>
        </p:txBody>
      </p:sp>
      <p:sp>
        <p:nvSpPr>
          <p:cNvPr id="84" name="Text 82"/>
          <p:cNvSpPr/>
          <p:nvPr/>
        </p:nvSpPr>
        <p:spPr>
          <a:xfrm>
            <a:off x="4461167"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8A959C"/>
                </a:solidFill>
                <a:latin typeface="Arial" pitchFamily="34" charset="0"/>
                <a:ea typeface="Arial" pitchFamily="34" charset="-122"/>
                <a:cs typeface="Arial" pitchFamily="34" charset="-120"/>
              </a:rPr>
              <a:t>23</a:t>
            </a:r>
            <a:endParaRPr lang="ar-SA" sz="550" dirty="0"/>
          </a:p>
        </p:txBody>
      </p:sp>
      <p:sp>
        <p:nvSpPr>
          <p:cNvPr id="85" name="Shape 83"/>
          <p:cNvSpPr/>
          <p:nvPr/>
        </p:nvSpPr>
        <p:spPr>
          <a:xfrm>
            <a:off x="4461167" y="1965960"/>
            <a:ext cx="120453" cy="3429000"/>
          </a:xfrm>
          <a:prstGeom prst="rect">
            <a:avLst/>
          </a:prstGeom>
          <a:solidFill>
            <a:srgbClr val="000000">
              <a:alpha val="6000"/>
            </a:srgbClr>
          </a:solidFill>
          <a:ln w="12700">
            <a:solidFill>
              <a:srgbClr val="000000">
                <a:alpha val="0"/>
              </a:srgbClr>
            </a:solidFill>
            <a:prstDash val="solid"/>
          </a:ln>
        </p:spPr>
      </p:sp>
      <p:sp>
        <p:nvSpPr>
          <p:cNvPr id="86" name="Shape 84"/>
          <p:cNvSpPr/>
          <p:nvPr/>
        </p:nvSpPr>
        <p:spPr>
          <a:xfrm>
            <a:off x="4340714" y="1664208"/>
            <a:ext cx="120453" cy="301752"/>
          </a:xfrm>
          <a:prstGeom prst="rect">
            <a:avLst/>
          </a:prstGeom>
          <a:solidFill>
            <a:srgbClr val="F4F7F8"/>
          </a:solidFill>
          <a:ln w="6350">
            <a:solidFill>
              <a:srgbClr val="FFFFFF"/>
            </a:solidFill>
            <a:prstDash val="solid"/>
          </a:ln>
        </p:spPr>
      </p:sp>
      <p:sp>
        <p:nvSpPr>
          <p:cNvPr id="87" name="Text 85"/>
          <p:cNvSpPr/>
          <p:nvPr/>
        </p:nvSpPr>
        <p:spPr>
          <a:xfrm>
            <a:off x="4340714"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88" name="Text 86"/>
          <p:cNvSpPr/>
          <p:nvPr/>
        </p:nvSpPr>
        <p:spPr>
          <a:xfrm>
            <a:off x="4340714"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24</a:t>
            </a:r>
            <a:endParaRPr lang="ar-SA" sz="550" dirty="0"/>
          </a:p>
        </p:txBody>
      </p:sp>
      <p:sp>
        <p:nvSpPr>
          <p:cNvPr id="89" name="Shape 87"/>
          <p:cNvSpPr/>
          <p:nvPr/>
        </p:nvSpPr>
        <p:spPr>
          <a:xfrm>
            <a:off x="4461167" y="1965960"/>
            <a:ext cx="0" cy="3429000"/>
          </a:xfrm>
          <a:prstGeom prst="line">
            <a:avLst/>
          </a:prstGeom>
          <a:noFill/>
          <a:ln w="6350">
            <a:solidFill>
              <a:srgbClr val="9DB2BB"/>
            </a:solidFill>
            <a:prstDash val="solid"/>
          </a:ln>
        </p:spPr>
      </p:sp>
      <p:sp>
        <p:nvSpPr>
          <p:cNvPr id="90" name="Shape 88"/>
          <p:cNvSpPr/>
          <p:nvPr/>
        </p:nvSpPr>
        <p:spPr>
          <a:xfrm>
            <a:off x="4220261" y="1664208"/>
            <a:ext cx="120453" cy="301752"/>
          </a:xfrm>
          <a:prstGeom prst="rect">
            <a:avLst/>
          </a:prstGeom>
          <a:solidFill>
            <a:srgbClr val="F4F7F8"/>
          </a:solidFill>
          <a:ln w="6350">
            <a:solidFill>
              <a:srgbClr val="FFFFFF"/>
            </a:solidFill>
            <a:prstDash val="solid"/>
          </a:ln>
        </p:spPr>
      </p:sp>
      <p:sp>
        <p:nvSpPr>
          <p:cNvPr id="91" name="Text 89"/>
          <p:cNvSpPr/>
          <p:nvPr/>
        </p:nvSpPr>
        <p:spPr>
          <a:xfrm>
            <a:off x="4220261"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92" name="Text 90"/>
          <p:cNvSpPr/>
          <p:nvPr/>
        </p:nvSpPr>
        <p:spPr>
          <a:xfrm>
            <a:off x="4220261"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25</a:t>
            </a:r>
            <a:endParaRPr lang="ar-SA" sz="550" dirty="0"/>
          </a:p>
        </p:txBody>
      </p:sp>
      <p:sp>
        <p:nvSpPr>
          <p:cNvPr id="93" name="Shape 91"/>
          <p:cNvSpPr/>
          <p:nvPr/>
        </p:nvSpPr>
        <p:spPr>
          <a:xfrm>
            <a:off x="4099808" y="1664208"/>
            <a:ext cx="120453" cy="301752"/>
          </a:xfrm>
          <a:prstGeom prst="rect">
            <a:avLst/>
          </a:prstGeom>
          <a:solidFill>
            <a:srgbClr val="F4F7F8"/>
          </a:solidFill>
          <a:ln w="6350">
            <a:solidFill>
              <a:srgbClr val="FFFFFF"/>
            </a:solidFill>
            <a:prstDash val="solid"/>
          </a:ln>
        </p:spPr>
      </p:sp>
      <p:sp>
        <p:nvSpPr>
          <p:cNvPr id="94" name="Text 92"/>
          <p:cNvSpPr/>
          <p:nvPr/>
        </p:nvSpPr>
        <p:spPr>
          <a:xfrm>
            <a:off x="4099808"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95" name="Text 93"/>
          <p:cNvSpPr/>
          <p:nvPr/>
        </p:nvSpPr>
        <p:spPr>
          <a:xfrm>
            <a:off x="4099808"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26</a:t>
            </a:r>
            <a:endParaRPr lang="ar-SA" sz="550" dirty="0"/>
          </a:p>
        </p:txBody>
      </p:sp>
      <p:sp>
        <p:nvSpPr>
          <p:cNvPr id="96" name="Shape 94"/>
          <p:cNvSpPr/>
          <p:nvPr/>
        </p:nvSpPr>
        <p:spPr>
          <a:xfrm>
            <a:off x="3979355" y="1664208"/>
            <a:ext cx="120453" cy="301752"/>
          </a:xfrm>
          <a:prstGeom prst="rect">
            <a:avLst/>
          </a:prstGeom>
          <a:solidFill>
            <a:srgbClr val="F4F7F8"/>
          </a:solidFill>
          <a:ln w="6350">
            <a:solidFill>
              <a:srgbClr val="FFFFFF"/>
            </a:solidFill>
            <a:prstDash val="solid"/>
          </a:ln>
        </p:spPr>
      </p:sp>
      <p:sp>
        <p:nvSpPr>
          <p:cNvPr id="97" name="Text 95"/>
          <p:cNvSpPr/>
          <p:nvPr/>
        </p:nvSpPr>
        <p:spPr>
          <a:xfrm>
            <a:off x="3979355"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98" name="Text 96"/>
          <p:cNvSpPr/>
          <p:nvPr/>
        </p:nvSpPr>
        <p:spPr>
          <a:xfrm>
            <a:off x="3979355"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27</a:t>
            </a:r>
            <a:endParaRPr lang="ar-SA" sz="550" dirty="0"/>
          </a:p>
        </p:txBody>
      </p:sp>
      <p:sp>
        <p:nvSpPr>
          <p:cNvPr id="99" name="Shape 97"/>
          <p:cNvSpPr/>
          <p:nvPr/>
        </p:nvSpPr>
        <p:spPr>
          <a:xfrm>
            <a:off x="3858901" y="1664208"/>
            <a:ext cx="120453" cy="301752"/>
          </a:xfrm>
          <a:prstGeom prst="rect">
            <a:avLst/>
          </a:prstGeom>
          <a:solidFill>
            <a:srgbClr val="F4F7F8"/>
          </a:solidFill>
          <a:ln w="6350">
            <a:solidFill>
              <a:srgbClr val="FFFFFF"/>
            </a:solidFill>
            <a:prstDash val="solid"/>
          </a:ln>
        </p:spPr>
      </p:sp>
      <p:sp>
        <p:nvSpPr>
          <p:cNvPr id="100" name="Text 98"/>
          <p:cNvSpPr/>
          <p:nvPr/>
        </p:nvSpPr>
        <p:spPr>
          <a:xfrm>
            <a:off x="3858901"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101" name="Text 99"/>
          <p:cNvSpPr/>
          <p:nvPr/>
        </p:nvSpPr>
        <p:spPr>
          <a:xfrm>
            <a:off x="3858901"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28</a:t>
            </a:r>
            <a:endParaRPr lang="ar-SA" sz="550" dirty="0"/>
          </a:p>
        </p:txBody>
      </p:sp>
      <p:sp>
        <p:nvSpPr>
          <p:cNvPr id="102" name="Shape 100"/>
          <p:cNvSpPr/>
          <p:nvPr/>
        </p:nvSpPr>
        <p:spPr>
          <a:xfrm>
            <a:off x="3738448" y="1664208"/>
            <a:ext cx="120453" cy="301752"/>
          </a:xfrm>
          <a:prstGeom prst="rect">
            <a:avLst/>
          </a:prstGeom>
          <a:solidFill>
            <a:srgbClr val="F4F7F8"/>
          </a:solidFill>
          <a:ln w="6350">
            <a:solidFill>
              <a:srgbClr val="FFFFFF"/>
            </a:solidFill>
            <a:prstDash val="solid"/>
          </a:ln>
        </p:spPr>
      </p:sp>
      <p:sp>
        <p:nvSpPr>
          <p:cNvPr id="103" name="Text 101"/>
          <p:cNvSpPr/>
          <p:nvPr/>
        </p:nvSpPr>
        <p:spPr>
          <a:xfrm>
            <a:off x="3738448"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104" name="Text 102"/>
          <p:cNvSpPr/>
          <p:nvPr/>
        </p:nvSpPr>
        <p:spPr>
          <a:xfrm>
            <a:off x="3738448"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29</a:t>
            </a:r>
            <a:endParaRPr lang="ar-SA" sz="550" dirty="0"/>
          </a:p>
        </p:txBody>
      </p:sp>
      <p:sp>
        <p:nvSpPr>
          <p:cNvPr id="105" name="Shape 103"/>
          <p:cNvSpPr/>
          <p:nvPr/>
        </p:nvSpPr>
        <p:spPr>
          <a:xfrm>
            <a:off x="3617995" y="1664208"/>
            <a:ext cx="120453" cy="301752"/>
          </a:xfrm>
          <a:prstGeom prst="rect">
            <a:avLst/>
          </a:prstGeom>
          <a:solidFill>
            <a:srgbClr val="DBE3E6"/>
          </a:solidFill>
          <a:ln w="6350">
            <a:solidFill>
              <a:srgbClr val="FFFFFF"/>
            </a:solidFill>
            <a:prstDash val="solid"/>
          </a:ln>
        </p:spPr>
      </p:sp>
      <p:sp>
        <p:nvSpPr>
          <p:cNvPr id="106" name="Text 104"/>
          <p:cNvSpPr/>
          <p:nvPr/>
        </p:nvSpPr>
        <p:spPr>
          <a:xfrm>
            <a:off x="3617995"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8A959C"/>
                </a:solidFill>
                <a:latin typeface="Arial" pitchFamily="34" charset="0"/>
                <a:ea typeface="Arial" pitchFamily="34" charset="-122"/>
                <a:cs typeface="Arial" pitchFamily="34" charset="-120"/>
              </a:rPr>
              <a:t>ج</a:t>
            </a:r>
            <a:endParaRPr lang="ar-SA" sz="500" dirty="0"/>
          </a:p>
        </p:txBody>
      </p:sp>
      <p:sp>
        <p:nvSpPr>
          <p:cNvPr id="107" name="Text 105"/>
          <p:cNvSpPr/>
          <p:nvPr/>
        </p:nvSpPr>
        <p:spPr>
          <a:xfrm>
            <a:off x="3617995"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8A959C"/>
                </a:solidFill>
                <a:latin typeface="Arial" pitchFamily="34" charset="0"/>
                <a:ea typeface="Arial" pitchFamily="34" charset="-122"/>
                <a:cs typeface="Arial" pitchFamily="34" charset="-120"/>
              </a:rPr>
              <a:t>30</a:t>
            </a:r>
            <a:endParaRPr lang="ar-SA" sz="550" dirty="0"/>
          </a:p>
        </p:txBody>
      </p:sp>
      <p:sp>
        <p:nvSpPr>
          <p:cNvPr id="108" name="Shape 106"/>
          <p:cNvSpPr/>
          <p:nvPr/>
        </p:nvSpPr>
        <p:spPr>
          <a:xfrm>
            <a:off x="3617995" y="1965960"/>
            <a:ext cx="120453" cy="3429000"/>
          </a:xfrm>
          <a:prstGeom prst="rect">
            <a:avLst/>
          </a:prstGeom>
          <a:solidFill>
            <a:srgbClr val="000000">
              <a:alpha val="6000"/>
            </a:srgbClr>
          </a:solidFill>
          <a:ln w="12700">
            <a:solidFill>
              <a:srgbClr val="000000">
                <a:alpha val="0"/>
              </a:srgbClr>
            </a:solidFill>
            <a:prstDash val="solid"/>
          </a:ln>
        </p:spPr>
      </p:sp>
      <p:sp>
        <p:nvSpPr>
          <p:cNvPr id="109" name="Shape 107"/>
          <p:cNvSpPr/>
          <p:nvPr/>
        </p:nvSpPr>
        <p:spPr>
          <a:xfrm>
            <a:off x="3497542" y="1664208"/>
            <a:ext cx="120453" cy="301752"/>
          </a:xfrm>
          <a:prstGeom prst="rect">
            <a:avLst/>
          </a:prstGeom>
          <a:solidFill>
            <a:srgbClr val="F4F7F8"/>
          </a:solidFill>
          <a:ln w="6350">
            <a:solidFill>
              <a:srgbClr val="FFFFFF"/>
            </a:solidFill>
            <a:prstDash val="solid"/>
          </a:ln>
        </p:spPr>
      </p:sp>
      <p:sp>
        <p:nvSpPr>
          <p:cNvPr id="110" name="Text 108"/>
          <p:cNvSpPr/>
          <p:nvPr/>
        </p:nvSpPr>
        <p:spPr>
          <a:xfrm>
            <a:off x="3497542"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111" name="Text 109"/>
          <p:cNvSpPr/>
          <p:nvPr/>
        </p:nvSpPr>
        <p:spPr>
          <a:xfrm>
            <a:off x="3497542"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31</a:t>
            </a:r>
            <a:endParaRPr lang="ar-SA" sz="550" dirty="0"/>
          </a:p>
        </p:txBody>
      </p:sp>
      <p:sp>
        <p:nvSpPr>
          <p:cNvPr id="112" name="Shape 110"/>
          <p:cNvSpPr/>
          <p:nvPr/>
        </p:nvSpPr>
        <p:spPr>
          <a:xfrm>
            <a:off x="3617995" y="1965960"/>
            <a:ext cx="0" cy="3429000"/>
          </a:xfrm>
          <a:prstGeom prst="line">
            <a:avLst/>
          </a:prstGeom>
          <a:noFill/>
          <a:ln w="6350">
            <a:solidFill>
              <a:srgbClr val="9DB2BB"/>
            </a:solidFill>
            <a:prstDash val="solid"/>
          </a:ln>
        </p:spPr>
      </p:sp>
      <p:sp>
        <p:nvSpPr>
          <p:cNvPr id="113" name="Shape 111"/>
          <p:cNvSpPr/>
          <p:nvPr/>
        </p:nvSpPr>
        <p:spPr>
          <a:xfrm>
            <a:off x="3377089" y="1664208"/>
            <a:ext cx="120453" cy="301752"/>
          </a:xfrm>
          <a:prstGeom prst="rect">
            <a:avLst/>
          </a:prstGeom>
          <a:solidFill>
            <a:srgbClr val="F4F7F8"/>
          </a:solidFill>
          <a:ln w="6350">
            <a:solidFill>
              <a:srgbClr val="FFFFFF"/>
            </a:solidFill>
            <a:prstDash val="solid"/>
          </a:ln>
        </p:spPr>
      </p:sp>
      <p:sp>
        <p:nvSpPr>
          <p:cNvPr id="114" name="Text 112"/>
          <p:cNvSpPr/>
          <p:nvPr/>
        </p:nvSpPr>
        <p:spPr>
          <a:xfrm>
            <a:off x="3377089"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115" name="Text 113"/>
          <p:cNvSpPr/>
          <p:nvPr/>
        </p:nvSpPr>
        <p:spPr>
          <a:xfrm>
            <a:off x="3377089"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a:t>
            </a:r>
            <a:endParaRPr lang="ar-SA" sz="550" dirty="0"/>
          </a:p>
        </p:txBody>
      </p:sp>
      <p:sp>
        <p:nvSpPr>
          <p:cNvPr id="116" name="Shape 114"/>
          <p:cNvSpPr/>
          <p:nvPr/>
        </p:nvSpPr>
        <p:spPr>
          <a:xfrm>
            <a:off x="3256636" y="1664208"/>
            <a:ext cx="120453" cy="301752"/>
          </a:xfrm>
          <a:prstGeom prst="rect">
            <a:avLst/>
          </a:prstGeom>
          <a:solidFill>
            <a:srgbClr val="F4F7F8"/>
          </a:solidFill>
          <a:ln w="6350">
            <a:solidFill>
              <a:srgbClr val="FFFFFF"/>
            </a:solidFill>
            <a:prstDash val="solid"/>
          </a:ln>
        </p:spPr>
      </p:sp>
      <p:sp>
        <p:nvSpPr>
          <p:cNvPr id="117" name="Text 115"/>
          <p:cNvSpPr/>
          <p:nvPr/>
        </p:nvSpPr>
        <p:spPr>
          <a:xfrm>
            <a:off x="3256636"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118" name="Text 116"/>
          <p:cNvSpPr/>
          <p:nvPr/>
        </p:nvSpPr>
        <p:spPr>
          <a:xfrm>
            <a:off x="3256636"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a:t>
            </a:r>
            <a:endParaRPr lang="ar-SA" sz="550" dirty="0"/>
          </a:p>
        </p:txBody>
      </p:sp>
      <p:sp>
        <p:nvSpPr>
          <p:cNvPr id="119" name="Shape 117"/>
          <p:cNvSpPr/>
          <p:nvPr/>
        </p:nvSpPr>
        <p:spPr>
          <a:xfrm>
            <a:off x="3136182" y="1664208"/>
            <a:ext cx="120453" cy="301752"/>
          </a:xfrm>
          <a:prstGeom prst="rect">
            <a:avLst/>
          </a:prstGeom>
          <a:solidFill>
            <a:srgbClr val="F4F7F8"/>
          </a:solidFill>
          <a:ln w="6350">
            <a:solidFill>
              <a:srgbClr val="FFFFFF"/>
            </a:solidFill>
            <a:prstDash val="solid"/>
          </a:ln>
        </p:spPr>
      </p:sp>
      <p:sp>
        <p:nvSpPr>
          <p:cNvPr id="120" name="Text 118"/>
          <p:cNvSpPr/>
          <p:nvPr/>
        </p:nvSpPr>
        <p:spPr>
          <a:xfrm>
            <a:off x="3136182"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121" name="Text 119"/>
          <p:cNvSpPr/>
          <p:nvPr/>
        </p:nvSpPr>
        <p:spPr>
          <a:xfrm>
            <a:off x="3136182"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3</a:t>
            </a:r>
            <a:endParaRPr lang="ar-SA" sz="550" dirty="0"/>
          </a:p>
        </p:txBody>
      </p:sp>
      <p:sp>
        <p:nvSpPr>
          <p:cNvPr id="122" name="Shape 120"/>
          <p:cNvSpPr/>
          <p:nvPr/>
        </p:nvSpPr>
        <p:spPr>
          <a:xfrm>
            <a:off x="3015729" y="1664208"/>
            <a:ext cx="120453" cy="301752"/>
          </a:xfrm>
          <a:prstGeom prst="rect">
            <a:avLst/>
          </a:prstGeom>
          <a:solidFill>
            <a:srgbClr val="F4F7F8"/>
          </a:solidFill>
          <a:ln w="6350">
            <a:solidFill>
              <a:srgbClr val="FFFFFF"/>
            </a:solidFill>
            <a:prstDash val="solid"/>
          </a:ln>
        </p:spPr>
      </p:sp>
      <p:sp>
        <p:nvSpPr>
          <p:cNvPr id="123" name="Text 121"/>
          <p:cNvSpPr/>
          <p:nvPr/>
        </p:nvSpPr>
        <p:spPr>
          <a:xfrm>
            <a:off x="3015729"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124" name="Text 122"/>
          <p:cNvSpPr/>
          <p:nvPr/>
        </p:nvSpPr>
        <p:spPr>
          <a:xfrm>
            <a:off x="3015729"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4</a:t>
            </a:r>
            <a:endParaRPr lang="ar-SA" sz="550" dirty="0"/>
          </a:p>
        </p:txBody>
      </p:sp>
      <p:sp>
        <p:nvSpPr>
          <p:cNvPr id="125" name="Shape 123"/>
          <p:cNvSpPr/>
          <p:nvPr/>
        </p:nvSpPr>
        <p:spPr>
          <a:xfrm>
            <a:off x="2895276" y="1664208"/>
            <a:ext cx="120453" cy="301752"/>
          </a:xfrm>
          <a:prstGeom prst="rect">
            <a:avLst/>
          </a:prstGeom>
          <a:solidFill>
            <a:srgbClr val="F4F7F8"/>
          </a:solidFill>
          <a:ln w="6350">
            <a:solidFill>
              <a:srgbClr val="FFFFFF"/>
            </a:solidFill>
            <a:prstDash val="solid"/>
          </a:ln>
        </p:spPr>
      </p:sp>
      <p:sp>
        <p:nvSpPr>
          <p:cNvPr id="126" name="Text 124"/>
          <p:cNvSpPr/>
          <p:nvPr/>
        </p:nvSpPr>
        <p:spPr>
          <a:xfrm>
            <a:off x="2895276"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127" name="Text 125"/>
          <p:cNvSpPr/>
          <p:nvPr/>
        </p:nvSpPr>
        <p:spPr>
          <a:xfrm>
            <a:off x="2895276"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5</a:t>
            </a:r>
            <a:endParaRPr lang="ar-SA" sz="550" dirty="0"/>
          </a:p>
        </p:txBody>
      </p:sp>
      <p:sp>
        <p:nvSpPr>
          <p:cNvPr id="128" name="Shape 126"/>
          <p:cNvSpPr/>
          <p:nvPr/>
        </p:nvSpPr>
        <p:spPr>
          <a:xfrm>
            <a:off x="2774823" y="1664208"/>
            <a:ext cx="120453" cy="301752"/>
          </a:xfrm>
          <a:prstGeom prst="rect">
            <a:avLst/>
          </a:prstGeom>
          <a:solidFill>
            <a:srgbClr val="DBE3E6"/>
          </a:solidFill>
          <a:ln w="6350">
            <a:solidFill>
              <a:srgbClr val="FFFFFF"/>
            </a:solidFill>
            <a:prstDash val="solid"/>
          </a:ln>
        </p:spPr>
      </p:sp>
      <p:sp>
        <p:nvSpPr>
          <p:cNvPr id="129" name="Text 127"/>
          <p:cNvSpPr/>
          <p:nvPr/>
        </p:nvSpPr>
        <p:spPr>
          <a:xfrm>
            <a:off x="2774823"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8A959C"/>
                </a:solidFill>
                <a:latin typeface="Arial" pitchFamily="34" charset="0"/>
                <a:ea typeface="Arial" pitchFamily="34" charset="-122"/>
                <a:cs typeface="Arial" pitchFamily="34" charset="-120"/>
              </a:rPr>
              <a:t>ج</a:t>
            </a:r>
            <a:endParaRPr lang="ar-SA" sz="500" dirty="0"/>
          </a:p>
        </p:txBody>
      </p:sp>
      <p:sp>
        <p:nvSpPr>
          <p:cNvPr id="130" name="Text 128"/>
          <p:cNvSpPr/>
          <p:nvPr/>
        </p:nvSpPr>
        <p:spPr>
          <a:xfrm>
            <a:off x="2774823"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8A959C"/>
                </a:solidFill>
                <a:latin typeface="Arial" pitchFamily="34" charset="0"/>
                <a:ea typeface="Arial" pitchFamily="34" charset="-122"/>
                <a:cs typeface="Arial" pitchFamily="34" charset="-120"/>
              </a:rPr>
              <a:t>6</a:t>
            </a:r>
            <a:endParaRPr lang="ar-SA" sz="550" dirty="0"/>
          </a:p>
        </p:txBody>
      </p:sp>
      <p:sp>
        <p:nvSpPr>
          <p:cNvPr id="131" name="Shape 129"/>
          <p:cNvSpPr/>
          <p:nvPr/>
        </p:nvSpPr>
        <p:spPr>
          <a:xfrm>
            <a:off x="2774823" y="1965960"/>
            <a:ext cx="120453" cy="3429000"/>
          </a:xfrm>
          <a:prstGeom prst="rect">
            <a:avLst/>
          </a:prstGeom>
          <a:solidFill>
            <a:srgbClr val="000000">
              <a:alpha val="6000"/>
            </a:srgbClr>
          </a:solidFill>
          <a:ln w="12700">
            <a:solidFill>
              <a:srgbClr val="000000">
                <a:alpha val="0"/>
              </a:srgbClr>
            </a:solidFill>
            <a:prstDash val="solid"/>
          </a:ln>
        </p:spPr>
      </p:sp>
      <p:sp>
        <p:nvSpPr>
          <p:cNvPr id="132" name="Shape 130"/>
          <p:cNvSpPr/>
          <p:nvPr/>
        </p:nvSpPr>
        <p:spPr>
          <a:xfrm>
            <a:off x="2654370" y="1664208"/>
            <a:ext cx="120453" cy="301752"/>
          </a:xfrm>
          <a:prstGeom prst="rect">
            <a:avLst/>
          </a:prstGeom>
          <a:solidFill>
            <a:srgbClr val="F4F7F8"/>
          </a:solidFill>
          <a:ln w="6350">
            <a:solidFill>
              <a:srgbClr val="FFFFFF"/>
            </a:solidFill>
            <a:prstDash val="solid"/>
          </a:ln>
        </p:spPr>
      </p:sp>
      <p:sp>
        <p:nvSpPr>
          <p:cNvPr id="133" name="Text 131"/>
          <p:cNvSpPr/>
          <p:nvPr/>
        </p:nvSpPr>
        <p:spPr>
          <a:xfrm>
            <a:off x="2654370"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134" name="Text 132"/>
          <p:cNvSpPr/>
          <p:nvPr/>
        </p:nvSpPr>
        <p:spPr>
          <a:xfrm>
            <a:off x="2654370"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7</a:t>
            </a:r>
            <a:endParaRPr lang="ar-SA" sz="550" dirty="0"/>
          </a:p>
        </p:txBody>
      </p:sp>
      <p:sp>
        <p:nvSpPr>
          <p:cNvPr id="135" name="Shape 133"/>
          <p:cNvSpPr/>
          <p:nvPr/>
        </p:nvSpPr>
        <p:spPr>
          <a:xfrm>
            <a:off x="2774823" y="1965960"/>
            <a:ext cx="0" cy="3429000"/>
          </a:xfrm>
          <a:prstGeom prst="line">
            <a:avLst/>
          </a:prstGeom>
          <a:noFill/>
          <a:ln w="6350">
            <a:solidFill>
              <a:srgbClr val="9DB2BB"/>
            </a:solidFill>
            <a:prstDash val="solid"/>
          </a:ln>
        </p:spPr>
      </p:sp>
      <p:sp>
        <p:nvSpPr>
          <p:cNvPr id="136" name="Shape 134"/>
          <p:cNvSpPr/>
          <p:nvPr/>
        </p:nvSpPr>
        <p:spPr>
          <a:xfrm>
            <a:off x="2533917" y="1664208"/>
            <a:ext cx="120453" cy="301752"/>
          </a:xfrm>
          <a:prstGeom prst="rect">
            <a:avLst/>
          </a:prstGeom>
          <a:solidFill>
            <a:srgbClr val="F4F7F8"/>
          </a:solidFill>
          <a:ln w="6350">
            <a:solidFill>
              <a:srgbClr val="FFFFFF"/>
            </a:solidFill>
            <a:prstDash val="solid"/>
          </a:ln>
        </p:spPr>
      </p:sp>
      <p:sp>
        <p:nvSpPr>
          <p:cNvPr id="137" name="Text 135"/>
          <p:cNvSpPr/>
          <p:nvPr/>
        </p:nvSpPr>
        <p:spPr>
          <a:xfrm>
            <a:off x="2533917"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138" name="Text 136"/>
          <p:cNvSpPr/>
          <p:nvPr/>
        </p:nvSpPr>
        <p:spPr>
          <a:xfrm>
            <a:off x="2533917"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8</a:t>
            </a:r>
            <a:endParaRPr lang="ar-SA" sz="550" dirty="0"/>
          </a:p>
        </p:txBody>
      </p:sp>
      <p:sp>
        <p:nvSpPr>
          <p:cNvPr id="139" name="Shape 137"/>
          <p:cNvSpPr/>
          <p:nvPr/>
        </p:nvSpPr>
        <p:spPr>
          <a:xfrm>
            <a:off x="2413464" y="1664208"/>
            <a:ext cx="120453" cy="301752"/>
          </a:xfrm>
          <a:prstGeom prst="rect">
            <a:avLst/>
          </a:prstGeom>
          <a:solidFill>
            <a:srgbClr val="F4F7F8"/>
          </a:solidFill>
          <a:ln w="6350">
            <a:solidFill>
              <a:srgbClr val="FFFFFF"/>
            </a:solidFill>
            <a:prstDash val="solid"/>
          </a:ln>
        </p:spPr>
      </p:sp>
      <p:sp>
        <p:nvSpPr>
          <p:cNvPr id="140" name="Text 138"/>
          <p:cNvSpPr/>
          <p:nvPr/>
        </p:nvSpPr>
        <p:spPr>
          <a:xfrm>
            <a:off x="2413464"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141" name="Text 139"/>
          <p:cNvSpPr/>
          <p:nvPr/>
        </p:nvSpPr>
        <p:spPr>
          <a:xfrm>
            <a:off x="2413464"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9</a:t>
            </a:r>
            <a:endParaRPr lang="ar-SA" sz="550" dirty="0"/>
          </a:p>
        </p:txBody>
      </p:sp>
      <p:sp>
        <p:nvSpPr>
          <p:cNvPr id="142" name="Shape 140"/>
          <p:cNvSpPr/>
          <p:nvPr/>
        </p:nvSpPr>
        <p:spPr>
          <a:xfrm>
            <a:off x="2293010" y="1664208"/>
            <a:ext cx="120453" cy="301752"/>
          </a:xfrm>
          <a:prstGeom prst="rect">
            <a:avLst/>
          </a:prstGeom>
          <a:solidFill>
            <a:srgbClr val="F4F7F8"/>
          </a:solidFill>
          <a:ln w="6350">
            <a:solidFill>
              <a:srgbClr val="FFFFFF"/>
            </a:solidFill>
            <a:prstDash val="solid"/>
          </a:ln>
        </p:spPr>
      </p:sp>
      <p:sp>
        <p:nvSpPr>
          <p:cNvPr id="143" name="Text 141"/>
          <p:cNvSpPr/>
          <p:nvPr/>
        </p:nvSpPr>
        <p:spPr>
          <a:xfrm>
            <a:off x="2293010"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144" name="Text 142"/>
          <p:cNvSpPr/>
          <p:nvPr/>
        </p:nvSpPr>
        <p:spPr>
          <a:xfrm>
            <a:off x="2293010"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10</a:t>
            </a:r>
            <a:endParaRPr lang="ar-SA" sz="550" dirty="0"/>
          </a:p>
        </p:txBody>
      </p:sp>
      <p:sp>
        <p:nvSpPr>
          <p:cNvPr id="145" name="Shape 143"/>
          <p:cNvSpPr/>
          <p:nvPr/>
        </p:nvSpPr>
        <p:spPr>
          <a:xfrm>
            <a:off x="2172557" y="1664208"/>
            <a:ext cx="120453" cy="301752"/>
          </a:xfrm>
          <a:prstGeom prst="rect">
            <a:avLst/>
          </a:prstGeom>
          <a:solidFill>
            <a:srgbClr val="F4F7F8"/>
          </a:solidFill>
          <a:ln w="6350">
            <a:solidFill>
              <a:srgbClr val="FFFFFF"/>
            </a:solidFill>
            <a:prstDash val="solid"/>
          </a:ln>
        </p:spPr>
      </p:sp>
      <p:sp>
        <p:nvSpPr>
          <p:cNvPr id="146" name="Text 144"/>
          <p:cNvSpPr/>
          <p:nvPr/>
        </p:nvSpPr>
        <p:spPr>
          <a:xfrm>
            <a:off x="2172557"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147" name="Text 145"/>
          <p:cNvSpPr/>
          <p:nvPr/>
        </p:nvSpPr>
        <p:spPr>
          <a:xfrm>
            <a:off x="2172557"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11</a:t>
            </a:r>
            <a:endParaRPr lang="ar-SA" sz="550" dirty="0"/>
          </a:p>
        </p:txBody>
      </p:sp>
      <p:sp>
        <p:nvSpPr>
          <p:cNvPr id="148" name="Shape 146"/>
          <p:cNvSpPr/>
          <p:nvPr/>
        </p:nvSpPr>
        <p:spPr>
          <a:xfrm>
            <a:off x="2052104" y="1664208"/>
            <a:ext cx="120453" cy="301752"/>
          </a:xfrm>
          <a:prstGeom prst="rect">
            <a:avLst/>
          </a:prstGeom>
          <a:solidFill>
            <a:srgbClr val="F4F7F8"/>
          </a:solidFill>
          <a:ln w="6350">
            <a:solidFill>
              <a:srgbClr val="FFFFFF"/>
            </a:solidFill>
            <a:prstDash val="solid"/>
          </a:ln>
        </p:spPr>
      </p:sp>
      <p:sp>
        <p:nvSpPr>
          <p:cNvPr id="149" name="Text 147"/>
          <p:cNvSpPr/>
          <p:nvPr/>
        </p:nvSpPr>
        <p:spPr>
          <a:xfrm>
            <a:off x="2052104"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150" name="Text 148"/>
          <p:cNvSpPr/>
          <p:nvPr/>
        </p:nvSpPr>
        <p:spPr>
          <a:xfrm>
            <a:off x="2052104"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12</a:t>
            </a:r>
            <a:endParaRPr lang="ar-SA" sz="550" dirty="0"/>
          </a:p>
        </p:txBody>
      </p:sp>
      <p:sp>
        <p:nvSpPr>
          <p:cNvPr id="151" name="Shape 149"/>
          <p:cNvSpPr/>
          <p:nvPr/>
        </p:nvSpPr>
        <p:spPr>
          <a:xfrm>
            <a:off x="1931651" y="1664208"/>
            <a:ext cx="120453" cy="301752"/>
          </a:xfrm>
          <a:prstGeom prst="rect">
            <a:avLst/>
          </a:prstGeom>
          <a:solidFill>
            <a:srgbClr val="DBE3E6"/>
          </a:solidFill>
          <a:ln w="6350">
            <a:solidFill>
              <a:srgbClr val="FFFFFF"/>
            </a:solidFill>
            <a:prstDash val="solid"/>
          </a:ln>
        </p:spPr>
      </p:sp>
      <p:sp>
        <p:nvSpPr>
          <p:cNvPr id="152" name="Text 150"/>
          <p:cNvSpPr/>
          <p:nvPr/>
        </p:nvSpPr>
        <p:spPr>
          <a:xfrm>
            <a:off x="1931651"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8A959C"/>
                </a:solidFill>
                <a:latin typeface="Arial" pitchFamily="34" charset="0"/>
                <a:ea typeface="Arial" pitchFamily="34" charset="-122"/>
                <a:cs typeface="Arial" pitchFamily="34" charset="-120"/>
              </a:rPr>
              <a:t>ج</a:t>
            </a:r>
            <a:endParaRPr lang="ar-SA" sz="500" dirty="0"/>
          </a:p>
        </p:txBody>
      </p:sp>
      <p:sp>
        <p:nvSpPr>
          <p:cNvPr id="153" name="Text 151"/>
          <p:cNvSpPr/>
          <p:nvPr/>
        </p:nvSpPr>
        <p:spPr>
          <a:xfrm>
            <a:off x="1931651"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8A959C"/>
                </a:solidFill>
                <a:latin typeface="Arial" pitchFamily="34" charset="0"/>
                <a:ea typeface="Arial" pitchFamily="34" charset="-122"/>
                <a:cs typeface="Arial" pitchFamily="34" charset="-120"/>
              </a:rPr>
              <a:t>13</a:t>
            </a:r>
            <a:endParaRPr lang="ar-SA" sz="550" dirty="0"/>
          </a:p>
        </p:txBody>
      </p:sp>
      <p:sp>
        <p:nvSpPr>
          <p:cNvPr id="154" name="Shape 152"/>
          <p:cNvSpPr/>
          <p:nvPr/>
        </p:nvSpPr>
        <p:spPr>
          <a:xfrm>
            <a:off x="1931651" y="1965960"/>
            <a:ext cx="120453" cy="3429000"/>
          </a:xfrm>
          <a:prstGeom prst="rect">
            <a:avLst/>
          </a:prstGeom>
          <a:solidFill>
            <a:srgbClr val="000000">
              <a:alpha val="6000"/>
            </a:srgbClr>
          </a:solidFill>
          <a:ln w="12700">
            <a:solidFill>
              <a:srgbClr val="000000">
                <a:alpha val="0"/>
              </a:srgbClr>
            </a:solidFill>
            <a:prstDash val="solid"/>
          </a:ln>
        </p:spPr>
      </p:sp>
      <p:sp>
        <p:nvSpPr>
          <p:cNvPr id="155" name="Shape 153"/>
          <p:cNvSpPr/>
          <p:nvPr/>
        </p:nvSpPr>
        <p:spPr>
          <a:xfrm>
            <a:off x="1811198" y="1664208"/>
            <a:ext cx="120453" cy="301752"/>
          </a:xfrm>
          <a:prstGeom prst="rect">
            <a:avLst/>
          </a:prstGeom>
          <a:solidFill>
            <a:srgbClr val="F4F7F8"/>
          </a:solidFill>
          <a:ln w="6350">
            <a:solidFill>
              <a:srgbClr val="FFFFFF"/>
            </a:solidFill>
            <a:prstDash val="solid"/>
          </a:ln>
        </p:spPr>
      </p:sp>
      <p:sp>
        <p:nvSpPr>
          <p:cNvPr id="156" name="Text 154"/>
          <p:cNvSpPr/>
          <p:nvPr/>
        </p:nvSpPr>
        <p:spPr>
          <a:xfrm>
            <a:off x="1811198"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157" name="Text 155"/>
          <p:cNvSpPr/>
          <p:nvPr/>
        </p:nvSpPr>
        <p:spPr>
          <a:xfrm>
            <a:off x="1811198"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14</a:t>
            </a:r>
            <a:endParaRPr lang="ar-SA" sz="550" dirty="0"/>
          </a:p>
        </p:txBody>
      </p:sp>
      <p:sp>
        <p:nvSpPr>
          <p:cNvPr id="158" name="Shape 156"/>
          <p:cNvSpPr/>
          <p:nvPr/>
        </p:nvSpPr>
        <p:spPr>
          <a:xfrm>
            <a:off x="1931651" y="1965960"/>
            <a:ext cx="0" cy="3429000"/>
          </a:xfrm>
          <a:prstGeom prst="line">
            <a:avLst/>
          </a:prstGeom>
          <a:noFill/>
          <a:ln w="6350">
            <a:solidFill>
              <a:srgbClr val="9DB2BB"/>
            </a:solidFill>
            <a:prstDash val="solid"/>
          </a:ln>
        </p:spPr>
      </p:sp>
      <p:sp>
        <p:nvSpPr>
          <p:cNvPr id="159" name="Shape 157"/>
          <p:cNvSpPr/>
          <p:nvPr/>
        </p:nvSpPr>
        <p:spPr>
          <a:xfrm>
            <a:off x="1690745" y="1664208"/>
            <a:ext cx="120453" cy="301752"/>
          </a:xfrm>
          <a:prstGeom prst="rect">
            <a:avLst/>
          </a:prstGeom>
          <a:solidFill>
            <a:srgbClr val="F4F7F8"/>
          </a:solidFill>
          <a:ln w="6350">
            <a:solidFill>
              <a:srgbClr val="FFFFFF"/>
            </a:solidFill>
            <a:prstDash val="solid"/>
          </a:ln>
        </p:spPr>
      </p:sp>
      <p:sp>
        <p:nvSpPr>
          <p:cNvPr id="160" name="Text 158"/>
          <p:cNvSpPr/>
          <p:nvPr/>
        </p:nvSpPr>
        <p:spPr>
          <a:xfrm>
            <a:off x="1690745"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161" name="Text 159"/>
          <p:cNvSpPr/>
          <p:nvPr/>
        </p:nvSpPr>
        <p:spPr>
          <a:xfrm>
            <a:off x="1690745"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15</a:t>
            </a:r>
            <a:endParaRPr lang="ar-SA" sz="550" dirty="0"/>
          </a:p>
        </p:txBody>
      </p:sp>
      <p:sp>
        <p:nvSpPr>
          <p:cNvPr id="162" name="Shape 160"/>
          <p:cNvSpPr/>
          <p:nvPr/>
        </p:nvSpPr>
        <p:spPr>
          <a:xfrm>
            <a:off x="1570292" y="1664208"/>
            <a:ext cx="120453" cy="301752"/>
          </a:xfrm>
          <a:prstGeom prst="rect">
            <a:avLst/>
          </a:prstGeom>
          <a:solidFill>
            <a:srgbClr val="F4F7F8"/>
          </a:solidFill>
          <a:ln w="6350">
            <a:solidFill>
              <a:srgbClr val="FFFFFF"/>
            </a:solidFill>
            <a:prstDash val="solid"/>
          </a:ln>
        </p:spPr>
      </p:sp>
      <p:sp>
        <p:nvSpPr>
          <p:cNvPr id="163" name="Text 161"/>
          <p:cNvSpPr/>
          <p:nvPr/>
        </p:nvSpPr>
        <p:spPr>
          <a:xfrm>
            <a:off x="1570292"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164" name="Text 162"/>
          <p:cNvSpPr/>
          <p:nvPr/>
        </p:nvSpPr>
        <p:spPr>
          <a:xfrm>
            <a:off x="1570292"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16</a:t>
            </a:r>
            <a:endParaRPr lang="ar-SA" sz="550" dirty="0"/>
          </a:p>
        </p:txBody>
      </p:sp>
      <p:sp>
        <p:nvSpPr>
          <p:cNvPr id="165" name="Shape 163"/>
          <p:cNvSpPr/>
          <p:nvPr/>
        </p:nvSpPr>
        <p:spPr>
          <a:xfrm>
            <a:off x="1449838" y="1664208"/>
            <a:ext cx="120453" cy="301752"/>
          </a:xfrm>
          <a:prstGeom prst="rect">
            <a:avLst/>
          </a:prstGeom>
          <a:solidFill>
            <a:srgbClr val="F4F7F8"/>
          </a:solidFill>
          <a:ln w="6350">
            <a:solidFill>
              <a:srgbClr val="FFFFFF"/>
            </a:solidFill>
            <a:prstDash val="solid"/>
          </a:ln>
        </p:spPr>
      </p:sp>
      <p:sp>
        <p:nvSpPr>
          <p:cNvPr id="166" name="Text 164"/>
          <p:cNvSpPr/>
          <p:nvPr/>
        </p:nvSpPr>
        <p:spPr>
          <a:xfrm>
            <a:off x="1449838"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167" name="Text 165"/>
          <p:cNvSpPr/>
          <p:nvPr/>
        </p:nvSpPr>
        <p:spPr>
          <a:xfrm>
            <a:off x="1449838"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17</a:t>
            </a:r>
            <a:endParaRPr lang="ar-SA" sz="550" dirty="0"/>
          </a:p>
        </p:txBody>
      </p:sp>
      <p:sp>
        <p:nvSpPr>
          <p:cNvPr id="168" name="Shape 166"/>
          <p:cNvSpPr/>
          <p:nvPr/>
        </p:nvSpPr>
        <p:spPr>
          <a:xfrm>
            <a:off x="1329385" y="1664208"/>
            <a:ext cx="120453" cy="301752"/>
          </a:xfrm>
          <a:prstGeom prst="rect">
            <a:avLst/>
          </a:prstGeom>
          <a:solidFill>
            <a:srgbClr val="F4F7F8"/>
          </a:solidFill>
          <a:ln w="6350">
            <a:solidFill>
              <a:srgbClr val="FFFFFF"/>
            </a:solidFill>
            <a:prstDash val="solid"/>
          </a:ln>
        </p:spPr>
      </p:sp>
      <p:sp>
        <p:nvSpPr>
          <p:cNvPr id="169" name="Text 167"/>
          <p:cNvSpPr/>
          <p:nvPr/>
        </p:nvSpPr>
        <p:spPr>
          <a:xfrm>
            <a:off x="1329385"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170" name="Text 168"/>
          <p:cNvSpPr/>
          <p:nvPr/>
        </p:nvSpPr>
        <p:spPr>
          <a:xfrm>
            <a:off x="1329385"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18</a:t>
            </a:r>
            <a:endParaRPr lang="ar-SA" sz="550" dirty="0"/>
          </a:p>
        </p:txBody>
      </p:sp>
      <p:sp>
        <p:nvSpPr>
          <p:cNvPr id="171" name="Shape 169"/>
          <p:cNvSpPr/>
          <p:nvPr/>
        </p:nvSpPr>
        <p:spPr>
          <a:xfrm>
            <a:off x="1208932" y="1664208"/>
            <a:ext cx="120453" cy="301752"/>
          </a:xfrm>
          <a:prstGeom prst="rect">
            <a:avLst/>
          </a:prstGeom>
          <a:solidFill>
            <a:srgbClr val="F4F7F8"/>
          </a:solidFill>
          <a:ln w="6350">
            <a:solidFill>
              <a:srgbClr val="FFFFFF"/>
            </a:solidFill>
            <a:prstDash val="solid"/>
          </a:ln>
        </p:spPr>
      </p:sp>
      <p:sp>
        <p:nvSpPr>
          <p:cNvPr id="172" name="Text 170"/>
          <p:cNvSpPr/>
          <p:nvPr/>
        </p:nvSpPr>
        <p:spPr>
          <a:xfrm>
            <a:off x="1208932"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173" name="Text 171"/>
          <p:cNvSpPr/>
          <p:nvPr/>
        </p:nvSpPr>
        <p:spPr>
          <a:xfrm>
            <a:off x="1208932"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19</a:t>
            </a:r>
            <a:endParaRPr lang="ar-SA" sz="550" dirty="0"/>
          </a:p>
        </p:txBody>
      </p:sp>
      <p:sp>
        <p:nvSpPr>
          <p:cNvPr id="174" name="Shape 172"/>
          <p:cNvSpPr/>
          <p:nvPr/>
        </p:nvSpPr>
        <p:spPr>
          <a:xfrm>
            <a:off x="1088479" y="1664208"/>
            <a:ext cx="120453" cy="301752"/>
          </a:xfrm>
          <a:prstGeom prst="rect">
            <a:avLst/>
          </a:prstGeom>
          <a:solidFill>
            <a:srgbClr val="DBE3E6"/>
          </a:solidFill>
          <a:ln w="6350">
            <a:solidFill>
              <a:srgbClr val="FFFFFF"/>
            </a:solidFill>
            <a:prstDash val="solid"/>
          </a:ln>
        </p:spPr>
      </p:sp>
      <p:sp>
        <p:nvSpPr>
          <p:cNvPr id="175" name="Text 173"/>
          <p:cNvSpPr/>
          <p:nvPr/>
        </p:nvSpPr>
        <p:spPr>
          <a:xfrm>
            <a:off x="1088479"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8A959C"/>
                </a:solidFill>
                <a:latin typeface="Arial" pitchFamily="34" charset="0"/>
                <a:ea typeface="Arial" pitchFamily="34" charset="-122"/>
                <a:cs typeface="Arial" pitchFamily="34" charset="-120"/>
              </a:rPr>
              <a:t>ج</a:t>
            </a:r>
            <a:endParaRPr lang="ar-SA" sz="500" dirty="0"/>
          </a:p>
        </p:txBody>
      </p:sp>
      <p:sp>
        <p:nvSpPr>
          <p:cNvPr id="176" name="Text 174"/>
          <p:cNvSpPr/>
          <p:nvPr/>
        </p:nvSpPr>
        <p:spPr>
          <a:xfrm>
            <a:off x="1088479"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8A959C"/>
                </a:solidFill>
                <a:latin typeface="Arial" pitchFamily="34" charset="0"/>
                <a:ea typeface="Arial" pitchFamily="34" charset="-122"/>
                <a:cs typeface="Arial" pitchFamily="34" charset="-120"/>
              </a:rPr>
              <a:t>20</a:t>
            </a:r>
            <a:endParaRPr lang="ar-SA" sz="550" dirty="0"/>
          </a:p>
        </p:txBody>
      </p:sp>
      <p:sp>
        <p:nvSpPr>
          <p:cNvPr id="177" name="Shape 175"/>
          <p:cNvSpPr/>
          <p:nvPr/>
        </p:nvSpPr>
        <p:spPr>
          <a:xfrm>
            <a:off x="1088479" y="1965960"/>
            <a:ext cx="120453" cy="3429000"/>
          </a:xfrm>
          <a:prstGeom prst="rect">
            <a:avLst/>
          </a:prstGeom>
          <a:solidFill>
            <a:srgbClr val="000000">
              <a:alpha val="6000"/>
            </a:srgbClr>
          </a:solidFill>
          <a:ln w="12700">
            <a:solidFill>
              <a:srgbClr val="000000">
                <a:alpha val="0"/>
              </a:srgbClr>
            </a:solidFill>
            <a:prstDash val="solid"/>
          </a:ln>
        </p:spPr>
      </p:sp>
      <p:sp>
        <p:nvSpPr>
          <p:cNvPr id="178" name="Shape 176"/>
          <p:cNvSpPr/>
          <p:nvPr/>
        </p:nvSpPr>
        <p:spPr>
          <a:xfrm>
            <a:off x="968026" y="1664208"/>
            <a:ext cx="120453" cy="301752"/>
          </a:xfrm>
          <a:prstGeom prst="rect">
            <a:avLst/>
          </a:prstGeom>
          <a:solidFill>
            <a:srgbClr val="F4F7F8"/>
          </a:solidFill>
          <a:ln w="6350">
            <a:solidFill>
              <a:srgbClr val="FFFFFF"/>
            </a:solidFill>
            <a:prstDash val="solid"/>
          </a:ln>
        </p:spPr>
      </p:sp>
      <p:sp>
        <p:nvSpPr>
          <p:cNvPr id="179" name="Text 177"/>
          <p:cNvSpPr/>
          <p:nvPr/>
        </p:nvSpPr>
        <p:spPr>
          <a:xfrm>
            <a:off x="968026"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س</a:t>
            </a:r>
            <a:endParaRPr lang="ar-SA" sz="500" dirty="0"/>
          </a:p>
        </p:txBody>
      </p:sp>
      <p:sp>
        <p:nvSpPr>
          <p:cNvPr id="180" name="Text 178"/>
          <p:cNvSpPr/>
          <p:nvPr/>
        </p:nvSpPr>
        <p:spPr>
          <a:xfrm>
            <a:off x="968026"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21</a:t>
            </a:r>
            <a:endParaRPr lang="ar-SA" sz="550" dirty="0"/>
          </a:p>
        </p:txBody>
      </p:sp>
      <p:sp>
        <p:nvSpPr>
          <p:cNvPr id="181" name="Shape 179"/>
          <p:cNvSpPr/>
          <p:nvPr/>
        </p:nvSpPr>
        <p:spPr>
          <a:xfrm>
            <a:off x="1088479" y="1965960"/>
            <a:ext cx="0" cy="3429000"/>
          </a:xfrm>
          <a:prstGeom prst="line">
            <a:avLst/>
          </a:prstGeom>
          <a:noFill/>
          <a:ln w="6350">
            <a:solidFill>
              <a:srgbClr val="9DB2BB"/>
            </a:solidFill>
            <a:prstDash val="solid"/>
          </a:ln>
        </p:spPr>
      </p:sp>
      <p:sp>
        <p:nvSpPr>
          <p:cNvPr id="182" name="Shape 180"/>
          <p:cNvSpPr/>
          <p:nvPr/>
        </p:nvSpPr>
        <p:spPr>
          <a:xfrm>
            <a:off x="847573" y="1664208"/>
            <a:ext cx="120453" cy="301752"/>
          </a:xfrm>
          <a:prstGeom prst="rect">
            <a:avLst/>
          </a:prstGeom>
          <a:solidFill>
            <a:srgbClr val="F4F7F8"/>
          </a:solidFill>
          <a:ln w="6350">
            <a:solidFill>
              <a:srgbClr val="FFFFFF"/>
            </a:solidFill>
            <a:prstDash val="solid"/>
          </a:ln>
        </p:spPr>
      </p:sp>
      <p:sp>
        <p:nvSpPr>
          <p:cNvPr id="183" name="Text 181"/>
          <p:cNvSpPr/>
          <p:nvPr/>
        </p:nvSpPr>
        <p:spPr>
          <a:xfrm>
            <a:off x="847573"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ح</a:t>
            </a:r>
            <a:endParaRPr lang="ar-SA" sz="500" dirty="0"/>
          </a:p>
        </p:txBody>
      </p:sp>
      <p:sp>
        <p:nvSpPr>
          <p:cNvPr id="184" name="Text 182"/>
          <p:cNvSpPr/>
          <p:nvPr/>
        </p:nvSpPr>
        <p:spPr>
          <a:xfrm>
            <a:off x="847573"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22</a:t>
            </a:r>
            <a:endParaRPr lang="ar-SA" sz="550" dirty="0"/>
          </a:p>
        </p:txBody>
      </p:sp>
      <p:sp>
        <p:nvSpPr>
          <p:cNvPr id="185" name="Shape 183"/>
          <p:cNvSpPr/>
          <p:nvPr/>
        </p:nvSpPr>
        <p:spPr>
          <a:xfrm>
            <a:off x="727119" y="1664208"/>
            <a:ext cx="120453" cy="301752"/>
          </a:xfrm>
          <a:prstGeom prst="rect">
            <a:avLst/>
          </a:prstGeom>
          <a:solidFill>
            <a:srgbClr val="F4F7F8"/>
          </a:solidFill>
          <a:ln w="6350">
            <a:solidFill>
              <a:srgbClr val="FFFFFF"/>
            </a:solidFill>
            <a:prstDash val="solid"/>
          </a:ln>
        </p:spPr>
      </p:sp>
      <p:sp>
        <p:nvSpPr>
          <p:cNvPr id="186" name="Text 184"/>
          <p:cNvSpPr/>
          <p:nvPr/>
        </p:nvSpPr>
        <p:spPr>
          <a:xfrm>
            <a:off x="727119"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ن</a:t>
            </a:r>
            <a:endParaRPr lang="ar-SA" sz="500" dirty="0"/>
          </a:p>
        </p:txBody>
      </p:sp>
      <p:sp>
        <p:nvSpPr>
          <p:cNvPr id="187" name="Text 185"/>
          <p:cNvSpPr/>
          <p:nvPr/>
        </p:nvSpPr>
        <p:spPr>
          <a:xfrm>
            <a:off x="727119"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23</a:t>
            </a:r>
            <a:endParaRPr lang="ar-SA" sz="550" dirty="0"/>
          </a:p>
        </p:txBody>
      </p:sp>
      <p:sp>
        <p:nvSpPr>
          <p:cNvPr id="188" name="Shape 186"/>
          <p:cNvSpPr/>
          <p:nvPr/>
        </p:nvSpPr>
        <p:spPr>
          <a:xfrm>
            <a:off x="606666" y="1664208"/>
            <a:ext cx="120453" cy="301752"/>
          </a:xfrm>
          <a:prstGeom prst="rect">
            <a:avLst/>
          </a:prstGeom>
          <a:solidFill>
            <a:srgbClr val="F4F7F8"/>
          </a:solidFill>
          <a:ln w="6350">
            <a:solidFill>
              <a:srgbClr val="FFFFFF"/>
            </a:solidFill>
            <a:prstDash val="solid"/>
          </a:ln>
        </p:spPr>
      </p:sp>
      <p:sp>
        <p:nvSpPr>
          <p:cNvPr id="189" name="Text 187"/>
          <p:cNvSpPr/>
          <p:nvPr/>
        </p:nvSpPr>
        <p:spPr>
          <a:xfrm>
            <a:off x="606666"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ث</a:t>
            </a:r>
            <a:endParaRPr lang="ar-SA" sz="500" dirty="0"/>
          </a:p>
        </p:txBody>
      </p:sp>
      <p:sp>
        <p:nvSpPr>
          <p:cNvPr id="190" name="Text 188"/>
          <p:cNvSpPr/>
          <p:nvPr/>
        </p:nvSpPr>
        <p:spPr>
          <a:xfrm>
            <a:off x="606666"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24</a:t>
            </a:r>
            <a:endParaRPr lang="ar-SA" sz="550" dirty="0"/>
          </a:p>
        </p:txBody>
      </p:sp>
      <p:sp>
        <p:nvSpPr>
          <p:cNvPr id="191" name="Shape 189"/>
          <p:cNvSpPr/>
          <p:nvPr/>
        </p:nvSpPr>
        <p:spPr>
          <a:xfrm>
            <a:off x="486213" y="1664208"/>
            <a:ext cx="120453" cy="301752"/>
          </a:xfrm>
          <a:prstGeom prst="rect">
            <a:avLst/>
          </a:prstGeom>
          <a:solidFill>
            <a:srgbClr val="F4F7F8"/>
          </a:solidFill>
          <a:ln w="6350">
            <a:solidFill>
              <a:srgbClr val="FFFFFF"/>
            </a:solidFill>
            <a:prstDash val="solid"/>
          </a:ln>
        </p:spPr>
      </p:sp>
      <p:sp>
        <p:nvSpPr>
          <p:cNvPr id="192" name="Text 190"/>
          <p:cNvSpPr/>
          <p:nvPr/>
        </p:nvSpPr>
        <p:spPr>
          <a:xfrm>
            <a:off x="486213"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ر</a:t>
            </a:r>
            <a:endParaRPr lang="ar-SA" sz="500" dirty="0"/>
          </a:p>
        </p:txBody>
      </p:sp>
      <p:sp>
        <p:nvSpPr>
          <p:cNvPr id="193" name="Text 191"/>
          <p:cNvSpPr/>
          <p:nvPr/>
        </p:nvSpPr>
        <p:spPr>
          <a:xfrm>
            <a:off x="486213"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25</a:t>
            </a:r>
            <a:endParaRPr lang="ar-SA" sz="550" dirty="0"/>
          </a:p>
        </p:txBody>
      </p:sp>
      <p:sp>
        <p:nvSpPr>
          <p:cNvPr id="194" name="Shape 192"/>
          <p:cNvSpPr/>
          <p:nvPr/>
        </p:nvSpPr>
        <p:spPr>
          <a:xfrm>
            <a:off x="365760" y="1664208"/>
            <a:ext cx="120453" cy="301752"/>
          </a:xfrm>
          <a:prstGeom prst="rect">
            <a:avLst/>
          </a:prstGeom>
          <a:solidFill>
            <a:srgbClr val="F4F7F8"/>
          </a:solidFill>
          <a:ln w="6350">
            <a:solidFill>
              <a:srgbClr val="FFFFFF"/>
            </a:solidFill>
            <a:prstDash val="solid"/>
          </a:ln>
        </p:spPr>
      </p:sp>
      <p:sp>
        <p:nvSpPr>
          <p:cNvPr id="195" name="Text 193"/>
          <p:cNvSpPr/>
          <p:nvPr/>
        </p:nvSpPr>
        <p:spPr>
          <a:xfrm>
            <a:off x="365760" y="1664208"/>
            <a:ext cx="120453" cy="137160"/>
          </a:xfrm>
          <a:prstGeom prst="rect">
            <a:avLst/>
          </a:prstGeom>
          <a:noFill/>
          <a:ln/>
        </p:spPr>
        <p:txBody>
          <a:bodyPr wrap="square" lIns="0" tIns="0" rIns="0" bIns="0" rtlCol="0" anchor="ctr">
            <a:normAutofit/>
          </a:bodyPr>
          <a:lstStyle/>
          <a:p>
            <a:pPr rtl="1" algn="ctr" indent="0" marL="0">
              <a:buNone/>
            </a:pPr>
            <a:r>
              <a:rPr lang="ar-SA" altLang="en-US" sz="500" b="1" dirty="0">
                <a:solidFill>
                  <a:srgbClr val="5A6A73"/>
                </a:solidFill>
                <a:latin typeface="Arial" pitchFamily="34" charset="0"/>
                <a:ea typeface="Arial" pitchFamily="34" charset="-122"/>
                <a:cs typeface="Arial" pitchFamily="34" charset="-120"/>
              </a:rPr>
              <a:t>خ</a:t>
            </a:r>
            <a:endParaRPr lang="ar-SA" sz="500" dirty="0"/>
          </a:p>
        </p:txBody>
      </p:sp>
      <p:sp>
        <p:nvSpPr>
          <p:cNvPr id="196" name="Text 194"/>
          <p:cNvSpPr/>
          <p:nvPr/>
        </p:nvSpPr>
        <p:spPr>
          <a:xfrm>
            <a:off x="365760" y="1801368"/>
            <a:ext cx="120453" cy="164592"/>
          </a:xfrm>
          <a:prstGeom prst="rect">
            <a:avLst/>
          </a:prstGeom>
          <a:noFill/>
          <a:ln/>
        </p:spPr>
        <p:txBody>
          <a:bodyPr wrap="square" lIns="0" tIns="0" rIns="0" bIns="0" rtlCol="0" anchor="ctr">
            <a:normAutofit/>
          </a:bodyPr>
          <a:lstStyle/>
          <a:p>
            <a:pPr rtl="1" algn="ctr" indent="0" marL="0">
              <a:buNone/>
            </a:pPr>
            <a:r>
              <a:rPr lang="ar-SA" altLang="en-US" sz="550" b="1" dirty="0">
                <a:solidFill>
                  <a:srgbClr val="222222"/>
                </a:solidFill>
                <a:latin typeface="Arial" pitchFamily="34" charset="0"/>
                <a:ea typeface="Arial" pitchFamily="34" charset="-122"/>
                <a:cs typeface="Arial" pitchFamily="34" charset="-120"/>
              </a:rPr>
              <a:t>26</a:t>
            </a:r>
            <a:endParaRPr lang="ar-SA" sz="550" dirty="0"/>
          </a:p>
        </p:txBody>
      </p:sp>
      <p:sp>
        <p:nvSpPr>
          <p:cNvPr id="197" name="Shape 195"/>
          <p:cNvSpPr/>
          <p:nvPr/>
        </p:nvSpPr>
        <p:spPr>
          <a:xfrm>
            <a:off x="6147511" y="1965960"/>
            <a:ext cx="5678424" cy="603504"/>
          </a:xfrm>
          <a:prstGeom prst="rect">
            <a:avLst/>
          </a:prstGeom>
          <a:solidFill>
            <a:srgbClr val="FBFDFD"/>
          </a:solidFill>
          <a:ln w="6350">
            <a:solidFill>
              <a:srgbClr val="DFE6EA"/>
            </a:solidFill>
            <a:prstDash val="solid"/>
          </a:ln>
        </p:spPr>
      </p:sp>
      <p:sp>
        <p:nvSpPr>
          <p:cNvPr id="198" name="Text 196"/>
          <p:cNvSpPr/>
          <p:nvPr/>
        </p:nvSpPr>
        <p:spPr>
          <a:xfrm>
            <a:off x="6238951" y="1965960"/>
            <a:ext cx="5495544" cy="603504"/>
          </a:xfrm>
          <a:prstGeom prst="rect">
            <a:avLst/>
          </a:prstGeom>
          <a:noFill/>
          <a:ln/>
        </p:spPr>
        <p:txBody>
          <a:bodyPr wrap="square" lIns="0" tIns="0" rIns="0" bIns="0" rtlCol="0" anchor="ctr">
            <a:normAutofit/>
          </a:bodyPr>
          <a:lstStyle/>
          <a:p>
            <a:pPr rtl="1" algn="r" indent="0" marL="0">
              <a:buNone/>
            </a:pPr>
            <a:r>
              <a:rPr lang="ar-SA" altLang="en-US" sz="1000" b="1" dirty="0">
                <a:solidFill>
                  <a:srgbClr val="3D3935"/>
                </a:solidFill>
                <a:latin typeface="Arial" pitchFamily="34" charset="0"/>
                <a:ea typeface="Arial" pitchFamily="34" charset="-122"/>
                <a:cs typeface="Arial" pitchFamily="34" charset="-120"/>
              </a:rPr>
              <a:t>◆  ميل ستون</a:t>
            </a:r>
            <a:endParaRPr lang="ar-SA" sz="1000" dirty="0"/>
          </a:p>
        </p:txBody>
      </p:sp>
      <p:sp>
        <p:nvSpPr>
          <p:cNvPr id="199" name="Shape 197"/>
          <p:cNvSpPr/>
          <p:nvPr/>
        </p:nvSpPr>
        <p:spPr>
          <a:xfrm>
            <a:off x="5643629" y="2039112"/>
            <a:ext cx="164592" cy="164592"/>
          </a:xfrm>
          <a:prstGeom prst="diamond">
            <a:avLst/>
          </a:prstGeom>
          <a:solidFill>
            <a:srgbClr val="3D3935"/>
          </a:solidFill>
          <a:ln w="19050">
            <a:solidFill>
              <a:srgbClr val="FFFFFF"/>
            </a:solidFill>
            <a:prstDash val="solid"/>
          </a:ln>
        </p:spPr>
      </p:sp>
      <p:sp>
        <p:nvSpPr>
          <p:cNvPr id="200" name="Text 198"/>
          <p:cNvSpPr/>
          <p:nvPr/>
        </p:nvSpPr>
        <p:spPr>
          <a:xfrm>
            <a:off x="5296157" y="2212848"/>
            <a:ext cx="859536" cy="182880"/>
          </a:xfrm>
          <a:prstGeom prst="rect">
            <a:avLst/>
          </a:prstGeom>
          <a:noFill/>
          <a:ln/>
        </p:spPr>
        <p:txBody>
          <a:bodyPr wrap="square" lIns="0" tIns="0" rIns="0" bIns="0" rtlCol="0" anchor="t">
            <a:normAutofit/>
          </a:bodyPr>
          <a:lstStyle/>
          <a:p>
            <a:pPr rtl="1" algn="ctr" indent="0" marL="0">
              <a:buNone/>
            </a:pPr>
            <a:r>
              <a:rPr lang="ar-SA" altLang="en-US" sz="550" dirty="0">
                <a:solidFill>
                  <a:srgbClr val="556070"/>
                </a:solidFill>
                <a:latin typeface="Arial" pitchFamily="34" charset="0"/>
                <a:ea typeface="Arial" pitchFamily="34" charset="-122"/>
                <a:cs typeface="Arial" pitchFamily="34" charset="-120"/>
              </a:rPr>
              <a:t>بدء الأعمال</a:t>
            </a:r>
            <a:endParaRPr lang="ar-SA" sz="550" dirty="0"/>
          </a:p>
        </p:txBody>
      </p:sp>
      <p:sp>
        <p:nvSpPr>
          <p:cNvPr id="201" name="Text 199"/>
          <p:cNvSpPr/>
          <p:nvPr/>
        </p:nvSpPr>
        <p:spPr>
          <a:xfrm>
            <a:off x="5158997" y="2368296"/>
            <a:ext cx="1133856" cy="164592"/>
          </a:xfrm>
          <a:prstGeom prst="rect">
            <a:avLst/>
          </a:prstGeom>
          <a:noFill/>
          <a:ln/>
        </p:spPr>
        <p:txBody>
          <a:bodyPr wrap="square" lIns="0" tIns="0" rIns="0" bIns="0" rtlCol="0" anchor="ctr">
            <a:normAutofit/>
          </a:bodyPr>
          <a:lstStyle/>
          <a:p>
            <a:pPr rtl="1" algn="ctr" indent="0" marL="0">
              <a:buNone/>
            </a:pPr>
            <a:r>
              <a:rPr lang="ar-SA" altLang="en-US" sz="750" b="1" dirty="0">
                <a:solidFill>
                  <a:srgbClr val="3D3935"/>
                </a:solidFill>
                <a:latin typeface="Arial" pitchFamily="34" charset="0"/>
                <a:ea typeface="Arial" pitchFamily="34" charset="-122"/>
                <a:cs typeface="Arial" pitchFamily="34" charset="-120"/>
              </a:rPr>
              <a:t>13 أكتوبر</a:t>
            </a:r>
            <a:endParaRPr lang="ar-SA" sz="750" dirty="0"/>
          </a:p>
        </p:txBody>
      </p:sp>
      <p:sp>
        <p:nvSpPr>
          <p:cNvPr id="202" name="Shape 200"/>
          <p:cNvSpPr/>
          <p:nvPr/>
        </p:nvSpPr>
        <p:spPr>
          <a:xfrm>
            <a:off x="4920910" y="2039112"/>
            <a:ext cx="164592" cy="164592"/>
          </a:xfrm>
          <a:prstGeom prst="diamond">
            <a:avLst/>
          </a:prstGeom>
          <a:solidFill>
            <a:srgbClr val="3D3935"/>
          </a:solidFill>
          <a:ln w="19050">
            <a:solidFill>
              <a:srgbClr val="FFFFFF"/>
            </a:solidFill>
            <a:prstDash val="solid"/>
          </a:ln>
        </p:spPr>
      </p:sp>
      <p:sp>
        <p:nvSpPr>
          <p:cNvPr id="203" name="Text 201"/>
          <p:cNvSpPr/>
          <p:nvPr/>
        </p:nvSpPr>
        <p:spPr>
          <a:xfrm>
            <a:off x="4573438" y="2212848"/>
            <a:ext cx="859536" cy="182880"/>
          </a:xfrm>
          <a:prstGeom prst="rect">
            <a:avLst/>
          </a:prstGeom>
          <a:noFill/>
          <a:ln/>
        </p:spPr>
        <p:txBody>
          <a:bodyPr wrap="square" lIns="0" tIns="0" rIns="0" bIns="0" rtlCol="0" anchor="t">
            <a:normAutofit/>
          </a:bodyPr>
          <a:lstStyle/>
          <a:p>
            <a:pPr rtl="1" algn="ctr" indent="0" marL="0">
              <a:buNone/>
            </a:pPr>
            <a:r>
              <a:rPr lang="ar-SA" altLang="en-US" sz="550" dirty="0">
                <a:solidFill>
                  <a:srgbClr val="556070"/>
                </a:solidFill>
                <a:latin typeface="Arial" pitchFamily="34" charset="0"/>
                <a:ea typeface="Arial" pitchFamily="34" charset="-122"/>
                <a:cs typeface="Arial" pitchFamily="34" charset="-120"/>
              </a:rPr>
              <a:t>اكتمال تركيب نظام الدعم</a:t>
            </a:r>
            <a:endParaRPr lang="ar-SA" sz="550" dirty="0"/>
          </a:p>
        </p:txBody>
      </p:sp>
      <p:sp>
        <p:nvSpPr>
          <p:cNvPr id="204" name="Text 202"/>
          <p:cNvSpPr/>
          <p:nvPr/>
        </p:nvSpPr>
        <p:spPr>
          <a:xfrm>
            <a:off x="4436278" y="2368296"/>
            <a:ext cx="1133856" cy="164592"/>
          </a:xfrm>
          <a:prstGeom prst="rect">
            <a:avLst/>
          </a:prstGeom>
          <a:noFill/>
          <a:ln/>
        </p:spPr>
        <p:txBody>
          <a:bodyPr wrap="square" lIns="0" tIns="0" rIns="0" bIns="0" rtlCol="0" anchor="ctr">
            <a:normAutofit/>
          </a:bodyPr>
          <a:lstStyle/>
          <a:p>
            <a:pPr rtl="1" algn="ctr" indent="0" marL="0">
              <a:buNone/>
            </a:pPr>
            <a:r>
              <a:rPr lang="ar-SA" altLang="en-US" sz="750" b="1" dirty="0">
                <a:solidFill>
                  <a:srgbClr val="3D3935"/>
                </a:solidFill>
                <a:latin typeface="Arial" pitchFamily="34" charset="0"/>
                <a:ea typeface="Arial" pitchFamily="34" charset="-122"/>
                <a:cs typeface="Arial" pitchFamily="34" charset="-120"/>
              </a:rPr>
              <a:t>19 أكتوبر</a:t>
            </a:r>
            <a:endParaRPr lang="ar-SA" sz="750" dirty="0"/>
          </a:p>
        </p:txBody>
      </p:sp>
      <p:sp>
        <p:nvSpPr>
          <p:cNvPr id="205" name="Shape 203"/>
          <p:cNvSpPr/>
          <p:nvPr/>
        </p:nvSpPr>
        <p:spPr>
          <a:xfrm>
            <a:off x="2150488" y="2039112"/>
            <a:ext cx="164592" cy="164592"/>
          </a:xfrm>
          <a:prstGeom prst="diamond">
            <a:avLst/>
          </a:prstGeom>
          <a:solidFill>
            <a:srgbClr val="3D3935"/>
          </a:solidFill>
          <a:ln w="19050">
            <a:solidFill>
              <a:srgbClr val="FFFFFF"/>
            </a:solidFill>
            <a:prstDash val="solid"/>
          </a:ln>
        </p:spPr>
      </p:sp>
      <p:sp>
        <p:nvSpPr>
          <p:cNvPr id="206" name="Text 204"/>
          <p:cNvSpPr/>
          <p:nvPr/>
        </p:nvSpPr>
        <p:spPr>
          <a:xfrm>
            <a:off x="1803016" y="2212848"/>
            <a:ext cx="859536" cy="182880"/>
          </a:xfrm>
          <a:prstGeom prst="rect">
            <a:avLst/>
          </a:prstGeom>
          <a:noFill/>
          <a:ln/>
        </p:spPr>
        <p:txBody>
          <a:bodyPr wrap="square" lIns="0" tIns="0" rIns="0" bIns="0" rtlCol="0" anchor="t">
            <a:normAutofit/>
          </a:bodyPr>
          <a:lstStyle/>
          <a:p>
            <a:pPr rtl="1" algn="ctr" indent="0" marL="0">
              <a:buNone/>
            </a:pPr>
            <a:r>
              <a:rPr lang="ar-SA" altLang="en-US" sz="550" dirty="0">
                <a:solidFill>
                  <a:srgbClr val="556070"/>
                </a:solidFill>
                <a:latin typeface="Arial" pitchFamily="34" charset="0"/>
                <a:ea typeface="Arial" pitchFamily="34" charset="-122"/>
                <a:cs typeface="Arial" pitchFamily="34" charset="-120"/>
              </a:rPr>
              <a:t>اكتمال أعمال الحفرة (جدار الحفرة)</a:t>
            </a:r>
            <a:endParaRPr lang="ar-SA" sz="550" dirty="0"/>
          </a:p>
        </p:txBody>
      </p:sp>
      <p:sp>
        <p:nvSpPr>
          <p:cNvPr id="207" name="Text 205"/>
          <p:cNvSpPr/>
          <p:nvPr/>
        </p:nvSpPr>
        <p:spPr>
          <a:xfrm>
            <a:off x="1665856" y="2368296"/>
            <a:ext cx="1133856" cy="164592"/>
          </a:xfrm>
          <a:prstGeom prst="rect">
            <a:avLst/>
          </a:prstGeom>
          <a:noFill/>
          <a:ln/>
        </p:spPr>
        <p:txBody>
          <a:bodyPr wrap="square" lIns="0" tIns="0" rIns="0" bIns="0" rtlCol="0" anchor="ctr">
            <a:normAutofit/>
          </a:bodyPr>
          <a:lstStyle/>
          <a:p>
            <a:pPr rtl="1" algn="ctr" indent="0" marL="0">
              <a:buNone/>
            </a:pPr>
            <a:r>
              <a:rPr lang="ar-SA" altLang="en-US" sz="750" b="1" dirty="0">
                <a:solidFill>
                  <a:srgbClr val="3D3935"/>
                </a:solidFill>
                <a:latin typeface="Arial" pitchFamily="34" charset="0"/>
                <a:ea typeface="Arial" pitchFamily="34" charset="-122"/>
                <a:cs typeface="Arial" pitchFamily="34" charset="-120"/>
              </a:rPr>
              <a:t>11 نوفمبر</a:t>
            </a:r>
            <a:endParaRPr lang="ar-SA" sz="750" dirty="0"/>
          </a:p>
        </p:txBody>
      </p:sp>
      <p:sp>
        <p:nvSpPr>
          <p:cNvPr id="208" name="Shape 206"/>
          <p:cNvSpPr/>
          <p:nvPr/>
        </p:nvSpPr>
        <p:spPr>
          <a:xfrm>
            <a:off x="1307316" y="2039112"/>
            <a:ext cx="164592" cy="164592"/>
          </a:xfrm>
          <a:prstGeom prst="diamond">
            <a:avLst/>
          </a:prstGeom>
          <a:solidFill>
            <a:srgbClr val="3D3935"/>
          </a:solidFill>
          <a:ln w="19050">
            <a:solidFill>
              <a:srgbClr val="FFFFFF"/>
            </a:solidFill>
            <a:prstDash val="solid"/>
          </a:ln>
        </p:spPr>
      </p:sp>
      <p:sp>
        <p:nvSpPr>
          <p:cNvPr id="209" name="Text 207"/>
          <p:cNvSpPr/>
          <p:nvPr/>
        </p:nvSpPr>
        <p:spPr>
          <a:xfrm>
            <a:off x="959844" y="2212848"/>
            <a:ext cx="859536" cy="182880"/>
          </a:xfrm>
          <a:prstGeom prst="rect">
            <a:avLst/>
          </a:prstGeom>
          <a:noFill/>
          <a:ln/>
        </p:spPr>
        <p:txBody>
          <a:bodyPr wrap="square" lIns="0" tIns="0" rIns="0" bIns="0" rtlCol="0" anchor="t">
            <a:normAutofit/>
          </a:bodyPr>
          <a:lstStyle/>
          <a:p>
            <a:pPr rtl="1" algn="ctr" indent="0" marL="0">
              <a:buNone/>
            </a:pPr>
            <a:r>
              <a:rPr lang="ar-SA" altLang="en-US" sz="550" dirty="0">
                <a:solidFill>
                  <a:srgbClr val="556070"/>
                </a:solidFill>
                <a:latin typeface="Arial" pitchFamily="34" charset="0"/>
                <a:ea typeface="Arial" pitchFamily="34" charset="-122"/>
                <a:cs typeface="Arial" pitchFamily="34" charset="-120"/>
              </a:rPr>
              <a:t>اكتمال أساسات المبنى</a:t>
            </a:r>
            <a:endParaRPr lang="ar-SA" sz="550" dirty="0"/>
          </a:p>
        </p:txBody>
      </p:sp>
      <p:sp>
        <p:nvSpPr>
          <p:cNvPr id="210" name="Text 208"/>
          <p:cNvSpPr/>
          <p:nvPr/>
        </p:nvSpPr>
        <p:spPr>
          <a:xfrm>
            <a:off x="822684" y="2368296"/>
            <a:ext cx="1133856" cy="164592"/>
          </a:xfrm>
          <a:prstGeom prst="rect">
            <a:avLst/>
          </a:prstGeom>
          <a:noFill/>
          <a:ln/>
        </p:spPr>
        <p:txBody>
          <a:bodyPr wrap="square" lIns="0" tIns="0" rIns="0" bIns="0" rtlCol="0" anchor="ctr">
            <a:normAutofit/>
          </a:bodyPr>
          <a:lstStyle/>
          <a:p>
            <a:pPr rtl="1" algn="ctr" indent="0" marL="0">
              <a:buNone/>
            </a:pPr>
            <a:r>
              <a:rPr lang="ar-SA" altLang="en-US" sz="750" b="1" dirty="0">
                <a:solidFill>
                  <a:srgbClr val="3D3935"/>
                </a:solidFill>
                <a:latin typeface="Arial" pitchFamily="34" charset="0"/>
                <a:ea typeface="Arial" pitchFamily="34" charset="-122"/>
                <a:cs typeface="Arial" pitchFamily="34" charset="-120"/>
              </a:rPr>
              <a:t>18 نوفمبر</a:t>
            </a:r>
            <a:endParaRPr lang="ar-SA" sz="750" dirty="0"/>
          </a:p>
        </p:txBody>
      </p:sp>
      <p:sp>
        <p:nvSpPr>
          <p:cNvPr id="211" name="Shape 209"/>
          <p:cNvSpPr/>
          <p:nvPr/>
        </p:nvSpPr>
        <p:spPr>
          <a:xfrm>
            <a:off x="584597" y="2039112"/>
            <a:ext cx="164592" cy="164592"/>
          </a:xfrm>
          <a:prstGeom prst="diamond">
            <a:avLst/>
          </a:prstGeom>
          <a:solidFill>
            <a:srgbClr val="3D3935"/>
          </a:solidFill>
          <a:ln w="19050">
            <a:solidFill>
              <a:srgbClr val="FFFFFF"/>
            </a:solidFill>
            <a:prstDash val="solid"/>
          </a:ln>
        </p:spPr>
      </p:sp>
      <p:sp>
        <p:nvSpPr>
          <p:cNvPr id="212" name="Text 210"/>
          <p:cNvSpPr/>
          <p:nvPr/>
        </p:nvSpPr>
        <p:spPr>
          <a:xfrm>
            <a:off x="237125" y="2212848"/>
            <a:ext cx="859536" cy="182880"/>
          </a:xfrm>
          <a:prstGeom prst="rect">
            <a:avLst/>
          </a:prstGeom>
          <a:noFill/>
          <a:ln/>
        </p:spPr>
        <p:txBody>
          <a:bodyPr wrap="square" lIns="0" tIns="0" rIns="0" bIns="0" rtlCol="0" anchor="t">
            <a:normAutofit/>
          </a:bodyPr>
          <a:lstStyle/>
          <a:p>
            <a:pPr rtl="1" algn="ctr" indent="0" marL="0">
              <a:buNone/>
            </a:pPr>
            <a:r>
              <a:rPr lang="ar-SA" altLang="en-US" sz="550" dirty="0">
                <a:solidFill>
                  <a:srgbClr val="556070"/>
                </a:solidFill>
                <a:latin typeface="Arial" pitchFamily="34" charset="0"/>
                <a:ea typeface="Arial" pitchFamily="34" charset="-122"/>
                <a:cs typeface="Arial" pitchFamily="34" charset="-120"/>
              </a:rPr>
              <a:t>الإنجاز الكلي</a:t>
            </a:r>
            <a:endParaRPr lang="ar-SA" sz="550" dirty="0"/>
          </a:p>
        </p:txBody>
      </p:sp>
      <p:sp>
        <p:nvSpPr>
          <p:cNvPr id="213" name="Text 211"/>
          <p:cNvSpPr/>
          <p:nvPr/>
        </p:nvSpPr>
        <p:spPr>
          <a:xfrm>
            <a:off x="99965" y="2368296"/>
            <a:ext cx="1133856" cy="164592"/>
          </a:xfrm>
          <a:prstGeom prst="rect">
            <a:avLst/>
          </a:prstGeom>
          <a:noFill/>
          <a:ln/>
        </p:spPr>
        <p:txBody>
          <a:bodyPr wrap="square" lIns="0" tIns="0" rIns="0" bIns="0" rtlCol="0" anchor="ctr">
            <a:normAutofit/>
          </a:bodyPr>
          <a:lstStyle/>
          <a:p>
            <a:pPr rtl="1" algn="ctr" indent="0" marL="0">
              <a:buNone/>
            </a:pPr>
            <a:r>
              <a:rPr lang="ar-SA" altLang="en-US" sz="750" b="1" dirty="0">
                <a:solidFill>
                  <a:srgbClr val="3D3935"/>
                </a:solidFill>
                <a:latin typeface="Arial" pitchFamily="34" charset="0"/>
                <a:ea typeface="Arial" pitchFamily="34" charset="-122"/>
                <a:cs typeface="Arial" pitchFamily="34" charset="-120"/>
              </a:rPr>
              <a:t>24 نوفمبر</a:t>
            </a:r>
            <a:endParaRPr lang="ar-SA" sz="750" dirty="0"/>
          </a:p>
        </p:txBody>
      </p:sp>
      <p:sp>
        <p:nvSpPr>
          <p:cNvPr id="214" name="Shape 212"/>
          <p:cNvSpPr/>
          <p:nvPr/>
        </p:nvSpPr>
        <p:spPr>
          <a:xfrm>
            <a:off x="365760" y="2569464"/>
            <a:ext cx="11460175" cy="403642"/>
          </a:xfrm>
          <a:prstGeom prst="rect">
            <a:avLst/>
          </a:prstGeom>
          <a:solidFill>
            <a:srgbClr val="FFFFFF"/>
          </a:solidFill>
          <a:ln w="6350">
            <a:solidFill>
              <a:srgbClr val="DFE6EA"/>
            </a:solidFill>
            <a:prstDash val="solid"/>
          </a:ln>
        </p:spPr>
      </p:sp>
      <p:sp>
        <p:nvSpPr>
          <p:cNvPr id="215" name="Shape 213"/>
          <p:cNvSpPr/>
          <p:nvPr/>
        </p:nvSpPr>
        <p:spPr>
          <a:xfrm>
            <a:off x="11496751" y="2634125"/>
            <a:ext cx="274320" cy="274320"/>
          </a:xfrm>
          <a:prstGeom prst="ellipse">
            <a:avLst/>
          </a:prstGeom>
          <a:solidFill>
            <a:srgbClr val="C8503F"/>
          </a:solidFill>
          <a:ln w="25400">
            <a:solidFill>
              <a:srgbClr val="222222"/>
            </a:solidFill>
            <a:prstDash val="solid"/>
          </a:ln>
        </p:spPr>
      </p:sp>
      <p:sp>
        <p:nvSpPr>
          <p:cNvPr id="216" name="Text 214"/>
          <p:cNvSpPr/>
          <p:nvPr/>
        </p:nvSpPr>
        <p:spPr>
          <a:xfrm>
            <a:off x="11441887" y="2569464"/>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A</a:t>
            </a:r>
            <a:endParaRPr lang="ar-SA" sz="900" dirty="0"/>
          </a:p>
        </p:txBody>
      </p:sp>
      <p:sp>
        <p:nvSpPr>
          <p:cNvPr id="217" name="Text 215"/>
          <p:cNvSpPr/>
          <p:nvPr/>
        </p:nvSpPr>
        <p:spPr>
          <a:xfrm>
            <a:off x="8762695" y="2569464"/>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تركيب نظام الدعم (Shoring)</a:t>
            </a:r>
            <a:endParaRPr lang="ar-SA" sz="900" dirty="0"/>
          </a:p>
        </p:txBody>
      </p:sp>
      <p:sp>
        <p:nvSpPr>
          <p:cNvPr id="218" name="Text 216"/>
          <p:cNvSpPr/>
          <p:nvPr/>
        </p:nvSpPr>
        <p:spPr>
          <a:xfrm>
            <a:off x="7967167" y="2569464"/>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a:t>
            </a:r>
            <a:endParaRPr lang="ar-SA" sz="850" dirty="0"/>
          </a:p>
        </p:txBody>
      </p:sp>
      <p:sp>
        <p:nvSpPr>
          <p:cNvPr id="219" name="Text 217"/>
          <p:cNvSpPr/>
          <p:nvPr/>
        </p:nvSpPr>
        <p:spPr>
          <a:xfrm>
            <a:off x="7464247" y="2569464"/>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6</a:t>
            </a:r>
            <a:endParaRPr lang="ar-SA" sz="1100" dirty="0"/>
          </a:p>
        </p:txBody>
      </p:sp>
      <p:sp>
        <p:nvSpPr>
          <p:cNvPr id="220" name="Text 218"/>
          <p:cNvSpPr/>
          <p:nvPr/>
        </p:nvSpPr>
        <p:spPr>
          <a:xfrm>
            <a:off x="6805879" y="2569464"/>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13 أكتوبر</a:t>
            </a:r>
            <a:endParaRPr lang="ar-SA" sz="850" dirty="0"/>
          </a:p>
        </p:txBody>
      </p:sp>
      <p:sp>
        <p:nvSpPr>
          <p:cNvPr id="221" name="Text 219"/>
          <p:cNvSpPr/>
          <p:nvPr/>
        </p:nvSpPr>
        <p:spPr>
          <a:xfrm>
            <a:off x="6147511" y="2569464"/>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19 أكتوبر</a:t>
            </a:r>
            <a:endParaRPr lang="ar-SA" sz="850" dirty="0"/>
          </a:p>
        </p:txBody>
      </p:sp>
      <p:sp>
        <p:nvSpPr>
          <p:cNvPr id="222" name="Shape 220"/>
          <p:cNvSpPr/>
          <p:nvPr/>
        </p:nvSpPr>
        <p:spPr>
          <a:xfrm>
            <a:off x="4942980" y="2660284"/>
            <a:ext cx="843172" cy="222003"/>
          </a:xfrm>
          <a:prstGeom prst="roundRect">
            <a:avLst>
              <a:gd name="adj" fmla="val 20594"/>
            </a:avLst>
          </a:prstGeom>
          <a:solidFill>
            <a:srgbClr val="C8503F"/>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23" name="Text 221"/>
          <p:cNvSpPr/>
          <p:nvPr/>
        </p:nvSpPr>
        <p:spPr>
          <a:xfrm>
            <a:off x="4942980" y="2660284"/>
            <a:ext cx="843172" cy="222003"/>
          </a:xfrm>
          <a:prstGeom prst="rect">
            <a:avLst/>
          </a:prstGeom>
          <a:noFill/>
          <a:ln/>
        </p:spPr>
        <p:txBody>
          <a:bodyPr wrap="square" lIns="0" tIns="0" rIns="0" bIns="0" rtlCol="0" anchor="ctr">
            <a:normAutofit/>
          </a:bodyPr>
          <a:lstStyle/>
          <a:p>
            <a:pPr rtl="1" algn="ctr" indent="0" marL="0">
              <a:buNone/>
            </a:pPr>
            <a:r>
              <a:rPr lang="ar-SA" altLang="en-US" sz="800" b="1" dirty="0">
                <a:solidFill>
                  <a:srgbClr val="FFFFFF"/>
                </a:solidFill>
                <a:latin typeface="Arial" pitchFamily="34" charset="0"/>
                <a:ea typeface="Arial" pitchFamily="34" charset="-122"/>
                <a:cs typeface="Arial" pitchFamily="34" charset="-120"/>
              </a:rPr>
              <a:t>6 يوم</a:t>
            </a:r>
            <a:endParaRPr lang="ar-SA" sz="800" dirty="0"/>
          </a:p>
        </p:txBody>
      </p:sp>
      <p:sp>
        <p:nvSpPr>
          <p:cNvPr id="224" name="Shape 222"/>
          <p:cNvSpPr/>
          <p:nvPr/>
        </p:nvSpPr>
        <p:spPr>
          <a:xfrm>
            <a:off x="365760" y="2973106"/>
            <a:ext cx="11460175" cy="403642"/>
          </a:xfrm>
          <a:prstGeom prst="rect">
            <a:avLst/>
          </a:prstGeom>
          <a:solidFill>
            <a:srgbClr val="F6F9FA"/>
          </a:solidFill>
          <a:ln w="6350">
            <a:solidFill>
              <a:srgbClr val="DFE6EA"/>
            </a:solidFill>
            <a:prstDash val="solid"/>
          </a:ln>
        </p:spPr>
      </p:sp>
      <p:sp>
        <p:nvSpPr>
          <p:cNvPr id="225" name="Shape 223"/>
          <p:cNvSpPr/>
          <p:nvPr/>
        </p:nvSpPr>
        <p:spPr>
          <a:xfrm>
            <a:off x="11496751" y="3037767"/>
            <a:ext cx="274320" cy="274320"/>
          </a:xfrm>
          <a:prstGeom prst="ellipse">
            <a:avLst/>
          </a:prstGeom>
          <a:solidFill>
            <a:srgbClr val="00778B"/>
          </a:solidFill>
          <a:ln w="6350">
            <a:solidFill>
              <a:srgbClr val="00778B"/>
            </a:solidFill>
            <a:prstDash val="solid"/>
          </a:ln>
        </p:spPr>
      </p:sp>
      <p:sp>
        <p:nvSpPr>
          <p:cNvPr id="226" name="Text 224"/>
          <p:cNvSpPr/>
          <p:nvPr/>
        </p:nvSpPr>
        <p:spPr>
          <a:xfrm>
            <a:off x="11441887" y="2973106"/>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B</a:t>
            </a:r>
            <a:endParaRPr lang="ar-SA" sz="900" dirty="0"/>
          </a:p>
        </p:txBody>
      </p:sp>
      <p:sp>
        <p:nvSpPr>
          <p:cNvPr id="227" name="Text 225"/>
          <p:cNvSpPr/>
          <p:nvPr/>
        </p:nvSpPr>
        <p:spPr>
          <a:xfrm>
            <a:off x="8762695" y="2973106"/>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الخرسانة العادية (Lean concrete)</a:t>
            </a:r>
            <a:endParaRPr lang="ar-SA" sz="900" dirty="0"/>
          </a:p>
        </p:txBody>
      </p:sp>
      <p:sp>
        <p:nvSpPr>
          <p:cNvPr id="228" name="Text 226"/>
          <p:cNvSpPr/>
          <p:nvPr/>
        </p:nvSpPr>
        <p:spPr>
          <a:xfrm>
            <a:off x="7967167" y="2973106"/>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A · SS +6</a:t>
            </a:r>
            <a:endParaRPr lang="ar-SA" sz="850" dirty="0"/>
          </a:p>
        </p:txBody>
      </p:sp>
      <p:sp>
        <p:nvSpPr>
          <p:cNvPr id="229" name="Text 227"/>
          <p:cNvSpPr/>
          <p:nvPr/>
        </p:nvSpPr>
        <p:spPr>
          <a:xfrm>
            <a:off x="7464247" y="2973106"/>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2</a:t>
            </a:r>
            <a:endParaRPr lang="ar-SA" sz="1100" dirty="0"/>
          </a:p>
        </p:txBody>
      </p:sp>
      <p:sp>
        <p:nvSpPr>
          <p:cNvPr id="230" name="Text 228"/>
          <p:cNvSpPr/>
          <p:nvPr/>
        </p:nvSpPr>
        <p:spPr>
          <a:xfrm>
            <a:off x="6805879" y="2973106"/>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20 أكتوبر</a:t>
            </a:r>
            <a:endParaRPr lang="ar-SA" sz="850" dirty="0"/>
          </a:p>
        </p:txBody>
      </p:sp>
      <p:sp>
        <p:nvSpPr>
          <p:cNvPr id="231" name="Text 229"/>
          <p:cNvSpPr/>
          <p:nvPr/>
        </p:nvSpPr>
        <p:spPr>
          <a:xfrm>
            <a:off x="6147511" y="2973106"/>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21 أكتوبر</a:t>
            </a:r>
            <a:endParaRPr lang="ar-SA" sz="850" dirty="0"/>
          </a:p>
        </p:txBody>
      </p:sp>
      <p:sp>
        <p:nvSpPr>
          <p:cNvPr id="232" name="Shape 230"/>
          <p:cNvSpPr/>
          <p:nvPr/>
        </p:nvSpPr>
        <p:spPr>
          <a:xfrm>
            <a:off x="4702073" y="3063926"/>
            <a:ext cx="240906" cy="222003"/>
          </a:xfrm>
          <a:prstGeom prst="roundRect">
            <a:avLst>
              <a:gd name="adj" fmla="val 20594"/>
            </a:avLst>
          </a:prstGeom>
          <a:solidFill>
            <a:srgbClr val="00778B"/>
          </a:solidFill>
          <a:ln w="6350">
            <a:solidFill>
              <a:srgbClr val="00778B"/>
            </a:solidFill>
            <a:prstDash val="solid"/>
          </a:ln>
          <a:effectLst>
            <a:outerShdw sx="100000" sy="100000" kx="0" ky="0" algn="bl" rotWithShape="0" blurRad="38100" dist="12700" dir="5400000">
              <a:srgbClr val="000000">
                <a:alpha val="20000"/>
              </a:srgbClr>
            </a:outerShdw>
          </a:effectLst>
        </p:spPr>
      </p:sp>
      <p:sp>
        <p:nvSpPr>
          <p:cNvPr id="233" name="Shape 231"/>
          <p:cNvSpPr/>
          <p:nvPr/>
        </p:nvSpPr>
        <p:spPr>
          <a:xfrm>
            <a:off x="365760" y="3376749"/>
            <a:ext cx="11460175" cy="403642"/>
          </a:xfrm>
          <a:prstGeom prst="rect">
            <a:avLst/>
          </a:prstGeom>
          <a:solidFill>
            <a:srgbClr val="FFFFFF"/>
          </a:solidFill>
          <a:ln w="6350">
            <a:solidFill>
              <a:srgbClr val="DFE6EA"/>
            </a:solidFill>
            <a:prstDash val="solid"/>
          </a:ln>
        </p:spPr>
      </p:sp>
      <p:sp>
        <p:nvSpPr>
          <p:cNvPr id="234" name="Shape 232"/>
          <p:cNvSpPr/>
          <p:nvPr/>
        </p:nvSpPr>
        <p:spPr>
          <a:xfrm>
            <a:off x="11496751" y="3441410"/>
            <a:ext cx="274320" cy="274320"/>
          </a:xfrm>
          <a:prstGeom prst="ellipse">
            <a:avLst/>
          </a:prstGeom>
          <a:solidFill>
            <a:srgbClr val="00778B"/>
          </a:solidFill>
          <a:ln w="25400">
            <a:solidFill>
              <a:srgbClr val="222222"/>
            </a:solidFill>
            <a:prstDash val="solid"/>
          </a:ln>
        </p:spPr>
      </p:sp>
      <p:sp>
        <p:nvSpPr>
          <p:cNvPr id="235" name="Text 233"/>
          <p:cNvSpPr/>
          <p:nvPr/>
        </p:nvSpPr>
        <p:spPr>
          <a:xfrm>
            <a:off x="11441887" y="3376749"/>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C</a:t>
            </a:r>
            <a:endParaRPr lang="ar-SA" sz="900" dirty="0"/>
          </a:p>
        </p:txBody>
      </p:sp>
      <p:sp>
        <p:nvSpPr>
          <p:cNvPr id="236" name="Text 234"/>
          <p:cNvSpPr/>
          <p:nvPr/>
        </p:nvSpPr>
        <p:spPr>
          <a:xfrm>
            <a:off x="8762695" y="3376749"/>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خندق الحفرة – حديد التسليح والشدات والخرسانة</a:t>
            </a:r>
            <a:endParaRPr lang="ar-SA" sz="900" dirty="0"/>
          </a:p>
        </p:txBody>
      </p:sp>
      <p:sp>
        <p:nvSpPr>
          <p:cNvPr id="237" name="Text 235"/>
          <p:cNvSpPr/>
          <p:nvPr/>
        </p:nvSpPr>
        <p:spPr>
          <a:xfrm>
            <a:off x="7967167" y="3376749"/>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A · FS</a:t>
            </a:r>
            <a:endParaRPr lang="ar-SA" sz="850" dirty="0"/>
          </a:p>
        </p:txBody>
      </p:sp>
      <p:sp>
        <p:nvSpPr>
          <p:cNvPr id="238" name="Text 236"/>
          <p:cNvSpPr/>
          <p:nvPr/>
        </p:nvSpPr>
        <p:spPr>
          <a:xfrm>
            <a:off x="7464247" y="3376749"/>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4</a:t>
            </a:r>
            <a:endParaRPr lang="ar-SA" sz="1100" dirty="0"/>
          </a:p>
        </p:txBody>
      </p:sp>
      <p:sp>
        <p:nvSpPr>
          <p:cNvPr id="239" name="Text 237"/>
          <p:cNvSpPr/>
          <p:nvPr/>
        </p:nvSpPr>
        <p:spPr>
          <a:xfrm>
            <a:off x="6805879" y="3376749"/>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20 أكتوبر</a:t>
            </a:r>
            <a:endParaRPr lang="ar-SA" sz="850" dirty="0"/>
          </a:p>
        </p:txBody>
      </p:sp>
      <p:sp>
        <p:nvSpPr>
          <p:cNvPr id="240" name="Text 238"/>
          <p:cNvSpPr/>
          <p:nvPr/>
        </p:nvSpPr>
        <p:spPr>
          <a:xfrm>
            <a:off x="6147511" y="3376749"/>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24 أكتوبر</a:t>
            </a:r>
            <a:endParaRPr lang="ar-SA" sz="850" dirty="0"/>
          </a:p>
        </p:txBody>
      </p:sp>
      <p:sp>
        <p:nvSpPr>
          <p:cNvPr id="241" name="Shape 239"/>
          <p:cNvSpPr/>
          <p:nvPr/>
        </p:nvSpPr>
        <p:spPr>
          <a:xfrm>
            <a:off x="4340714" y="3467568"/>
            <a:ext cx="602266" cy="222003"/>
          </a:xfrm>
          <a:prstGeom prst="roundRect">
            <a:avLst>
              <a:gd name="adj" fmla="val 20594"/>
            </a:avLst>
          </a:prstGeom>
          <a:solidFill>
            <a:srgbClr val="00778B"/>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42" name="Text 240"/>
          <p:cNvSpPr/>
          <p:nvPr/>
        </p:nvSpPr>
        <p:spPr>
          <a:xfrm>
            <a:off x="4340714" y="3467568"/>
            <a:ext cx="602266" cy="222003"/>
          </a:xfrm>
          <a:prstGeom prst="rect">
            <a:avLst/>
          </a:prstGeom>
          <a:noFill/>
          <a:ln/>
        </p:spPr>
        <p:txBody>
          <a:bodyPr wrap="square" lIns="0" tIns="0" rIns="0" bIns="0" rtlCol="0" anchor="ctr">
            <a:normAutofit/>
          </a:bodyPr>
          <a:lstStyle/>
          <a:p>
            <a:pPr rtl="1" algn="ctr" indent="0" marL="0">
              <a:buNone/>
            </a:pPr>
            <a:r>
              <a:rPr lang="ar-SA" altLang="en-US" sz="800" b="1" dirty="0">
                <a:solidFill>
                  <a:srgbClr val="FFFFFF"/>
                </a:solidFill>
                <a:latin typeface="Arial" pitchFamily="34" charset="0"/>
                <a:ea typeface="Arial" pitchFamily="34" charset="-122"/>
                <a:cs typeface="Arial" pitchFamily="34" charset="-120"/>
              </a:rPr>
              <a:t>4 يوم</a:t>
            </a:r>
            <a:endParaRPr lang="ar-SA" sz="800" dirty="0"/>
          </a:p>
        </p:txBody>
      </p:sp>
      <p:sp>
        <p:nvSpPr>
          <p:cNvPr id="243" name="Shape 241"/>
          <p:cNvSpPr/>
          <p:nvPr/>
        </p:nvSpPr>
        <p:spPr>
          <a:xfrm>
            <a:off x="365760" y="3780391"/>
            <a:ext cx="11460175" cy="403642"/>
          </a:xfrm>
          <a:prstGeom prst="rect">
            <a:avLst/>
          </a:prstGeom>
          <a:solidFill>
            <a:srgbClr val="F6F9FA"/>
          </a:solidFill>
          <a:ln w="6350">
            <a:solidFill>
              <a:srgbClr val="DFE6EA"/>
            </a:solidFill>
            <a:prstDash val="solid"/>
          </a:ln>
        </p:spPr>
      </p:sp>
      <p:sp>
        <p:nvSpPr>
          <p:cNvPr id="244" name="Shape 242"/>
          <p:cNvSpPr/>
          <p:nvPr/>
        </p:nvSpPr>
        <p:spPr>
          <a:xfrm>
            <a:off x="11496751" y="3845052"/>
            <a:ext cx="274320" cy="274320"/>
          </a:xfrm>
          <a:prstGeom prst="ellipse">
            <a:avLst/>
          </a:prstGeom>
          <a:solidFill>
            <a:srgbClr val="00778B"/>
          </a:solidFill>
          <a:ln w="25400">
            <a:solidFill>
              <a:srgbClr val="222222"/>
            </a:solidFill>
            <a:prstDash val="solid"/>
          </a:ln>
        </p:spPr>
      </p:sp>
      <p:sp>
        <p:nvSpPr>
          <p:cNvPr id="245" name="Text 243"/>
          <p:cNvSpPr/>
          <p:nvPr/>
        </p:nvSpPr>
        <p:spPr>
          <a:xfrm>
            <a:off x="11441887" y="3780391"/>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D</a:t>
            </a:r>
            <a:endParaRPr lang="ar-SA" sz="900" dirty="0"/>
          </a:p>
        </p:txBody>
      </p:sp>
      <p:sp>
        <p:nvSpPr>
          <p:cNvPr id="246" name="Text 244"/>
          <p:cNvSpPr/>
          <p:nvPr/>
        </p:nvSpPr>
        <p:spPr>
          <a:xfrm>
            <a:off x="8762695" y="3780391"/>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بلاطة / لبشة الحفرة – حديد التسليح والشدات والخرسانة</a:t>
            </a:r>
            <a:endParaRPr lang="ar-SA" sz="900" dirty="0"/>
          </a:p>
        </p:txBody>
      </p:sp>
      <p:sp>
        <p:nvSpPr>
          <p:cNvPr id="247" name="Text 245"/>
          <p:cNvSpPr/>
          <p:nvPr/>
        </p:nvSpPr>
        <p:spPr>
          <a:xfrm>
            <a:off x="7967167" y="3780391"/>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C · FS</a:t>
            </a:r>
            <a:endParaRPr lang="ar-SA" sz="850" dirty="0"/>
          </a:p>
        </p:txBody>
      </p:sp>
      <p:sp>
        <p:nvSpPr>
          <p:cNvPr id="248" name="Text 246"/>
          <p:cNvSpPr/>
          <p:nvPr/>
        </p:nvSpPr>
        <p:spPr>
          <a:xfrm>
            <a:off x="7464247" y="3780391"/>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10</a:t>
            </a:r>
            <a:endParaRPr lang="ar-SA" sz="1100" dirty="0"/>
          </a:p>
        </p:txBody>
      </p:sp>
      <p:sp>
        <p:nvSpPr>
          <p:cNvPr id="249" name="Text 247"/>
          <p:cNvSpPr/>
          <p:nvPr/>
        </p:nvSpPr>
        <p:spPr>
          <a:xfrm>
            <a:off x="6805879" y="3780391"/>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25 أكتوبر</a:t>
            </a:r>
            <a:endParaRPr lang="ar-SA" sz="850" dirty="0"/>
          </a:p>
        </p:txBody>
      </p:sp>
      <p:sp>
        <p:nvSpPr>
          <p:cNvPr id="250" name="Text 248"/>
          <p:cNvSpPr/>
          <p:nvPr/>
        </p:nvSpPr>
        <p:spPr>
          <a:xfrm>
            <a:off x="6147511" y="3780391"/>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4 نوفمبر</a:t>
            </a:r>
            <a:endParaRPr lang="ar-SA" sz="850" dirty="0"/>
          </a:p>
        </p:txBody>
      </p:sp>
      <p:sp>
        <p:nvSpPr>
          <p:cNvPr id="251" name="Shape 249"/>
          <p:cNvSpPr/>
          <p:nvPr/>
        </p:nvSpPr>
        <p:spPr>
          <a:xfrm>
            <a:off x="3015729" y="3871210"/>
            <a:ext cx="1324985" cy="222003"/>
          </a:xfrm>
          <a:prstGeom prst="roundRect">
            <a:avLst>
              <a:gd name="adj" fmla="val 20594"/>
            </a:avLst>
          </a:prstGeom>
          <a:solidFill>
            <a:srgbClr val="00778B"/>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52" name="Text 250"/>
          <p:cNvSpPr/>
          <p:nvPr/>
        </p:nvSpPr>
        <p:spPr>
          <a:xfrm>
            <a:off x="3015729" y="3871210"/>
            <a:ext cx="1324985" cy="222003"/>
          </a:xfrm>
          <a:prstGeom prst="rect">
            <a:avLst/>
          </a:prstGeom>
          <a:noFill/>
          <a:ln/>
        </p:spPr>
        <p:txBody>
          <a:bodyPr wrap="square" lIns="0" tIns="0" rIns="0" bIns="0" rtlCol="0" anchor="ctr">
            <a:normAutofit/>
          </a:bodyPr>
          <a:lstStyle/>
          <a:p>
            <a:pPr rtl="1" algn="ctr" indent="0" marL="0">
              <a:buNone/>
            </a:pPr>
            <a:r>
              <a:rPr lang="ar-SA" altLang="en-US" sz="800" b="1" dirty="0">
                <a:solidFill>
                  <a:srgbClr val="FFFFFF"/>
                </a:solidFill>
                <a:latin typeface="Arial" pitchFamily="34" charset="0"/>
                <a:ea typeface="Arial" pitchFamily="34" charset="-122"/>
                <a:cs typeface="Arial" pitchFamily="34" charset="-120"/>
              </a:rPr>
              <a:t>10 يوم</a:t>
            </a:r>
            <a:endParaRPr lang="ar-SA" sz="800" dirty="0"/>
          </a:p>
        </p:txBody>
      </p:sp>
      <p:sp>
        <p:nvSpPr>
          <p:cNvPr id="253" name="Shape 251"/>
          <p:cNvSpPr/>
          <p:nvPr/>
        </p:nvSpPr>
        <p:spPr>
          <a:xfrm>
            <a:off x="365760" y="4184033"/>
            <a:ext cx="11460175" cy="403642"/>
          </a:xfrm>
          <a:prstGeom prst="rect">
            <a:avLst/>
          </a:prstGeom>
          <a:solidFill>
            <a:srgbClr val="FFFFFF"/>
          </a:solidFill>
          <a:ln w="6350">
            <a:solidFill>
              <a:srgbClr val="DFE6EA"/>
            </a:solidFill>
            <a:prstDash val="solid"/>
          </a:ln>
        </p:spPr>
      </p:sp>
      <p:sp>
        <p:nvSpPr>
          <p:cNvPr id="254" name="Shape 252"/>
          <p:cNvSpPr/>
          <p:nvPr/>
        </p:nvSpPr>
        <p:spPr>
          <a:xfrm>
            <a:off x="11496751" y="4248694"/>
            <a:ext cx="274320" cy="274320"/>
          </a:xfrm>
          <a:prstGeom prst="ellipse">
            <a:avLst/>
          </a:prstGeom>
          <a:solidFill>
            <a:srgbClr val="00778B"/>
          </a:solidFill>
          <a:ln w="6350">
            <a:solidFill>
              <a:srgbClr val="00778B"/>
            </a:solidFill>
            <a:prstDash val="solid"/>
          </a:ln>
        </p:spPr>
      </p:sp>
      <p:sp>
        <p:nvSpPr>
          <p:cNvPr id="255" name="Text 253"/>
          <p:cNvSpPr/>
          <p:nvPr/>
        </p:nvSpPr>
        <p:spPr>
          <a:xfrm>
            <a:off x="11441887" y="4184033"/>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E</a:t>
            </a:r>
            <a:endParaRPr lang="ar-SA" sz="900" dirty="0"/>
          </a:p>
        </p:txBody>
      </p:sp>
      <p:sp>
        <p:nvSpPr>
          <p:cNvPr id="256" name="Text 254"/>
          <p:cNvSpPr/>
          <p:nvPr/>
        </p:nvSpPr>
        <p:spPr>
          <a:xfrm>
            <a:off x="8762695" y="4184033"/>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جدار الحفرة – حديد التسليح والشدات والخرسانة</a:t>
            </a:r>
            <a:endParaRPr lang="ar-SA" sz="900" dirty="0"/>
          </a:p>
        </p:txBody>
      </p:sp>
      <p:sp>
        <p:nvSpPr>
          <p:cNvPr id="257" name="Text 255"/>
          <p:cNvSpPr/>
          <p:nvPr/>
        </p:nvSpPr>
        <p:spPr>
          <a:xfrm>
            <a:off x="7967167" y="4184033"/>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D · FS</a:t>
            </a:r>
            <a:endParaRPr lang="ar-SA" sz="850" dirty="0"/>
          </a:p>
        </p:txBody>
      </p:sp>
      <p:sp>
        <p:nvSpPr>
          <p:cNvPr id="258" name="Text 256"/>
          <p:cNvSpPr/>
          <p:nvPr/>
        </p:nvSpPr>
        <p:spPr>
          <a:xfrm>
            <a:off x="7464247" y="4184033"/>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6</a:t>
            </a:r>
            <a:endParaRPr lang="ar-SA" sz="1100" dirty="0"/>
          </a:p>
        </p:txBody>
      </p:sp>
      <p:sp>
        <p:nvSpPr>
          <p:cNvPr id="259" name="Text 257"/>
          <p:cNvSpPr/>
          <p:nvPr/>
        </p:nvSpPr>
        <p:spPr>
          <a:xfrm>
            <a:off x="6805879" y="4184033"/>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5 نوفمبر</a:t>
            </a:r>
            <a:endParaRPr lang="ar-SA" sz="850" dirty="0"/>
          </a:p>
        </p:txBody>
      </p:sp>
      <p:sp>
        <p:nvSpPr>
          <p:cNvPr id="260" name="Text 258"/>
          <p:cNvSpPr/>
          <p:nvPr/>
        </p:nvSpPr>
        <p:spPr>
          <a:xfrm>
            <a:off x="6147511" y="4184033"/>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11 نوفمبر</a:t>
            </a:r>
            <a:endParaRPr lang="ar-SA" sz="850" dirty="0"/>
          </a:p>
        </p:txBody>
      </p:sp>
      <p:sp>
        <p:nvSpPr>
          <p:cNvPr id="261" name="Shape 259"/>
          <p:cNvSpPr/>
          <p:nvPr/>
        </p:nvSpPr>
        <p:spPr>
          <a:xfrm>
            <a:off x="2172557" y="4274853"/>
            <a:ext cx="843172" cy="222003"/>
          </a:xfrm>
          <a:prstGeom prst="roundRect">
            <a:avLst>
              <a:gd name="adj" fmla="val 20594"/>
            </a:avLst>
          </a:prstGeom>
          <a:solidFill>
            <a:srgbClr val="00778B"/>
          </a:solidFill>
          <a:ln w="6350">
            <a:solidFill>
              <a:srgbClr val="00778B"/>
            </a:solidFill>
            <a:prstDash val="solid"/>
          </a:ln>
          <a:effectLst>
            <a:outerShdw sx="100000" sy="100000" kx="0" ky="0" algn="bl" rotWithShape="0" blurRad="38100" dist="12700" dir="5400000">
              <a:srgbClr val="000000">
                <a:alpha val="20000"/>
              </a:srgbClr>
            </a:outerShdw>
          </a:effectLst>
        </p:spPr>
      </p:sp>
      <p:sp>
        <p:nvSpPr>
          <p:cNvPr id="262" name="Text 260"/>
          <p:cNvSpPr/>
          <p:nvPr/>
        </p:nvSpPr>
        <p:spPr>
          <a:xfrm>
            <a:off x="2172557" y="4274853"/>
            <a:ext cx="843172" cy="222003"/>
          </a:xfrm>
          <a:prstGeom prst="rect">
            <a:avLst/>
          </a:prstGeom>
          <a:noFill/>
          <a:ln/>
        </p:spPr>
        <p:txBody>
          <a:bodyPr wrap="square" lIns="0" tIns="0" rIns="0" bIns="0" rtlCol="0" anchor="ctr">
            <a:normAutofit/>
          </a:bodyPr>
          <a:lstStyle/>
          <a:p>
            <a:pPr rtl="1" algn="ctr" indent="0" marL="0">
              <a:buNone/>
            </a:pPr>
            <a:r>
              <a:rPr lang="ar-SA" altLang="en-US" sz="800" b="1" dirty="0">
                <a:solidFill>
                  <a:srgbClr val="FFFFFF"/>
                </a:solidFill>
                <a:latin typeface="Arial" pitchFamily="34" charset="0"/>
                <a:ea typeface="Arial" pitchFamily="34" charset="-122"/>
                <a:cs typeface="Arial" pitchFamily="34" charset="-120"/>
              </a:rPr>
              <a:t>6 يوم</a:t>
            </a:r>
            <a:endParaRPr lang="ar-SA" sz="800" dirty="0"/>
          </a:p>
        </p:txBody>
      </p:sp>
      <p:sp>
        <p:nvSpPr>
          <p:cNvPr id="263" name="Shape 261"/>
          <p:cNvSpPr/>
          <p:nvPr/>
        </p:nvSpPr>
        <p:spPr>
          <a:xfrm>
            <a:off x="365760" y="4587675"/>
            <a:ext cx="11460175" cy="403642"/>
          </a:xfrm>
          <a:prstGeom prst="rect">
            <a:avLst/>
          </a:prstGeom>
          <a:solidFill>
            <a:srgbClr val="F6F9FA"/>
          </a:solidFill>
          <a:ln w="6350">
            <a:solidFill>
              <a:srgbClr val="DFE6EA"/>
            </a:solidFill>
            <a:prstDash val="solid"/>
          </a:ln>
        </p:spPr>
      </p:sp>
      <p:sp>
        <p:nvSpPr>
          <p:cNvPr id="264" name="Shape 262"/>
          <p:cNvSpPr/>
          <p:nvPr/>
        </p:nvSpPr>
        <p:spPr>
          <a:xfrm>
            <a:off x="11496751" y="4652337"/>
            <a:ext cx="274320" cy="274320"/>
          </a:xfrm>
          <a:prstGeom prst="ellipse">
            <a:avLst/>
          </a:prstGeom>
          <a:solidFill>
            <a:srgbClr val="2E9E6B"/>
          </a:solidFill>
          <a:ln w="25400">
            <a:solidFill>
              <a:srgbClr val="222222"/>
            </a:solidFill>
            <a:prstDash val="solid"/>
          </a:ln>
        </p:spPr>
      </p:sp>
      <p:sp>
        <p:nvSpPr>
          <p:cNvPr id="265" name="Text 263"/>
          <p:cNvSpPr/>
          <p:nvPr/>
        </p:nvSpPr>
        <p:spPr>
          <a:xfrm>
            <a:off x="11441887" y="4587675"/>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F</a:t>
            </a:r>
            <a:endParaRPr lang="ar-SA" sz="900" dirty="0"/>
          </a:p>
        </p:txBody>
      </p:sp>
      <p:sp>
        <p:nvSpPr>
          <p:cNvPr id="266" name="Text 264"/>
          <p:cNvSpPr/>
          <p:nvPr/>
        </p:nvSpPr>
        <p:spPr>
          <a:xfrm>
            <a:off x="8762695" y="4587675"/>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أساسات المبنى – حفر ودمك / اختبار وحديد تسليح وخرسانة</a:t>
            </a:r>
            <a:endParaRPr lang="ar-SA" sz="900" dirty="0"/>
          </a:p>
        </p:txBody>
      </p:sp>
      <p:sp>
        <p:nvSpPr>
          <p:cNvPr id="267" name="Text 265"/>
          <p:cNvSpPr/>
          <p:nvPr/>
        </p:nvSpPr>
        <p:spPr>
          <a:xfrm>
            <a:off x="7967167" y="4587675"/>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D · FS</a:t>
            </a:r>
            <a:endParaRPr lang="ar-SA" sz="850" dirty="0"/>
          </a:p>
        </p:txBody>
      </p:sp>
      <p:sp>
        <p:nvSpPr>
          <p:cNvPr id="268" name="Text 266"/>
          <p:cNvSpPr/>
          <p:nvPr/>
        </p:nvSpPr>
        <p:spPr>
          <a:xfrm>
            <a:off x="7464247" y="4587675"/>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12</a:t>
            </a:r>
            <a:endParaRPr lang="ar-SA" sz="1100" dirty="0"/>
          </a:p>
        </p:txBody>
      </p:sp>
      <p:sp>
        <p:nvSpPr>
          <p:cNvPr id="269" name="Text 267"/>
          <p:cNvSpPr/>
          <p:nvPr/>
        </p:nvSpPr>
        <p:spPr>
          <a:xfrm>
            <a:off x="6805879" y="4587675"/>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5 نوفمبر</a:t>
            </a:r>
            <a:endParaRPr lang="ar-SA" sz="850" dirty="0"/>
          </a:p>
        </p:txBody>
      </p:sp>
      <p:sp>
        <p:nvSpPr>
          <p:cNvPr id="270" name="Text 268"/>
          <p:cNvSpPr/>
          <p:nvPr/>
        </p:nvSpPr>
        <p:spPr>
          <a:xfrm>
            <a:off x="6147511" y="4587675"/>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18 نوفمبر</a:t>
            </a:r>
            <a:endParaRPr lang="ar-SA" sz="850" dirty="0"/>
          </a:p>
        </p:txBody>
      </p:sp>
      <p:sp>
        <p:nvSpPr>
          <p:cNvPr id="271" name="Shape 269"/>
          <p:cNvSpPr/>
          <p:nvPr/>
        </p:nvSpPr>
        <p:spPr>
          <a:xfrm>
            <a:off x="1329385" y="4678495"/>
            <a:ext cx="1686344" cy="222003"/>
          </a:xfrm>
          <a:prstGeom prst="roundRect">
            <a:avLst>
              <a:gd name="adj" fmla="val 20594"/>
            </a:avLst>
          </a:prstGeom>
          <a:solidFill>
            <a:srgbClr val="2E9E6B"/>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72" name="Text 270"/>
          <p:cNvSpPr/>
          <p:nvPr/>
        </p:nvSpPr>
        <p:spPr>
          <a:xfrm>
            <a:off x="1329385" y="4678495"/>
            <a:ext cx="1686344" cy="222003"/>
          </a:xfrm>
          <a:prstGeom prst="rect">
            <a:avLst/>
          </a:prstGeom>
          <a:noFill/>
          <a:ln/>
        </p:spPr>
        <p:txBody>
          <a:bodyPr wrap="square" lIns="0" tIns="0" rIns="0" bIns="0" rtlCol="0" anchor="ctr">
            <a:normAutofit/>
          </a:bodyPr>
          <a:lstStyle/>
          <a:p>
            <a:pPr rtl="1" algn="ctr" indent="0" marL="0">
              <a:buNone/>
            </a:pPr>
            <a:r>
              <a:rPr lang="ar-SA" altLang="en-US" sz="800" b="1" dirty="0">
                <a:solidFill>
                  <a:srgbClr val="FFFFFF"/>
                </a:solidFill>
                <a:latin typeface="Arial" pitchFamily="34" charset="0"/>
                <a:ea typeface="Arial" pitchFamily="34" charset="-122"/>
                <a:cs typeface="Arial" pitchFamily="34" charset="-120"/>
              </a:rPr>
              <a:t>12 يوم</a:t>
            </a:r>
            <a:endParaRPr lang="ar-SA" sz="800" dirty="0"/>
          </a:p>
        </p:txBody>
      </p:sp>
      <p:sp>
        <p:nvSpPr>
          <p:cNvPr id="273" name="Shape 271"/>
          <p:cNvSpPr/>
          <p:nvPr/>
        </p:nvSpPr>
        <p:spPr>
          <a:xfrm>
            <a:off x="365760" y="4991318"/>
            <a:ext cx="11460175" cy="403642"/>
          </a:xfrm>
          <a:prstGeom prst="rect">
            <a:avLst/>
          </a:prstGeom>
          <a:solidFill>
            <a:srgbClr val="FFFFFF"/>
          </a:solidFill>
          <a:ln w="6350">
            <a:solidFill>
              <a:srgbClr val="DFE6EA"/>
            </a:solidFill>
            <a:prstDash val="solid"/>
          </a:ln>
        </p:spPr>
      </p:sp>
      <p:sp>
        <p:nvSpPr>
          <p:cNvPr id="274" name="Shape 272"/>
          <p:cNvSpPr/>
          <p:nvPr/>
        </p:nvSpPr>
        <p:spPr>
          <a:xfrm>
            <a:off x="11496751" y="5055979"/>
            <a:ext cx="274320" cy="274320"/>
          </a:xfrm>
          <a:prstGeom prst="ellipse">
            <a:avLst/>
          </a:prstGeom>
          <a:solidFill>
            <a:srgbClr val="D68A00"/>
          </a:solidFill>
          <a:ln w="25400">
            <a:solidFill>
              <a:srgbClr val="222222"/>
            </a:solidFill>
            <a:prstDash val="solid"/>
          </a:ln>
        </p:spPr>
      </p:sp>
      <p:sp>
        <p:nvSpPr>
          <p:cNvPr id="275" name="Text 273"/>
          <p:cNvSpPr/>
          <p:nvPr/>
        </p:nvSpPr>
        <p:spPr>
          <a:xfrm>
            <a:off x="11441887" y="4991318"/>
            <a:ext cx="384048" cy="403642"/>
          </a:xfrm>
          <a:prstGeom prst="rect">
            <a:avLst/>
          </a:prstGeom>
          <a:noFill/>
          <a:ln/>
        </p:spPr>
        <p:txBody>
          <a:bodyPr wrap="square" lIns="0" tIns="0" rIns="0" bIns="0" rtlCol="0" anchor="ctr">
            <a:normAutofit/>
          </a:bodyPr>
          <a:lstStyle/>
          <a:p>
            <a:pPr rtl="1" algn="ctr" indent="0" marL="0">
              <a:buNone/>
            </a:pPr>
            <a:r>
              <a:rPr lang="ar-SA" altLang="en-US" sz="900" b="1" dirty="0">
                <a:solidFill>
                  <a:srgbClr val="FFFFFF"/>
                </a:solidFill>
                <a:latin typeface="Arial" pitchFamily="34" charset="0"/>
                <a:ea typeface="Arial" pitchFamily="34" charset="-122"/>
                <a:cs typeface="Arial" pitchFamily="34" charset="-120"/>
              </a:rPr>
              <a:t>G</a:t>
            </a:r>
            <a:endParaRPr lang="ar-SA" sz="900" dirty="0"/>
          </a:p>
        </p:txBody>
      </p:sp>
      <p:sp>
        <p:nvSpPr>
          <p:cNvPr id="276" name="Text 274"/>
          <p:cNvSpPr/>
          <p:nvPr/>
        </p:nvSpPr>
        <p:spPr>
          <a:xfrm>
            <a:off x="8762695" y="4991318"/>
            <a:ext cx="2606040" cy="403642"/>
          </a:xfrm>
          <a:prstGeom prst="rect">
            <a:avLst/>
          </a:prstGeom>
          <a:noFill/>
          <a:ln/>
        </p:spPr>
        <p:txBody>
          <a:bodyPr wrap="square" lIns="0" tIns="0" rIns="0" bIns="0" rtlCol="0" anchor="ctr">
            <a:normAutofit/>
          </a:bodyPr>
          <a:lstStyle/>
          <a:p>
            <a:pPr rtl="1" algn="r" indent="0" marL="0">
              <a:buNone/>
            </a:pPr>
            <a:r>
              <a:rPr lang="ar-SA" altLang="en-US" sz="900" dirty="0">
                <a:solidFill>
                  <a:srgbClr val="222222"/>
                </a:solidFill>
                <a:latin typeface="Arial" pitchFamily="34" charset="0"/>
                <a:ea typeface="Arial" pitchFamily="34" charset="-122"/>
                <a:cs typeface="Arial" pitchFamily="34" charset="-120"/>
              </a:rPr>
              <a:t>أعمال الردم للمبنى</a:t>
            </a:r>
            <a:endParaRPr lang="ar-SA" sz="900" dirty="0"/>
          </a:p>
        </p:txBody>
      </p:sp>
      <p:sp>
        <p:nvSpPr>
          <p:cNvPr id="277" name="Text 275"/>
          <p:cNvSpPr/>
          <p:nvPr/>
        </p:nvSpPr>
        <p:spPr>
          <a:xfrm>
            <a:off x="7967167" y="4991318"/>
            <a:ext cx="777240" cy="403642"/>
          </a:xfrm>
          <a:prstGeom prst="rect">
            <a:avLst/>
          </a:prstGeom>
          <a:noFill/>
          <a:ln/>
        </p:spPr>
        <p:txBody>
          <a:bodyPr wrap="square" lIns="0" tIns="0" rIns="0" bIns="0" rtlCol="0" anchor="ctr">
            <a:normAutofit/>
          </a:bodyPr>
          <a:lstStyle/>
          <a:p>
            <a:pPr rtl="1" algn="ctr" indent="0" marL="0">
              <a:buNone/>
            </a:pPr>
            <a:r>
              <a:rPr lang="ar-SA" altLang="en-US" sz="850" dirty="0">
                <a:solidFill>
                  <a:srgbClr val="444444"/>
                </a:solidFill>
                <a:latin typeface="Arial" pitchFamily="34" charset="0"/>
                <a:ea typeface="Arial" pitchFamily="34" charset="-122"/>
                <a:cs typeface="Arial" pitchFamily="34" charset="-120"/>
              </a:rPr>
              <a:t>F · FS</a:t>
            </a:r>
            <a:endParaRPr lang="ar-SA" sz="850" dirty="0"/>
          </a:p>
        </p:txBody>
      </p:sp>
      <p:sp>
        <p:nvSpPr>
          <p:cNvPr id="278" name="Text 276"/>
          <p:cNvSpPr/>
          <p:nvPr/>
        </p:nvSpPr>
        <p:spPr>
          <a:xfrm>
            <a:off x="7464247" y="4991318"/>
            <a:ext cx="502920" cy="403642"/>
          </a:xfrm>
          <a:prstGeom prst="rect">
            <a:avLst/>
          </a:prstGeom>
          <a:noFill/>
          <a:ln/>
        </p:spPr>
        <p:txBody>
          <a:bodyPr wrap="square" lIns="0" tIns="0" rIns="0" bIns="0" rtlCol="0" anchor="ctr">
            <a:normAutofit/>
          </a:bodyPr>
          <a:lstStyle/>
          <a:p>
            <a:pPr rtl="1" algn="ctr" indent="0" marL="0">
              <a:buNone/>
            </a:pPr>
            <a:r>
              <a:rPr lang="ar-SA" altLang="en-US" sz="1100" b="1" dirty="0">
                <a:solidFill>
                  <a:srgbClr val="222222"/>
                </a:solidFill>
                <a:latin typeface="Arial" pitchFamily="34" charset="0"/>
                <a:ea typeface="Arial" pitchFamily="34" charset="-122"/>
                <a:cs typeface="Arial" pitchFamily="34" charset="-120"/>
              </a:rPr>
              <a:t>5</a:t>
            </a:r>
            <a:endParaRPr lang="ar-SA" sz="1100" dirty="0"/>
          </a:p>
        </p:txBody>
      </p:sp>
      <p:sp>
        <p:nvSpPr>
          <p:cNvPr id="279" name="Text 277"/>
          <p:cNvSpPr/>
          <p:nvPr/>
        </p:nvSpPr>
        <p:spPr>
          <a:xfrm>
            <a:off x="6805879" y="4991318"/>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19 نوفمبر</a:t>
            </a:r>
            <a:endParaRPr lang="ar-SA" sz="850" dirty="0"/>
          </a:p>
        </p:txBody>
      </p:sp>
      <p:sp>
        <p:nvSpPr>
          <p:cNvPr id="280" name="Text 278"/>
          <p:cNvSpPr/>
          <p:nvPr/>
        </p:nvSpPr>
        <p:spPr>
          <a:xfrm>
            <a:off x="6147511" y="4991318"/>
            <a:ext cx="658368" cy="403642"/>
          </a:xfrm>
          <a:prstGeom prst="rect">
            <a:avLst/>
          </a:prstGeom>
          <a:noFill/>
          <a:ln/>
        </p:spPr>
        <p:txBody>
          <a:bodyPr wrap="square" lIns="0" tIns="0" rIns="0" bIns="0" rtlCol="0" anchor="ctr">
            <a:normAutofit/>
          </a:bodyPr>
          <a:lstStyle/>
          <a:p>
            <a:pPr rtl="1" algn="ctr" indent="0" marL="0">
              <a:buNone/>
            </a:pPr>
            <a:r>
              <a:rPr lang="ar-SA" altLang="en-US" sz="850" b="1" dirty="0">
                <a:solidFill>
                  <a:srgbClr val="222222"/>
                </a:solidFill>
                <a:latin typeface="Arial" pitchFamily="34" charset="0"/>
                <a:ea typeface="Arial" pitchFamily="34" charset="-122"/>
                <a:cs typeface="Arial" pitchFamily="34" charset="-120"/>
              </a:rPr>
              <a:t>24 نوفمبر</a:t>
            </a:r>
            <a:endParaRPr lang="ar-SA" sz="850" dirty="0"/>
          </a:p>
        </p:txBody>
      </p:sp>
      <p:sp>
        <p:nvSpPr>
          <p:cNvPr id="281" name="Shape 279"/>
          <p:cNvSpPr/>
          <p:nvPr/>
        </p:nvSpPr>
        <p:spPr>
          <a:xfrm>
            <a:off x="606666" y="5082137"/>
            <a:ext cx="722719" cy="222003"/>
          </a:xfrm>
          <a:prstGeom prst="roundRect">
            <a:avLst>
              <a:gd name="adj" fmla="val 20594"/>
            </a:avLst>
          </a:prstGeom>
          <a:solidFill>
            <a:srgbClr val="D68A00"/>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82" name="Text 280"/>
          <p:cNvSpPr/>
          <p:nvPr/>
        </p:nvSpPr>
        <p:spPr>
          <a:xfrm>
            <a:off x="606666" y="5082137"/>
            <a:ext cx="722719" cy="222003"/>
          </a:xfrm>
          <a:prstGeom prst="rect">
            <a:avLst/>
          </a:prstGeom>
          <a:noFill/>
          <a:ln/>
        </p:spPr>
        <p:txBody>
          <a:bodyPr wrap="square" lIns="0" tIns="0" rIns="0" bIns="0" rtlCol="0" anchor="ctr">
            <a:normAutofit/>
          </a:bodyPr>
          <a:lstStyle/>
          <a:p>
            <a:pPr rtl="1" algn="ctr" indent="0" marL="0">
              <a:buNone/>
            </a:pPr>
            <a:r>
              <a:rPr lang="ar-SA" altLang="en-US" sz="800" b="1" dirty="0">
                <a:solidFill>
                  <a:srgbClr val="FFFFFF"/>
                </a:solidFill>
                <a:latin typeface="Arial" pitchFamily="34" charset="0"/>
                <a:ea typeface="Arial" pitchFamily="34" charset="-122"/>
                <a:cs typeface="Arial" pitchFamily="34" charset="-120"/>
              </a:rPr>
              <a:t>5 يوم</a:t>
            </a:r>
            <a:endParaRPr lang="ar-SA" sz="800" dirty="0"/>
          </a:p>
        </p:txBody>
      </p:sp>
      <p:sp>
        <p:nvSpPr>
          <p:cNvPr id="283" name="Shape 281"/>
          <p:cNvSpPr/>
          <p:nvPr/>
        </p:nvSpPr>
        <p:spPr>
          <a:xfrm>
            <a:off x="5731288" y="2882287"/>
            <a:ext cx="0" cy="292641"/>
          </a:xfrm>
          <a:prstGeom prst="line">
            <a:avLst/>
          </a:prstGeom>
          <a:noFill/>
          <a:ln w="13970">
            <a:solidFill>
              <a:srgbClr val="2D3338"/>
            </a:solidFill>
            <a:prstDash val="solid"/>
          </a:ln>
        </p:spPr>
      </p:sp>
      <p:sp>
        <p:nvSpPr>
          <p:cNvPr id="284" name="Shape 282"/>
          <p:cNvSpPr/>
          <p:nvPr/>
        </p:nvSpPr>
        <p:spPr>
          <a:xfrm flipH="1">
            <a:off x="4952124" y="3174927"/>
            <a:ext cx="779164" cy="0"/>
          </a:xfrm>
          <a:prstGeom prst="line">
            <a:avLst/>
          </a:prstGeom>
          <a:noFill/>
          <a:ln w="13970">
            <a:solidFill>
              <a:srgbClr val="2D3338"/>
            </a:solidFill>
            <a:prstDash val="solid"/>
            <a:tailEnd type="triangle"/>
          </a:ln>
        </p:spPr>
      </p:sp>
      <p:sp>
        <p:nvSpPr>
          <p:cNvPr id="285" name="Shape 283"/>
          <p:cNvSpPr/>
          <p:nvPr/>
        </p:nvSpPr>
        <p:spPr>
          <a:xfrm>
            <a:off x="4942980" y="2771285"/>
            <a:ext cx="45720" cy="0"/>
          </a:xfrm>
          <a:prstGeom prst="line">
            <a:avLst/>
          </a:prstGeom>
          <a:noFill/>
          <a:ln w="13970">
            <a:solidFill>
              <a:srgbClr val="2D3338"/>
            </a:solidFill>
            <a:prstDash val="solid"/>
          </a:ln>
        </p:spPr>
      </p:sp>
      <p:sp>
        <p:nvSpPr>
          <p:cNvPr id="286" name="Shape 284"/>
          <p:cNvSpPr/>
          <p:nvPr/>
        </p:nvSpPr>
        <p:spPr>
          <a:xfrm>
            <a:off x="4988700" y="2771285"/>
            <a:ext cx="0" cy="807285"/>
          </a:xfrm>
          <a:prstGeom prst="line">
            <a:avLst/>
          </a:prstGeom>
          <a:noFill/>
          <a:ln w="13970">
            <a:solidFill>
              <a:srgbClr val="2D3338"/>
            </a:solidFill>
            <a:prstDash val="solid"/>
          </a:ln>
        </p:spPr>
      </p:sp>
      <p:sp>
        <p:nvSpPr>
          <p:cNvPr id="287" name="Shape 285"/>
          <p:cNvSpPr/>
          <p:nvPr/>
        </p:nvSpPr>
        <p:spPr>
          <a:xfrm flipH="1">
            <a:off x="4952124" y="3578570"/>
            <a:ext cx="36576" cy="0"/>
          </a:xfrm>
          <a:prstGeom prst="line">
            <a:avLst/>
          </a:prstGeom>
          <a:noFill/>
          <a:ln w="13970">
            <a:solidFill>
              <a:srgbClr val="2D3338"/>
            </a:solidFill>
            <a:prstDash val="solid"/>
            <a:tailEnd type="triangle"/>
          </a:ln>
        </p:spPr>
      </p:sp>
      <p:sp>
        <p:nvSpPr>
          <p:cNvPr id="288" name="Shape 286"/>
          <p:cNvSpPr/>
          <p:nvPr/>
        </p:nvSpPr>
        <p:spPr>
          <a:xfrm>
            <a:off x="4340714" y="3578570"/>
            <a:ext cx="45720" cy="0"/>
          </a:xfrm>
          <a:prstGeom prst="line">
            <a:avLst/>
          </a:prstGeom>
          <a:noFill/>
          <a:ln w="13970">
            <a:solidFill>
              <a:srgbClr val="2D3338"/>
            </a:solidFill>
            <a:prstDash val="solid"/>
          </a:ln>
        </p:spPr>
      </p:sp>
      <p:sp>
        <p:nvSpPr>
          <p:cNvPr id="289" name="Shape 287"/>
          <p:cNvSpPr/>
          <p:nvPr/>
        </p:nvSpPr>
        <p:spPr>
          <a:xfrm>
            <a:off x="4386434" y="3578570"/>
            <a:ext cx="0" cy="403642"/>
          </a:xfrm>
          <a:prstGeom prst="line">
            <a:avLst/>
          </a:prstGeom>
          <a:noFill/>
          <a:ln w="13970">
            <a:solidFill>
              <a:srgbClr val="2D3338"/>
            </a:solidFill>
            <a:prstDash val="solid"/>
          </a:ln>
        </p:spPr>
      </p:sp>
      <p:sp>
        <p:nvSpPr>
          <p:cNvPr id="290" name="Shape 288"/>
          <p:cNvSpPr/>
          <p:nvPr/>
        </p:nvSpPr>
        <p:spPr>
          <a:xfrm flipH="1">
            <a:off x="4349858" y="3982212"/>
            <a:ext cx="36576" cy="0"/>
          </a:xfrm>
          <a:prstGeom prst="line">
            <a:avLst/>
          </a:prstGeom>
          <a:noFill/>
          <a:ln w="13970">
            <a:solidFill>
              <a:srgbClr val="2D3338"/>
            </a:solidFill>
            <a:prstDash val="solid"/>
            <a:tailEnd type="triangle"/>
          </a:ln>
        </p:spPr>
      </p:sp>
      <p:sp>
        <p:nvSpPr>
          <p:cNvPr id="291" name="Shape 289"/>
          <p:cNvSpPr/>
          <p:nvPr/>
        </p:nvSpPr>
        <p:spPr>
          <a:xfrm>
            <a:off x="3015729" y="3982212"/>
            <a:ext cx="45720" cy="0"/>
          </a:xfrm>
          <a:prstGeom prst="line">
            <a:avLst/>
          </a:prstGeom>
          <a:noFill/>
          <a:ln w="13970">
            <a:solidFill>
              <a:srgbClr val="2D3338"/>
            </a:solidFill>
            <a:prstDash val="solid"/>
          </a:ln>
        </p:spPr>
      </p:sp>
      <p:sp>
        <p:nvSpPr>
          <p:cNvPr id="292" name="Shape 290"/>
          <p:cNvSpPr/>
          <p:nvPr/>
        </p:nvSpPr>
        <p:spPr>
          <a:xfrm>
            <a:off x="3061449" y="3982212"/>
            <a:ext cx="0" cy="403642"/>
          </a:xfrm>
          <a:prstGeom prst="line">
            <a:avLst/>
          </a:prstGeom>
          <a:noFill/>
          <a:ln w="13970">
            <a:solidFill>
              <a:srgbClr val="2D3338"/>
            </a:solidFill>
            <a:prstDash val="solid"/>
          </a:ln>
        </p:spPr>
      </p:sp>
      <p:sp>
        <p:nvSpPr>
          <p:cNvPr id="293" name="Shape 291"/>
          <p:cNvSpPr/>
          <p:nvPr/>
        </p:nvSpPr>
        <p:spPr>
          <a:xfrm flipH="1">
            <a:off x="3024873" y="4385854"/>
            <a:ext cx="36576" cy="0"/>
          </a:xfrm>
          <a:prstGeom prst="line">
            <a:avLst/>
          </a:prstGeom>
          <a:noFill/>
          <a:ln w="13970">
            <a:solidFill>
              <a:srgbClr val="2D3338"/>
            </a:solidFill>
            <a:prstDash val="solid"/>
            <a:tailEnd type="triangle"/>
          </a:ln>
        </p:spPr>
      </p:sp>
      <p:sp>
        <p:nvSpPr>
          <p:cNvPr id="294" name="Shape 292"/>
          <p:cNvSpPr/>
          <p:nvPr/>
        </p:nvSpPr>
        <p:spPr>
          <a:xfrm>
            <a:off x="3015729" y="3982212"/>
            <a:ext cx="45720" cy="0"/>
          </a:xfrm>
          <a:prstGeom prst="line">
            <a:avLst/>
          </a:prstGeom>
          <a:noFill/>
          <a:ln w="13970">
            <a:solidFill>
              <a:srgbClr val="2D3338"/>
            </a:solidFill>
            <a:prstDash val="solid"/>
          </a:ln>
        </p:spPr>
      </p:sp>
      <p:sp>
        <p:nvSpPr>
          <p:cNvPr id="295" name="Shape 293"/>
          <p:cNvSpPr/>
          <p:nvPr/>
        </p:nvSpPr>
        <p:spPr>
          <a:xfrm>
            <a:off x="3061449" y="3982212"/>
            <a:ext cx="0" cy="807285"/>
          </a:xfrm>
          <a:prstGeom prst="line">
            <a:avLst/>
          </a:prstGeom>
          <a:noFill/>
          <a:ln w="13970">
            <a:solidFill>
              <a:srgbClr val="2D3338"/>
            </a:solidFill>
            <a:prstDash val="solid"/>
          </a:ln>
        </p:spPr>
      </p:sp>
      <p:sp>
        <p:nvSpPr>
          <p:cNvPr id="296" name="Shape 294"/>
          <p:cNvSpPr/>
          <p:nvPr/>
        </p:nvSpPr>
        <p:spPr>
          <a:xfrm flipH="1">
            <a:off x="3024873" y="4789497"/>
            <a:ext cx="36576" cy="0"/>
          </a:xfrm>
          <a:prstGeom prst="line">
            <a:avLst/>
          </a:prstGeom>
          <a:noFill/>
          <a:ln w="13970">
            <a:solidFill>
              <a:srgbClr val="2D3338"/>
            </a:solidFill>
            <a:prstDash val="solid"/>
            <a:tailEnd type="triangle"/>
          </a:ln>
        </p:spPr>
      </p:sp>
      <p:sp>
        <p:nvSpPr>
          <p:cNvPr id="297" name="Shape 295"/>
          <p:cNvSpPr/>
          <p:nvPr/>
        </p:nvSpPr>
        <p:spPr>
          <a:xfrm>
            <a:off x="1329385" y="4789497"/>
            <a:ext cx="45720" cy="0"/>
          </a:xfrm>
          <a:prstGeom prst="line">
            <a:avLst/>
          </a:prstGeom>
          <a:noFill/>
          <a:ln w="13970">
            <a:solidFill>
              <a:srgbClr val="2D3338"/>
            </a:solidFill>
            <a:prstDash val="solid"/>
          </a:ln>
        </p:spPr>
      </p:sp>
      <p:sp>
        <p:nvSpPr>
          <p:cNvPr id="298" name="Shape 296"/>
          <p:cNvSpPr/>
          <p:nvPr/>
        </p:nvSpPr>
        <p:spPr>
          <a:xfrm>
            <a:off x="1375105" y="4789497"/>
            <a:ext cx="0" cy="403642"/>
          </a:xfrm>
          <a:prstGeom prst="line">
            <a:avLst/>
          </a:prstGeom>
          <a:noFill/>
          <a:ln w="13970">
            <a:solidFill>
              <a:srgbClr val="2D3338"/>
            </a:solidFill>
            <a:prstDash val="solid"/>
          </a:ln>
        </p:spPr>
      </p:sp>
      <p:sp>
        <p:nvSpPr>
          <p:cNvPr id="299" name="Shape 297"/>
          <p:cNvSpPr/>
          <p:nvPr/>
        </p:nvSpPr>
        <p:spPr>
          <a:xfrm flipH="1">
            <a:off x="1338529" y="5193139"/>
            <a:ext cx="36576" cy="0"/>
          </a:xfrm>
          <a:prstGeom prst="line">
            <a:avLst/>
          </a:prstGeom>
          <a:noFill/>
          <a:ln w="13970">
            <a:solidFill>
              <a:srgbClr val="2D3338"/>
            </a:solidFill>
            <a:prstDash val="solid"/>
            <a:tailEnd type="triangle"/>
          </a:ln>
        </p:spPr>
      </p:sp>
      <p:sp>
        <p:nvSpPr>
          <p:cNvPr id="300" name="Shape 298"/>
          <p:cNvSpPr/>
          <p:nvPr/>
        </p:nvSpPr>
        <p:spPr>
          <a:xfrm>
            <a:off x="4762300" y="1947672"/>
            <a:ext cx="0" cy="3447288"/>
          </a:xfrm>
          <a:prstGeom prst="line">
            <a:avLst/>
          </a:prstGeom>
          <a:noFill/>
          <a:ln w="22225">
            <a:solidFill>
              <a:srgbClr val="C8503F"/>
            </a:solidFill>
            <a:prstDash val="dash"/>
          </a:ln>
        </p:spPr>
      </p:sp>
      <p:sp>
        <p:nvSpPr>
          <p:cNvPr id="301" name="Shape 299"/>
          <p:cNvSpPr/>
          <p:nvPr/>
        </p:nvSpPr>
        <p:spPr>
          <a:xfrm>
            <a:off x="3665020" y="1956816"/>
            <a:ext cx="1143000" cy="155448"/>
          </a:xfrm>
          <a:prstGeom prst="roundRect">
            <a:avLst>
              <a:gd name="adj" fmla="val 47059"/>
            </a:avLst>
          </a:prstGeom>
          <a:solidFill>
            <a:srgbClr val="C8503F"/>
          </a:solidFill>
          <a:ln w="12700">
            <a:solidFill>
              <a:srgbClr val="C8503F"/>
            </a:solidFill>
            <a:prstDash val="solid"/>
          </a:ln>
        </p:spPr>
      </p:sp>
      <p:sp>
        <p:nvSpPr>
          <p:cNvPr id="302" name="Text 300"/>
          <p:cNvSpPr/>
          <p:nvPr/>
        </p:nvSpPr>
        <p:spPr>
          <a:xfrm>
            <a:off x="3665020" y="1956816"/>
            <a:ext cx="1143000" cy="155448"/>
          </a:xfrm>
          <a:prstGeom prst="rect">
            <a:avLst/>
          </a:prstGeom>
          <a:noFill/>
          <a:ln/>
        </p:spPr>
        <p:txBody>
          <a:bodyPr wrap="square" lIns="0" tIns="0" rIns="0" bIns="0" rtlCol="0" anchor="ctr">
            <a:normAutofit/>
          </a:bodyPr>
          <a:lstStyle/>
          <a:p>
            <a:pPr rtl="1" algn="ctr" indent="0" marL="0">
              <a:buNone/>
            </a:pPr>
            <a:r>
              <a:rPr lang="ar-SA" altLang="en-US" sz="650" b="1" dirty="0">
                <a:solidFill>
                  <a:srgbClr val="FFFFFF"/>
                </a:solidFill>
                <a:latin typeface="Arial" pitchFamily="34" charset="0"/>
                <a:ea typeface="Arial" pitchFamily="34" charset="-122"/>
                <a:cs typeface="Arial" pitchFamily="34" charset="-120"/>
              </a:rPr>
              <a:t>تاريخ الموقف · 21 أكتوبر</a:t>
            </a:r>
            <a:endParaRPr lang="ar-SA" sz="650" dirty="0"/>
          </a:p>
        </p:txBody>
      </p:sp>
      <p:sp>
        <p:nvSpPr>
          <p:cNvPr id="303" name="Shape 301"/>
          <p:cNvSpPr/>
          <p:nvPr/>
        </p:nvSpPr>
        <p:spPr>
          <a:xfrm>
            <a:off x="365760" y="1325880"/>
            <a:ext cx="11460175" cy="4069080"/>
          </a:xfrm>
          <a:prstGeom prst="rect">
            <a:avLst/>
          </a:prstGeom>
          <a:solidFill>
            <a:srgbClr val="FFFFFF">
              <a:alpha val="0"/>
            </a:srgbClr>
          </a:solidFill>
          <a:ln w="9525">
            <a:solidFill>
              <a:srgbClr val="B9C6CC"/>
            </a:solidFill>
            <a:prstDash val="solid"/>
          </a:ln>
        </p:spPr>
      </p:sp>
      <p:sp>
        <p:nvSpPr>
          <p:cNvPr id="304" name="Shape 302"/>
          <p:cNvSpPr/>
          <p:nvPr/>
        </p:nvSpPr>
        <p:spPr>
          <a:xfrm>
            <a:off x="9621683"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05" name="Shape 303"/>
          <p:cNvSpPr/>
          <p:nvPr/>
        </p:nvSpPr>
        <p:spPr>
          <a:xfrm>
            <a:off x="9676547" y="5522976"/>
            <a:ext cx="2094525" cy="54864"/>
          </a:xfrm>
          <a:prstGeom prst="rect">
            <a:avLst/>
          </a:prstGeom>
          <a:solidFill>
            <a:srgbClr val="3D3935"/>
          </a:solidFill>
          <a:ln w="12700">
            <a:solidFill>
              <a:srgbClr val="3D3935"/>
            </a:solidFill>
            <a:prstDash val="solid"/>
          </a:ln>
        </p:spPr>
      </p:sp>
      <p:sp>
        <p:nvSpPr>
          <p:cNvPr id="306" name="Text 304"/>
          <p:cNvSpPr/>
          <p:nvPr/>
        </p:nvSpPr>
        <p:spPr>
          <a:xfrm>
            <a:off x="9731411" y="5614416"/>
            <a:ext cx="1984797" cy="201168"/>
          </a:xfrm>
          <a:prstGeom prst="rect">
            <a:avLst/>
          </a:prstGeom>
          <a:noFill/>
          <a:ln/>
        </p:spPr>
        <p:txBody>
          <a:bodyPr wrap="square" lIns="0" tIns="0" rIns="0" bIns="0" rtlCol="0" anchor="ctr">
            <a:normAutofit/>
          </a:bodyPr>
          <a:lstStyle/>
          <a:p>
            <a:pPr rtl="1" algn="r" indent="0" marL="0">
              <a:buNone/>
            </a:pPr>
            <a:r>
              <a:rPr lang="ar-SA" altLang="en-US" sz="850" b="1" dirty="0">
                <a:solidFill>
                  <a:srgbClr val="66707A"/>
                </a:solidFill>
                <a:latin typeface="Arial" pitchFamily="34" charset="0"/>
                <a:ea typeface="Arial" pitchFamily="34" charset="-122"/>
                <a:cs typeface="Arial" pitchFamily="34" charset="-120"/>
              </a:rPr>
              <a:t>بدء الأعمال</a:t>
            </a:r>
            <a:endParaRPr lang="ar-SA" sz="850" dirty="0"/>
          </a:p>
        </p:txBody>
      </p:sp>
      <p:sp>
        <p:nvSpPr>
          <p:cNvPr id="307" name="Text 305"/>
          <p:cNvSpPr/>
          <p:nvPr/>
        </p:nvSpPr>
        <p:spPr>
          <a:xfrm>
            <a:off x="9731411" y="5815584"/>
            <a:ext cx="1984797" cy="292608"/>
          </a:xfrm>
          <a:prstGeom prst="rect">
            <a:avLst/>
          </a:prstGeom>
          <a:noFill/>
          <a:ln/>
        </p:spPr>
        <p:txBody>
          <a:bodyPr wrap="square" lIns="0" tIns="0" rIns="0" bIns="0" rtlCol="0" anchor="ctr">
            <a:normAutofit/>
          </a:bodyPr>
          <a:lstStyle/>
          <a:p>
            <a:pPr rtl="1" algn="r" indent="0" marL="0">
              <a:buNone/>
            </a:pPr>
            <a:r>
              <a:rPr lang="ar-SA" altLang="en-US" sz="1300" b="1" dirty="0">
                <a:solidFill>
                  <a:srgbClr val="3D3935"/>
                </a:solidFill>
                <a:latin typeface="Arial" pitchFamily="34" charset="0"/>
                <a:ea typeface="Arial" pitchFamily="34" charset="-122"/>
                <a:cs typeface="Arial" pitchFamily="34" charset="-120"/>
              </a:rPr>
              <a:t>ثلاثاء 13 أكتوبر 2026</a:t>
            </a:r>
            <a:endParaRPr lang="ar-SA" sz="1300" dirty="0"/>
          </a:p>
        </p:txBody>
      </p:sp>
      <p:sp>
        <p:nvSpPr>
          <p:cNvPr id="308" name="Text 306"/>
          <p:cNvSpPr/>
          <p:nvPr/>
        </p:nvSpPr>
        <p:spPr>
          <a:xfrm>
            <a:off x="9731411" y="6108192"/>
            <a:ext cx="1984797" cy="182880"/>
          </a:xfrm>
          <a:prstGeom prst="rect">
            <a:avLst/>
          </a:prstGeom>
          <a:noFill/>
          <a:ln/>
        </p:spPr>
        <p:txBody>
          <a:bodyPr wrap="square" lIns="0" tIns="0" rIns="0" bIns="0" rtlCol="0" anchor="ctr">
            <a:normAutofit/>
          </a:bodyPr>
          <a:lstStyle/>
          <a:p>
            <a:pPr rtl="1" algn="r" indent="0" marL="0">
              <a:buNone/>
            </a:pPr>
            <a:r>
              <a:rPr lang="ar-SA" altLang="en-US" sz="750" b="1" dirty="0">
                <a:solidFill>
                  <a:srgbClr val="66707A"/>
                </a:solidFill>
                <a:latin typeface="Arial" pitchFamily="34" charset="0"/>
                <a:ea typeface="Arial" pitchFamily="34" charset="-122"/>
                <a:cs typeface="Arial" pitchFamily="34" charset="-120"/>
              </a:rPr>
              <a:t>يوم العمل 1 / 37</a:t>
            </a:r>
            <a:endParaRPr lang="ar-SA" sz="750" dirty="0"/>
          </a:p>
        </p:txBody>
      </p:sp>
      <p:sp>
        <p:nvSpPr>
          <p:cNvPr id="309" name="Shape 307"/>
          <p:cNvSpPr/>
          <p:nvPr/>
        </p:nvSpPr>
        <p:spPr>
          <a:xfrm>
            <a:off x="7307702"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10" name="Shape 308"/>
          <p:cNvSpPr/>
          <p:nvPr/>
        </p:nvSpPr>
        <p:spPr>
          <a:xfrm>
            <a:off x="7362566" y="5522976"/>
            <a:ext cx="2094525" cy="54864"/>
          </a:xfrm>
          <a:prstGeom prst="rect">
            <a:avLst/>
          </a:prstGeom>
          <a:solidFill>
            <a:srgbClr val="C8503F"/>
          </a:solidFill>
          <a:ln w="12700">
            <a:solidFill>
              <a:srgbClr val="C8503F"/>
            </a:solidFill>
            <a:prstDash val="solid"/>
          </a:ln>
        </p:spPr>
      </p:sp>
      <p:sp>
        <p:nvSpPr>
          <p:cNvPr id="311" name="Text 309"/>
          <p:cNvSpPr/>
          <p:nvPr/>
        </p:nvSpPr>
        <p:spPr>
          <a:xfrm>
            <a:off x="7417430" y="5614416"/>
            <a:ext cx="1984797" cy="201168"/>
          </a:xfrm>
          <a:prstGeom prst="rect">
            <a:avLst/>
          </a:prstGeom>
          <a:noFill/>
          <a:ln/>
        </p:spPr>
        <p:txBody>
          <a:bodyPr wrap="square" lIns="0" tIns="0" rIns="0" bIns="0" rtlCol="0" anchor="ctr">
            <a:normAutofit/>
          </a:bodyPr>
          <a:lstStyle/>
          <a:p>
            <a:pPr rtl="1" algn="r" indent="0" marL="0">
              <a:buNone/>
            </a:pPr>
            <a:r>
              <a:rPr lang="ar-SA" altLang="en-US" sz="850" b="1" dirty="0">
                <a:solidFill>
                  <a:srgbClr val="66707A"/>
                </a:solidFill>
                <a:latin typeface="Arial" pitchFamily="34" charset="0"/>
                <a:ea typeface="Arial" pitchFamily="34" charset="-122"/>
                <a:cs typeface="Arial" pitchFamily="34" charset="-120"/>
              </a:rPr>
              <a:t>اكتمال تركيب نظام الدعم</a:t>
            </a:r>
            <a:endParaRPr lang="ar-SA" sz="850" dirty="0"/>
          </a:p>
        </p:txBody>
      </p:sp>
      <p:sp>
        <p:nvSpPr>
          <p:cNvPr id="312" name="Text 310"/>
          <p:cNvSpPr/>
          <p:nvPr/>
        </p:nvSpPr>
        <p:spPr>
          <a:xfrm>
            <a:off x="7417430" y="5815584"/>
            <a:ext cx="1984797" cy="292608"/>
          </a:xfrm>
          <a:prstGeom prst="rect">
            <a:avLst/>
          </a:prstGeom>
          <a:noFill/>
          <a:ln/>
        </p:spPr>
        <p:txBody>
          <a:bodyPr wrap="square" lIns="0" tIns="0" rIns="0" bIns="0" rtlCol="0" anchor="ctr">
            <a:normAutofit/>
          </a:bodyPr>
          <a:lstStyle/>
          <a:p>
            <a:pPr rtl="1" algn="r" indent="0" marL="0">
              <a:buNone/>
            </a:pPr>
            <a:r>
              <a:rPr lang="ar-SA" altLang="en-US" sz="1300" b="1" dirty="0">
                <a:solidFill>
                  <a:srgbClr val="3D3935"/>
                </a:solidFill>
                <a:latin typeface="Arial" pitchFamily="34" charset="0"/>
                <a:ea typeface="Arial" pitchFamily="34" charset="-122"/>
                <a:cs typeface="Arial" pitchFamily="34" charset="-120"/>
              </a:rPr>
              <a:t>اثنين 19 أكتوبر 2026</a:t>
            </a:r>
            <a:endParaRPr lang="ar-SA" sz="1300" dirty="0"/>
          </a:p>
        </p:txBody>
      </p:sp>
      <p:sp>
        <p:nvSpPr>
          <p:cNvPr id="313" name="Text 311"/>
          <p:cNvSpPr/>
          <p:nvPr/>
        </p:nvSpPr>
        <p:spPr>
          <a:xfrm>
            <a:off x="7417430" y="6108192"/>
            <a:ext cx="1984797" cy="182880"/>
          </a:xfrm>
          <a:prstGeom prst="rect">
            <a:avLst/>
          </a:prstGeom>
          <a:noFill/>
          <a:ln/>
        </p:spPr>
        <p:txBody>
          <a:bodyPr wrap="square" lIns="0" tIns="0" rIns="0" bIns="0" rtlCol="0" anchor="ctr">
            <a:normAutofit/>
          </a:bodyPr>
          <a:lstStyle/>
          <a:p>
            <a:pPr rtl="1" algn="r" indent="0" marL="0">
              <a:buNone/>
            </a:pPr>
            <a:r>
              <a:rPr lang="ar-SA" altLang="en-US" sz="750" b="1" dirty="0">
                <a:solidFill>
                  <a:srgbClr val="66707A"/>
                </a:solidFill>
                <a:latin typeface="Arial" pitchFamily="34" charset="0"/>
                <a:ea typeface="Arial" pitchFamily="34" charset="-122"/>
                <a:cs typeface="Arial" pitchFamily="34" charset="-120"/>
              </a:rPr>
              <a:t>يوم العمل 6 / 37</a:t>
            </a:r>
            <a:endParaRPr lang="ar-SA" sz="750" dirty="0"/>
          </a:p>
        </p:txBody>
      </p:sp>
      <p:sp>
        <p:nvSpPr>
          <p:cNvPr id="314" name="Shape 312"/>
          <p:cNvSpPr/>
          <p:nvPr/>
        </p:nvSpPr>
        <p:spPr>
          <a:xfrm>
            <a:off x="4993721"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15" name="Shape 313"/>
          <p:cNvSpPr/>
          <p:nvPr/>
        </p:nvSpPr>
        <p:spPr>
          <a:xfrm>
            <a:off x="5048585" y="5522976"/>
            <a:ext cx="2094525" cy="54864"/>
          </a:xfrm>
          <a:prstGeom prst="rect">
            <a:avLst/>
          </a:prstGeom>
          <a:solidFill>
            <a:srgbClr val="00778B"/>
          </a:solidFill>
          <a:ln w="12700">
            <a:solidFill>
              <a:srgbClr val="00778B"/>
            </a:solidFill>
            <a:prstDash val="solid"/>
          </a:ln>
        </p:spPr>
      </p:sp>
      <p:sp>
        <p:nvSpPr>
          <p:cNvPr id="316" name="Text 314"/>
          <p:cNvSpPr/>
          <p:nvPr/>
        </p:nvSpPr>
        <p:spPr>
          <a:xfrm>
            <a:off x="5103449" y="5614416"/>
            <a:ext cx="1984797" cy="201168"/>
          </a:xfrm>
          <a:prstGeom prst="rect">
            <a:avLst/>
          </a:prstGeom>
          <a:noFill/>
          <a:ln/>
        </p:spPr>
        <p:txBody>
          <a:bodyPr wrap="square" lIns="0" tIns="0" rIns="0" bIns="0" rtlCol="0" anchor="ctr">
            <a:normAutofit/>
          </a:bodyPr>
          <a:lstStyle/>
          <a:p>
            <a:pPr rtl="1" algn="r" indent="0" marL="0">
              <a:buNone/>
            </a:pPr>
            <a:r>
              <a:rPr lang="ar-SA" altLang="en-US" sz="850" b="1" dirty="0">
                <a:solidFill>
                  <a:srgbClr val="66707A"/>
                </a:solidFill>
                <a:latin typeface="Arial" pitchFamily="34" charset="0"/>
                <a:ea typeface="Arial" pitchFamily="34" charset="-122"/>
                <a:cs typeface="Arial" pitchFamily="34" charset="-120"/>
              </a:rPr>
              <a:t>اكتمال أعمال الحفرة (جدار الحفرة)</a:t>
            </a:r>
            <a:endParaRPr lang="ar-SA" sz="850" dirty="0"/>
          </a:p>
        </p:txBody>
      </p:sp>
      <p:sp>
        <p:nvSpPr>
          <p:cNvPr id="317" name="Text 315"/>
          <p:cNvSpPr/>
          <p:nvPr/>
        </p:nvSpPr>
        <p:spPr>
          <a:xfrm>
            <a:off x="5103449" y="5815584"/>
            <a:ext cx="1984797" cy="292608"/>
          </a:xfrm>
          <a:prstGeom prst="rect">
            <a:avLst/>
          </a:prstGeom>
          <a:noFill/>
          <a:ln/>
        </p:spPr>
        <p:txBody>
          <a:bodyPr wrap="square" lIns="0" tIns="0" rIns="0" bIns="0" rtlCol="0" anchor="ctr">
            <a:normAutofit/>
          </a:bodyPr>
          <a:lstStyle/>
          <a:p>
            <a:pPr rtl="1" algn="r" indent="0" marL="0">
              <a:buNone/>
            </a:pPr>
            <a:r>
              <a:rPr lang="ar-SA" altLang="en-US" sz="1300" b="1" dirty="0">
                <a:solidFill>
                  <a:srgbClr val="3D3935"/>
                </a:solidFill>
                <a:latin typeface="Arial" pitchFamily="34" charset="0"/>
                <a:ea typeface="Arial" pitchFamily="34" charset="-122"/>
                <a:cs typeface="Arial" pitchFamily="34" charset="-120"/>
              </a:rPr>
              <a:t>أربعاء 11 نوفمبر 2026</a:t>
            </a:r>
            <a:endParaRPr lang="ar-SA" sz="1300" dirty="0"/>
          </a:p>
        </p:txBody>
      </p:sp>
      <p:sp>
        <p:nvSpPr>
          <p:cNvPr id="318" name="Text 316"/>
          <p:cNvSpPr/>
          <p:nvPr/>
        </p:nvSpPr>
        <p:spPr>
          <a:xfrm>
            <a:off x="5103449" y="6108192"/>
            <a:ext cx="1984797" cy="182880"/>
          </a:xfrm>
          <a:prstGeom prst="rect">
            <a:avLst/>
          </a:prstGeom>
          <a:noFill/>
          <a:ln/>
        </p:spPr>
        <p:txBody>
          <a:bodyPr wrap="square" lIns="0" tIns="0" rIns="0" bIns="0" rtlCol="0" anchor="ctr">
            <a:normAutofit/>
          </a:bodyPr>
          <a:lstStyle/>
          <a:p>
            <a:pPr rtl="1" algn="r" indent="0" marL="0">
              <a:buNone/>
            </a:pPr>
            <a:r>
              <a:rPr lang="ar-SA" altLang="en-US" sz="750" b="1" dirty="0">
                <a:solidFill>
                  <a:srgbClr val="66707A"/>
                </a:solidFill>
                <a:latin typeface="Arial" pitchFamily="34" charset="0"/>
                <a:ea typeface="Arial" pitchFamily="34" charset="-122"/>
                <a:cs typeface="Arial" pitchFamily="34" charset="-120"/>
              </a:rPr>
              <a:t>يوم العمل 26 / 37</a:t>
            </a:r>
            <a:endParaRPr lang="ar-SA" sz="750" dirty="0"/>
          </a:p>
        </p:txBody>
      </p:sp>
      <p:sp>
        <p:nvSpPr>
          <p:cNvPr id="319" name="Shape 317"/>
          <p:cNvSpPr/>
          <p:nvPr/>
        </p:nvSpPr>
        <p:spPr>
          <a:xfrm>
            <a:off x="2679741"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20" name="Shape 318"/>
          <p:cNvSpPr/>
          <p:nvPr/>
        </p:nvSpPr>
        <p:spPr>
          <a:xfrm>
            <a:off x="2734605" y="5522976"/>
            <a:ext cx="2094525" cy="54864"/>
          </a:xfrm>
          <a:prstGeom prst="rect">
            <a:avLst/>
          </a:prstGeom>
          <a:solidFill>
            <a:srgbClr val="2E9E6B"/>
          </a:solidFill>
          <a:ln w="12700">
            <a:solidFill>
              <a:srgbClr val="2E9E6B"/>
            </a:solidFill>
            <a:prstDash val="solid"/>
          </a:ln>
        </p:spPr>
      </p:sp>
      <p:sp>
        <p:nvSpPr>
          <p:cNvPr id="321" name="Text 319"/>
          <p:cNvSpPr/>
          <p:nvPr/>
        </p:nvSpPr>
        <p:spPr>
          <a:xfrm>
            <a:off x="2789469" y="5614416"/>
            <a:ext cx="1984797" cy="201168"/>
          </a:xfrm>
          <a:prstGeom prst="rect">
            <a:avLst/>
          </a:prstGeom>
          <a:noFill/>
          <a:ln/>
        </p:spPr>
        <p:txBody>
          <a:bodyPr wrap="square" lIns="0" tIns="0" rIns="0" bIns="0" rtlCol="0" anchor="ctr">
            <a:normAutofit/>
          </a:bodyPr>
          <a:lstStyle/>
          <a:p>
            <a:pPr rtl="1" algn="r" indent="0" marL="0">
              <a:buNone/>
            </a:pPr>
            <a:r>
              <a:rPr lang="ar-SA" altLang="en-US" sz="850" b="1" dirty="0">
                <a:solidFill>
                  <a:srgbClr val="66707A"/>
                </a:solidFill>
                <a:latin typeface="Arial" pitchFamily="34" charset="0"/>
                <a:ea typeface="Arial" pitchFamily="34" charset="-122"/>
                <a:cs typeface="Arial" pitchFamily="34" charset="-120"/>
              </a:rPr>
              <a:t>اكتمال أساسات المبنى</a:t>
            </a:r>
            <a:endParaRPr lang="ar-SA" sz="850" dirty="0"/>
          </a:p>
        </p:txBody>
      </p:sp>
      <p:sp>
        <p:nvSpPr>
          <p:cNvPr id="322" name="Text 320"/>
          <p:cNvSpPr/>
          <p:nvPr/>
        </p:nvSpPr>
        <p:spPr>
          <a:xfrm>
            <a:off x="2789469" y="5815584"/>
            <a:ext cx="1984797" cy="292608"/>
          </a:xfrm>
          <a:prstGeom prst="rect">
            <a:avLst/>
          </a:prstGeom>
          <a:noFill/>
          <a:ln/>
        </p:spPr>
        <p:txBody>
          <a:bodyPr wrap="square" lIns="0" tIns="0" rIns="0" bIns="0" rtlCol="0" anchor="ctr">
            <a:normAutofit/>
          </a:bodyPr>
          <a:lstStyle/>
          <a:p>
            <a:pPr rtl="1" algn="r" indent="0" marL="0">
              <a:buNone/>
            </a:pPr>
            <a:r>
              <a:rPr lang="ar-SA" altLang="en-US" sz="1300" b="1" dirty="0">
                <a:solidFill>
                  <a:srgbClr val="3D3935"/>
                </a:solidFill>
                <a:latin typeface="Arial" pitchFamily="34" charset="0"/>
                <a:ea typeface="Arial" pitchFamily="34" charset="-122"/>
                <a:cs typeface="Arial" pitchFamily="34" charset="-120"/>
              </a:rPr>
              <a:t>أربعاء 18 نوفمبر 2026</a:t>
            </a:r>
            <a:endParaRPr lang="ar-SA" sz="1300" dirty="0"/>
          </a:p>
        </p:txBody>
      </p:sp>
      <p:sp>
        <p:nvSpPr>
          <p:cNvPr id="323" name="Text 321"/>
          <p:cNvSpPr/>
          <p:nvPr/>
        </p:nvSpPr>
        <p:spPr>
          <a:xfrm>
            <a:off x="2789469" y="6108192"/>
            <a:ext cx="1984797" cy="182880"/>
          </a:xfrm>
          <a:prstGeom prst="rect">
            <a:avLst/>
          </a:prstGeom>
          <a:noFill/>
          <a:ln/>
        </p:spPr>
        <p:txBody>
          <a:bodyPr wrap="square" lIns="0" tIns="0" rIns="0" bIns="0" rtlCol="0" anchor="ctr">
            <a:normAutofit/>
          </a:bodyPr>
          <a:lstStyle/>
          <a:p>
            <a:pPr rtl="1" algn="r" indent="0" marL="0">
              <a:buNone/>
            </a:pPr>
            <a:r>
              <a:rPr lang="ar-SA" altLang="en-US" sz="750" b="1" dirty="0">
                <a:solidFill>
                  <a:srgbClr val="66707A"/>
                </a:solidFill>
                <a:latin typeface="Arial" pitchFamily="34" charset="0"/>
                <a:ea typeface="Arial" pitchFamily="34" charset="-122"/>
                <a:cs typeface="Arial" pitchFamily="34" charset="-120"/>
              </a:rPr>
              <a:t>يوم العمل 32 / 37</a:t>
            </a:r>
            <a:endParaRPr lang="ar-SA" sz="750" dirty="0"/>
          </a:p>
        </p:txBody>
      </p:sp>
      <p:sp>
        <p:nvSpPr>
          <p:cNvPr id="324" name="Shape 322"/>
          <p:cNvSpPr/>
          <p:nvPr/>
        </p:nvSpPr>
        <p:spPr>
          <a:xfrm>
            <a:off x="365760" y="5522976"/>
            <a:ext cx="2204253" cy="822960"/>
          </a:xfrm>
          <a:prstGeom prst="roundRect">
            <a:avLst>
              <a:gd name="adj" fmla="val 7778"/>
            </a:avLst>
          </a:prstGeom>
          <a:solidFill>
            <a:srgbClr val="3D3935"/>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25" name="Shape 323"/>
          <p:cNvSpPr/>
          <p:nvPr/>
        </p:nvSpPr>
        <p:spPr>
          <a:xfrm>
            <a:off x="420624" y="5522976"/>
            <a:ext cx="2094525" cy="54864"/>
          </a:xfrm>
          <a:prstGeom prst="rect">
            <a:avLst/>
          </a:prstGeom>
          <a:solidFill>
            <a:srgbClr val="D68A00"/>
          </a:solidFill>
          <a:ln w="12700">
            <a:solidFill>
              <a:srgbClr val="D68A00"/>
            </a:solidFill>
            <a:prstDash val="solid"/>
          </a:ln>
        </p:spPr>
      </p:sp>
      <p:sp>
        <p:nvSpPr>
          <p:cNvPr id="326" name="Text 324"/>
          <p:cNvSpPr/>
          <p:nvPr/>
        </p:nvSpPr>
        <p:spPr>
          <a:xfrm>
            <a:off x="475488" y="5614416"/>
            <a:ext cx="1984797" cy="201168"/>
          </a:xfrm>
          <a:prstGeom prst="rect">
            <a:avLst/>
          </a:prstGeom>
          <a:noFill/>
          <a:ln/>
        </p:spPr>
        <p:txBody>
          <a:bodyPr wrap="square" lIns="0" tIns="0" rIns="0" bIns="0" rtlCol="0" anchor="ctr">
            <a:normAutofit/>
          </a:bodyPr>
          <a:lstStyle/>
          <a:p>
            <a:pPr rtl="1" algn="r" indent="0" marL="0">
              <a:buNone/>
            </a:pPr>
            <a:r>
              <a:rPr lang="ar-SA" altLang="en-US" sz="850" b="1" dirty="0">
                <a:solidFill>
                  <a:srgbClr val="CFD8DC"/>
                </a:solidFill>
                <a:latin typeface="Arial" pitchFamily="34" charset="0"/>
                <a:ea typeface="Arial" pitchFamily="34" charset="-122"/>
                <a:cs typeface="Arial" pitchFamily="34" charset="-120"/>
              </a:rPr>
              <a:t>الإنجاز الكلي</a:t>
            </a:r>
            <a:endParaRPr lang="ar-SA" sz="850" dirty="0"/>
          </a:p>
        </p:txBody>
      </p:sp>
      <p:sp>
        <p:nvSpPr>
          <p:cNvPr id="327" name="Text 325"/>
          <p:cNvSpPr/>
          <p:nvPr/>
        </p:nvSpPr>
        <p:spPr>
          <a:xfrm>
            <a:off x="475488" y="5815584"/>
            <a:ext cx="1984797" cy="292608"/>
          </a:xfrm>
          <a:prstGeom prst="rect">
            <a:avLst/>
          </a:prstGeom>
          <a:noFill/>
          <a:ln/>
        </p:spPr>
        <p:txBody>
          <a:bodyPr wrap="square" lIns="0" tIns="0" rIns="0" bIns="0" rtlCol="0" anchor="ctr">
            <a:normAutofit/>
          </a:bodyPr>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ثلاثاء 24 نوفمبر 2026</a:t>
            </a:r>
            <a:endParaRPr lang="ar-SA" sz="1300" dirty="0"/>
          </a:p>
        </p:txBody>
      </p:sp>
      <p:sp>
        <p:nvSpPr>
          <p:cNvPr id="328" name="Text 326"/>
          <p:cNvSpPr/>
          <p:nvPr/>
        </p:nvSpPr>
        <p:spPr>
          <a:xfrm>
            <a:off x="475488" y="6108192"/>
            <a:ext cx="1984797" cy="182880"/>
          </a:xfrm>
          <a:prstGeom prst="rect">
            <a:avLst/>
          </a:prstGeom>
          <a:noFill/>
          <a:ln/>
        </p:spPr>
        <p:txBody>
          <a:bodyPr wrap="square" lIns="0" tIns="0" rIns="0" bIns="0" rtlCol="0" anchor="ctr">
            <a:normAutofit/>
          </a:bodyPr>
          <a:lstStyle/>
          <a:p>
            <a:pPr rtl="1" algn="r" indent="0" marL="0">
              <a:buNone/>
            </a:pPr>
            <a:r>
              <a:rPr lang="ar-SA" altLang="en-US" sz="750" b="1" dirty="0">
                <a:solidFill>
                  <a:srgbClr val="CFD8DC"/>
                </a:solidFill>
                <a:latin typeface="Arial" pitchFamily="34" charset="0"/>
                <a:ea typeface="Arial" pitchFamily="34" charset="-122"/>
                <a:cs typeface="Arial" pitchFamily="34" charset="-120"/>
              </a:rPr>
              <a:t>يوم العمل 37 / 37</a:t>
            </a:r>
            <a:endParaRPr lang="ar-SA" sz="750" dirty="0"/>
          </a:p>
        </p:txBody>
      </p:sp>
      <p:sp>
        <p:nvSpPr>
          <p:cNvPr id="25" name="Slide Number Placeholder 0"/>
          <p:cNvSpPr>
            <a:spLocks noGrp="1"/>
          </p:cNvSpPr>
          <p:nvPr>
            <p:ph type="sldNum" sz="quarter" idx="4294967295"/>
          </p:nvPr>
        </p:nvSpPr>
        <p:spPr>
          <a:xfrm>
            <a:off x="320040"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91640" y="109728"/>
            <a:ext cx="10134295" cy="457200"/>
          </a:xfrm>
          <a:prstGeom prst="rect">
            <a:avLst/>
          </a:prstGeom>
          <a:noFill/>
          <a:ln/>
        </p:spPr>
        <p:txBody>
          <a:bodyPr wrap="square" lIns="0" tIns="0" rIns="0" bIns="0" rtlCol="0" anchor="ctr">
            <a:normAutofit/>
          </a:bodyPr>
          <a:lstStyle/>
          <a:p>
            <a:pPr rtl="1" algn="r" indent="0" marL="0">
              <a:buNone/>
            </a:pPr>
            <a:r>
              <a:rPr lang="ar-SA" altLang="en-US" sz="2400" b="1" dirty="0">
                <a:solidFill>
                  <a:srgbClr val="3D3935"/>
                </a:solidFill>
                <a:latin typeface="Arial" pitchFamily="34" charset="0"/>
                <a:ea typeface="Arial" pitchFamily="34" charset="-122"/>
                <a:cs typeface="Arial" pitchFamily="34" charset="-120"/>
              </a:rPr>
              <a:t>أنشطة الدعم (Shoring) وأسس الجدول</a:t>
            </a:r>
            <a:endParaRPr lang="ar-SA" sz="2400" dirty="0"/>
          </a:p>
        </p:txBody>
      </p:sp>
      <p:sp>
        <p:nvSpPr>
          <p:cNvPr id="3" name="Text 1"/>
          <p:cNvSpPr/>
          <p:nvPr/>
        </p:nvSpPr>
        <p:spPr>
          <a:xfrm>
            <a:off x="1691640" y="548640"/>
            <a:ext cx="10134295" cy="256032"/>
          </a:xfrm>
          <a:prstGeom prst="rect">
            <a:avLst/>
          </a:prstGeom>
          <a:noFill/>
          <a:ln/>
        </p:spPr>
        <p:txBody>
          <a:bodyPr wrap="square" lIns="0" tIns="0" rIns="0" bIns="0" rtlCol="0" anchor="ctr">
            <a:normAutofit/>
          </a:bodyPr>
          <a:lstStyle/>
          <a:p>
            <a:pPr rtl="1" algn="r" indent="0" marL="0">
              <a:buNone/>
            </a:pPr>
            <a:r>
              <a:rPr lang="ar-SA" altLang="en-US" sz="1200" dirty="0">
                <a:solidFill>
                  <a:srgbClr val="66707A"/>
                </a:solidFill>
                <a:latin typeface="Arial" pitchFamily="34" charset="0"/>
                <a:ea typeface="Arial" pitchFamily="34" charset="-122"/>
                <a:cs typeface="Arial" pitchFamily="34" charset="-120"/>
              </a:rPr>
              <a:t>تسلسل أعمال الدعم والتواريخ الرئيسية وشروط البرنامج المقترح</a:t>
            </a:r>
            <a:endParaRPr lang="ar-SA" sz="1200" dirty="0"/>
          </a:p>
        </p:txBody>
      </p:sp>
      <p:sp>
        <p:nvSpPr>
          <p:cNvPr id="4" name="Shape 2"/>
          <p:cNvSpPr/>
          <p:nvPr/>
        </p:nvSpPr>
        <p:spPr>
          <a:xfrm>
            <a:off x="11771071" y="1133856"/>
            <a:ext cx="54864" cy="256032"/>
          </a:xfrm>
          <a:prstGeom prst="rect">
            <a:avLst/>
          </a:prstGeom>
          <a:solidFill>
            <a:srgbClr val="00778B"/>
          </a:solidFill>
          <a:ln w="12700">
            <a:solidFill>
              <a:srgbClr val="00778B"/>
            </a:solidFill>
            <a:prstDash val="solid"/>
          </a:ln>
        </p:spPr>
      </p:sp>
      <p:sp>
        <p:nvSpPr>
          <p:cNvPr id="5" name="Text 3"/>
          <p:cNvSpPr/>
          <p:nvPr/>
        </p:nvSpPr>
        <p:spPr>
          <a:xfrm>
            <a:off x="4364431" y="1097280"/>
            <a:ext cx="7315200" cy="329184"/>
          </a:xfrm>
          <a:prstGeom prst="rect">
            <a:avLst/>
          </a:prstGeom>
          <a:noFill/>
          <a:ln/>
        </p:spPr>
        <p:txBody>
          <a:bodyPr wrap="square" lIns="0" tIns="0" rIns="0" bIns="0" rtlCol="0" anchor="ctr">
            <a:normAutofit/>
          </a:bodyPr>
          <a:lstStyle/>
          <a:p>
            <a:pPr rtl="1" algn="r" indent="0" marL="0">
              <a:buNone/>
            </a:pPr>
            <a:r>
              <a:rPr lang="ar-SA" altLang="en-US" sz="1500" b="1" dirty="0">
                <a:solidFill>
                  <a:srgbClr val="3D3935"/>
                </a:solidFill>
                <a:latin typeface="Arial" pitchFamily="34" charset="0"/>
                <a:ea typeface="Arial" pitchFamily="34" charset="-122"/>
                <a:cs typeface="Arial" pitchFamily="34" charset="-120"/>
              </a:rPr>
              <a:t>تسلسل أعمال الدعم (النشاط A)</a:t>
            </a:r>
            <a:endParaRPr lang="ar-SA" sz="1500" dirty="0"/>
          </a:p>
        </p:txBody>
      </p:sp>
      <p:sp>
        <p:nvSpPr>
          <p:cNvPr id="6" name="Text 4"/>
          <p:cNvSpPr/>
          <p:nvPr/>
        </p:nvSpPr>
        <p:spPr>
          <a:xfrm>
            <a:off x="3450031" y="1417320"/>
            <a:ext cx="8229600" cy="256032"/>
          </a:xfrm>
          <a:prstGeom prst="rect">
            <a:avLst/>
          </a:prstGeom>
          <a:noFill/>
          <a:ln/>
        </p:spPr>
        <p:txBody>
          <a:bodyPr wrap="square" lIns="0" tIns="0" rIns="0" bIns="0" rtlCol="0" anchor="ctr">
            <a:normAutofit/>
          </a:bodyPr>
          <a:lstStyle/>
          <a:p>
            <a:pPr rtl="1" algn="r" indent="0" marL="0">
              <a:buNone/>
            </a:pPr>
            <a:r>
              <a:rPr lang="ar-SA" altLang="en-US" sz="1100" b="1" dirty="0">
                <a:solidFill>
                  <a:srgbClr val="C8503F"/>
                </a:solidFill>
                <a:latin typeface="Arial" pitchFamily="34" charset="0"/>
                <a:ea typeface="Arial" pitchFamily="34" charset="-122"/>
                <a:cs typeface="Arial" pitchFamily="34" charset="-120"/>
              </a:rPr>
              <a:t>13 أكتوبر 2026 → 19 أكتوبر 2026 · 6 يوم عمل</a:t>
            </a:r>
            <a:endParaRPr lang="ar-SA" sz="1100" dirty="0"/>
          </a:p>
        </p:txBody>
      </p:sp>
      <p:sp>
        <p:nvSpPr>
          <p:cNvPr id="7" name="Shape 5"/>
          <p:cNvSpPr/>
          <p:nvPr/>
        </p:nvSpPr>
        <p:spPr>
          <a:xfrm flipH="1">
            <a:off x="9460748" y="1783080"/>
            <a:ext cx="2365187" cy="1051560"/>
          </a:xfrm>
          <a:prstGeom prst="chevron">
            <a:avLst/>
          </a:prstGeom>
          <a:solidFill>
            <a:srgbClr val="F4DAD6"/>
          </a:solidFill>
          <a:ln w="12700">
            <a:solidFill>
              <a:srgbClr val="F4DAD6"/>
            </a:solidFill>
            <a:prstDash val="solid"/>
          </a:ln>
        </p:spPr>
      </p:sp>
      <p:sp>
        <p:nvSpPr>
          <p:cNvPr id="8" name="Shape 6"/>
          <p:cNvSpPr/>
          <p:nvPr/>
        </p:nvSpPr>
        <p:spPr>
          <a:xfrm>
            <a:off x="11185855" y="1874520"/>
            <a:ext cx="274320" cy="274320"/>
          </a:xfrm>
          <a:prstGeom prst="ellipse">
            <a:avLst/>
          </a:prstGeom>
          <a:solidFill>
            <a:srgbClr val="C8503F"/>
          </a:solidFill>
          <a:ln w="12700">
            <a:solidFill>
              <a:srgbClr val="C8503F"/>
            </a:solidFill>
            <a:prstDash val="solid"/>
          </a:ln>
        </p:spPr>
      </p:sp>
      <p:sp>
        <p:nvSpPr>
          <p:cNvPr id="9" name="Text 7"/>
          <p:cNvSpPr/>
          <p:nvPr/>
        </p:nvSpPr>
        <p:spPr>
          <a:xfrm>
            <a:off x="11185855" y="1874520"/>
            <a:ext cx="274320" cy="274320"/>
          </a:xfrm>
          <a:prstGeom prst="rect">
            <a:avLst/>
          </a:prstGeom>
          <a:noFill/>
          <a:ln/>
        </p:spPr>
        <p:txBody>
          <a:bodyPr wrap="square" lIns="0" tIns="0" rIns="0" bIns="0" rtlCol="0" anchor="ctr">
            <a:normAutofit/>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1</a:t>
            </a:r>
            <a:endParaRPr lang="ar-SA" sz="1000" dirty="0"/>
          </a:p>
        </p:txBody>
      </p:sp>
      <p:sp>
        <p:nvSpPr>
          <p:cNvPr id="10" name="Text 8"/>
          <p:cNvSpPr/>
          <p:nvPr/>
        </p:nvSpPr>
        <p:spPr>
          <a:xfrm>
            <a:off x="9835652" y="2176272"/>
            <a:ext cx="1606235" cy="621792"/>
          </a:xfrm>
          <a:prstGeom prst="rect">
            <a:avLst/>
          </a:prstGeom>
          <a:noFill/>
          <a:ln/>
        </p:spPr>
        <p:txBody>
          <a:bodyPr wrap="square" lIns="0" tIns="0" rIns="0" bIns="0" rtlCol="0" anchor="t">
            <a:normAutofit/>
          </a:bodyPr>
          <a:lstStyle/>
          <a:p>
            <a:pPr rtl="1" algn="r" indent="0" marL="0">
              <a:buNone/>
            </a:pPr>
            <a:r>
              <a:rPr lang="ar-SA" altLang="en-US" sz="1100" b="1" dirty="0">
                <a:solidFill>
                  <a:srgbClr val="3D3935"/>
                </a:solidFill>
                <a:latin typeface="Arial" pitchFamily="34" charset="0"/>
                <a:ea typeface="Arial" pitchFamily="34" charset="-122"/>
                <a:cs typeface="Arial" pitchFamily="34" charset="-120"/>
              </a:rPr>
              <a:t>الحفر لأعمدة H-Beam</a:t>
            </a:r>
            <a:endParaRPr lang="ar-SA" sz="1100" dirty="0"/>
          </a:p>
        </p:txBody>
      </p:sp>
      <p:sp>
        <p:nvSpPr>
          <p:cNvPr id="11" name="Shape 9"/>
          <p:cNvSpPr/>
          <p:nvPr/>
        </p:nvSpPr>
        <p:spPr>
          <a:xfrm flipH="1">
            <a:off x="7168713" y="1783080"/>
            <a:ext cx="2365187" cy="1051560"/>
          </a:xfrm>
          <a:prstGeom prst="chevron">
            <a:avLst/>
          </a:prstGeom>
          <a:solidFill>
            <a:srgbClr val="F4DAD6"/>
          </a:solidFill>
          <a:ln w="12700">
            <a:solidFill>
              <a:srgbClr val="F4DAD6"/>
            </a:solidFill>
            <a:prstDash val="solid"/>
          </a:ln>
        </p:spPr>
      </p:sp>
      <p:sp>
        <p:nvSpPr>
          <p:cNvPr id="12" name="Shape 10"/>
          <p:cNvSpPr/>
          <p:nvPr/>
        </p:nvSpPr>
        <p:spPr>
          <a:xfrm>
            <a:off x="8893820" y="1874520"/>
            <a:ext cx="274320" cy="274320"/>
          </a:xfrm>
          <a:prstGeom prst="ellipse">
            <a:avLst/>
          </a:prstGeom>
          <a:solidFill>
            <a:srgbClr val="C8503F"/>
          </a:solidFill>
          <a:ln w="12700">
            <a:solidFill>
              <a:srgbClr val="C8503F"/>
            </a:solidFill>
            <a:prstDash val="solid"/>
          </a:ln>
        </p:spPr>
      </p:sp>
      <p:sp>
        <p:nvSpPr>
          <p:cNvPr id="13" name="Text 11"/>
          <p:cNvSpPr/>
          <p:nvPr/>
        </p:nvSpPr>
        <p:spPr>
          <a:xfrm>
            <a:off x="8893820" y="1874520"/>
            <a:ext cx="274320" cy="274320"/>
          </a:xfrm>
          <a:prstGeom prst="rect">
            <a:avLst/>
          </a:prstGeom>
          <a:noFill/>
          <a:ln/>
        </p:spPr>
        <p:txBody>
          <a:bodyPr wrap="square" lIns="0" tIns="0" rIns="0" bIns="0" rtlCol="0" anchor="ctr">
            <a:normAutofit/>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2</a:t>
            </a:r>
            <a:endParaRPr lang="ar-SA" sz="1000" dirty="0"/>
          </a:p>
        </p:txBody>
      </p:sp>
      <p:sp>
        <p:nvSpPr>
          <p:cNvPr id="14" name="Text 12"/>
          <p:cNvSpPr/>
          <p:nvPr/>
        </p:nvSpPr>
        <p:spPr>
          <a:xfrm>
            <a:off x="7543617" y="2176272"/>
            <a:ext cx="1606235" cy="621792"/>
          </a:xfrm>
          <a:prstGeom prst="rect">
            <a:avLst/>
          </a:prstGeom>
          <a:noFill/>
          <a:ln/>
        </p:spPr>
        <p:txBody>
          <a:bodyPr wrap="square" lIns="0" tIns="0" rIns="0" bIns="0" rtlCol="0" anchor="t">
            <a:normAutofit/>
          </a:bodyPr>
          <a:lstStyle/>
          <a:p>
            <a:pPr rtl="1" algn="r" indent="0" marL="0">
              <a:buNone/>
            </a:pPr>
            <a:r>
              <a:rPr lang="ar-SA" altLang="en-US" sz="1100" b="1" dirty="0">
                <a:solidFill>
                  <a:srgbClr val="3D3935"/>
                </a:solidFill>
                <a:latin typeface="Arial" pitchFamily="34" charset="0"/>
                <a:ea typeface="Arial" pitchFamily="34" charset="-122"/>
                <a:cs typeface="Arial" pitchFamily="34" charset="-120"/>
              </a:rPr>
              <a:t>تركيب أعمدة H-Beam</a:t>
            </a:r>
            <a:endParaRPr lang="ar-SA" sz="1100" dirty="0"/>
          </a:p>
        </p:txBody>
      </p:sp>
      <p:sp>
        <p:nvSpPr>
          <p:cNvPr id="15" name="Shape 13"/>
          <p:cNvSpPr/>
          <p:nvPr/>
        </p:nvSpPr>
        <p:spPr>
          <a:xfrm flipH="1">
            <a:off x="4876678" y="1783080"/>
            <a:ext cx="2365187" cy="1051560"/>
          </a:xfrm>
          <a:prstGeom prst="chevron">
            <a:avLst/>
          </a:prstGeom>
          <a:solidFill>
            <a:srgbClr val="F4DAD6"/>
          </a:solidFill>
          <a:ln w="12700">
            <a:solidFill>
              <a:srgbClr val="F4DAD6"/>
            </a:solidFill>
            <a:prstDash val="solid"/>
          </a:ln>
        </p:spPr>
      </p:sp>
      <p:sp>
        <p:nvSpPr>
          <p:cNvPr id="16" name="Shape 14"/>
          <p:cNvSpPr/>
          <p:nvPr/>
        </p:nvSpPr>
        <p:spPr>
          <a:xfrm>
            <a:off x="6601785" y="1874520"/>
            <a:ext cx="274320" cy="274320"/>
          </a:xfrm>
          <a:prstGeom prst="ellipse">
            <a:avLst/>
          </a:prstGeom>
          <a:solidFill>
            <a:srgbClr val="C8503F"/>
          </a:solidFill>
          <a:ln w="12700">
            <a:solidFill>
              <a:srgbClr val="C8503F"/>
            </a:solidFill>
            <a:prstDash val="solid"/>
          </a:ln>
        </p:spPr>
      </p:sp>
      <p:sp>
        <p:nvSpPr>
          <p:cNvPr id="17" name="Text 15"/>
          <p:cNvSpPr/>
          <p:nvPr/>
        </p:nvSpPr>
        <p:spPr>
          <a:xfrm>
            <a:off x="6601785" y="1874520"/>
            <a:ext cx="274320" cy="274320"/>
          </a:xfrm>
          <a:prstGeom prst="rect">
            <a:avLst/>
          </a:prstGeom>
          <a:noFill/>
          <a:ln/>
        </p:spPr>
        <p:txBody>
          <a:bodyPr wrap="square" lIns="0" tIns="0" rIns="0" bIns="0" rtlCol="0" anchor="ctr">
            <a:normAutofit/>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3</a:t>
            </a:r>
            <a:endParaRPr lang="ar-SA" sz="1000" dirty="0"/>
          </a:p>
        </p:txBody>
      </p:sp>
      <p:sp>
        <p:nvSpPr>
          <p:cNvPr id="18" name="Text 16"/>
          <p:cNvSpPr/>
          <p:nvPr/>
        </p:nvSpPr>
        <p:spPr>
          <a:xfrm>
            <a:off x="5251582" y="2176272"/>
            <a:ext cx="1606235" cy="621792"/>
          </a:xfrm>
          <a:prstGeom prst="rect">
            <a:avLst/>
          </a:prstGeom>
          <a:noFill/>
          <a:ln/>
        </p:spPr>
        <p:txBody>
          <a:bodyPr wrap="square" lIns="0" tIns="0" rIns="0" bIns="0" rtlCol="0" anchor="t">
            <a:normAutofit/>
          </a:bodyPr>
          <a:lstStyle/>
          <a:p>
            <a:pPr rtl="1" algn="r" indent="0" marL="0">
              <a:buNone/>
            </a:pPr>
            <a:r>
              <a:rPr lang="ar-SA" altLang="en-US" sz="1100" b="1" dirty="0">
                <a:solidFill>
                  <a:srgbClr val="3D3935"/>
                </a:solidFill>
                <a:latin typeface="Arial" pitchFamily="34" charset="0"/>
                <a:ea typeface="Arial" pitchFamily="34" charset="-122"/>
                <a:cs typeface="Arial" pitchFamily="34" charset="-120"/>
              </a:rPr>
              <a:t>أعمال الخرسانة لأعمدة H-Beam</a:t>
            </a:r>
            <a:endParaRPr lang="ar-SA" sz="1100" dirty="0"/>
          </a:p>
        </p:txBody>
      </p:sp>
      <p:sp>
        <p:nvSpPr>
          <p:cNvPr id="19" name="Shape 17"/>
          <p:cNvSpPr/>
          <p:nvPr/>
        </p:nvSpPr>
        <p:spPr>
          <a:xfrm flipH="1">
            <a:off x="2584643" y="1783080"/>
            <a:ext cx="2365187" cy="1051560"/>
          </a:xfrm>
          <a:prstGeom prst="chevron">
            <a:avLst/>
          </a:prstGeom>
          <a:solidFill>
            <a:srgbClr val="F4DAD6"/>
          </a:solidFill>
          <a:ln w="12700">
            <a:solidFill>
              <a:srgbClr val="F4DAD6"/>
            </a:solidFill>
            <a:prstDash val="solid"/>
          </a:ln>
        </p:spPr>
      </p:sp>
      <p:sp>
        <p:nvSpPr>
          <p:cNvPr id="20" name="Shape 18"/>
          <p:cNvSpPr/>
          <p:nvPr/>
        </p:nvSpPr>
        <p:spPr>
          <a:xfrm>
            <a:off x="4309750" y="1874520"/>
            <a:ext cx="274320" cy="274320"/>
          </a:xfrm>
          <a:prstGeom prst="ellipse">
            <a:avLst/>
          </a:prstGeom>
          <a:solidFill>
            <a:srgbClr val="C8503F"/>
          </a:solidFill>
          <a:ln w="12700">
            <a:solidFill>
              <a:srgbClr val="C8503F"/>
            </a:solidFill>
            <a:prstDash val="solid"/>
          </a:ln>
        </p:spPr>
      </p:sp>
      <p:sp>
        <p:nvSpPr>
          <p:cNvPr id="21" name="Text 19"/>
          <p:cNvSpPr/>
          <p:nvPr/>
        </p:nvSpPr>
        <p:spPr>
          <a:xfrm>
            <a:off x="4309750" y="1874520"/>
            <a:ext cx="274320" cy="274320"/>
          </a:xfrm>
          <a:prstGeom prst="rect">
            <a:avLst/>
          </a:prstGeom>
          <a:noFill/>
          <a:ln/>
        </p:spPr>
        <p:txBody>
          <a:bodyPr wrap="square" lIns="0" tIns="0" rIns="0" bIns="0" rtlCol="0" anchor="ctr">
            <a:normAutofit/>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4</a:t>
            </a:r>
            <a:endParaRPr lang="ar-SA" sz="1000" dirty="0"/>
          </a:p>
        </p:txBody>
      </p:sp>
      <p:sp>
        <p:nvSpPr>
          <p:cNvPr id="22" name="Text 20"/>
          <p:cNvSpPr/>
          <p:nvPr/>
        </p:nvSpPr>
        <p:spPr>
          <a:xfrm>
            <a:off x="2959547" y="2176272"/>
            <a:ext cx="1606235" cy="621792"/>
          </a:xfrm>
          <a:prstGeom prst="rect">
            <a:avLst/>
          </a:prstGeom>
          <a:noFill/>
          <a:ln/>
        </p:spPr>
        <p:txBody>
          <a:bodyPr wrap="square" lIns="0" tIns="0" rIns="0" bIns="0" rtlCol="0" anchor="t">
            <a:normAutofit/>
          </a:bodyPr>
          <a:lstStyle/>
          <a:p>
            <a:pPr rtl="1" algn="r" indent="0" marL="0">
              <a:buNone/>
            </a:pPr>
            <a:r>
              <a:rPr lang="ar-SA" altLang="en-US" sz="1100" b="1" dirty="0">
                <a:solidFill>
                  <a:srgbClr val="3D3935"/>
                </a:solidFill>
                <a:latin typeface="Arial" pitchFamily="34" charset="0"/>
                <a:ea typeface="Arial" pitchFamily="34" charset="-122"/>
                <a:cs typeface="Arial" pitchFamily="34" charset="-120"/>
              </a:rPr>
              <a:t>التدعيم (Bracing) لنظام الدعم</a:t>
            </a:r>
            <a:endParaRPr lang="ar-SA" sz="1100" dirty="0"/>
          </a:p>
        </p:txBody>
      </p:sp>
      <p:sp>
        <p:nvSpPr>
          <p:cNvPr id="23" name="Shape 21"/>
          <p:cNvSpPr/>
          <p:nvPr/>
        </p:nvSpPr>
        <p:spPr>
          <a:xfrm flipH="1">
            <a:off x="292608" y="1783080"/>
            <a:ext cx="2365187" cy="1051560"/>
          </a:xfrm>
          <a:prstGeom prst="chevron">
            <a:avLst/>
          </a:prstGeom>
          <a:solidFill>
            <a:srgbClr val="F4DAD6"/>
          </a:solidFill>
          <a:ln w="12700">
            <a:solidFill>
              <a:srgbClr val="F4DAD6"/>
            </a:solidFill>
            <a:prstDash val="solid"/>
          </a:ln>
        </p:spPr>
      </p:sp>
      <p:sp>
        <p:nvSpPr>
          <p:cNvPr id="24" name="Shape 22"/>
          <p:cNvSpPr/>
          <p:nvPr/>
        </p:nvSpPr>
        <p:spPr>
          <a:xfrm>
            <a:off x="2017715" y="1874520"/>
            <a:ext cx="274320" cy="274320"/>
          </a:xfrm>
          <a:prstGeom prst="ellipse">
            <a:avLst/>
          </a:prstGeom>
          <a:solidFill>
            <a:srgbClr val="C8503F"/>
          </a:solidFill>
          <a:ln w="12700">
            <a:solidFill>
              <a:srgbClr val="C8503F"/>
            </a:solidFill>
            <a:prstDash val="solid"/>
          </a:ln>
        </p:spPr>
      </p:sp>
      <p:sp>
        <p:nvSpPr>
          <p:cNvPr id="25" name="Text 23"/>
          <p:cNvSpPr/>
          <p:nvPr/>
        </p:nvSpPr>
        <p:spPr>
          <a:xfrm>
            <a:off x="2017715" y="1874520"/>
            <a:ext cx="274320" cy="274320"/>
          </a:xfrm>
          <a:prstGeom prst="rect">
            <a:avLst/>
          </a:prstGeom>
          <a:noFill/>
          <a:ln/>
        </p:spPr>
        <p:txBody>
          <a:bodyPr wrap="square" lIns="0" tIns="0" rIns="0" bIns="0" rtlCol="0" anchor="ctr">
            <a:normAutofit/>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5</a:t>
            </a:r>
            <a:endParaRPr lang="ar-SA" sz="1000" dirty="0"/>
          </a:p>
        </p:txBody>
      </p:sp>
      <p:sp>
        <p:nvSpPr>
          <p:cNvPr id="26" name="Text 24"/>
          <p:cNvSpPr/>
          <p:nvPr/>
        </p:nvSpPr>
        <p:spPr>
          <a:xfrm>
            <a:off x="667512" y="2176272"/>
            <a:ext cx="1606235" cy="621792"/>
          </a:xfrm>
          <a:prstGeom prst="rect">
            <a:avLst/>
          </a:prstGeom>
          <a:noFill/>
          <a:ln/>
        </p:spPr>
        <p:txBody>
          <a:bodyPr wrap="square" lIns="0" tIns="0" rIns="0" bIns="0" rtlCol="0" anchor="t">
            <a:normAutofit/>
          </a:bodyPr>
          <a:lstStyle/>
          <a:p>
            <a:pPr rtl="1" algn="r" indent="0" marL="0">
              <a:buNone/>
            </a:pPr>
            <a:r>
              <a:rPr lang="ar-SA" altLang="en-US" sz="1100" b="1" dirty="0">
                <a:solidFill>
                  <a:srgbClr val="3D3935"/>
                </a:solidFill>
                <a:latin typeface="Arial" pitchFamily="34" charset="0"/>
                <a:ea typeface="Arial" pitchFamily="34" charset="-122"/>
                <a:cs typeface="Arial" pitchFamily="34" charset="-120"/>
              </a:rPr>
              <a:t>تركيب / إدخال الألواح المضلعة (Corrugated sheets)</a:t>
            </a:r>
            <a:endParaRPr lang="ar-SA" sz="1100" dirty="0"/>
          </a:p>
        </p:txBody>
      </p:sp>
      <p:sp>
        <p:nvSpPr>
          <p:cNvPr id="27" name="Shape 25"/>
          <p:cNvSpPr/>
          <p:nvPr/>
        </p:nvSpPr>
        <p:spPr>
          <a:xfrm>
            <a:off x="11771071" y="3099816"/>
            <a:ext cx="54864" cy="256032"/>
          </a:xfrm>
          <a:prstGeom prst="rect">
            <a:avLst/>
          </a:prstGeom>
          <a:solidFill>
            <a:srgbClr val="00778B"/>
          </a:solidFill>
          <a:ln w="12700">
            <a:solidFill>
              <a:srgbClr val="00778B"/>
            </a:solidFill>
            <a:prstDash val="solid"/>
          </a:ln>
        </p:spPr>
      </p:sp>
      <p:sp>
        <p:nvSpPr>
          <p:cNvPr id="28" name="Text 26"/>
          <p:cNvSpPr/>
          <p:nvPr/>
        </p:nvSpPr>
        <p:spPr>
          <a:xfrm>
            <a:off x="8022031" y="3063240"/>
            <a:ext cx="3657600" cy="329184"/>
          </a:xfrm>
          <a:prstGeom prst="rect">
            <a:avLst/>
          </a:prstGeom>
          <a:noFill/>
          <a:ln/>
        </p:spPr>
        <p:txBody>
          <a:bodyPr wrap="square" lIns="0" tIns="0" rIns="0" bIns="0" rtlCol="0" anchor="ctr">
            <a:normAutofit/>
          </a:bodyPr>
          <a:lstStyle/>
          <a:p>
            <a:pPr rtl="1" algn="r" indent="0" marL="0">
              <a:buNone/>
            </a:pPr>
            <a:r>
              <a:rPr lang="ar-SA" altLang="en-US" sz="1500" b="1" dirty="0">
                <a:solidFill>
                  <a:srgbClr val="3D3935"/>
                </a:solidFill>
                <a:latin typeface="Arial" pitchFamily="34" charset="0"/>
                <a:ea typeface="Arial" pitchFamily="34" charset="-122"/>
                <a:cs typeface="Arial" pitchFamily="34" charset="-120"/>
              </a:rPr>
              <a:t>التواريخ الرئيسية (تلقائية)</a:t>
            </a:r>
            <a:endParaRPr lang="ar-SA" sz="1500" dirty="0"/>
          </a:p>
        </p:txBody>
      </p:sp>
      <p:sp>
        <p:nvSpPr>
          <p:cNvPr id="29" name="Shape 27"/>
          <p:cNvSpPr/>
          <p:nvPr/>
        </p:nvSpPr>
        <p:spPr>
          <a:xfrm>
            <a:off x="7619695" y="3493008"/>
            <a:ext cx="4206240" cy="310896"/>
          </a:xfrm>
          <a:prstGeom prst="rect">
            <a:avLst/>
          </a:prstGeom>
          <a:solidFill>
            <a:srgbClr val="FFFFFF"/>
          </a:solidFill>
          <a:ln w="6350">
            <a:solidFill>
              <a:srgbClr val="DFE6EA"/>
            </a:solidFill>
            <a:prstDash val="solid"/>
          </a:ln>
        </p:spPr>
      </p:sp>
      <p:sp>
        <p:nvSpPr>
          <p:cNvPr id="30" name="Text 28"/>
          <p:cNvSpPr/>
          <p:nvPr/>
        </p:nvSpPr>
        <p:spPr>
          <a:xfrm>
            <a:off x="9448495" y="3493008"/>
            <a:ext cx="2286000" cy="310896"/>
          </a:xfrm>
          <a:prstGeom prst="rect">
            <a:avLst/>
          </a:prstGeom>
          <a:noFill/>
          <a:ln/>
        </p:spPr>
        <p:txBody>
          <a:bodyPr wrap="square" lIns="0" tIns="0" rIns="0" bIns="0" rtlCol="0" anchor="ctr">
            <a:normAutofit/>
          </a:bodyPr>
          <a:lstStyle/>
          <a:p>
            <a:pPr rtl="1" algn="r" indent="0" marL="0">
              <a:buNone/>
            </a:pPr>
            <a:r>
              <a:rPr lang="ar-SA" altLang="en-US" sz="950" dirty="0">
                <a:solidFill>
                  <a:srgbClr val="4A555D"/>
                </a:solidFill>
                <a:latin typeface="Arial" pitchFamily="34" charset="0"/>
                <a:ea typeface="Arial" pitchFamily="34" charset="-122"/>
                <a:cs typeface="Arial" pitchFamily="34" charset="-120"/>
              </a:rPr>
              <a:t>بدء الأعمال</a:t>
            </a:r>
            <a:endParaRPr lang="ar-SA" sz="950" dirty="0"/>
          </a:p>
        </p:txBody>
      </p:sp>
      <p:sp>
        <p:nvSpPr>
          <p:cNvPr id="31" name="Text 29"/>
          <p:cNvSpPr/>
          <p:nvPr/>
        </p:nvSpPr>
        <p:spPr>
          <a:xfrm>
            <a:off x="7711135" y="3493008"/>
            <a:ext cx="1828800" cy="310896"/>
          </a:xfrm>
          <a:prstGeom prst="rect">
            <a:avLst/>
          </a:prstGeom>
          <a:noFill/>
          <a:ln/>
        </p:spPr>
        <p:txBody>
          <a:bodyPr wrap="square" lIns="0" tIns="0" rIns="0" bIns="0" rtlCol="0" anchor="ctr">
            <a:normAutofit/>
          </a:bodyPr>
          <a:lstStyle/>
          <a:p>
            <a:pPr rtl="1" algn="l" indent="0" marL="0">
              <a:buNone/>
            </a:pPr>
            <a:r>
              <a:rPr lang="ar-SA" altLang="en-US" sz="950" b="1" dirty="0">
                <a:solidFill>
                  <a:srgbClr val="3D3935"/>
                </a:solidFill>
                <a:latin typeface="Arial" pitchFamily="34" charset="0"/>
                <a:ea typeface="Arial" pitchFamily="34" charset="-122"/>
                <a:cs typeface="Arial" pitchFamily="34" charset="-120"/>
              </a:rPr>
              <a:t>ثلاثاء 13 أكتوبر 2026</a:t>
            </a:r>
            <a:endParaRPr lang="ar-SA" sz="950" dirty="0"/>
          </a:p>
        </p:txBody>
      </p:sp>
      <p:sp>
        <p:nvSpPr>
          <p:cNvPr id="32" name="Shape 30"/>
          <p:cNvSpPr/>
          <p:nvPr/>
        </p:nvSpPr>
        <p:spPr>
          <a:xfrm>
            <a:off x="7619695" y="3803904"/>
            <a:ext cx="4206240" cy="310896"/>
          </a:xfrm>
          <a:prstGeom prst="rect">
            <a:avLst/>
          </a:prstGeom>
          <a:solidFill>
            <a:srgbClr val="F6F9FA"/>
          </a:solidFill>
          <a:ln w="6350">
            <a:solidFill>
              <a:srgbClr val="DFE6EA"/>
            </a:solidFill>
            <a:prstDash val="solid"/>
          </a:ln>
        </p:spPr>
      </p:sp>
      <p:sp>
        <p:nvSpPr>
          <p:cNvPr id="33" name="Text 31"/>
          <p:cNvSpPr/>
          <p:nvPr/>
        </p:nvSpPr>
        <p:spPr>
          <a:xfrm>
            <a:off x="9448495" y="3803904"/>
            <a:ext cx="2286000" cy="310896"/>
          </a:xfrm>
          <a:prstGeom prst="rect">
            <a:avLst/>
          </a:prstGeom>
          <a:noFill/>
          <a:ln/>
        </p:spPr>
        <p:txBody>
          <a:bodyPr wrap="square" lIns="0" tIns="0" rIns="0" bIns="0" rtlCol="0" anchor="ctr">
            <a:normAutofit/>
          </a:bodyPr>
          <a:lstStyle/>
          <a:p>
            <a:pPr rtl="1" algn="r" indent="0" marL="0">
              <a:buNone/>
            </a:pPr>
            <a:r>
              <a:rPr lang="ar-SA" altLang="en-US" sz="950" dirty="0">
                <a:solidFill>
                  <a:srgbClr val="4A555D"/>
                </a:solidFill>
                <a:latin typeface="Arial" pitchFamily="34" charset="0"/>
                <a:ea typeface="Arial" pitchFamily="34" charset="-122"/>
                <a:cs typeface="Arial" pitchFamily="34" charset="-120"/>
              </a:rPr>
              <a:t>اكتمال تركيب نظام الدعم</a:t>
            </a:r>
            <a:endParaRPr lang="ar-SA" sz="950" dirty="0"/>
          </a:p>
        </p:txBody>
      </p:sp>
      <p:sp>
        <p:nvSpPr>
          <p:cNvPr id="34" name="Text 32"/>
          <p:cNvSpPr/>
          <p:nvPr/>
        </p:nvSpPr>
        <p:spPr>
          <a:xfrm>
            <a:off x="7711135" y="3803904"/>
            <a:ext cx="1828800" cy="310896"/>
          </a:xfrm>
          <a:prstGeom prst="rect">
            <a:avLst/>
          </a:prstGeom>
          <a:noFill/>
          <a:ln/>
        </p:spPr>
        <p:txBody>
          <a:bodyPr wrap="square" lIns="0" tIns="0" rIns="0" bIns="0" rtlCol="0" anchor="ctr">
            <a:normAutofit/>
          </a:bodyPr>
          <a:lstStyle/>
          <a:p>
            <a:pPr rtl="1" algn="l" indent="0" marL="0">
              <a:buNone/>
            </a:pPr>
            <a:r>
              <a:rPr lang="ar-SA" altLang="en-US" sz="950" b="1" dirty="0">
                <a:solidFill>
                  <a:srgbClr val="3D3935"/>
                </a:solidFill>
                <a:latin typeface="Arial" pitchFamily="34" charset="0"/>
                <a:ea typeface="Arial" pitchFamily="34" charset="-122"/>
                <a:cs typeface="Arial" pitchFamily="34" charset="-120"/>
              </a:rPr>
              <a:t>اثنين 19 أكتوبر 2026</a:t>
            </a:r>
            <a:endParaRPr lang="ar-SA" sz="950" dirty="0"/>
          </a:p>
        </p:txBody>
      </p:sp>
      <p:sp>
        <p:nvSpPr>
          <p:cNvPr id="35" name="Shape 33"/>
          <p:cNvSpPr/>
          <p:nvPr/>
        </p:nvSpPr>
        <p:spPr>
          <a:xfrm>
            <a:off x="7619695" y="4114800"/>
            <a:ext cx="4206240" cy="310896"/>
          </a:xfrm>
          <a:prstGeom prst="rect">
            <a:avLst/>
          </a:prstGeom>
          <a:solidFill>
            <a:srgbClr val="FFFFFF"/>
          </a:solidFill>
          <a:ln w="6350">
            <a:solidFill>
              <a:srgbClr val="DFE6EA"/>
            </a:solidFill>
            <a:prstDash val="solid"/>
          </a:ln>
        </p:spPr>
      </p:sp>
      <p:sp>
        <p:nvSpPr>
          <p:cNvPr id="36" name="Text 34"/>
          <p:cNvSpPr/>
          <p:nvPr/>
        </p:nvSpPr>
        <p:spPr>
          <a:xfrm>
            <a:off x="9448495" y="4114800"/>
            <a:ext cx="2286000" cy="310896"/>
          </a:xfrm>
          <a:prstGeom prst="rect">
            <a:avLst/>
          </a:prstGeom>
          <a:noFill/>
          <a:ln/>
        </p:spPr>
        <p:txBody>
          <a:bodyPr wrap="square" lIns="0" tIns="0" rIns="0" bIns="0" rtlCol="0" anchor="ctr">
            <a:normAutofit/>
          </a:bodyPr>
          <a:lstStyle/>
          <a:p>
            <a:pPr rtl="1" algn="r" indent="0" marL="0">
              <a:buNone/>
            </a:pPr>
            <a:r>
              <a:rPr lang="ar-SA" altLang="en-US" sz="950" dirty="0">
                <a:solidFill>
                  <a:srgbClr val="4A555D"/>
                </a:solidFill>
                <a:latin typeface="Arial" pitchFamily="34" charset="0"/>
                <a:ea typeface="Arial" pitchFamily="34" charset="-122"/>
                <a:cs typeface="Arial" pitchFamily="34" charset="-120"/>
              </a:rPr>
              <a:t>اكتمال أعمال الحفرة (جدار الحفرة)</a:t>
            </a:r>
            <a:endParaRPr lang="ar-SA" sz="950" dirty="0"/>
          </a:p>
        </p:txBody>
      </p:sp>
      <p:sp>
        <p:nvSpPr>
          <p:cNvPr id="37" name="Text 35"/>
          <p:cNvSpPr/>
          <p:nvPr/>
        </p:nvSpPr>
        <p:spPr>
          <a:xfrm>
            <a:off x="7711135" y="4114800"/>
            <a:ext cx="1828800" cy="310896"/>
          </a:xfrm>
          <a:prstGeom prst="rect">
            <a:avLst/>
          </a:prstGeom>
          <a:noFill/>
          <a:ln/>
        </p:spPr>
        <p:txBody>
          <a:bodyPr wrap="square" lIns="0" tIns="0" rIns="0" bIns="0" rtlCol="0" anchor="ctr">
            <a:normAutofit/>
          </a:bodyPr>
          <a:lstStyle/>
          <a:p>
            <a:pPr rtl="1" algn="l" indent="0" marL="0">
              <a:buNone/>
            </a:pPr>
            <a:r>
              <a:rPr lang="ar-SA" altLang="en-US" sz="950" b="1" dirty="0">
                <a:solidFill>
                  <a:srgbClr val="3D3935"/>
                </a:solidFill>
                <a:latin typeface="Arial" pitchFamily="34" charset="0"/>
                <a:ea typeface="Arial" pitchFamily="34" charset="-122"/>
                <a:cs typeface="Arial" pitchFamily="34" charset="-120"/>
              </a:rPr>
              <a:t>أربعاء 11 نوفمبر 2026</a:t>
            </a:r>
            <a:endParaRPr lang="ar-SA" sz="950" dirty="0"/>
          </a:p>
        </p:txBody>
      </p:sp>
      <p:sp>
        <p:nvSpPr>
          <p:cNvPr id="38" name="Shape 36"/>
          <p:cNvSpPr/>
          <p:nvPr/>
        </p:nvSpPr>
        <p:spPr>
          <a:xfrm>
            <a:off x="7619695" y="4425696"/>
            <a:ext cx="4206240" cy="310896"/>
          </a:xfrm>
          <a:prstGeom prst="rect">
            <a:avLst/>
          </a:prstGeom>
          <a:solidFill>
            <a:srgbClr val="F6F9FA"/>
          </a:solidFill>
          <a:ln w="6350">
            <a:solidFill>
              <a:srgbClr val="DFE6EA"/>
            </a:solidFill>
            <a:prstDash val="solid"/>
          </a:ln>
        </p:spPr>
      </p:sp>
      <p:sp>
        <p:nvSpPr>
          <p:cNvPr id="39" name="Text 37"/>
          <p:cNvSpPr/>
          <p:nvPr/>
        </p:nvSpPr>
        <p:spPr>
          <a:xfrm>
            <a:off x="9448495" y="4425696"/>
            <a:ext cx="2286000" cy="310896"/>
          </a:xfrm>
          <a:prstGeom prst="rect">
            <a:avLst/>
          </a:prstGeom>
          <a:noFill/>
          <a:ln/>
        </p:spPr>
        <p:txBody>
          <a:bodyPr wrap="square" lIns="0" tIns="0" rIns="0" bIns="0" rtlCol="0" anchor="ctr">
            <a:normAutofit/>
          </a:bodyPr>
          <a:lstStyle/>
          <a:p>
            <a:pPr rtl="1" algn="r" indent="0" marL="0">
              <a:buNone/>
            </a:pPr>
            <a:r>
              <a:rPr lang="ar-SA" altLang="en-US" sz="950" dirty="0">
                <a:solidFill>
                  <a:srgbClr val="4A555D"/>
                </a:solidFill>
                <a:latin typeface="Arial" pitchFamily="34" charset="0"/>
                <a:ea typeface="Arial" pitchFamily="34" charset="-122"/>
                <a:cs typeface="Arial" pitchFamily="34" charset="-120"/>
              </a:rPr>
              <a:t>اكتمال أساسات المبنى</a:t>
            </a:r>
            <a:endParaRPr lang="ar-SA" sz="950" dirty="0"/>
          </a:p>
        </p:txBody>
      </p:sp>
      <p:sp>
        <p:nvSpPr>
          <p:cNvPr id="40" name="Text 38"/>
          <p:cNvSpPr/>
          <p:nvPr/>
        </p:nvSpPr>
        <p:spPr>
          <a:xfrm>
            <a:off x="7711135" y="4425696"/>
            <a:ext cx="1828800" cy="310896"/>
          </a:xfrm>
          <a:prstGeom prst="rect">
            <a:avLst/>
          </a:prstGeom>
          <a:noFill/>
          <a:ln/>
        </p:spPr>
        <p:txBody>
          <a:bodyPr wrap="square" lIns="0" tIns="0" rIns="0" bIns="0" rtlCol="0" anchor="ctr">
            <a:normAutofit/>
          </a:bodyPr>
          <a:lstStyle/>
          <a:p>
            <a:pPr rtl="1" algn="l" indent="0" marL="0">
              <a:buNone/>
            </a:pPr>
            <a:r>
              <a:rPr lang="ar-SA" altLang="en-US" sz="950" b="1" dirty="0">
                <a:solidFill>
                  <a:srgbClr val="3D3935"/>
                </a:solidFill>
                <a:latin typeface="Arial" pitchFamily="34" charset="0"/>
                <a:ea typeface="Arial" pitchFamily="34" charset="-122"/>
                <a:cs typeface="Arial" pitchFamily="34" charset="-120"/>
              </a:rPr>
              <a:t>أربعاء 18 نوفمبر 2026</a:t>
            </a:r>
            <a:endParaRPr lang="ar-SA" sz="950" dirty="0"/>
          </a:p>
        </p:txBody>
      </p:sp>
      <p:sp>
        <p:nvSpPr>
          <p:cNvPr id="41" name="Shape 39"/>
          <p:cNvSpPr/>
          <p:nvPr/>
        </p:nvSpPr>
        <p:spPr>
          <a:xfrm>
            <a:off x="7619695" y="4736592"/>
            <a:ext cx="4206240" cy="310896"/>
          </a:xfrm>
          <a:prstGeom prst="rect">
            <a:avLst/>
          </a:prstGeom>
          <a:solidFill>
            <a:srgbClr val="FFFFFF"/>
          </a:solidFill>
          <a:ln w="6350">
            <a:solidFill>
              <a:srgbClr val="DFE6EA"/>
            </a:solidFill>
            <a:prstDash val="solid"/>
          </a:ln>
        </p:spPr>
      </p:sp>
      <p:sp>
        <p:nvSpPr>
          <p:cNvPr id="42" name="Text 40"/>
          <p:cNvSpPr/>
          <p:nvPr/>
        </p:nvSpPr>
        <p:spPr>
          <a:xfrm>
            <a:off x="9448495" y="4736592"/>
            <a:ext cx="2286000" cy="310896"/>
          </a:xfrm>
          <a:prstGeom prst="rect">
            <a:avLst/>
          </a:prstGeom>
          <a:noFill/>
          <a:ln/>
        </p:spPr>
        <p:txBody>
          <a:bodyPr wrap="square" lIns="0" tIns="0" rIns="0" bIns="0" rtlCol="0" anchor="ctr">
            <a:normAutofit/>
          </a:bodyPr>
          <a:lstStyle/>
          <a:p>
            <a:pPr rtl="1" algn="r" indent="0" marL="0">
              <a:buNone/>
            </a:pPr>
            <a:r>
              <a:rPr lang="ar-SA" altLang="en-US" sz="950" dirty="0">
                <a:solidFill>
                  <a:srgbClr val="4A555D"/>
                </a:solidFill>
                <a:latin typeface="Arial" pitchFamily="34" charset="0"/>
                <a:ea typeface="Arial" pitchFamily="34" charset="-122"/>
                <a:cs typeface="Arial" pitchFamily="34" charset="-120"/>
              </a:rPr>
              <a:t>الإنجاز الكلي</a:t>
            </a:r>
            <a:endParaRPr lang="ar-SA" sz="950" dirty="0"/>
          </a:p>
        </p:txBody>
      </p:sp>
      <p:sp>
        <p:nvSpPr>
          <p:cNvPr id="43" name="Text 41"/>
          <p:cNvSpPr/>
          <p:nvPr/>
        </p:nvSpPr>
        <p:spPr>
          <a:xfrm>
            <a:off x="7711135" y="4736592"/>
            <a:ext cx="1828800" cy="310896"/>
          </a:xfrm>
          <a:prstGeom prst="rect">
            <a:avLst/>
          </a:prstGeom>
          <a:noFill/>
          <a:ln/>
        </p:spPr>
        <p:txBody>
          <a:bodyPr wrap="square" lIns="0" tIns="0" rIns="0" bIns="0" rtlCol="0" anchor="ctr">
            <a:normAutofit/>
          </a:bodyPr>
          <a:lstStyle/>
          <a:p>
            <a:pPr rtl="1" algn="l" indent="0" marL="0">
              <a:buNone/>
            </a:pPr>
            <a:r>
              <a:rPr lang="ar-SA" altLang="en-US" sz="950" b="1" dirty="0">
                <a:solidFill>
                  <a:srgbClr val="3D3935"/>
                </a:solidFill>
                <a:latin typeface="Arial" pitchFamily="34" charset="0"/>
                <a:ea typeface="Arial" pitchFamily="34" charset="-122"/>
                <a:cs typeface="Arial" pitchFamily="34" charset="-120"/>
              </a:rPr>
              <a:t>ثلاثاء 24 نوفمبر 2026</a:t>
            </a:r>
            <a:endParaRPr lang="ar-SA" sz="950" dirty="0"/>
          </a:p>
        </p:txBody>
      </p:sp>
      <p:sp>
        <p:nvSpPr>
          <p:cNvPr id="44" name="Shape 42"/>
          <p:cNvSpPr/>
          <p:nvPr/>
        </p:nvSpPr>
        <p:spPr>
          <a:xfrm>
            <a:off x="7619695" y="5166360"/>
            <a:ext cx="4206240" cy="960120"/>
          </a:xfrm>
          <a:prstGeom prst="roundRect">
            <a:avLst>
              <a:gd name="adj" fmla="val 7619"/>
            </a:avLst>
          </a:prstGeom>
          <a:solidFill>
            <a:srgbClr val="FFF6E5"/>
          </a:solidFill>
          <a:ln w="12700">
            <a:solidFill>
              <a:srgbClr val="F0C36D"/>
            </a:solidFill>
            <a:prstDash val="solid"/>
          </a:ln>
        </p:spPr>
      </p:sp>
      <p:sp>
        <p:nvSpPr>
          <p:cNvPr id="45" name="Text 43"/>
          <p:cNvSpPr/>
          <p:nvPr/>
        </p:nvSpPr>
        <p:spPr>
          <a:xfrm>
            <a:off x="7756855" y="5212080"/>
            <a:ext cx="3931920" cy="228600"/>
          </a:xfrm>
          <a:prstGeom prst="rect">
            <a:avLst/>
          </a:prstGeom>
          <a:noFill/>
          <a:ln/>
        </p:spPr>
        <p:txBody>
          <a:bodyPr wrap="square" lIns="0" tIns="0" rIns="0" bIns="0" rtlCol="0" anchor="ctr">
            <a:normAutofit/>
          </a:bodyPr>
          <a:lstStyle/>
          <a:p>
            <a:pPr rtl="1" algn="r" indent="0" marL="0">
              <a:buNone/>
            </a:pPr>
            <a:r>
              <a:rPr lang="ar-SA" altLang="en-US" sz="950" b="1" dirty="0">
                <a:solidFill>
                  <a:srgbClr val="9A6A00"/>
                </a:solidFill>
                <a:latin typeface="Arial" pitchFamily="34" charset="0"/>
                <a:ea typeface="Arial" pitchFamily="34" charset="-122"/>
                <a:cs typeface="Arial" pitchFamily="34" charset="-120"/>
              </a:rPr>
              <a:t>سيناريو افتراضي</a:t>
            </a:r>
            <a:endParaRPr lang="ar-SA" sz="950" dirty="0"/>
          </a:p>
        </p:txBody>
      </p:sp>
      <p:sp>
        <p:nvSpPr>
          <p:cNvPr id="46" name="Text 44"/>
          <p:cNvSpPr/>
          <p:nvPr/>
        </p:nvSpPr>
        <p:spPr>
          <a:xfrm>
            <a:off x="7756855" y="5440680"/>
            <a:ext cx="3931920" cy="658368"/>
          </a:xfrm>
          <a:prstGeom prst="rect">
            <a:avLst/>
          </a:prstGeom>
          <a:noFill/>
          <a:ln/>
        </p:spPr>
        <p:txBody>
          <a:bodyPr wrap="square" lIns="0" tIns="0" rIns="0" bIns="0" rtlCol="0" anchor="t">
            <a:normAutofit/>
          </a:bodyPr>
          <a:lstStyle/>
          <a:p>
            <a:pPr rtl="1" algn="r" indent="0" marL="0">
              <a:buNone/>
            </a:pPr>
            <a:r>
              <a:rPr lang="ar-SA" altLang="en-US" sz="950" dirty="0">
                <a:solidFill>
                  <a:srgbClr val="3D3935"/>
                </a:solidFill>
                <a:latin typeface="Arial" pitchFamily="34" charset="0"/>
                <a:ea typeface="Arial" pitchFamily="34" charset="-122"/>
                <a:cs typeface="Arial" pitchFamily="34" charset="-120"/>
              </a:rPr>
              <a:t>إذا بدأت الأعمال في 21 أكتوبر 2026 (تاريخ جاهزية التصريح) → فسيكون الإنجاز الكلي 2 ديسمبر 2026 (+8 يوماً (تقويمياً) بعد المقترح).</a:t>
            </a:r>
            <a:endParaRPr lang="ar-SA" sz="950" dirty="0"/>
          </a:p>
        </p:txBody>
      </p:sp>
      <p:sp>
        <p:nvSpPr>
          <p:cNvPr id="47" name="Shape 45"/>
          <p:cNvSpPr/>
          <p:nvPr/>
        </p:nvSpPr>
        <p:spPr>
          <a:xfrm>
            <a:off x="7199071" y="3099816"/>
            <a:ext cx="54864" cy="256032"/>
          </a:xfrm>
          <a:prstGeom prst="rect">
            <a:avLst/>
          </a:prstGeom>
          <a:solidFill>
            <a:srgbClr val="00778B"/>
          </a:solidFill>
          <a:ln w="12700">
            <a:solidFill>
              <a:srgbClr val="00778B"/>
            </a:solidFill>
            <a:prstDash val="solid"/>
          </a:ln>
        </p:spPr>
      </p:sp>
      <p:sp>
        <p:nvSpPr>
          <p:cNvPr id="48" name="Text 46"/>
          <p:cNvSpPr/>
          <p:nvPr/>
        </p:nvSpPr>
        <p:spPr>
          <a:xfrm>
            <a:off x="1621231" y="3063240"/>
            <a:ext cx="5486400" cy="329184"/>
          </a:xfrm>
          <a:prstGeom prst="rect">
            <a:avLst/>
          </a:prstGeom>
          <a:noFill/>
          <a:ln/>
        </p:spPr>
        <p:txBody>
          <a:bodyPr wrap="square" lIns="0" tIns="0" rIns="0" bIns="0" rtlCol="0" anchor="ctr">
            <a:normAutofit/>
          </a:bodyPr>
          <a:lstStyle/>
          <a:p>
            <a:pPr rtl="1" algn="r" indent="0" marL="0">
              <a:buNone/>
            </a:pPr>
            <a:r>
              <a:rPr lang="ar-SA" altLang="en-US" sz="1500" b="1" dirty="0">
                <a:solidFill>
                  <a:srgbClr val="3D3935"/>
                </a:solidFill>
                <a:latin typeface="Arial" pitchFamily="34" charset="0"/>
                <a:ea typeface="Arial" pitchFamily="34" charset="-122"/>
                <a:cs typeface="Arial" pitchFamily="34" charset="-120"/>
              </a:rPr>
              <a:t>ملاحظات وشروط</a:t>
            </a:r>
            <a:endParaRPr lang="ar-SA" sz="1500" dirty="0"/>
          </a:p>
        </p:txBody>
      </p:sp>
      <p:sp>
        <p:nvSpPr>
          <p:cNvPr id="49" name="Text 47"/>
          <p:cNvSpPr/>
          <p:nvPr/>
        </p:nvSpPr>
        <p:spPr>
          <a:xfrm>
            <a:off x="395935" y="3474720"/>
            <a:ext cx="6766560" cy="2697480"/>
          </a:xfrm>
          <a:prstGeom prst="rect">
            <a:avLst/>
          </a:prstGeom>
          <a:noFill/>
          <a:ln/>
        </p:spPr>
        <p:txBody>
          <a:bodyPr wrap="square" lIns="0" tIns="0" rIns="0" bIns="0" rtlCol="0" anchor="t">
            <a:normAutofit/>
          </a:bodyPr>
          <a:lstStyle/>
          <a:p>
            <a:pPr algn="r" marL="342900" indent="-342900">
              <a:spcAft>
                <a:spcPts val="600"/>
              </a:spcAft>
              <a:buSzPct val="100000"/>
              <a:buFont typeface="+mj-lt"/>
              <a:buAutoNum type="arabicPeriod" startAt="1"/>
            </a:pPr>
            <a:r>
              <a:rPr lang="ar-SA" altLang="en-US" sz="1050" dirty="0">
                <a:solidFill>
                  <a:srgbClr val="333333"/>
                </a:solidFill>
                <a:latin typeface="Arial" pitchFamily="34" charset="0"/>
                <a:ea typeface="Arial" pitchFamily="34" charset="-122"/>
                <a:cs typeface="Arial" pitchFamily="34" charset="-120"/>
              </a:rPr>
              <a:t>بدء كل نشاط مشروط بإصدار تصريح العمل والموافقة في الوقت المناسب على طلبات فحص الأعمال (WIR) وطلبات فحص المواد (MIR). أي تأخير في إصدار التصريح أو اعتماد الطلبات يزيح النشاط المتأثر وكل الأنشطة اللاحقة له.</a:t>
            </a:r>
            <a:endParaRPr lang="ar-SA" sz="1050" dirty="0"/>
          </a:p>
          <a:p>
            <a:pPr algn="r" marL="342900" indent="-342900">
              <a:spcAft>
                <a:spcPts val="600"/>
              </a:spcAft>
              <a:buSzPct val="100000"/>
              <a:buFont typeface="+mj-lt"/>
              <a:buAutoNum type="arabicPeriod" startAt="1"/>
            </a:pPr>
            <a:r>
              <a:rPr lang="ar-SA" altLang="en-US" sz="1050" dirty="0">
                <a:solidFill>
                  <a:srgbClr val="333333"/>
                </a:solidFill>
                <a:latin typeface="Arial" pitchFamily="34" charset="0"/>
                <a:ea typeface="Arial" pitchFamily="34" charset="-122"/>
                <a:cs typeface="Arial" pitchFamily="34" charset="-120"/>
              </a:rPr>
              <a:t>أسبوع العمل من السبت إلى الخميس، والجمعة إجازة.</a:t>
            </a:r>
            <a:endParaRPr lang="ar-SA" sz="1050" dirty="0"/>
          </a:p>
          <a:p>
            <a:pPr algn="r" marL="342900" indent="-342900">
              <a:spcAft>
                <a:spcPts val="600"/>
              </a:spcAft>
              <a:buSzPct val="100000"/>
              <a:buFont typeface="+mj-lt"/>
              <a:buAutoNum type="arabicPeriod" startAt="1"/>
            </a:pPr>
            <a:r>
              <a:rPr lang="ar-SA" altLang="en-US" sz="1050" dirty="0">
                <a:solidFill>
                  <a:srgbClr val="333333"/>
                </a:solidFill>
                <a:latin typeface="Arial" pitchFamily="34" charset="0"/>
                <a:ea typeface="Arial" pitchFamily="34" charset="-122"/>
                <a:cs typeface="Arial" pitchFamily="34" charset="-120"/>
              </a:rPr>
              <a:t>الخرسانة العادية تسير بالتوازي مع الدعم (علاقة SS) وتُصب فقط في الأجزاء التي تم تركيب الدعم فيها.</a:t>
            </a:r>
            <a:endParaRPr lang="ar-SA" sz="1050" dirty="0"/>
          </a:p>
          <a:p>
            <a:pPr algn="r" marL="342900" indent="-342900">
              <a:spcAft>
                <a:spcPts val="600"/>
              </a:spcAft>
              <a:buSzPct val="100000"/>
              <a:buFont typeface="+mj-lt"/>
              <a:buAutoNum type="arabicPeriod" startAt="1"/>
            </a:pPr>
            <a:r>
              <a:rPr lang="ar-SA" altLang="en-US" sz="1050" dirty="0">
                <a:solidFill>
                  <a:srgbClr val="333333"/>
                </a:solidFill>
                <a:latin typeface="Arial" pitchFamily="34" charset="0"/>
                <a:ea typeface="Arial" pitchFamily="34" charset="-122"/>
                <a:cs typeface="Arial" pitchFamily="34" charset="-120"/>
              </a:rPr>
              <a:t>أساسات المبنى مرتبطة بإنجاز بلاطة / لبشة الحفرة (علاقة FS) وتسير بالتوازي مع جدار الحفرة. يمكن تغيير سابقها إلى E إذا لزم أن تلي جدار الحفرة.</a:t>
            </a:r>
            <a:endParaRPr lang="ar-SA" sz="1050" dirty="0"/>
          </a:p>
        </p:txBody>
      </p:sp>
      <p:sp>
        <p:nvSpPr>
          <p:cNvPr id="50" name="Text 48"/>
          <p:cNvSpPr/>
          <p:nvPr/>
        </p:nvSpPr>
        <p:spPr>
          <a:xfrm>
            <a:off x="365760" y="6199632"/>
            <a:ext cx="11460175" cy="228600"/>
          </a:xfrm>
          <a:prstGeom prst="rect">
            <a:avLst/>
          </a:prstGeom>
          <a:noFill/>
          <a:ln/>
        </p:spPr>
        <p:txBody>
          <a:bodyPr wrap="square" lIns="0" tIns="0" rIns="0" bIns="0" rtlCol="0" anchor="ctr">
            <a:normAutofit/>
          </a:bodyPr>
          <a:lstStyle/>
          <a:p>
            <a:pPr rtl="1" algn="r" indent="0" marL="0">
              <a:buNone/>
            </a:pPr>
            <a:r>
              <a:rPr lang="ar-SA" altLang="en-US" sz="750" dirty="0">
                <a:solidFill>
                  <a:srgbClr val="66707A"/>
                </a:solidFill>
                <a:latin typeface="Arial" pitchFamily="34" charset="0"/>
                <a:ea typeface="Arial" pitchFamily="34" charset="-122"/>
                <a:cs typeface="Arial" pitchFamily="34" charset="-120"/>
              </a:rPr>
              <a:t>المصدر: برنامج شركة الخليج للتطوير للمقاولات – المراجعة 01 (12 أكتوبر 2026)، مُحال من مدير الإنشاءات في SAR</a:t>
            </a:r>
            <a:endParaRPr lang="ar-SA" sz="750" dirty="0"/>
          </a:p>
        </p:txBody>
      </p:sp>
      <p:sp>
        <p:nvSpPr>
          <p:cNvPr id="25" name="Slide Number Placeholder 0"/>
          <p:cNvSpPr>
            <a:spLocks noGrp="1"/>
          </p:cNvSpPr>
          <p:nvPr>
            <p:ph type="sldNum" sz="quarter" idx="4294967295"/>
          </p:nvPr>
        </p:nvSpPr>
        <p:spPr>
          <a:xfrm>
            <a:off x="320040"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SAR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مشروع UFWL – مخطط جانت</dc:title>
  <dc:subject>PptxGenJS Presentation</dc:subject>
  <dc:creator>UFWL Project</dc:creator>
  <cp:lastModifiedBy>UFWL Project</cp:lastModifiedBy>
  <cp:revision>1</cp:revision>
  <dcterms:created xsi:type="dcterms:W3CDTF">2026-10-21T13:03:08Z</dcterms:created>
  <dcterms:modified xsi:type="dcterms:W3CDTF">2026-10-21T13:03:08Z</dcterms:modified>
</cp:coreProperties>
</file>