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R">
    <p:bg>
      <p:bgPr>
        <a:solidFill>
          <a:srgbClr val="F6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78B"/>
          </a:solidFill>
          <a:ln/>
        </p:spPr>
      </p:sp>
      <p:sp>
        <p:nvSpPr>
          <p:cNvPr id="4" name="Shape 2"/>
          <p:cNvSpPr/>
          <p:nvPr/>
        </p:nvSpPr>
        <p:spPr>
          <a:xfrm>
            <a:off x="10180015" y="868680"/>
            <a:ext cx="2011680" cy="457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2875"/>
            <a:ext cx="1051560" cy="5829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7" name="Text 4"/>
          <p:cNvSpPr/>
          <p:nvPr/>
        </p:nvSpPr>
        <p:spPr>
          <a:xfrm>
            <a:off x="2681935" y="6492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مشروع UFWL – إيقاف الموقع والأعمال المتبقية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9164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مشروع UFWL – الخط الزمني</a:t>
            </a:r>
            <a:endParaRPr lang="ar-SA" sz="2400" dirty="0"/>
          </a:p>
        </p:txBody>
      </p:sp>
      <p:sp>
        <p:nvSpPr>
          <p:cNvPr id="3" name="Text 1"/>
          <p:cNvSpPr/>
          <p:nvPr/>
        </p:nvSpPr>
        <p:spPr>
          <a:xfrm>
            <a:off x="169164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الجدول الزمني لأنشطة المشروع · إيقاف الموقع وأعمال الدعم</a:t>
            </a:r>
            <a:endParaRPr lang="ar-SA" sz="1200" dirty="0"/>
          </a:p>
        </p:txBody>
      </p:sp>
      <p:sp>
        <p:nvSpPr>
          <p:cNvPr id="4" name="Shape 2"/>
          <p:cNvSpPr/>
          <p:nvPr/>
        </p:nvSpPr>
        <p:spPr>
          <a:xfrm>
            <a:off x="11569903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126980" y="1005840"/>
            <a:ext cx="13880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900" dirty="0"/>
          </a:p>
        </p:txBody>
      </p:sp>
      <p:sp>
        <p:nvSpPr>
          <p:cNvPr id="6" name="Shape 4"/>
          <p:cNvSpPr/>
          <p:nvPr/>
        </p:nvSpPr>
        <p:spPr>
          <a:xfrm>
            <a:off x="9816084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36738" y="1005840"/>
            <a:ext cx="2024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900" dirty="0"/>
          </a:p>
        </p:txBody>
      </p:sp>
      <p:sp>
        <p:nvSpPr>
          <p:cNvPr id="8" name="Shape 6"/>
          <p:cNvSpPr/>
          <p:nvPr/>
        </p:nvSpPr>
        <p:spPr>
          <a:xfrm>
            <a:off x="7425842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9180" y="1005840"/>
            <a:ext cx="25017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900" dirty="0"/>
          </a:p>
        </p:txBody>
      </p:sp>
      <p:sp>
        <p:nvSpPr>
          <p:cNvPr id="10" name="Shape 8"/>
          <p:cNvSpPr/>
          <p:nvPr/>
        </p:nvSpPr>
        <p:spPr>
          <a:xfrm>
            <a:off x="4558284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91079" y="1005840"/>
            <a:ext cx="181234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900" dirty="0"/>
          </a:p>
        </p:txBody>
      </p:sp>
      <p:sp>
        <p:nvSpPr>
          <p:cNvPr id="12" name="Shape 10"/>
          <p:cNvSpPr/>
          <p:nvPr/>
        </p:nvSpPr>
        <p:spPr>
          <a:xfrm>
            <a:off x="11317636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6679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15961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6512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1428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6344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1261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177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1093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6009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926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5842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0758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56747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0590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5507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423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8815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C9D3D8"/>
          </a:solidFill>
          <a:ln w="12700">
            <a:solidFill>
              <a:srgbClr val="C9D3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317636" y="3447288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107324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110732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1100" dirty="0"/>
          </a:p>
        </p:txBody>
      </p:sp>
      <p:sp>
        <p:nvSpPr>
          <p:cNvPr id="33" name="Shape 31"/>
          <p:cNvSpPr/>
          <p:nvPr/>
        </p:nvSpPr>
        <p:spPr>
          <a:xfrm>
            <a:off x="9899778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972930" y="2734056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991218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31 أغسطس 2026</a:t>
            </a:r>
            <a:endParaRPr lang="ar-SA" sz="950" dirty="0"/>
          </a:p>
        </p:txBody>
      </p:sp>
      <p:sp>
        <p:nvSpPr>
          <p:cNvPr id="36" name="Text 34"/>
          <p:cNvSpPr/>
          <p:nvPr/>
        </p:nvSpPr>
        <p:spPr>
          <a:xfrm>
            <a:off x="9991218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7A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تصريح العمل</a:t>
            </a:r>
            <a:endParaRPr lang="ar-SA" sz="650" dirty="0"/>
          </a:p>
        </p:txBody>
      </p:sp>
      <p:sp>
        <p:nvSpPr>
          <p:cNvPr id="37" name="Shape 35"/>
          <p:cNvSpPr/>
          <p:nvPr/>
        </p:nvSpPr>
        <p:spPr>
          <a:xfrm>
            <a:off x="10666799" y="4050792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456487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045648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1100" dirty="0"/>
          </a:p>
        </p:txBody>
      </p:sp>
      <p:sp>
        <p:nvSpPr>
          <p:cNvPr id="40" name="Shape 38"/>
          <p:cNvSpPr/>
          <p:nvPr/>
        </p:nvSpPr>
        <p:spPr>
          <a:xfrm>
            <a:off x="9658000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9731152" y="4233672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49440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28 سبتمبر 2026</a:t>
            </a:r>
            <a:endParaRPr lang="ar-SA" sz="950" dirty="0"/>
          </a:p>
        </p:txBody>
      </p:sp>
      <p:sp>
        <p:nvSpPr>
          <p:cNvPr id="43" name="Text 41"/>
          <p:cNvSpPr/>
          <p:nvPr/>
        </p:nvSpPr>
        <p:spPr>
          <a:xfrm>
            <a:off x="9749440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7A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رفض طلب التصريح</a:t>
            </a:r>
            <a:endParaRPr lang="ar-SA" sz="650" dirty="0"/>
          </a:p>
        </p:txBody>
      </p:sp>
      <p:sp>
        <p:nvSpPr>
          <p:cNvPr id="44" name="Shape 42"/>
          <p:cNvSpPr/>
          <p:nvPr/>
        </p:nvSpPr>
        <p:spPr>
          <a:xfrm>
            <a:off x="10015961" y="2624328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805649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9805649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1100" dirty="0"/>
          </a:p>
        </p:txBody>
      </p:sp>
      <p:sp>
        <p:nvSpPr>
          <p:cNvPr id="47" name="Shape 45"/>
          <p:cNvSpPr/>
          <p:nvPr/>
        </p:nvSpPr>
        <p:spPr>
          <a:xfrm>
            <a:off x="9007163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9080315" y="191109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098603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1 أكتوبر 2026</a:t>
            </a:r>
            <a:endParaRPr lang="ar-SA" sz="950" dirty="0"/>
          </a:p>
        </p:txBody>
      </p:sp>
      <p:sp>
        <p:nvSpPr>
          <p:cNvPr id="50" name="Text 48"/>
          <p:cNvSpPr/>
          <p:nvPr/>
        </p:nvSpPr>
        <p:spPr>
          <a:xfrm>
            <a:off x="9098603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إيقاف أنشطة المشروع</a:t>
            </a:r>
            <a:endParaRPr lang="ar-SA" sz="650" dirty="0"/>
          </a:p>
        </p:txBody>
      </p:sp>
      <p:sp>
        <p:nvSpPr>
          <p:cNvPr id="51" name="Shape 49"/>
          <p:cNvSpPr/>
          <p:nvPr/>
        </p:nvSpPr>
        <p:spPr>
          <a:xfrm>
            <a:off x="9365123" y="4050792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154811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915481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1100" dirty="0"/>
          </a:p>
        </p:txBody>
      </p:sp>
      <p:sp>
        <p:nvSpPr>
          <p:cNvPr id="54" name="Shape 52"/>
          <p:cNvSpPr/>
          <p:nvPr/>
        </p:nvSpPr>
        <p:spPr>
          <a:xfrm>
            <a:off x="8356325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8429477" y="505663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447765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سبت 3 أكتوبر 2026</a:t>
            </a:r>
            <a:endParaRPr lang="ar-SA" sz="950" dirty="0"/>
          </a:p>
        </p:txBody>
      </p:sp>
      <p:sp>
        <p:nvSpPr>
          <p:cNvPr id="57" name="Text 55"/>
          <p:cNvSpPr/>
          <p:nvPr/>
        </p:nvSpPr>
        <p:spPr>
          <a:xfrm>
            <a:off x="8447765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زيارة ميدانية مشتركة</a:t>
            </a:r>
            <a:endParaRPr lang="ar-SA" sz="650" dirty="0"/>
          </a:p>
        </p:txBody>
      </p:sp>
      <p:sp>
        <p:nvSpPr>
          <p:cNvPr id="58" name="Shape 56"/>
          <p:cNvSpPr/>
          <p:nvPr/>
        </p:nvSpPr>
        <p:spPr>
          <a:xfrm>
            <a:off x="8714286" y="3447288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03974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850397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1100" dirty="0"/>
          </a:p>
        </p:txBody>
      </p:sp>
      <p:sp>
        <p:nvSpPr>
          <p:cNvPr id="61" name="Shape 59"/>
          <p:cNvSpPr/>
          <p:nvPr/>
        </p:nvSpPr>
        <p:spPr>
          <a:xfrm>
            <a:off x="7705487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7778639" y="273405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96927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 4 أكتوبر 2026</a:t>
            </a:r>
            <a:endParaRPr lang="ar-SA" sz="950" dirty="0"/>
          </a:p>
        </p:txBody>
      </p:sp>
      <p:sp>
        <p:nvSpPr>
          <p:cNvPr id="64" name="Text 62"/>
          <p:cNvSpPr/>
          <p:nvPr/>
        </p:nvSpPr>
        <p:spPr>
          <a:xfrm>
            <a:off x="7796927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تقييم المخاطر وخطة التخفيف</a:t>
            </a:r>
            <a:endParaRPr lang="ar-SA" sz="650" dirty="0"/>
          </a:p>
        </p:txBody>
      </p:sp>
      <p:sp>
        <p:nvSpPr>
          <p:cNvPr id="65" name="Shape 63"/>
          <p:cNvSpPr/>
          <p:nvPr/>
        </p:nvSpPr>
        <p:spPr>
          <a:xfrm>
            <a:off x="8063448" y="4050792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853136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785313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1100" dirty="0"/>
          </a:p>
        </p:txBody>
      </p:sp>
      <p:sp>
        <p:nvSpPr>
          <p:cNvPr id="68" name="Shape 66"/>
          <p:cNvSpPr/>
          <p:nvPr/>
        </p:nvSpPr>
        <p:spPr>
          <a:xfrm>
            <a:off x="7054650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7127802" y="423367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146090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5 أكتوبر 2026</a:t>
            </a:r>
            <a:endParaRPr lang="ar-SA" sz="950" dirty="0"/>
          </a:p>
        </p:txBody>
      </p:sp>
      <p:sp>
        <p:nvSpPr>
          <p:cNvPr id="71" name="Text 69"/>
          <p:cNvSpPr/>
          <p:nvPr/>
        </p:nvSpPr>
        <p:spPr>
          <a:xfrm>
            <a:off x="7146090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خطة عمل تفصيلية</a:t>
            </a:r>
            <a:endParaRPr lang="ar-SA" sz="650" dirty="0"/>
          </a:p>
        </p:txBody>
      </p:sp>
      <p:sp>
        <p:nvSpPr>
          <p:cNvPr id="72" name="Shape 70"/>
          <p:cNvSpPr/>
          <p:nvPr/>
        </p:nvSpPr>
        <p:spPr>
          <a:xfrm>
            <a:off x="7412610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20229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720229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ar-SA" sz="1100" dirty="0"/>
          </a:p>
        </p:txBody>
      </p:sp>
      <p:sp>
        <p:nvSpPr>
          <p:cNvPr id="75" name="Shape 73"/>
          <p:cNvSpPr/>
          <p:nvPr/>
        </p:nvSpPr>
        <p:spPr>
          <a:xfrm>
            <a:off x="6403812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6476964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95252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7 أكتوبر 2026</a:t>
            </a:r>
            <a:endParaRPr lang="ar-SA" sz="950" dirty="0"/>
          </a:p>
        </p:txBody>
      </p:sp>
      <p:sp>
        <p:nvSpPr>
          <p:cNvPr id="78" name="Text 76"/>
          <p:cNvSpPr/>
          <p:nvPr/>
        </p:nvSpPr>
        <p:spPr>
          <a:xfrm>
            <a:off x="6495252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بيان طريقة العمل (MoS)</a:t>
            </a:r>
            <a:endParaRPr lang="ar-SA" sz="650" dirty="0"/>
          </a:p>
        </p:txBody>
      </p:sp>
      <p:sp>
        <p:nvSpPr>
          <p:cNvPr id="79" name="Shape 77"/>
          <p:cNvSpPr/>
          <p:nvPr/>
        </p:nvSpPr>
        <p:spPr>
          <a:xfrm>
            <a:off x="6761773" y="4050792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551461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655146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ar-SA" sz="1100" dirty="0"/>
          </a:p>
        </p:txBody>
      </p:sp>
      <p:sp>
        <p:nvSpPr>
          <p:cNvPr id="82" name="Shape 80"/>
          <p:cNvSpPr/>
          <p:nvPr/>
        </p:nvSpPr>
        <p:spPr>
          <a:xfrm>
            <a:off x="5752974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83" name="Shape 81"/>
          <p:cNvSpPr/>
          <p:nvPr/>
        </p:nvSpPr>
        <p:spPr>
          <a:xfrm>
            <a:off x="5826126" y="505663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844414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7 أكتوبر 2026</a:t>
            </a:r>
            <a:endParaRPr lang="ar-SA" sz="950" dirty="0"/>
          </a:p>
        </p:txBody>
      </p:sp>
      <p:sp>
        <p:nvSpPr>
          <p:cNvPr id="85" name="Text 83"/>
          <p:cNvSpPr/>
          <p:nvPr/>
        </p:nvSpPr>
        <p:spPr>
          <a:xfrm>
            <a:off x="5844414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اجتماع أصحاب المصلحة</a:t>
            </a:r>
            <a:endParaRPr lang="ar-SA" sz="650" dirty="0"/>
          </a:p>
        </p:txBody>
      </p:sp>
      <p:sp>
        <p:nvSpPr>
          <p:cNvPr id="86" name="Shape 84"/>
          <p:cNvSpPr/>
          <p:nvPr/>
        </p:nvSpPr>
        <p:spPr>
          <a:xfrm>
            <a:off x="6110935" y="3447288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900623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8" name="Text 86"/>
          <p:cNvSpPr/>
          <p:nvPr/>
        </p:nvSpPr>
        <p:spPr>
          <a:xfrm>
            <a:off x="590062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ar-SA" sz="1100" dirty="0"/>
          </a:p>
        </p:txBody>
      </p:sp>
      <p:sp>
        <p:nvSpPr>
          <p:cNvPr id="89" name="Shape 87"/>
          <p:cNvSpPr/>
          <p:nvPr/>
        </p:nvSpPr>
        <p:spPr>
          <a:xfrm>
            <a:off x="5102137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5175289" y="273405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193577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8 أكتوبر 2026</a:t>
            </a:r>
            <a:endParaRPr lang="ar-SA" sz="950" dirty="0"/>
          </a:p>
        </p:txBody>
      </p:sp>
      <p:sp>
        <p:nvSpPr>
          <p:cNvPr id="92" name="Text 90"/>
          <p:cNvSpPr/>
          <p:nvPr/>
        </p:nvSpPr>
        <p:spPr>
          <a:xfrm>
            <a:off x="5193577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الرد على استفسارات أصحاب المصلحة</a:t>
            </a:r>
            <a:endParaRPr lang="ar-SA" sz="650" dirty="0"/>
          </a:p>
        </p:txBody>
      </p:sp>
      <p:sp>
        <p:nvSpPr>
          <p:cNvPr id="93" name="Shape 91"/>
          <p:cNvSpPr/>
          <p:nvPr/>
        </p:nvSpPr>
        <p:spPr>
          <a:xfrm>
            <a:off x="5460098" y="4050792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249786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95" name="Text 93"/>
          <p:cNvSpPr/>
          <p:nvPr/>
        </p:nvSpPr>
        <p:spPr>
          <a:xfrm>
            <a:off x="524978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ar-SA" sz="1100" dirty="0"/>
          </a:p>
        </p:txBody>
      </p:sp>
      <p:sp>
        <p:nvSpPr>
          <p:cNvPr id="96" name="Shape 94"/>
          <p:cNvSpPr/>
          <p:nvPr/>
        </p:nvSpPr>
        <p:spPr>
          <a:xfrm>
            <a:off x="445129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7" name="Shape 95"/>
          <p:cNvSpPr/>
          <p:nvPr/>
        </p:nvSpPr>
        <p:spPr>
          <a:xfrm>
            <a:off x="4524451" y="423367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54273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 11 أكتوبر 2026</a:t>
            </a:r>
            <a:endParaRPr lang="ar-SA" sz="950" dirty="0"/>
          </a:p>
        </p:txBody>
      </p:sp>
      <p:sp>
        <p:nvSpPr>
          <p:cNvPr id="99" name="Text 97"/>
          <p:cNvSpPr/>
          <p:nvPr/>
        </p:nvSpPr>
        <p:spPr>
          <a:xfrm>
            <a:off x="454273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استلام توضيح من إدارة الهندسة</a:t>
            </a:r>
            <a:endParaRPr lang="ar-SA" sz="650" dirty="0"/>
          </a:p>
        </p:txBody>
      </p:sp>
      <p:sp>
        <p:nvSpPr>
          <p:cNvPr id="100" name="Shape 98"/>
          <p:cNvSpPr/>
          <p:nvPr/>
        </p:nvSpPr>
        <p:spPr>
          <a:xfrm>
            <a:off x="4809260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59894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2" name="Text 100"/>
          <p:cNvSpPr/>
          <p:nvPr/>
        </p:nvSpPr>
        <p:spPr>
          <a:xfrm>
            <a:off x="459894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ar-SA" sz="1100" dirty="0"/>
          </a:p>
        </p:txBody>
      </p:sp>
      <p:sp>
        <p:nvSpPr>
          <p:cNvPr id="103" name="Shape 101"/>
          <p:cNvSpPr/>
          <p:nvPr/>
        </p:nvSpPr>
        <p:spPr>
          <a:xfrm>
            <a:off x="3800462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04" name="Shape 102"/>
          <p:cNvSpPr/>
          <p:nvPr/>
        </p:nvSpPr>
        <p:spPr>
          <a:xfrm>
            <a:off x="3873614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891902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12 أكتوبر 2026</a:t>
            </a:r>
            <a:endParaRPr lang="ar-SA" sz="950" dirty="0"/>
          </a:p>
        </p:txBody>
      </p:sp>
      <p:sp>
        <p:nvSpPr>
          <p:cNvPr id="106" name="Text 104"/>
          <p:cNvSpPr/>
          <p:nvPr/>
        </p:nvSpPr>
        <p:spPr>
          <a:xfrm>
            <a:off x="3891902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المراجعة الثانية (MoS)</a:t>
            </a:r>
            <a:endParaRPr lang="ar-SA" sz="650" dirty="0"/>
          </a:p>
        </p:txBody>
      </p:sp>
      <p:sp>
        <p:nvSpPr>
          <p:cNvPr id="107" name="Shape 105"/>
          <p:cNvSpPr/>
          <p:nvPr/>
        </p:nvSpPr>
        <p:spPr>
          <a:xfrm>
            <a:off x="4158422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948110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9" name="Text 107"/>
          <p:cNvSpPr/>
          <p:nvPr/>
        </p:nvSpPr>
        <p:spPr>
          <a:xfrm>
            <a:off x="394811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ar-SA" sz="1100" dirty="0"/>
          </a:p>
        </p:txBody>
      </p:sp>
      <p:sp>
        <p:nvSpPr>
          <p:cNvPr id="110" name="Shape 108"/>
          <p:cNvSpPr/>
          <p:nvPr/>
        </p:nvSpPr>
        <p:spPr>
          <a:xfrm>
            <a:off x="3149624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1" name="Shape 109"/>
          <p:cNvSpPr/>
          <p:nvPr/>
        </p:nvSpPr>
        <p:spPr>
          <a:xfrm>
            <a:off x="3222776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241064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13 أكتوبر 2026</a:t>
            </a:r>
            <a:endParaRPr lang="ar-SA" sz="950" dirty="0"/>
          </a:p>
        </p:txBody>
      </p:sp>
      <p:sp>
        <p:nvSpPr>
          <p:cNvPr id="113" name="Text 111"/>
          <p:cNvSpPr/>
          <p:nvPr/>
        </p:nvSpPr>
        <p:spPr>
          <a:xfrm>
            <a:off x="3241064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التواصل مع إدارة السلامة</a:t>
            </a:r>
            <a:endParaRPr lang="ar-SA" sz="650" dirty="0"/>
          </a:p>
        </p:txBody>
      </p:sp>
      <p:sp>
        <p:nvSpPr>
          <p:cNvPr id="114" name="Shape 112"/>
          <p:cNvSpPr/>
          <p:nvPr/>
        </p:nvSpPr>
        <p:spPr>
          <a:xfrm>
            <a:off x="3507585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297273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16" name="Text 114"/>
          <p:cNvSpPr/>
          <p:nvPr/>
        </p:nvSpPr>
        <p:spPr>
          <a:xfrm>
            <a:off x="329727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ar-SA" sz="1100" dirty="0"/>
          </a:p>
        </p:txBody>
      </p:sp>
      <p:sp>
        <p:nvSpPr>
          <p:cNvPr id="117" name="Shape 115"/>
          <p:cNvSpPr/>
          <p:nvPr/>
        </p:nvSpPr>
        <p:spPr>
          <a:xfrm>
            <a:off x="2498786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8" name="Shape 116"/>
          <p:cNvSpPr/>
          <p:nvPr/>
        </p:nvSpPr>
        <p:spPr>
          <a:xfrm>
            <a:off x="2571938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590226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14 أكتوبر 2026</a:t>
            </a:r>
            <a:endParaRPr lang="ar-SA" sz="950" dirty="0"/>
          </a:p>
        </p:txBody>
      </p:sp>
      <p:sp>
        <p:nvSpPr>
          <p:cNvPr id="120" name="Text 118"/>
          <p:cNvSpPr/>
          <p:nvPr/>
        </p:nvSpPr>
        <p:spPr>
          <a:xfrm>
            <a:off x="2590226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تعميم التصريح للموافقات</a:t>
            </a:r>
            <a:endParaRPr lang="ar-SA" sz="650" dirty="0"/>
          </a:p>
        </p:txBody>
      </p:sp>
      <p:sp>
        <p:nvSpPr>
          <p:cNvPr id="121" name="Shape 119"/>
          <p:cNvSpPr/>
          <p:nvPr/>
        </p:nvSpPr>
        <p:spPr>
          <a:xfrm>
            <a:off x="2856747" y="4050792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646435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23" name="Text 121"/>
          <p:cNvSpPr/>
          <p:nvPr/>
        </p:nvSpPr>
        <p:spPr>
          <a:xfrm>
            <a:off x="2646435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1100" dirty="0"/>
          </a:p>
        </p:txBody>
      </p:sp>
      <p:sp>
        <p:nvSpPr>
          <p:cNvPr id="124" name="Shape 122"/>
          <p:cNvSpPr/>
          <p:nvPr/>
        </p:nvSpPr>
        <p:spPr>
          <a:xfrm>
            <a:off x="184794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25" name="Shape 123"/>
          <p:cNvSpPr/>
          <p:nvPr/>
        </p:nvSpPr>
        <p:spPr>
          <a:xfrm>
            <a:off x="1921101" y="423367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93938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15 أكتوبر 2026</a:t>
            </a:r>
            <a:endParaRPr lang="ar-SA" sz="950" dirty="0"/>
          </a:p>
        </p:txBody>
      </p:sp>
      <p:sp>
        <p:nvSpPr>
          <p:cNvPr id="127" name="Text 125"/>
          <p:cNvSpPr/>
          <p:nvPr/>
        </p:nvSpPr>
        <p:spPr>
          <a:xfrm>
            <a:off x="193938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ملاحظات إضافية من الإدارات</a:t>
            </a:r>
            <a:endParaRPr lang="ar-SA" sz="650" dirty="0"/>
          </a:p>
        </p:txBody>
      </p:sp>
      <p:sp>
        <p:nvSpPr>
          <p:cNvPr id="128" name="Shape 126"/>
          <p:cNvSpPr/>
          <p:nvPr/>
        </p:nvSpPr>
        <p:spPr>
          <a:xfrm>
            <a:off x="2205909" y="2624328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995597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199559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1100" dirty="0"/>
          </a:p>
        </p:txBody>
      </p:sp>
      <p:sp>
        <p:nvSpPr>
          <p:cNvPr id="131" name="Shape 129"/>
          <p:cNvSpPr/>
          <p:nvPr/>
        </p:nvSpPr>
        <p:spPr>
          <a:xfrm>
            <a:off x="1197111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2" name="Shape 130"/>
          <p:cNvSpPr/>
          <p:nvPr/>
        </p:nvSpPr>
        <p:spPr>
          <a:xfrm>
            <a:off x="1270263" y="191109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1288551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19 أكتوبر 2026</a:t>
            </a:r>
            <a:endParaRPr lang="ar-SA" sz="950" dirty="0"/>
          </a:p>
        </p:txBody>
      </p:sp>
      <p:sp>
        <p:nvSpPr>
          <p:cNvPr id="134" name="Text 132"/>
          <p:cNvSpPr/>
          <p:nvPr/>
        </p:nvSpPr>
        <p:spPr>
          <a:xfrm>
            <a:off x="1288551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المراجعة الثالثة (MoS)</a:t>
            </a:r>
            <a:endParaRPr lang="ar-SA" sz="650" dirty="0"/>
          </a:p>
        </p:txBody>
      </p:sp>
      <p:sp>
        <p:nvSpPr>
          <p:cNvPr id="135" name="Shape 133"/>
          <p:cNvSpPr/>
          <p:nvPr/>
        </p:nvSpPr>
        <p:spPr>
          <a:xfrm>
            <a:off x="1555072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1344760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7" name="Text 135"/>
          <p:cNvSpPr/>
          <p:nvPr/>
        </p:nvSpPr>
        <p:spPr>
          <a:xfrm>
            <a:off x="134476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1100" dirty="0"/>
          </a:p>
        </p:txBody>
      </p:sp>
      <p:sp>
        <p:nvSpPr>
          <p:cNvPr id="138" name="Shape 136"/>
          <p:cNvSpPr/>
          <p:nvPr/>
        </p:nvSpPr>
        <p:spPr>
          <a:xfrm>
            <a:off x="546273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9" name="Shape 137"/>
          <p:cNvSpPr/>
          <p:nvPr/>
        </p:nvSpPr>
        <p:spPr>
          <a:xfrm>
            <a:off x="619425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637713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20 أكتوبر 2026</a:t>
            </a:r>
            <a:endParaRPr lang="ar-SA" sz="950" dirty="0"/>
          </a:p>
        </p:txBody>
      </p:sp>
      <p:sp>
        <p:nvSpPr>
          <p:cNvPr id="141" name="Text 139"/>
          <p:cNvSpPr/>
          <p:nvPr/>
        </p:nvSpPr>
        <p:spPr>
          <a:xfrm>
            <a:off x="637713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إغلاق الاستفسار الأخير</a:t>
            </a:r>
            <a:endParaRPr lang="ar-SA" sz="650" dirty="0"/>
          </a:p>
        </p:txBody>
      </p:sp>
      <p:sp>
        <p:nvSpPr>
          <p:cNvPr id="142" name="Shape 140"/>
          <p:cNvSpPr/>
          <p:nvPr/>
        </p:nvSpPr>
        <p:spPr>
          <a:xfrm>
            <a:off x="904234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93922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693922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ar-SA" sz="1100" dirty="0"/>
          </a:p>
        </p:txBody>
      </p:sp>
      <p:sp>
        <p:nvSpPr>
          <p:cNvPr id="145" name="Shape 143"/>
          <p:cNvSpPr/>
          <p:nvPr/>
        </p:nvSpPr>
        <p:spPr>
          <a:xfrm>
            <a:off x="274320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46" name="Shape 144"/>
          <p:cNvSpPr/>
          <p:nvPr/>
        </p:nvSpPr>
        <p:spPr>
          <a:xfrm>
            <a:off x="347472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365760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21 أكتوبر 2026</a:t>
            </a:r>
            <a:endParaRPr lang="ar-SA" sz="950" dirty="0"/>
          </a:p>
        </p:txBody>
      </p:sp>
      <p:sp>
        <p:nvSpPr>
          <p:cNvPr id="148" name="Text 146"/>
          <p:cNvSpPr/>
          <p:nvPr/>
        </p:nvSpPr>
        <p:spPr>
          <a:xfrm>
            <a:off x="365760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تصريح العمل جاهز للتوقيع</a:t>
            </a:r>
            <a:endParaRPr lang="ar-SA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9164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الأعمال المتبقية – برنامج أعمال الدعم والحفرة</a:t>
            </a:r>
            <a:endParaRPr lang="ar-SA" sz="2400" dirty="0"/>
          </a:p>
        </p:txBody>
      </p:sp>
      <p:sp>
        <p:nvSpPr>
          <p:cNvPr id="3" name="Text 1"/>
          <p:cNvSpPr/>
          <p:nvPr/>
        </p:nvSpPr>
        <p:spPr>
          <a:xfrm>
            <a:off x="169164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أعمال حفرة RYDN-WLB · التصور الأولي المعاد تخطيطه بناءً على برنامج المقاول (Rev 01) · البدء 22 أكتوبر 2026</a:t>
            </a:r>
            <a:endParaRPr lang="ar-SA" sz="1200" dirty="0"/>
          </a:p>
        </p:txBody>
      </p:sp>
      <p:sp>
        <p:nvSpPr>
          <p:cNvPr id="4" name="Shape 2"/>
          <p:cNvSpPr/>
          <p:nvPr/>
        </p:nvSpPr>
        <p:spPr>
          <a:xfrm>
            <a:off x="11551615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94569" y="1005840"/>
            <a:ext cx="1002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المسار الحرج</a:t>
            </a:r>
            <a:endParaRPr lang="ar-SA" sz="900" dirty="0"/>
          </a:p>
        </p:txBody>
      </p:sp>
      <p:sp>
        <p:nvSpPr>
          <p:cNvPr id="6" name="Shape 4"/>
          <p:cNvSpPr/>
          <p:nvPr/>
        </p:nvSpPr>
        <p:spPr>
          <a:xfrm>
            <a:off x="10275113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22538" y="1005840"/>
            <a:ext cx="179771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نشاط (اللون = مجموعة العمل)</a:t>
            </a:r>
            <a:endParaRPr lang="ar-SA" sz="900" dirty="0"/>
          </a:p>
        </p:txBody>
      </p:sp>
      <p:sp>
        <p:nvSpPr>
          <p:cNvPr id="8" name="Shape 6"/>
          <p:cNvSpPr/>
          <p:nvPr/>
        </p:nvSpPr>
        <p:spPr>
          <a:xfrm>
            <a:off x="8349386" y="1060704"/>
            <a:ext cx="128016" cy="128016"/>
          </a:xfrm>
          <a:prstGeom prst="diamond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58177" y="1005840"/>
            <a:ext cx="79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ميل ستون</a:t>
            </a:r>
            <a:endParaRPr lang="ar-SA" sz="900" dirty="0"/>
          </a:p>
        </p:txBody>
      </p:sp>
      <p:sp>
        <p:nvSpPr>
          <p:cNvPr id="10" name="Shape 8"/>
          <p:cNvSpPr/>
          <p:nvPr/>
        </p:nvSpPr>
        <p:spPr>
          <a:xfrm>
            <a:off x="7230161" y="1060704"/>
            <a:ext cx="182880" cy="128016"/>
          </a:xfrm>
          <a:prstGeom prst="rect">
            <a:avLst/>
          </a:prstGeom>
          <a:solidFill>
            <a:srgbClr val="CFD8DC"/>
          </a:solidFill>
          <a:ln w="12700">
            <a:solidFill>
              <a:srgbClr val="CFD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34710" y="1005840"/>
            <a:ext cx="94914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غير عمل</a:t>
            </a:r>
            <a:endParaRPr lang="ar-SA" sz="900" dirty="0"/>
          </a:p>
        </p:txBody>
      </p:sp>
      <p:sp>
        <p:nvSpPr>
          <p:cNvPr id="12" name="Shape 10"/>
          <p:cNvSpPr/>
          <p:nvPr/>
        </p:nvSpPr>
        <p:spPr>
          <a:xfrm>
            <a:off x="6143854" y="1042416"/>
            <a:ext cx="0" cy="164592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4858207" y="1005840"/>
            <a:ext cx="1002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تاريخ الموقف</a:t>
            </a:r>
            <a:endParaRPr lang="ar-SA" sz="900" dirty="0"/>
          </a:p>
        </p:txBody>
      </p:sp>
      <p:sp>
        <p:nvSpPr>
          <p:cNvPr id="14" name="Text 12"/>
          <p:cNvSpPr/>
          <p:nvPr/>
        </p:nvSpPr>
        <p:spPr>
          <a:xfrm>
            <a:off x="3274466" y="1005840"/>
            <a:ext cx="163860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علاقة ارتباط (FS / SS)</a:t>
            </a:r>
            <a:endParaRPr lang="ar-SA" sz="900" dirty="0"/>
          </a:p>
        </p:txBody>
      </p:sp>
      <p:sp>
        <p:nvSpPr>
          <p:cNvPr id="15" name="Shape 13"/>
          <p:cNvSpPr/>
          <p:nvPr/>
        </p:nvSpPr>
        <p:spPr>
          <a:xfrm>
            <a:off x="6147511" y="1325880"/>
            <a:ext cx="5678424" cy="64008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41887" y="132588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" dirty="0"/>
          </a:p>
        </p:txBody>
      </p:sp>
      <p:sp>
        <p:nvSpPr>
          <p:cNvPr id="17" name="Text 15"/>
          <p:cNvSpPr/>
          <p:nvPr/>
        </p:nvSpPr>
        <p:spPr>
          <a:xfrm>
            <a:off x="8762695" y="13258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النشاط</a:t>
            </a:r>
            <a:endParaRPr lang="ar-SA" sz="900" dirty="0"/>
          </a:p>
        </p:txBody>
      </p:sp>
      <p:sp>
        <p:nvSpPr>
          <p:cNvPr id="18" name="Text 16"/>
          <p:cNvSpPr/>
          <p:nvPr/>
        </p:nvSpPr>
        <p:spPr>
          <a:xfrm>
            <a:off x="7967167" y="13258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السابق</a:t>
            </a:r>
            <a:endParaRPr lang="ar-SA" sz="900" dirty="0"/>
          </a:p>
        </p:txBody>
      </p:sp>
      <p:sp>
        <p:nvSpPr>
          <p:cNvPr id="19" name="Text 17"/>
          <p:cNvSpPr/>
          <p:nvPr/>
        </p:nvSpPr>
        <p:spPr>
          <a:xfrm>
            <a:off x="7464247" y="13258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المدة (أيام عمل)</a:t>
            </a:r>
            <a:endParaRPr lang="ar-SA" sz="750" dirty="0"/>
          </a:p>
        </p:txBody>
      </p:sp>
      <p:sp>
        <p:nvSpPr>
          <p:cNvPr id="20" name="Text 18"/>
          <p:cNvSpPr/>
          <p:nvPr/>
        </p:nvSpPr>
        <p:spPr>
          <a:xfrm>
            <a:off x="6805879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البداية</a:t>
            </a:r>
            <a:endParaRPr lang="ar-SA" sz="900" dirty="0"/>
          </a:p>
        </p:txBody>
      </p:sp>
      <p:sp>
        <p:nvSpPr>
          <p:cNvPr id="21" name="Text 19"/>
          <p:cNvSpPr/>
          <p:nvPr/>
        </p:nvSpPr>
        <p:spPr>
          <a:xfrm>
            <a:off x="6147511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النهاية</a:t>
            </a:r>
            <a:endParaRPr lang="ar-SA" sz="900" dirty="0"/>
          </a:p>
        </p:txBody>
      </p:sp>
      <p:sp>
        <p:nvSpPr>
          <p:cNvPr id="22" name="Shape 20"/>
          <p:cNvSpPr/>
          <p:nvPr/>
        </p:nvSpPr>
        <p:spPr>
          <a:xfrm>
            <a:off x="3086584" y="1325880"/>
            <a:ext cx="3060927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086584" y="1325880"/>
            <a:ext cx="30609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أكتوبر 2026</a:t>
            </a:r>
            <a:endParaRPr lang="ar-SA" sz="850" dirty="0"/>
          </a:p>
        </p:txBody>
      </p:sp>
      <p:sp>
        <p:nvSpPr>
          <p:cNvPr id="24" name="Shape 22"/>
          <p:cNvSpPr/>
          <p:nvPr/>
        </p:nvSpPr>
        <p:spPr>
          <a:xfrm>
            <a:off x="365760" y="1325880"/>
            <a:ext cx="2720824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1325880"/>
            <a:ext cx="2720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نوفمبر 2026</a:t>
            </a:r>
            <a:endParaRPr lang="ar-SA" sz="850" dirty="0"/>
          </a:p>
        </p:txBody>
      </p:sp>
      <p:sp>
        <p:nvSpPr>
          <p:cNvPr id="26" name="Shape 24"/>
          <p:cNvSpPr/>
          <p:nvPr/>
        </p:nvSpPr>
        <p:spPr>
          <a:xfrm>
            <a:off x="5637357" y="1508760"/>
            <a:ext cx="510155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37357" y="1508760"/>
            <a:ext cx="510155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1</a:t>
            </a:r>
            <a:endParaRPr lang="ar-SA" sz="650" dirty="0"/>
          </a:p>
        </p:txBody>
      </p:sp>
      <p:sp>
        <p:nvSpPr>
          <p:cNvPr id="28" name="Shape 26"/>
          <p:cNvSpPr/>
          <p:nvPr/>
        </p:nvSpPr>
        <p:spPr>
          <a:xfrm>
            <a:off x="4446996" y="1508760"/>
            <a:ext cx="1190361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46996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2</a:t>
            </a:r>
            <a:endParaRPr lang="ar-SA" sz="650" dirty="0"/>
          </a:p>
        </p:txBody>
      </p:sp>
      <p:sp>
        <p:nvSpPr>
          <p:cNvPr id="30" name="Shape 28"/>
          <p:cNvSpPr/>
          <p:nvPr/>
        </p:nvSpPr>
        <p:spPr>
          <a:xfrm>
            <a:off x="3256636" y="1508760"/>
            <a:ext cx="1190361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56636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3</a:t>
            </a:r>
            <a:endParaRPr lang="ar-SA" sz="650" dirty="0"/>
          </a:p>
        </p:txBody>
      </p:sp>
      <p:sp>
        <p:nvSpPr>
          <p:cNvPr id="32" name="Shape 30"/>
          <p:cNvSpPr/>
          <p:nvPr/>
        </p:nvSpPr>
        <p:spPr>
          <a:xfrm>
            <a:off x="2066275" y="1508760"/>
            <a:ext cx="1190361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066275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4</a:t>
            </a:r>
            <a:endParaRPr lang="ar-SA" sz="650" dirty="0"/>
          </a:p>
        </p:txBody>
      </p:sp>
      <p:sp>
        <p:nvSpPr>
          <p:cNvPr id="34" name="Shape 32"/>
          <p:cNvSpPr/>
          <p:nvPr/>
        </p:nvSpPr>
        <p:spPr>
          <a:xfrm>
            <a:off x="875915" y="1508760"/>
            <a:ext cx="1190361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75915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5</a:t>
            </a:r>
            <a:endParaRPr lang="ar-SA" sz="650" dirty="0"/>
          </a:p>
        </p:txBody>
      </p:sp>
      <p:sp>
        <p:nvSpPr>
          <p:cNvPr id="36" name="Shape 34"/>
          <p:cNvSpPr/>
          <p:nvPr/>
        </p:nvSpPr>
        <p:spPr>
          <a:xfrm>
            <a:off x="365760" y="1508760"/>
            <a:ext cx="510155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1508760"/>
            <a:ext cx="510155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6</a:t>
            </a:r>
            <a:endParaRPr lang="ar-SA" sz="650" dirty="0"/>
          </a:p>
        </p:txBody>
      </p:sp>
      <p:sp>
        <p:nvSpPr>
          <p:cNvPr id="38" name="Shape 36"/>
          <p:cNvSpPr/>
          <p:nvPr/>
        </p:nvSpPr>
        <p:spPr>
          <a:xfrm>
            <a:off x="5977460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77460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40" name="Text 38"/>
          <p:cNvSpPr/>
          <p:nvPr/>
        </p:nvSpPr>
        <p:spPr>
          <a:xfrm>
            <a:off x="5977460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550" dirty="0"/>
          </a:p>
        </p:txBody>
      </p:sp>
      <p:sp>
        <p:nvSpPr>
          <p:cNvPr id="41" name="Shape 39"/>
          <p:cNvSpPr/>
          <p:nvPr/>
        </p:nvSpPr>
        <p:spPr>
          <a:xfrm>
            <a:off x="5807408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07408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43" name="Text 41"/>
          <p:cNvSpPr/>
          <p:nvPr/>
        </p:nvSpPr>
        <p:spPr>
          <a:xfrm>
            <a:off x="5807408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550" dirty="0"/>
          </a:p>
        </p:txBody>
      </p:sp>
      <p:sp>
        <p:nvSpPr>
          <p:cNvPr id="44" name="Shape 42"/>
          <p:cNvSpPr/>
          <p:nvPr/>
        </p:nvSpPr>
        <p:spPr>
          <a:xfrm>
            <a:off x="5637357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37357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46" name="Text 44"/>
          <p:cNvSpPr/>
          <p:nvPr/>
        </p:nvSpPr>
        <p:spPr>
          <a:xfrm>
            <a:off x="5637357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550" dirty="0"/>
          </a:p>
        </p:txBody>
      </p:sp>
      <p:sp>
        <p:nvSpPr>
          <p:cNvPr id="47" name="Shape 45"/>
          <p:cNvSpPr/>
          <p:nvPr/>
        </p:nvSpPr>
        <p:spPr>
          <a:xfrm>
            <a:off x="5637357" y="1965960"/>
            <a:ext cx="170052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467305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67305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50" name="Text 48"/>
          <p:cNvSpPr/>
          <p:nvPr/>
        </p:nvSpPr>
        <p:spPr>
          <a:xfrm>
            <a:off x="5467305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ar-SA" sz="550" dirty="0"/>
          </a:p>
        </p:txBody>
      </p:sp>
      <p:sp>
        <p:nvSpPr>
          <p:cNvPr id="51" name="Shape 49"/>
          <p:cNvSpPr/>
          <p:nvPr/>
        </p:nvSpPr>
        <p:spPr>
          <a:xfrm>
            <a:off x="5637357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297254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97254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54" name="Text 52"/>
          <p:cNvSpPr/>
          <p:nvPr/>
        </p:nvSpPr>
        <p:spPr>
          <a:xfrm>
            <a:off x="5297254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ar-SA" sz="550" dirty="0"/>
          </a:p>
        </p:txBody>
      </p:sp>
      <p:sp>
        <p:nvSpPr>
          <p:cNvPr id="55" name="Shape 53"/>
          <p:cNvSpPr/>
          <p:nvPr/>
        </p:nvSpPr>
        <p:spPr>
          <a:xfrm>
            <a:off x="512720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2720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57" name="Text 55"/>
          <p:cNvSpPr/>
          <p:nvPr/>
        </p:nvSpPr>
        <p:spPr>
          <a:xfrm>
            <a:off x="512720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ar-SA" sz="550" dirty="0"/>
          </a:p>
        </p:txBody>
      </p:sp>
      <p:sp>
        <p:nvSpPr>
          <p:cNvPr id="58" name="Shape 56"/>
          <p:cNvSpPr/>
          <p:nvPr/>
        </p:nvSpPr>
        <p:spPr>
          <a:xfrm>
            <a:off x="4957151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57151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60" name="Text 58"/>
          <p:cNvSpPr/>
          <p:nvPr/>
        </p:nvSpPr>
        <p:spPr>
          <a:xfrm>
            <a:off x="4957151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ar-SA" sz="550" dirty="0"/>
          </a:p>
        </p:txBody>
      </p:sp>
      <p:sp>
        <p:nvSpPr>
          <p:cNvPr id="61" name="Shape 59"/>
          <p:cNvSpPr/>
          <p:nvPr/>
        </p:nvSpPr>
        <p:spPr>
          <a:xfrm>
            <a:off x="4787099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87099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63" name="Text 61"/>
          <p:cNvSpPr/>
          <p:nvPr/>
        </p:nvSpPr>
        <p:spPr>
          <a:xfrm>
            <a:off x="4787099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ar-SA" sz="550" dirty="0"/>
          </a:p>
        </p:txBody>
      </p:sp>
      <p:sp>
        <p:nvSpPr>
          <p:cNvPr id="64" name="Shape 62"/>
          <p:cNvSpPr/>
          <p:nvPr/>
        </p:nvSpPr>
        <p:spPr>
          <a:xfrm>
            <a:off x="4617048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617048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66" name="Text 64"/>
          <p:cNvSpPr/>
          <p:nvPr/>
        </p:nvSpPr>
        <p:spPr>
          <a:xfrm>
            <a:off x="4617048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ar-SA" sz="550" dirty="0"/>
          </a:p>
        </p:txBody>
      </p:sp>
      <p:sp>
        <p:nvSpPr>
          <p:cNvPr id="67" name="Shape 65"/>
          <p:cNvSpPr/>
          <p:nvPr/>
        </p:nvSpPr>
        <p:spPr>
          <a:xfrm>
            <a:off x="4446996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446996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69" name="Text 67"/>
          <p:cNvSpPr/>
          <p:nvPr/>
        </p:nvSpPr>
        <p:spPr>
          <a:xfrm>
            <a:off x="4446996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ar-SA" sz="550" dirty="0"/>
          </a:p>
        </p:txBody>
      </p:sp>
      <p:sp>
        <p:nvSpPr>
          <p:cNvPr id="70" name="Shape 68"/>
          <p:cNvSpPr/>
          <p:nvPr/>
        </p:nvSpPr>
        <p:spPr>
          <a:xfrm>
            <a:off x="4446996" y="1965960"/>
            <a:ext cx="170052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276945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276945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73" name="Text 71"/>
          <p:cNvSpPr/>
          <p:nvPr/>
        </p:nvSpPr>
        <p:spPr>
          <a:xfrm>
            <a:off x="4276945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ar-SA" sz="550" dirty="0"/>
          </a:p>
        </p:txBody>
      </p:sp>
      <p:sp>
        <p:nvSpPr>
          <p:cNvPr id="74" name="Shape 72"/>
          <p:cNvSpPr/>
          <p:nvPr/>
        </p:nvSpPr>
        <p:spPr>
          <a:xfrm>
            <a:off x="4446996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106893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06893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77" name="Text 75"/>
          <p:cNvSpPr/>
          <p:nvPr/>
        </p:nvSpPr>
        <p:spPr>
          <a:xfrm>
            <a:off x="4106893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ar-SA" sz="550" dirty="0"/>
          </a:p>
        </p:txBody>
      </p:sp>
      <p:sp>
        <p:nvSpPr>
          <p:cNvPr id="78" name="Shape 76"/>
          <p:cNvSpPr/>
          <p:nvPr/>
        </p:nvSpPr>
        <p:spPr>
          <a:xfrm>
            <a:off x="393684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3684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80" name="Text 78"/>
          <p:cNvSpPr/>
          <p:nvPr/>
        </p:nvSpPr>
        <p:spPr>
          <a:xfrm>
            <a:off x="393684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ar-SA" sz="550" dirty="0"/>
          </a:p>
        </p:txBody>
      </p:sp>
      <p:sp>
        <p:nvSpPr>
          <p:cNvPr id="81" name="Shape 79"/>
          <p:cNvSpPr/>
          <p:nvPr/>
        </p:nvSpPr>
        <p:spPr>
          <a:xfrm>
            <a:off x="3766790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766790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83" name="Text 81"/>
          <p:cNvSpPr/>
          <p:nvPr/>
        </p:nvSpPr>
        <p:spPr>
          <a:xfrm>
            <a:off x="3766790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ar-SA" sz="550" dirty="0"/>
          </a:p>
        </p:txBody>
      </p:sp>
      <p:sp>
        <p:nvSpPr>
          <p:cNvPr id="84" name="Shape 82"/>
          <p:cNvSpPr/>
          <p:nvPr/>
        </p:nvSpPr>
        <p:spPr>
          <a:xfrm>
            <a:off x="3596739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3596739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86" name="Text 84"/>
          <p:cNvSpPr/>
          <p:nvPr/>
        </p:nvSpPr>
        <p:spPr>
          <a:xfrm>
            <a:off x="3596739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ar-SA" sz="550" dirty="0"/>
          </a:p>
        </p:txBody>
      </p:sp>
      <p:sp>
        <p:nvSpPr>
          <p:cNvPr id="87" name="Shape 85"/>
          <p:cNvSpPr/>
          <p:nvPr/>
        </p:nvSpPr>
        <p:spPr>
          <a:xfrm>
            <a:off x="3426687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3426687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89" name="Text 87"/>
          <p:cNvSpPr/>
          <p:nvPr/>
        </p:nvSpPr>
        <p:spPr>
          <a:xfrm>
            <a:off x="3426687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ar-SA" sz="550" dirty="0"/>
          </a:p>
        </p:txBody>
      </p:sp>
      <p:sp>
        <p:nvSpPr>
          <p:cNvPr id="90" name="Shape 88"/>
          <p:cNvSpPr/>
          <p:nvPr/>
        </p:nvSpPr>
        <p:spPr>
          <a:xfrm>
            <a:off x="3256636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3256636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92" name="Text 90"/>
          <p:cNvSpPr/>
          <p:nvPr/>
        </p:nvSpPr>
        <p:spPr>
          <a:xfrm>
            <a:off x="3256636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ar-SA" sz="550" dirty="0"/>
          </a:p>
        </p:txBody>
      </p:sp>
      <p:sp>
        <p:nvSpPr>
          <p:cNvPr id="93" name="Shape 91"/>
          <p:cNvSpPr/>
          <p:nvPr/>
        </p:nvSpPr>
        <p:spPr>
          <a:xfrm>
            <a:off x="3256636" y="1965960"/>
            <a:ext cx="170052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086584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086584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96" name="Text 94"/>
          <p:cNvSpPr/>
          <p:nvPr/>
        </p:nvSpPr>
        <p:spPr>
          <a:xfrm>
            <a:off x="3086584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ar-SA" sz="550" dirty="0"/>
          </a:p>
        </p:txBody>
      </p:sp>
      <p:sp>
        <p:nvSpPr>
          <p:cNvPr id="97" name="Shape 95"/>
          <p:cNvSpPr/>
          <p:nvPr/>
        </p:nvSpPr>
        <p:spPr>
          <a:xfrm>
            <a:off x="3256636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916533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916533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100" name="Text 98"/>
          <p:cNvSpPr/>
          <p:nvPr/>
        </p:nvSpPr>
        <p:spPr>
          <a:xfrm>
            <a:off x="2916533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550" dirty="0"/>
          </a:p>
        </p:txBody>
      </p:sp>
      <p:sp>
        <p:nvSpPr>
          <p:cNvPr id="101" name="Shape 99"/>
          <p:cNvSpPr/>
          <p:nvPr/>
        </p:nvSpPr>
        <p:spPr>
          <a:xfrm>
            <a:off x="2746481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746481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103" name="Text 101"/>
          <p:cNvSpPr/>
          <p:nvPr/>
        </p:nvSpPr>
        <p:spPr>
          <a:xfrm>
            <a:off x="2746481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550" dirty="0"/>
          </a:p>
        </p:txBody>
      </p:sp>
      <p:sp>
        <p:nvSpPr>
          <p:cNvPr id="104" name="Shape 102"/>
          <p:cNvSpPr/>
          <p:nvPr/>
        </p:nvSpPr>
        <p:spPr>
          <a:xfrm>
            <a:off x="2576430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576430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106" name="Text 104"/>
          <p:cNvSpPr/>
          <p:nvPr/>
        </p:nvSpPr>
        <p:spPr>
          <a:xfrm>
            <a:off x="2576430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550" dirty="0"/>
          </a:p>
        </p:txBody>
      </p:sp>
      <p:sp>
        <p:nvSpPr>
          <p:cNvPr id="107" name="Shape 105"/>
          <p:cNvSpPr/>
          <p:nvPr/>
        </p:nvSpPr>
        <p:spPr>
          <a:xfrm>
            <a:off x="2406378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2406378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109" name="Text 107"/>
          <p:cNvSpPr/>
          <p:nvPr/>
        </p:nvSpPr>
        <p:spPr>
          <a:xfrm>
            <a:off x="2406378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550" dirty="0"/>
          </a:p>
        </p:txBody>
      </p:sp>
      <p:sp>
        <p:nvSpPr>
          <p:cNvPr id="110" name="Shape 108"/>
          <p:cNvSpPr/>
          <p:nvPr/>
        </p:nvSpPr>
        <p:spPr>
          <a:xfrm>
            <a:off x="2236327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236327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112" name="Text 110"/>
          <p:cNvSpPr/>
          <p:nvPr/>
        </p:nvSpPr>
        <p:spPr>
          <a:xfrm>
            <a:off x="2236327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550" dirty="0"/>
          </a:p>
        </p:txBody>
      </p:sp>
      <p:sp>
        <p:nvSpPr>
          <p:cNvPr id="113" name="Shape 111"/>
          <p:cNvSpPr/>
          <p:nvPr/>
        </p:nvSpPr>
        <p:spPr>
          <a:xfrm>
            <a:off x="2066275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2066275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115" name="Text 113"/>
          <p:cNvSpPr/>
          <p:nvPr/>
        </p:nvSpPr>
        <p:spPr>
          <a:xfrm>
            <a:off x="2066275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550" dirty="0"/>
          </a:p>
        </p:txBody>
      </p:sp>
      <p:sp>
        <p:nvSpPr>
          <p:cNvPr id="116" name="Shape 114"/>
          <p:cNvSpPr/>
          <p:nvPr/>
        </p:nvSpPr>
        <p:spPr>
          <a:xfrm>
            <a:off x="2066275" y="1965960"/>
            <a:ext cx="170052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896224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896224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119" name="Text 117"/>
          <p:cNvSpPr/>
          <p:nvPr/>
        </p:nvSpPr>
        <p:spPr>
          <a:xfrm>
            <a:off x="1896224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ar-SA" sz="550" dirty="0"/>
          </a:p>
        </p:txBody>
      </p:sp>
      <p:sp>
        <p:nvSpPr>
          <p:cNvPr id="120" name="Shape 118"/>
          <p:cNvSpPr/>
          <p:nvPr/>
        </p:nvSpPr>
        <p:spPr>
          <a:xfrm>
            <a:off x="2066275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72617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72617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123" name="Text 121"/>
          <p:cNvSpPr/>
          <p:nvPr/>
        </p:nvSpPr>
        <p:spPr>
          <a:xfrm>
            <a:off x="172617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ar-SA" sz="550" dirty="0"/>
          </a:p>
        </p:txBody>
      </p:sp>
      <p:sp>
        <p:nvSpPr>
          <p:cNvPr id="124" name="Shape 122"/>
          <p:cNvSpPr/>
          <p:nvPr/>
        </p:nvSpPr>
        <p:spPr>
          <a:xfrm>
            <a:off x="1556121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1556121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126" name="Text 124"/>
          <p:cNvSpPr/>
          <p:nvPr/>
        </p:nvSpPr>
        <p:spPr>
          <a:xfrm>
            <a:off x="1556121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ar-SA" sz="550" dirty="0"/>
          </a:p>
        </p:txBody>
      </p:sp>
      <p:sp>
        <p:nvSpPr>
          <p:cNvPr id="127" name="Shape 125"/>
          <p:cNvSpPr/>
          <p:nvPr/>
        </p:nvSpPr>
        <p:spPr>
          <a:xfrm>
            <a:off x="1386069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1386069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129" name="Text 127"/>
          <p:cNvSpPr/>
          <p:nvPr/>
        </p:nvSpPr>
        <p:spPr>
          <a:xfrm>
            <a:off x="1386069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ar-SA" sz="550" dirty="0"/>
          </a:p>
        </p:txBody>
      </p:sp>
      <p:sp>
        <p:nvSpPr>
          <p:cNvPr id="130" name="Shape 128"/>
          <p:cNvSpPr/>
          <p:nvPr/>
        </p:nvSpPr>
        <p:spPr>
          <a:xfrm>
            <a:off x="1216018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216018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132" name="Text 130"/>
          <p:cNvSpPr/>
          <p:nvPr/>
        </p:nvSpPr>
        <p:spPr>
          <a:xfrm>
            <a:off x="1216018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ar-SA" sz="550" dirty="0"/>
          </a:p>
        </p:txBody>
      </p:sp>
      <p:sp>
        <p:nvSpPr>
          <p:cNvPr id="133" name="Shape 131"/>
          <p:cNvSpPr/>
          <p:nvPr/>
        </p:nvSpPr>
        <p:spPr>
          <a:xfrm>
            <a:off x="1045966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1045966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135" name="Text 133"/>
          <p:cNvSpPr/>
          <p:nvPr/>
        </p:nvSpPr>
        <p:spPr>
          <a:xfrm>
            <a:off x="1045966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ar-SA" sz="550" dirty="0"/>
          </a:p>
        </p:txBody>
      </p:sp>
      <p:sp>
        <p:nvSpPr>
          <p:cNvPr id="136" name="Shape 134"/>
          <p:cNvSpPr/>
          <p:nvPr/>
        </p:nvSpPr>
        <p:spPr>
          <a:xfrm>
            <a:off x="875915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875915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138" name="Text 136"/>
          <p:cNvSpPr/>
          <p:nvPr/>
        </p:nvSpPr>
        <p:spPr>
          <a:xfrm>
            <a:off x="875915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ar-SA" sz="550" dirty="0"/>
          </a:p>
        </p:txBody>
      </p:sp>
      <p:sp>
        <p:nvSpPr>
          <p:cNvPr id="139" name="Shape 137"/>
          <p:cNvSpPr/>
          <p:nvPr/>
        </p:nvSpPr>
        <p:spPr>
          <a:xfrm>
            <a:off x="875915" y="1965960"/>
            <a:ext cx="170052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705863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705863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142" name="Text 140"/>
          <p:cNvSpPr/>
          <p:nvPr/>
        </p:nvSpPr>
        <p:spPr>
          <a:xfrm>
            <a:off x="705863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550" dirty="0"/>
          </a:p>
        </p:txBody>
      </p:sp>
      <p:sp>
        <p:nvSpPr>
          <p:cNvPr id="143" name="Shape 141"/>
          <p:cNvSpPr/>
          <p:nvPr/>
        </p:nvSpPr>
        <p:spPr>
          <a:xfrm>
            <a:off x="875915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53581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53581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146" name="Text 144"/>
          <p:cNvSpPr/>
          <p:nvPr/>
        </p:nvSpPr>
        <p:spPr>
          <a:xfrm>
            <a:off x="53581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550" dirty="0"/>
          </a:p>
        </p:txBody>
      </p:sp>
      <p:sp>
        <p:nvSpPr>
          <p:cNvPr id="147" name="Shape 145"/>
          <p:cNvSpPr/>
          <p:nvPr/>
        </p:nvSpPr>
        <p:spPr>
          <a:xfrm>
            <a:off x="365760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365760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149" name="Text 147"/>
          <p:cNvSpPr/>
          <p:nvPr/>
        </p:nvSpPr>
        <p:spPr>
          <a:xfrm>
            <a:off x="365760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550" dirty="0"/>
          </a:p>
        </p:txBody>
      </p:sp>
      <p:sp>
        <p:nvSpPr>
          <p:cNvPr id="150" name="Shape 148"/>
          <p:cNvSpPr/>
          <p:nvPr/>
        </p:nvSpPr>
        <p:spPr>
          <a:xfrm>
            <a:off x="365760" y="1965960"/>
            <a:ext cx="11460175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1515039" y="1984248"/>
            <a:ext cx="237744" cy="237744"/>
          </a:xfrm>
          <a:prstGeom prst="ellipse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11441887" y="19659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ar-SA" sz="900" dirty="0"/>
          </a:p>
        </p:txBody>
      </p:sp>
      <p:sp>
        <p:nvSpPr>
          <p:cNvPr id="153" name="Text 151"/>
          <p:cNvSpPr/>
          <p:nvPr/>
        </p:nvSpPr>
        <p:spPr>
          <a:xfrm>
            <a:off x="8762695" y="1965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0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المدة الإجمالية للمشروع</a:t>
            </a:r>
            <a:endParaRPr lang="ar-SA" sz="1000" dirty="0"/>
          </a:p>
        </p:txBody>
      </p:sp>
      <p:sp>
        <p:nvSpPr>
          <p:cNvPr id="154" name="Text 152"/>
          <p:cNvSpPr/>
          <p:nvPr/>
        </p:nvSpPr>
        <p:spPr>
          <a:xfrm>
            <a:off x="7464247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ar-SA" sz="1100" dirty="0"/>
          </a:p>
        </p:txBody>
      </p:sp>
      <p:sp>
        <p:nvSpPr>
          <p:cNvPr id="155" name="Text 153"/>
          <p:cNvSpPr/>
          <p:nvPr/>
        </p:nvSpPr>
        <p:spPr>
          <a:xfrm>
            <a:off x="6805879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أكتوبر</a:t>
            </a:r>
            <a:endParaRPr lang="ar-SA" sz="850" dirty="0"/>
          </a:p>
        </p:txBody>
      </p:sp>
      <p:sp>
        <p:nvSpPr>
          <p:cNvPr id="156" name="Text 154"/>
          <p:cNvSpPr/>
          <p:nvPr/>
        </p:nvSpPr>
        <p:spPr>
          <a:xfrm>
            <a:off x="6147511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نوفمبر</a:t>
            </a:r>
            <a:endParaRPr lang="ar-SA" sz="850" dirty="0"/>
          </a:p>
        </p:txBody>
      </p:sp>
      <p:sp>
        <p:nvSpPr>
          <p:cNvPr id="157" name="Shape 155"/>
          <p:cNvSpPr/>
          <p:nvPr/>
        </p:nvSpPr>
        <p:spPr>
          <a:xfrm>
            <a:off x="705863" y="2011680"/>
            <a:ext cx="4081236" cy="182880"/>
          </a:xfrm>
          <a:prstGeom prst="roundRect">
            <a:avLst>
              <a:gd name="adj" fmla="val 25000"/>
            </a:avLst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705863" y="2011680"/>
            <a:ext cx="40812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يوم عمل · 22 أكتوبر → 14 نوفمبر</a:t>
            </a:r>
            <a:endParaRPr lang="ar-SA" sz="850" dirty="0"/>
          </a:p>
        </p:txBody>
      </p:sp>
      <p:sp>
        <p:nvSpPr>
          <p:cNvPr id="159" name="Shape 157"/>
          <p:cNvSpPr/>
          <p:nvPr/>
        </p:nvSpPr>
        <p:spPr>
          <a:xfrm>
            <a:off x="365760" y="2240280"/>
            <a:ext cx="11460175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11515039" y="2258568"/>
            <a:ext cx="237744" cy="237744"/>
          </a:xfrm>
          <a:prstGeom prst="ellips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11441887" y="224028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⟷</a:t>
            </a:r>
            <a:endParaRPr lang="ar-SA" sz="900" dirty="0"/>
          </a:p>
        </p:txBody>
      </p:sp>
      <p:sp>
        <p:nvSpPr>
          <p:cNvPr id="162" name="Text 160"/>
          <p:cNvSpPr/>
          <p:nvPr/>
        </p:nvSpPr>
        <p:spPr>
          <a:xfrm>
            <a:off x="8762695" y="2240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أعمال الشورينج – إجمالي الوقت المطلوب</a:t>
            </a:r>
            <a:endParaRPr lang="ar-SA" sz="850" dirty="0"/>
          </a:p>
        </p:txBody>
      </p:sp>
      <p:sp>
        <p:nvSpPr>
          <p:cNvPr id="163" name="Text 161"/>
          <p:cNvSpPr/>
          <p:nvPr/>
        </p:nvSpPr>
        <p:spPr>
          <a:xfrm>
            <a:off x="7464247" y="22402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1100" dirty="0"/>
          </a:p>
        </p:txBody>
      </p:sp>
      <p:sp>
        <p:nvSpPr>
          <p:cNvPr id="164" name="Text 162"/>
          <p:cNvSpPr/>
          <p:nvPr/>
        </p:nvSpPr>
        <p:spPr>
          <a:xfrm>
            <a:off x="6805879" y="224028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أكتوبر</a:t>
            </a:r>
            <a:endParaRPr lang="ar-SA" sz="850" dirty="0"/>
          </a:p>
        </p:txBody>
      </p:sp>
      <p:sp>
        <p:nvSpPr>
          <p:cNvPr id="165" name="Text 163"/>
          <p:cNvSpPr/>
          <p:nvPr/>
        </p:nvSpPr>
        <p:spPr>
          <a:xfrm>
            <a:off x="6147511" y="224028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أكتوبر</a:t>
            </a:r>
            <a:endParaRPr lang="ar-SA" sz="850" dirty="0"/>
          </a:p>
        </p:txBody>
      </p:sp>
      <p:sp>
        <p:nvSpPr>
          <p:cNvPr id="166" name="Shape 164"/>
          <p:cNvSpPr/>
          <p:nvPr/>
        </p:nvSpPr>
        <p:spPr>
          <a:xfrm>
            <a:off x="3936842" y="2276856"/>
            <a:ext cx="850258" cy="201168"/>
          </a:xfrm>
          <a:prstGeom prst="roundRect">
            <a:avLst>
              <a:gd name="adj" fmla="val 18182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3936842" y="2276856"/>
            <a:ext cx="8502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يوم عمل</a:t>
            </a:r>
            <a:endParaRPr lang="ar-SA" sz="800" dirty="0"/>
          </a:p>
        </p:txBody>
      </p:sp>
      <p:sp>
        <p:nvSpPr>
          <p:cNvPr id="168" name="Shape 166"/>
          <p:cNvSpPr/>
          <p:nvPr/>
        </p:nvSpPr>
        <p:spPr>
          <a:xfrm>
            <a:off x="365760" y="2514600"/>
            <a:ext cx="11460175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11515039" y="2532888"/>
            <a:ext cx="237744" cy="237744"/>
          </a:xfrm>
          <a:prstGeom prst="ellipse">
            <a:avLst/>
          </a:prstGeom>
          <a:solidFill>
            <a:srgbClr val="6C4AB6"/>
          </a:solidFill>
          <a:ln w="12700">
            <a:solidFill>
              <a:srgbClr val="6C4AB6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1441887" y="251460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⟷</a:t>
            </a:r>
            <a:endParaRPr lang="ar-SA" sz="900" dirty="0"/>
          </a:p>
        </p:txBody>
      </p:sp>
      <p:sp>
        <p:nvSpPr>
          <p:cNvPr id="171" name="Text 169"/>
          <p:cNvSpPr/>
          <p:nvPr/>
        </p:nvSpPr>
        <p:spPr>
          <a:xfrm>
            <a:off x="8762695" y="25146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C4A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أعمال الخرسانة حتى الردم – إجمالي الوقت المطلوب</a:t>
            </a:r>
            <a:endParaRPr lang="ar-SA" sz="850" dirty="0"/>
          </a:p>
        </p:txBody>
      </p:sp>
      <p:sp>
        <p:nvSpPr>
          <p:cNvPr id="172" name="Text 170"/>
          <p:cNvSpPr/>
          <p:nvPr/>
        </p:nvSpPr>
        <p:spPr>
          <a:xfrm>
            <a:off x="7464247" y="25146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1100" dirty="0"/>
          </a:p>
        </p:txBody>
      </p:sp>
      <p:sp>
        <p:nvSpPr>
          <p:cNvPr id="173" name="Text 171"/>
          <p:cNvSpPr/>
          <p:nvPr/>
        </p:nvSpPr>
        <p:spPr>
          <a:xfrm>
            <a:off x="6805879" y="25146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أكتوبر</a:t>
            </a:r>
            <a:endParaRPr lang="ar-SA" sz="850" dirty="0"/>
          </a:p>
        </p:txBody>
      </p:sp>
      <p:sp>
        <p:nvSpPr>
          <p:cNvPr id="174" name="Text 172"/>
          <p:cNvSpPr/>
          <p:nvPr/>
        </p:nvSpPr>
        <p:spPr>
          <a:xfrm>
            <a:off x="6147511" y="25146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نوفمبر</a:t>
            </a:r>
            <a:endParaRPr lang="ar-SA" sz="850" dirty="0"/>
          </a:p>
        </p:txBody>
      </p:sp>
      <p:sp>
        <p:nvSpPr>
          <p:cNvPr id="175" name="Shape 173"/>
          <p:cNvSpPr/>
          <p:nvPr/>
        </p:nvSpPr>
        <p:spPr>
          <a:xfrm>
            <a:off x="705863" y="2551176"/>
            <a:ext cx="3230979" cy="201168"/>
          </a:xfrm>
          <a:prstGeom prst="roundRect">
            <a:avLst>
              <a:gd name="adj" fmla="val 18182"/>
            </a:avLst>
          </a:prstGeom>
          <a:solidFill>
            <a:srgbClr val="6C4AB6"/>
          </a:solidFill>
          <a:ln w="12700">
            <a:solidFill>
              <a:srgbClr val="6C4AB6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705863" y="2551176"/>
            <a:ext cx="32309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يوم عمل</a:t>
            </a:r>
            <a:endParaRPr lang="ar-SA" sz="800" dirty="0"/>
          </a:p>
        </p:txBody>
      </p:sp>
      <p:sp>
        <p:nvSpPr>
          <p:cNvPr id="177" name="Shape 175"/>
          <p:cNvSpPr/>
          <p:nvPr/>
        </p:nvSpPr>
        <p:spPr>
          <a:xfrm>
            <a:off x="365760" y="2788920"/>
            <a:ext cx="11460175" cy="22326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11515039" y="2781681"/>
            <a:ext cx="237744" cy="237744"/>
          </a:xfrm>
          <a:prstGeom prst="ellipse">
            <a:avLst/>
          </a:prstGeom>
          <a:solidFill>
            <a:srgbClr val="C8503F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11441887" y="2788920"/>
            <a:ext cx="3840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ar-SA" sz="850" dirty="0"/>
          </a:p>
        </p:txBody>
      </p:sp>
      <p:sp>
        <p:nvSpPr>
          <p:cNvPr id="180" name="Text 178"/>
          <p:cNvSpPr/>
          <p:nvPr/>
        </p:nvSpPr>
        <p:spPr>
          <a:xfrm>
            <a:off x="8762695" y="2788920"/>
            <a:ext cx="26060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تركيب نظام الدعم (Shoring)</a:t>
            </a:r>
            <a:endParaRPr lang="ar-SA" sz="750" dirty="0"/>
          </a:p>
        </p:txBody>
      </p:sp>
      <p:sp>
        <p:nvSpPr>
          <p:cNvPr id="181" name="Text 179"/>
          <p:cNvSpPr/>
          <p:nvPr/>
        </p:nvSpPr>
        <p:spPr>
          <a:xfrm>
            <a:off x="7967167" y="2788920"/>
            <a:ext cx="7772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ar-SA" sz="700" dirty="0"/>
          </a:p>
        </p:txBody>
      </p:sp>
      <p:sp>
        <p:nvSpPr>
          <p:cNvPr id="182" name="Text 180"/>
          <p:cNvSpPr/>
          <p:nvPr/>
        </p:nvSpPr>
        <p:spPr>
          <a:xfrm>
            <a:off x="7464247" y="2788920"/>
            <a:ext cx="50292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900" dirty="0"/>
          </a:p>
        </p:txBody>
      </p:sp>
      <p:sp>
        <p:nvSpPr>
          <p:cNvPr id="183" name="Text 181"/>
          <p:cNvSpPr/>
          <p:nvPr/>
        </p:nvSpPr>
        <p:spPr>
          <a:xfrm>
            <a:off x="6805879" y="2788920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أكتوبر</a:t>
            </a:r>
            <a:endParaRPr lang="ar-SA" sz="700" dirty="0"/>
          </a:p>
        </p:txBody>
      </p:sp>
      <p:sp>
        <p:nvSpPr>
          <p:cNvPr id="184" name="Text 182"/>
          <p:cNvSpPr/>
          <p:nvPr/>
        </p:nvSpPr>
        <p:spPr>
          <a:xfrm>
            <a:off x="6147511" y="2788920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أكتوبر</a:t>
            </a:r>
            <a:endParaRPr lang="ar-SA" sz="700" dirty="0"/>
          </a:p>
        </p:txBody>
      </p:sp>
      <p:sp>
        <p:nvSpPr>
          <p:cNvPr id="185" name="Shape 183"/>
          <p:cNvSpPr/>
          <p:nvPr/>
        </p:nvSpPr>
        <p:spPr>
          <a:xfrm>
            <a:off x="3936842" y="2841117"/>
            <a:ext cx="850258" cy="64008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4723091" y="2905125"/>
            <a:ext cx="64008" cy="54864"/>
          </a:xfrm>
          <a:prstGeom prst="triangl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3936842" y="2905125"/>
            <a:ext cx="64008" cy="54864"/>
          </a:xfrm>
          <a:prstGeom prst="triangl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3342482" y="2788920"/>
            <a:ext cx="5486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يوم</a:t>
            </a:r>
            <a:endParaRPr lang="ar-SA" sz="750" dirty="0"/>
          </a:p>
        </p:txBody>
      </p:sp>
      <p:sp>
        <p:nvSpPr>
          <p:cNvPr id="189" name="Shape 187"/>
          <p:cNvSpPr/>
          <p:nvPr/>
        </p:nvSpPr>
        <p:spPr>
          <a:xfrm>
            <a:off x="365760" y="3012186"/>
            <a:ext cx="11460175" cy="22326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11441887" y="3046095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11414455" y="3012186"/>
            <a:ext cx="3840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A.1</a:t>
            </a:r>
            <a:endParaRPr lang="ar-SA" sz="650" dirty="0"/>
          </a:p>
        </p:txBody>
      </p:sp>
      <p:sp>
        <p:nvSpPr>
          <p:cNvPr id="192" name="Text 190"/>
          <p:cNvSpPr/>
          <p:nvPr/>
        </p:nvSpPr>
        <p:spPr>
          <a:xfrm>
            <a:off x="8762695" y="3012186"/>
            <a:ext cx="24414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الحفر لأعمدة H-Beam</a:t>
            </a:r>
            <a:endParaRPr lang="ar-SA" sz="700" dirty="0"/>
          </a:p>
        </p:txBody>
      </p:sp>
      <p:sp>
        <p:nvSpPr>
          <p:cNvPr id="193" name="Text 191"/>
          <p:cNvSpPr/>
          <p:nvPr/>
        </p:nvSpPr>
        <p:spPr>
          <a:xfrm>
            <a:off x="7967167" y="3012186"/>
            <a:ext cx="7772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ar-SA" sz="700" dirty="0"/>
          </a:p>
        </p:txBody>
      </p:sp>
      <p:sp>
        <p:nvSpPr>
          <p:cNvPr id="194" name="Text 192"/>
          <p:cNvSpPr/>
          <p:nvPr/>
        </p:nvSpPr>
        <p:spPr>
          <a:xfrm>
            <a:off x="7464247" y="3012186"/>
            <a:ext cx="50292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900" dirty="0"/>
          </a:p>
        </p:txBody>
      </p:sp>
      <p:sp>
        <p:nvSpPr>
          <p:cNvPr id="195" name="Text 193"/>
          <p:cNvSpPr/>
          <p:nvPr/>
        </p:nvSpPr>
        <p:spPr>
          <a:xfrm>
            <a:off x="6805879" y="3012186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أكتوبر</a:t>
            </a:r>
            <a:endParaRPr lang="ar-SA" sz="700" dirty="0"/>
          </a:p>
        </p:txBody>
      </p:sp>
      <p:sp>
        <p:nvSpPr>
          <p:cNvPr id="196" name="Text 194"/>
          <p:cNvSpPr/>
          <p:nvPr/>
        </p:nvSpPr>
        <p:spPr>
          <a:xfrm>
            <a:off x="6147511" y="3012186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أكتوبر</a:t>
            </a:r>
            <a:endParaRPr lang="ar-SA" sz="700" dirty="0"/>
          </a:p>
        </p:txBody>
      </p:sp>
      <p:sp>
        <p:nvSpPr>
          <p:cNvPr id="197" name="Shape 195"/>
          <p:cNvSpPr/>
          <p:nvPr/>
        </p:nvSpPr>
        <p:spPr>
          <a:xfrm>
            <a:off x="4276945" y="3059072"/>
            <a:ext cx="510155" cy="129494"/>
          </a:xfrm>
          <a:prstGeom prst="roundRect">
            <a:avLst>
              <a:gd name="adj" fmla="val 28245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198" name="Text 196"/>
          <p:cNvSpPr/>
          <p:nvPr/>
        </p:nvSpPr>
        <p:spPr>
          <a:xfrm>
            <a:off x="4276945" y="3059072"/>
            <a:ext cx="510155" cy="1294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يوم</a:t>
            </a:r>
            <a:endParaRPr lang="ar-SA" sz="700" dirty="0"/>
          </a:p>
        </p:txBody>
      </p:sp>
      <p:sp>
        <p:nvSpPr>
          <p:cNvPr id="199" name="Shape 197"/>
          <p:cNvSpPr/>
          <p:nvPr/>
        </p:nvSpPr>
        <p:spPr>
          <a:xfrm>
            <a:off x="365760" y="3235452"/>
            <a:ext cx="11460175" cy="22326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11441887" y="3269361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11414455" y="3235452"/>
            <a:ext cx="3840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A.2</a:t>
            </a:r>
            <a:endParaRPr lang="ar-SA" sz="650" dirty="0"/>
          </a:p>
        </p:txBody>
      </p:sp>
      <p:sp>
        <p:nvSpPr>
          <p:cNvPr id="202" name="Text 200"/>
          <p:cNvSpPr/>
          <p:nvPr/>
        </p:nvSpPr>
        <p:spPr>
          <a:xfrm>
            <a:off x="8762695" y="3235452"/>
            <a:ext cx="24414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تركيب أعمدة H-Beam</a:t>
            </a:r>
            <a:endParaRPr lang="ar-SA" sz="700" dirty="0"/>
          </a:p>
        </p:txBody>
      </p:sp>
      <p:sp>
        <p:nvSpPr>
          <p:cNvPr id="203" name="Text 201"/>
          <p:cNvSpPr/>
          <p:nvPr/>
        </p:nvSpPr>
        <p:spPr>
          <a:xfrm>
            <a:off x="7967167" y="3235452"/>
            <a:ext cx="7772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 · SS +1</a:t>
            </a:r>
            <a:endParaRPr lang="ar-SA" sz="700" dirty="0"/>
          </a:p>
        </p:txBody>
      </p:sp>
      <p:sp>
        <p:nvSpPr>
          <p:cNvPr id="204" name="Text 202"/>
          <p:cNvSpPr/>
          <p:nvPr/>
        </p:nvSpPr>
        <p:spPr>
          <a:xfrm>
            <a:off x="7464247" y="3235452"/>
            <a:ext cx="50292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900" dirty="0"/>
          </a:p>
        </p:txBody>
      </p:sp>
      <p:sp>
        <p:nvSpPr>
          <p:cNvPr id="205" name="Text 203"/>
          <p:cNvSpPr/>
          <p:nvPr/>
        </p:nvSpPr>
        <p:spPr>
          <a:xfrm>
            <a:off x="6805879" y="3235452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أكتوبر</a:t>
            </a:r>
            <a:endParaRPr lang="ar-SA" sz="700" dirty="0"/>
          </a:p>
        </p:txBody>
      </p:sp>
      <p:sp>
        <p:nvSpPr>
          <p:cNvPr id="206" name="Text 204"/>
          <p:cNvSpPr/>
          <p:nvPr/>
        </p:nvSpPr>
        <p:spPr>
          <a:xfrm>
            <a:off x="6147511" y="3235452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أكتوبر</a:t>
            </a:r>
            <a:endParaRPr lang="ar-SA" sz="700" dirty="0"/>
          </a:p>
        </p:txBody>
      </p:sp>
      <p:sp>
        <p:nvSpPr>
          <p:cNvPr id="207" name="Shape 205"/>
          <p:cNvSpPr/>
          <p:nvPr/>
        </p:nvSpPr>
        <p:spPr>
          <a:xfrm>
            <a:off x="4106893" y="3282338"/>
            <a:ext cx="340103" cy="129494"/>
          </a:xfrm>
          <a:prstGeom prst="roundRect">
            <a:avLst>
              <a:gd name="adj" fmla="val 28245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4106893" y="3282338"/>
            <a:ext cx="340103" cy="1294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يوم</a:t>
            </a:r>
            <a:endParaRPr lang="ar-SA" sz="700" dirty="0"/>
          </a:p>
        </p:txBody>
      </p:sp>
      <p:sp>
        <p:nvSpPr>
          <p:cNvPr id="209" name="Shape 207"/>
          <p:cNvSpPr/>
          <p:nvPr/>
        </p:nvSpPr>
        <p:spPr>
          <a:xfrm>
            <a:off x="365760" y="3458718"/>
            <a:ext cx="11460175" cy="22326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1441887" y="3492627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1414455" y="3458718"/>
            <a:ext cx="3840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A.3</a:t>
            </a:r>
            <a:endParaRPr lang="ar-SA" sz="650" dirty="0"/>
          </a:p>
        </p:txBody>
      </p:sp>
      <p:sp>
        <p:nvSpPr>
          <p:cNvPr id="212" name="Text 210"/>
          <p:cNvSpPr/>
          <p:nvPr/>
        </p:nvSpPr>
        <p:spPr>
          <a:xfrm>
            <a:off x="8762695" y="3458718"/>
            <a:ext cx="24414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أعمال الخرسانة لأعمدة H-Beam</a:t>
            </a:r>
            <a:endParaRPr lang="ar-SA" sz="700" dirty="0"/>
          </a:p>
        </p:txBody>
      </p:sp>
      <p:sp>
        <p:nvSpPr>
          <p:cNvPr id="213" name="Text 211"/>
          <p:cNvSpPr/>
          <p:nvPr/>
        </p:nvSpPr>
        <p:spPr>
          <a:xfrm>
            <a:off x="7967167" y="3458718"/>
            <a:ext cx="7772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 · SS +1</a:t>
            </a:r>
            <a:endParaRPr lang="ar-SA" sz="700" dirty="0"/>
          </a:p>
        </p:txBody>
      </p:sp>
      <p:sp>
        <p:nvSpPr>
          <p:cNvPr id="214" name="Text 212"/>
          <p:cNvSpPr/>
          <p:nvPr/>
        </p:nvSpPr>
        <p:spPr>
          <a:xfrm>
            <a:off x="7464247" y="3458718"/>
            <a:ext cx="50292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900" dirty="0"/>
          </a:p>
        </p:txBody>
      </p:sp>
      <p:sp>
        <p:nvSpPr>
          <p:cNvPr id="215" name="Text 213"/>
          <p:cNvSpPr/>
          <p:nvPr/>
        </p:nvSpPr>
        <p:spPr>
          <a:xfrm>
            <a:off x="6805879" y="3458718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أكتوبر</a:t>
            </a:r>
            <a:endParaRPr lang="ar-SA" sz="700" dirty="0"/>
          </a:p>
        </p:txBody>
      </p:sp>
      <p:sp>
        <p:nvSpPr>
          <p:cNvPr id="216" name="Text 214"/>
          <p:cNvSpPr/>
          <p:nvPr/>
        </p:nvSpPr>
        <p:spPr>
          <a:xfrm>
            <a:off x="6147511" y="3458718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أكتوبر</a:t>
            </a:r>
            <a:endParaRPr lang="ar-SA" sz="700" dirty="0"/>
          </a:p>
        </p:txBody>
      </p:sp>
      <p:sp>
        <p:nvSpPr>
          <p:cNvPr id="217" name="Shape 215"/>
          <p:cNvSpPr/>
          <p:nvPr/>
        </p:nvSpPr>
        <p:spPr>
          <a:xfrm>
            <a:off x="3936842" y="3505604"/>
            <a:ext cx="340103" cy="129494"/>
          </a:xfrm>
          <a:prstGeom prst="roundRect">
            <a:avLst>
              <a:gd name="adj" fmla="val 28245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18" name="Text 216"/>
          <p:cNvSpPr/>
          <p:nvPr/>
        </p:nvSpPr>
        <p:spPr>
          <a:xfrm>
            <a:off x="3936842" y="3505604"/>
            <a:ext cx="340103" cy="1294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يوم</a:t>
            </a:r>
            <a:endParaRPr lang="ar-SA" sz="700" dirty="0"/>
          </a:p>
        </p:txBody>
      </p:sp>
      <p:sp>
        <p:nvSpPr>
          <p:cNvPr id="219" name="Shape 217"/>
          <p:cNvSpPr/>
          <p:nvPr/>
        </p:nvSpPr>
        <p:spPr>
          <a:xfrm>
            <a:off x="365760" y="3681984"/>
            <a:ext cx="11460175" cy="22326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11441887" y="3715893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11414455" y="3681984"/>
            <a:ext cx="3840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A.4</a:t>
            </a:r>
            <a:endParaRPr lang="ar-SA" sz="650" dirty="0"/>
          </a:p>
        </p:txBody>
      </p:sp>
      <p:sp>
        <p:nvSpPr>
          <p:cNvPr id="222" name="Text 220"/>
          <p:cNvSpPr/>
          <p:nvPr/>
        </p:nvSpPr>
        <p:spPr>
          <a:xfrm>
            <a:off x="8762695" y="3681984"/>
            <a:ext cx="24414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التدعيم (Bracing) لنظام الدعم</a:t>
            </a:r>
            <a:endParaRPr lang="ar-SA" sz="700" dirty="0"/>
          </a:p>
        </p:txBody>
      </p:sp>
      <p:sp>
        <p:nvSpPr>
          <p:cNvPr id="223" name="Text 221"/>
          <p:cNvSpPr/>
          <p:nvPr/>
        </p:nvSpPr>
        <p:spPr>
          <a:xfrm>
            <a:off x="7967167" y="3681984"/>
            <a:ext cx="7772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A3 · SS +1</a:t>
            </a:r>
            <a:endParaRPr lang="ar-SA" sz="700" dirty="0"/>
          </a:p>
        </p:txBody>
      </p:sp>
      <p:sp>
        <p:nvSpPr>
          <p:cNvPr id="224" name="Text 222"/>
          <p:cNvSpPr/>
          <p:nvPr/>
        </p:nvSpPr>
        <p:spPr>
          <a:xfrm>
            <a:off x="7464247" y="3681984"/>
            <a:ext cx="50292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900" dirty="0"/>
          </a:p>
        </p:txBody>
      </p:sp>
      <p:sp>
        <p:nvSpPr>
          <p:cNvPr id="225" name="Text 223"/>
          <p:cNvSpPr/>
          <p:nvPr/>
        </p:nvSpPr>
        <p:spPr>
          <a:xfrm>
            <a:off x="6805879" y="3681984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أكتوبر</a:t>
            </a:r>
            <a:endParaRPr lang="ar-SA" sz="700" dirty="0"/>
          </a:p>
        </p:txBody>
      </p:sp>
      <p:sp>
        <p:nvSpPr>
          <p:cNvPr id="226" name="Text 224"/>
          <p:cNvSpPr/>
          <p:nvPr/>
        </p:nvSpPr>
        <p:spPr>
          <a:xfrm>
            <a:off x="6147511" y="3681984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أكتوبر</a:t>
            </a:r>
            <a:endParaRPr lang="ar-SA" sz="700" dirty="0"/>
          </a:p>
        </p:txBody>
      </p:sp>
      <p:sp>
        <p:nvSpPr>
          <p:cNvPr id="227" name="Shape 225"/>
          <p:cNvSpPr/>
          <p:nvPr/>
        </p:nvSpPr>
        <p:spPr>
          <a:xfrm>
            <a:off x="3936842" y="3728870"/>
            <a:ext cx="170052" cy="129494"/>
          </a:xfrm>
          <a:prstGeom prst="roundRect">
            <a:avLst>
              <a:gd name="adj" fmla="val 28245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28" name="Shape 226"/>
          <p:cNvSpPr/>
          <p:nvPr/>
        </p:nvSpPr>
        <p:spPr>
          <a:xfrm>
            <a:off x="365760" y="3905250"/>
            <a:ext cx="11460175" cy="22326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11441887" y="3939159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11414455" y="3905250"/>
            <a:ext cx="3840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A.5</a:t>
            </a:r>
            <a:endParaRPr lang="ar-SA" sz="650" dirty="0"/>
          </a:p>
        </p:txBody>
      </p:sp>
      <p:sp>
        <p:nvSpPr>
          <p:cNvPr id="231" name="Text 229"/>
          <p:cNvSpPr/>
          <p:nvPr/>
        </p:nvSpPr>
        <p:spPr>
          <a:xfrm>
            <a:off x="8762695" y="3905250"/>
            <a:ext cx="24414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تركيب / إدخال الألواح المضلعة (Corrugated sheets)</a:t>
            </a:r>
            <a:endParaRPr lang="ar-SA" sz="700" dirty="0"/>
          </a:p>
        </p:txBody>
      </p:sp>
      <p:sp>
        <p:nvSpPr>
          <p:cNvPr id="232" name="Text 230"/>
          <p:cNvSpPr/>
          <p:nvPr/>
        </p:nvSpPr>
        <p:spPr>
          <a:xfrm>
            <a:off x="7967167" y="3905250"/>
            <a:ext cx="7772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A4 · SS +0</a:t>
            </a:r>
            <a:endParaRPr lang="ar-SA" sz="700" dirty="0"/>
          </a:p>
        </p:txBody>
      </p:sp>
      <p:sp>
        <p:nvSpPr>
          <p:cNvPr id="233" name="Text 231"/>
          <p:cNvSpPr/>
          <p:nvPr/>
        </p:nvSpPr>
        <p:spPr>
          <a:xfrm>
            <a:off x="7464247" y="3905250"/>
            <a:ext cx="50292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900" dirty="0"/>
          </a:p>
        </p:txBody>
      </p:sp>
      <p:sp>
        <p:nvSpPr>
          <p:cNvPr id="234" name="Text 232"/>
          <p:cNvSpPr/>
          <p:nvPr/>
        </p:nvSpPr>
        <p:spPr>
          <a:xfrm>
            <a:off x="6805879" y="3905250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أكتوبر</a:t>
            </a:r>
            <a:endParaRPr lang="ar-SA" sz="700" dirty="0"/>
          </a:p>
        </p:txBody>
      </p:sp>
      <p:sp>
        <p:nvSpPr>
          <p:cNvPr id="235" name="Text 233"/>
          <p:cNvSpPr/>
          <p:nvPr/>
        </p:nvSpPr>
        <p:spPr>
          <a:xfrm>
            <a:off x="6147511" y="3905250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أكتوبر</a:t>
            </a:r>
            <a:endParaRPr lang="ar-SA" sz="700" dirty="0"/>
          </a:p>
        </p:txBody>
      </p:sp>
      <p:sp>
        <p:nvSpPr>
          <p:cNvPr id="236" name="Shape 234"/>
          <p:cNvSpPr/>
          <p:nvPr/>
        </p:nvSpPr>
        <p:spPr>
          <a:xfrm>
            <a:off x="3936842" y="3952136"/>
            <a:ext cx="170052" cy="129494"/>
          </a:xfrm>
          <a:prstGeom prst="roundRect">
            <a:avLst>
              <a:gd name="adj" fmla="val 28245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37" name="Shape 235"/>
          <p:cNvSpPr/>
          <p:nvPr/>
        </p:nvSpPr>
        <p:spPr>
          <a:xfrm>
            <a:off x="365760" y="4128516"/>
            <a:ext cx="11460175" cy="22326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11515039" y="4121277"/>
            <a:ext cx="237744" cy="237744"/>
          </a:xfrm>
          <a:prstGeom prst="ellipse">
            <a:avLst/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</p:spPr>
      </p:sp>
      <p:sp>
        <p:nvSpPr>
          <p:cNvPr id="239" name="Text 237"/>
          <p:cNvSpPr/>
          <p:nvPr/>
        </p:nvSpPr>
        <p:spPr>
          <a:xfrm>
            <a:off x="11441887" y="4128516"/>
            <a:ext cx="3840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ar-SA" sz="850" dirty="0"/>
          </a:p>
        </p:txBody>
      </p:sp>
      <p:sp>
        <p:nvSpPr>
          <p:cNvPr id="240" name="Text 238"/>
          <p:cNvSpPr/>
          <p:nvPr/>
        </p:nvSpPr>
        <p:spPr>
          <a:xfrm>
            <a:off x="8762695" y="4128516"/>
            <a:ext cx="26060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الخرسانة العادية (Lean concrete)</a:t>
            </a:r>
            <a:endParaRPr lang="ar-SA" sz="750" dirty="0"/>
          </a:p>
        </p:txBody>
      </p:sp>
      <p:sp>
        <p:nvSpPr>
          <p:cNvPr id="241" name="Text 239"/>
          <p:cNvSpPr/>
          <p:nvPr/>
        </p:nvSpPr>
        <p:spPr>
          <a:xfrm>
            <a:off x="7967167" y="4128516"/>
            <a:ext cx="7772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SS +4</a:t>
            </a:r>
            <a:endParaRPr lang="ar-SA" sz="700" dirty="0"/>
          </a:p>
        </p:txBody>
      </p:sp>
      <p:sp>
        <p:nvSpPr>
          <p:cNvPr id="242" name="Text 240"/>
          <p:cNvSpPr/>
          <p:nvPr/>
        </p:nvSpPr>
        <p:spPr>
          <a:xfrm>
            <a:off x="7464247" y="4128516"/>
            <a:ext cx="50292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900" dirty="0"/>
          </a:p>
        </p:txBody>
      </p:sp>
      <p:sp>
        <p:nvSpPr>
          <p:cNvPr id="243" name="Text 241"/>
          <p:cNvSpPr/>
          <p:nvPr/>
        </p:nvSpPr>
        <p:spPr>
          <a:xfrm>
            <a:off x="6805879" y="4128516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أكتوبر</a:t>
            </a:r>
            <a:endParaRPr lang="ar-SA" sz="700" dirty="0"/>
          </a:p>
        </p:txBody>
      </p:sp>
      <p:sp>
        <p:nvSpPr>
          <p:cNvPr id="244" name="Text 242"/>
          <p:cNvSpPr/>
          <p:nvPr/>
        </p:nvSpPr>
        <p:spPr>
          <a:xfrm>
            <a:off x="6147511" y="4128516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أكتوبر</a:t>
            </a:r>
            <a:endParaRPr lang="ar-SA" sz="700" dirty="0"/>
          </a:p>
        </p:txBody>
      </p:sp>
      <p:sp>
        <p:nvSpPr>
          <p:cNvPr id="245" name="Shape 243"/>
          <p:cNvSpPr/>
          <p:nvPr/>
        </p:nvSpPr>
        <p:spPr>
          <a:xfrm>
            <a:off x="3766790" y="4175402"/>
            <a:ext cx="170052" cy="129494"/>
          </a:xfrm>
          <a:prstGeom prst="roundRect">
            <a:avLst>
              <a:gd name="adj" fmla="val 28245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46" name="Shape 244"/>
          <p:cNvSpPr/>
          <p:nvPr/>
        </p:nvSpPr>
        <p:spPr>
          <a:xfrm>
            <a:off x="365760" y="4351782"/>
            <a:ext cx="11460175" cy="22326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11515039" y="4344543"/>
            <a:ext cx="237744" cy="237744"/>
          </a:xfrm>
          <a:prstGeom prst="ellipse">
            <a:avLst/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48" name="Text 246"/>
          <p:cNvSpPr/>
          <p:nvPr/>
        </p:nvSpPr>
        <p:spPr>
          <a:xfrm>
            <a:off x="11441887" y="4351782"/>
            <a:ext cx="3840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ar-SA" sz="850" dirty="0"/>
          </a:p>
        </p:txBody>
      </p:sp>
      <p:sp>
        <p:nvSpPr>
          <p:cNvPr id="249" name="Text 247"/>
          <p:cNvSpPr/>
          <p:nvPr/>
        </p:nvSpPr>
        <p:spPr>
          <a:xfrm>
            <a:off x="8762695" y="4351782"/>
            <a:ext cx="26060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خندق الحفرة – حديد التسليح والشدات والخرسانة</a:t>
            </a:r>
            <a:endParaRPr lang="ar-SA" sz="750" dirty="0"/>
          </a:p>
        </p:txBody>
      </p:sp>
      <p:sp>
        <p:nvSpPr>
          <p:cNvPr id="250" name="Text 248"/>
          <p:cNvSpPr/>
          <p:nvPr/>
        </p:nvSpPr>
        <p:spPr>
          <a:xfrm>
            <a:off x="7967167" y="4351782"/>
            <a:ext cx="7772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FS</a:t>
            </a:r>
            <a:endParaRPr lang="ar-SA" sz="700" dirty="0"/>
          </a:p>
        </p:txBody>
      </p:sp>
      <p:sp>
        <p:nvSpPr>
          <p:cNvPr id="251" name="Text 249"/>
          <p:cNvSpPr/>
          <p:nvPr/>
        </p:nvSpPr>
        <p:spPr>
          <a:xfrm>
            <a:off x="7464247" y="4351782"/>
            <a:ext cx="50292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900" dirty="0"/>
          </a:p>
        </p:txBody>
      </p:sp>
      <p:sp>
        <p:nvSpPr>
          <p:cNvPr id="252" name="Text 250"/>
          <p:cNvSpPr/>
          <p:nvPr/>
        </p:nvSpPr>
        <p:spPr>
          <a:xfrm>
            <a:off x="6805879" y="4351782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أكتوبر</a:t>
            </a:r>
            <a:endParaRPr lang="ar-SA" sz="700" dirty="0"/>
          </a:p>
        </p:txBody>
      </p:sp>
      <p:sp>
        <p:nvSpPr>
          <p:cNvPr id="253" name="Text 251"/>
          <p:cNvSpPr/>
          <p:nvPr/>
        </p:nvSpPr>
        <p:spPr>
          <a:xfrm>
            <a:off x="6147511" y="4351782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أكتوبر</a:t>
            </a:r>
            <a:endParaRPr lang="ar-SA" sz="700" dirty="0"/>
          </a:p>
        </p:txBody>
      </p:sp>
      <p:sp>
        <p:nvSpPr>
          <p:cNvPr id="254" name="Shape 252"/>
          <p:cNvSpPr/>
          <p:nvPr/>
        </p:nvSpPr>
        <p:spPr>
          <a:xfrm>
            <a:off x="3596739" y="4398668"/>
            <a:ext cx="340103" cy="129494"/>
          </a:xfrm>
          <a:prstGeom prst="roundRect">
            <a:avLst>
              <a:gd name="adj" fmla="val 28245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55" name="Text 253"/>
          <p:cNvSpPr/>
          <p:nvPr/>
        </p:nvSpPr>
        <p:spPr>
          <a:xfrm>
            <a:off x="3596739" y="4398668"/>
            <a:ext cx="340103" cy="1294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يوم</a:t>
            </a:r>
            <a:endParaRPr lang="ar-SA" sz="700" dirty="0"/>
          </a:p>
        </p:txBody>
      </p:sp>
      <p:sp>
        <p:nvSpPr>
          <p:cNvPr id="256" name="Shape 254"/>
          <p:cNvSpPr/>
          <p:nvPr/>
        </p:nvSpPr>
        <p:spPr>
          <a:xfrm>
            <a:off x="365760" y="4575048"/>
            <a:ext cx="11460175" cy="22326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11515039" y="4567809"/>
            <a:ext cx="237744" cy="237744"/>
          </a:xfrm>
          <a:prstGeom prst="ellipse">
            <a:avLst/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58" name="Text 256"/>
          <p:cNvSpPr/>
          <p:nvPr/>
        </p:nvSpPr>
        <p:spPr>
          <a:xfrm>
            <a:off x="11441887" y="4575048"/>
            <a:ext cx="3840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ar-SA" sz="850" dirty="0"/>
          </a:p>
        </p:txBody>
      </p:sp>
      <p:sp>
        <p:nvSpPr>
          <p:cNvPr id="259" name="Text 257"/>
          <p:cNvSpPr/>
          <p:nvPr/>
        </p:nvSpPr>
        <p:spPr>
          <a:xfrm>
            <a:off x="8762695" y="4575048"/>
            <a:ext cx="26060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بلاطة / لبشة الحفرة – حديد التسليح والشدات والخرسانة</a:t>
            </a:r>
            <a:endParaRPr lang="ar-SA" sz="750" dirty="0"/>
          </a:p>
        </p:txBody>
      </p:sp>
      <p:sp>
        <p:nvSpPr>
          <p:cNvPr id="260" name="Text 258"/>
          <p:cNvSpPr/>
          <p:nvPr/>
        </p:nvSpPr>
        <p:spPr>
          <a:xfrm>
            <a:off x="7967167" y="4575048"/>
            <a:ext cx="7772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FS</a:t>
            </a:r>
            <a:endParaRPr lang="ar-SA" sz="700" dirty="0"/>
          </a:p>
        </p:txBody>
      </p:sp>
      <p:sp>
        <p:nvSpPr>
          <p:cNvPr id="261" name="Text 259"/>
          <p:cNvSpPr/>
          <p:nvPr/>
        </p:nvSpPr>
        <p:spPr>
          <a:xfrm>
            <a:off x="7464247" y="4575048"/>
            <a:ext cx="50292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900" dirty="0"/>
          </a:p>
        </p:txBody>
      </p:sp>
      <p:sp>
        <p:nvSpPr>
          <p:cNvPr id="262" name="Text 260"/>
          <p:cNvSpPr/>
          <p:nvPr/>
        </p:nvSpPr>
        <p:spPr>
          <a:xfrm>
            <a:off x="6805879" y="4575048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أكتوبر</a:t>
            </a:r>
            <a:endParaRPr lang="ar-SA" sz="700" dirty="0"/>
          </a:p>
        </p:txBody>
      </p:sp>
      <p:sp>
        <p:nvSpPr>
          <p:cNvPr id="263" name="Text 261"/>
          <p:cNvSpPr/>
          <p:nvPr/>
        </p:nvSpPr>
        <p:spPr>
          <a:xfrm>
            <a:off x="6147511" y="4575048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نوفمبر</a:t>
            </a:r>
            <a:endParaRPr lang="ar-SA" sz="700" dirty="0"/>
          </a:p>
        </p:txBody>
      </p:sp>
      <p:sp>
        <p:nvSpPr>
          <p:cNvPr id="264" name="Shape 262"/>
          <p:cNvSpPr/>
          <p:nvPr/>
        </p:nvSpPr>
        <p:spPr>
          <a:xfrm>
            <a:off x="2576430" y="4621934"/>
            <a:ext cx="1020309" cy="129494"/>
          </a:xfrm>
          <a:prstGeom prst="roundRect">
            <a:avLst>
              <a:gd name="adj" fmla="val 28245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65" name="Text 263"/>
          <p:cNvSpPr/>
          <p:nvPr/>
        </p:nvSpPr>
        <p:spPr>
          <a:xfrm>
            <a:off x="2576430" y="4621934"/>
            <a:ext cx="1020309" cy="1294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يوم</a:t>
            </a:r>
            <a:endParaRPr lang="ar-SA" sz="700" dirty="0"/>
          </a:p>
        </p:txBody>
      </p:sp>
      <p:sp>
        <p:nvSpPr>
          <p:cNvPr id="266" name="Shape 264"/>
          <p:cNvSpPr/>
          <p:nvPr/>
        </p:nvSpPr>
        <p:spPr>
          <a:xfrm>
            <a:off x="365760" y="4798314"/>
            <a:ext cx="11460175" cy="22326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11515039" y="4791075"/>
            <a:ext cx="237744" cy="237744"/>
          </a:xfrm>
          <a:prstGeom prst="ellipse">
            <a:avLst/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</p:spPr>
      </p:sp>
      <p:sp>
        <p:nvSpPr>
          <p:cNvPr id="268" name="Text 266"/>
          <p:cNvSpPr/>
          <p:nvPr/>
        </p:nvSpPr>
        <p:spPr>
          <a:xfrm>
            <a:off x="11441887" y="4798314"/>
            <a:ext cx="3840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ar-SA" sz="850" dirty="0"/>
          </a:p>
        </p:txBody>
      </p:sp>
      <p:sp>
        <p:nvSpPr>
          <p:cNvPr id="269" name="Text 267"/>
          <p:cNvSpPr/>
          <p:nvPr/>
        </p:nvSpPr>
        <p:spPr>
          <a:xfrm>
            <a:off x="8762695" y="4798314"/>
            <a:ext cx="26060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جدار الحفرة – حديد التسليح والشدات والخرسانة</a:t>
            </a:r>
            <a:endParaRPr lang="ar-SA" sz="750" dirty="0"/>
          </a:p>
        </p:txBody>
      </p:sp>
      <p:sp>
        <p:nvSpPr>
          <p:cNvPr id="270" name="Text 268"/>
          <p:cNvSpPr/>
          <p:nvPr/>
        </p:nvSpPr>
        <p:spPr>
          <a:xfrm>
            <a:off x="7967167" y="4798314"/>
            <a:ext cx="7772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FS</a:t>
            </a:r>
            <a:endParaRPr lang="ar-SA" sz="700" dirty="0"/>
          </a:p>
        </p:txBody>
      </p:sp>
      <p:sp>
        <p:nvSpPr>
          <p:cNvPr id="271" name="Text 269"/>
          <p:cNvSpPr/>
          <p:nvPr/>
        </p:nvSpPr>
        <p:spPr>
          <a:xfrm>
            <a:off x="7464247" y="4798314"/>
            <a:ext cx="50292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900" dirty="0"/>
          </a:p>
        </p:txBody>
      </p:sp>
      <p:sp>
        <p:nvSpPr>
          <p:cNvPr id="272" name="Text 270"/>
          <p:cNvSpPr/>
          <p:nvPr/>
        </p:nvSpPr>
        <p:spPr>
          <a:xfrm>
            <a:off x="6805879" y="4798314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نوفمبر</a:t>
            </a:r>
            <a:endParaRPr lang="ar-SA" sz="700" dirty="0"/>
          </a:p>
        </p:txBody>
      </p:sp>
      <p:sp>
        <p:nvSpPr>
          <p:cNvPr id="273" name="Text 271"/>
          <p:cNvSpPr/>
          <p:nvPr/>
        </p:nvSpPr>
        <p:spPr>
          <a:xfrm>
            <a:off x="6147511" y="4798314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نوفمبر</a:t>
            </a:r>
            <a:endParaRPr lang="ar-SA" sz="700" dirty="0"/>
          </a:p>
        </p:txBody>
      </p:sp>
      <p:sp>
        <p:nvSpPr>
          <p:cNvPr id="274" name="Shape 272"/>
          <p:cNvSpPr/>
          <p:nvPr/>
        </p:nvSpPr>
        <p:spPr>
          <a:xfrm>
            <a:off x="1896224" y="4845200"/>
            <a:ext cx="680206" cy="129494"/>
          </a:xfrm>
          <a:prstGeom prst="roundRect">
            <a:avLst>
              <a:gd name="adj" fmla="val 28245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75" name="Text 273"/>
          <p:cNvSpPr/>
          <p:nvPr/>
        </p:nvSpPr>
        <p:spPr>
          <a:xfrm>
            <a:off x="1896224" y="4845200"/>
            <a:ext cx="680206" cy="1294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يوم</a:t>
            </a:r>
            <a:endParaRPr lang="ar-SA" sz="700" dirty="0"/>
          </a:p>
        </p:txBody>
      </p:sp>
      <p:sp>
        <p:nvSpPr>
          <p:cNvPr id="276" name="Shape 274"/>
          <p:cNvSpPr/>
          <p:nvPr/>
        </p:nvSpPr>
        <p:spPr>
          <a:xfrm>
            <a:off x="365760" y="5021580"/>
            <a:ext cx="11460175" cy="22326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11515039" y="5014341"/>
            <a:ext cx="237744" cy="237744"/>
          </a:xfrm>
          <a:prstGeom prst="ellipse">
            <a:avLst/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78" name="Text 276"/>
          <p:cNvSpPr/>
          <p:nvPr/>
        </p:nvSpPr>
        <p:spPr>
          <a:xfrm>
            <a:off x="11441887" y="5021580"/>
            <a:ext cx="3840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ar-SA" sz="850" dirty="0"/>
          </a:p>
        </p:txBody>
      </p:sp>
      <p:sp>
        <p:nvSpPr>
          <p:cNvPr id="279" name="Text 277"/>
          <p:cNvSpPr/>
          <p:nvPr/>
        </p:nvSpPr>
        <p:spPr>
          <a:xfrm>
            <a:off x="8762695" y="5021580"/>
            <a:ext cx="26060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أساسات المبنى – حفر ودمك / اختبار وحديد تسليح وخرسانة</a:t>
            </a:r>
            <a:endParaRPr lang="ar-SA" sz="750" dirty="0"/>
          </a:p>
        </p:txBody>
      </p:sp>
      <p:sp>
        <p:nvSpPr>
          <p:cNvPr id="280" name="Text 278"/>
          <p:cNvSpPr/>
          <p:nvPr/>
        </p:nvSpPr>
        <p:spPr>
          <a:xfrm>
            <a:off x="7967167" y="5021580"/>
            <a:ext cx="7772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FS</a:t>
            </a:r>
            <a:endParaRPr lang="ar-SA" sz="700" dirty="0"/>
          </a:p>
        </p:txBody>
      </p:sp>
      <p:sp>
        <p:nvSpPr>
          <p:cNvPr id="281" name="Text 279"/>
          <p:cNvSpPr/>
          <p:nvPr/>
        </p:nvSpPr>
        <p:spPr>
          <a:xfrm>
            <a:off x="7464247" y="5021580"/>
            <a:ext cx="50292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900" dirty="0"/>
          </a:p>
        </p:txBody>
      </p:sp>
      <p:sp>
        <p:nvSpPr>
          <p:cNvPr id="282" name="Text 280"/>
          <p:cNvSpPr/>
          <p:nvPr/>
        </p:nvSpPr>
        <p:spPr>
          <a:xfrm>
            <a:off x="6805879" y="5021580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نوفمبر</a:t>
            </a:r>
            <a:endParaRPr lang="ar-SA" sz="700" dirty="0"/>
          </a:p>
        </p:txBody>
      </p:sp>
      <p:sp>
        <p:nvSpPr>
          <p:cNvPr id="283" name="Text 281"/>
          <p:cNvSpPr/>
          <p:nvPr/>
        </p:nvSpPr>
        <p:spPr>
          <a:xfrm>
            <a:off x="6147511" y="5021580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نوفمبر</a:t>
            </a:r>
            <a:endParaRPr lang="ar-SA" sz="700" dirty="0"/>
          </a:p>
        </p:txBody>
      </p:sp>
      <p:sp>
        <p:nvSpPr>
          <p:cNvPr id="284" name="Shape 282"/>
          <p:cNvSpPr/>
          <p:nvPr/>
        </p:nvSpPr>
        <p:spPr>
          <a:xfrm>
            <a:off x="1386069" y="5068466"/>
            <a:ext cx="1190361" cy="129494"/>
          </a:xfrm>
          <a:prstGeom prst="roundRect">
            <a:avLst>
              <a:gd name="adj" fmla="val 28245"/>
            </a:avLst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85" name="Text 283"/>
          <p:cNvSpPr/>
          <p:nvPr/>
        </p:nvSpPr>
        <p:spPr>
          <a:xfrm>
            <a:off x="1386069" y="5068466"/>
            <a:ext cx="1190361" cy="1294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يوم</a:t>
            </a:r>
            <a:endParaRPr lang="ar-SA" sz="700" dirty="0"/>
          </a:p>
        </p:txBody>
      </p:sp>
      <p:sp>
        <p:nvSpPr>
          <p:cNvPr id="286" name="Shape 284"/>
          <p:cNvSpPr/>
          <p:nvPr/>
        </p:nvSpPr>
        <p:spPr>
          <a:xfrm>
            <a:off x="365760" y="5244846"/>
            <a:ext cx="11460175" cy="22326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11515039" y="5237607"/>
            <a:ext cx="237744" cy="237744"/>
          </a:xfrm>
          <a:prstGeom prst="ellipse">
            <a:avLst/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88" name="Text 286"/>
          <p:cNvSpPr/>
          <p:nvPr/>
        </p:nvSpPr>
        <p:spPr>
          <a:xfrm>
            <a:off x="11441887" y="5244846"/>
            <a:ext cx="3840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ar-SA" sz="850" dirty="0"/>
          </a:p>
        </p:txBody>
      </p:sp>
      <p:sp>
        <p:nvSpPr>
          <p:cNvPr id="289" name="Text 287"/>
          <p:cNvSpPr/>
          <p:nvPr/>
        </p:nvSpPr>
        <p:spPr>
          <a:xfrm>
            <a:off x="8762695" y="5244846"/>
            <a:ext cx="26060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أعمال الردم للمبنى</a:t>
            </a:r>
            <a:endParaRPr lang="ar-SA" sz="750" dirty="0"/>
          </a:p>
        </p:txBody>
      </p:sp>
      <p:sp>
        <p:nvSpPr>
          <p:cNvPr id="290" name="Text 288"/>
          <p:cNvSpPr/>
          <p:nvPr/>
        </p:nvSpPr>
        <p:spPr>
          <a:xfrm>
            <a:off x="7967167" y="5244846"/>
            <a:ext cx="7772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 · FS</a:t>
            </a:r>
            <a:endParaRPr lang="ar-SA" sz="700" dirty="0"/>
          </a:p>
        </p:txBody>
      </p:sp>
      <p:sp>
        <p:nvSpPr>
          <p:cNvPr id="291" name="Text 289"/>
          <p:cNvSpPr/>
          <p:nvPr/>
        </p:nvSpPr>
        <p:spPr>
          <a:xfrm>
            <a:off x="7464247" y="5244846"/>
            <a:ext cx="50292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900" dirty="0"/>
          </a:p>
        </p:txBody>
      </p:sp>
      <p:sp>
        <p:nvSpPr>
          <p:cNvPr id="292" name="Text 290"/>
          <p:cNvSpPr/>
          <p:nvPr/>
        </p:nvSpPr>
        <p:spPr>
          <a:xfrm>
            <a:off x="6805879" y="5244846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نوفمبر</a:t>
            </a:r>
            <a:endParaRPr lang="ar-SA" sz="700" dirty="0"/>
          </a:p>
        </p:txBody>
      </p:sp>
      <p:sp>
        <p:nvSpPr>
          <p:cNvPr id="293" name="Text 291"/>
          <p:cNvSpPr/>
          <p:nvPr/>
        </p:nvSpPr>
        <p:spPr>
          <a:xfrm>
            <a:off x="6147511" y="5244846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نوفمبر</a:t>
            </a:r>
            <a:endParaRPr lang="ar-SA" sz="700" dirty="0"/>
          </a:p>
        </p:txBody>
      </p:sp>
      <p:sp>
        <p:nvSpPr>
          <p:cNvPr id="294" name="Shape 292"/>
          <p:cNvSpPr/>
          <p:nvPr/>
        </p:nvSpPr>
        <p:spPr>
          <a:xfrm>
            <a:off x="705863" y="5291732"/>
            <a:ext cx="680206" cy="129494"/>
          </a:xfrm>
          <a:prstGeom prst="roundRect">
            <a:avLst>
              <a:gd name="adj" fmla="val 28245"/>
            </a:avLst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95" name="Text 293"/>
          <p:cNvSpPr/>
          <p:nvPr/>
        </p:nvSpPr>
        <p:spPr>
          <a:xfrm>
            <a:off x="705863" y="5291732"/>
            <a:ext cx="680206" cy="1294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يوم</a:t>
            </a:r>
            <a:endParaRPr lang="ar-SA" sz="700" dirty="0"/>
          </a:p>
        </p:txBody>
      </p:sp>
      <p:sp>
        <p:nvSpPr>
          <p:cNvPr id="296" name="Shape 294"/>
          <p:cNvSpPr/>
          <p:nvPr/>
        </p:nvSpPr>
        <p:spPr>
          <a:xfrm>
            <a:off x="4732235" y="3188566"/>
            <a:ext cx="0" cy="15851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 flipH="1">
            <a:off x="4456140" y="3347085"/>
            <a:ext cx="276095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298" name="Shape 296"/>
          <p:cNvSpPr/>
          <p:nvPr/>
        </p:nvSpPr>
        <p:spPr>
          <a:xfrm>
            <a:off x="4392132" y="3411832"/>
            <a:ext cx="0" cy="15851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 flipH="1">
            <a:off x="4286089" y="3570351"/>
            <a:ext cx="106044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00" name="Shape 298"/>
          <p:cNvSpPr/>
          <p:nvPr/>
        </p:nvSpPr>
        <p:spPr>
          <a:xfrm>
            <a:off x="4222081" y="3635098"/>
            <a:ext cx="0" cy="15851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 flipH="1">
            <a:off x="4116037" y="3793617"/>
            <a:ext cx="106044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02" name="Shape 300"/>
          <p:cNvSpPr/>
          <p:nvPr/>
        </p:nvSpPr>
        <p:spPr>
          <a:xfrm>
            <a:off x="4052029" y="3858364"/>
            <a:ext cx="0" cy="15851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 flipH="1">
            <a:off x="4052029" y="4016883"/>
            <a:ext cx="64008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04" name="Shape 302"/>
          <p:cNvSpPr/>
          <p:nvPr/>
        </p:nvSpPr>
        <p:spPr>
          <a:xfrm>
            <a:off x="4732235" y="2965300"/>
            <a:ext cx="0" cy="127484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 flipH="1">
            <a:off x="3945986" y="4240149"/>
            <a:ext cx="78625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06" name="Shape 304"/>
          <p:cNvSpPr/>
          <p:nvPr/>
        </p:nvSpPr>
        <p:spPr>
          <a:xfrm>
            <a:off x="3936842" y="2900553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3982562" y="2900553"/>
            <a:ext cx="0" cy="1562862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 flipH="1">
            <a:off x="3945986" y="4463415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09" name="Shape 307"/>
          <p:cNvSpPr/>
          <p:nvPr/>
        </p:nvSpPr>
        <p:spPr>
          <a:xfrm>
            <a:off x="3596739" y="4463415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3642459" y="4463415"/>
            <a:ext cx="0" cy="22326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 flipH="1">
            <a:off x="3605883" y="4686681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12" name="Shape 310"/>
          <p:cNvSpPr/>
          <p:nvPr/>
        </p:nvSpPr>
        <p:spPr>
          <a:xfrm>
            <a:off x="2576430" y="4686681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2622150" y="4686681"/>
            <a:ext cx="0" cy="22326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 flipH="1">
            <a:off x="2585574" y="4909947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15" name="Shape 313"/>
          <p:cNvSpPr/>
          <p:nvPr/>
        </p:nvSpPr>
        <p:spPr>
          <a:xfrm>
            <a:off x="2576430" y="4686681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2622150" y="4686681"/>
            <a:ext cx="0" cy="446532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 flipH="1">
            <a:off x="2585574" y="5133213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18" name="Shape 316"/>
          <p:cNvSpPr/>
          <p:nvPr/>
        </p:nvSpPr>
        <p:spPr>
          <a:xfrm>
            <a:off x="1386069" y="5133213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1431789" y="5133213"/>
            <a:ext cx="0" cy="22326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 flipH="1">
            <a:off x="1395213" y="5356479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21" name="Shape 319"/>
          <p:cNvSpPr/>
          <p:nvPr/>
        </p:nvSpPr>
        <p:spPr>
          <a:xfrm>
            <a:off x="4872125" y="1947672"/>
            <a:ext cx="0" cy="3520440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322" name="Shape 320"/>
          <p:cNvSpPr/>
          <p:nvPr/>
        </p:nvSpPr>
        <p:spPr>
          <a:xfrm>
            <a:off x="4899557" y="2020824"/>
            <a:ext cx="841248" cy="155448"/>
          </a:xfrm>
          <a:prstGeom prst="roundRect">
            <a:avLst>
              <a:gd name="adj" fmla="val 47059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323" name="Text 321"/>
          <p:cNvSpPr/>
          <p:nvPr/>
        </p:nvSpPr>
        <p:spPr>
          <a:xfrm>
            <a:off x="4899557" y="2020824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تاريخ الموقف · 21 أكتوبر</a:t>
            </a:r>
            <a:endParaRPr lang="ar-SA" sz="650" dirty="0"/>
          </a:p>
        </p:txBody>
      </p:sp>
      <p:sp>
        <p:nvSpPr>
          <p:cNvPr id="324" name="Shape 322"/>
          <p:cNvSpPr/>
          <p:nvPr/>
        </p:nvSpPr>
        <p:spPr>
          <a:xfrm>
            <a:off x="365760" y="1325880"/>
            <a:ext cx="11460175" cy="4142232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B9C6CC"/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9621683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26" name="Shape 324"/>
          <p:cNvSpPr/>
          <p:nvPr/>
        </p:nvSpPr>
        <p:spPr>
          <a:xfrm>
            <a:off x="9676547" y="5577840"/>
            <a:ext cx="2094525" cy="54864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327" name="Text 325"/>
          <p:cNvSpPr/>
          <p:nvPr/>
        </p:nvSpPr>
        <p:spPr>
          <a:xfrm>
            <a:off x="9731411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بدء الأعمال</a:t>
            </a:r>
            <a:endParaRPr lang="ar-SA" sz="850" dirty="0"/>
          </a:p>
        </p:txBody>
      </p:sp>
      <p:sp>
        <p:nvSpPr>
          <p:cNvPr id="328" name="Text 326"/>
          <p:cNvSpPr/>
          <p:nvPr/>
        </p:nvSpPr>
        <p:spPr>
          <a:xfrm>
            <a:off x="9731411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22 أكتوبر 2026</a:t>
            </a:r>
            <a:endParaRPr lang="ar-SA" sz="1300" dirty="0"/>
          </a:p>
        </p:txBody>
      </p:sp>
      <p:sp>
        <p:nvSpPr>
          <p:cNvPr id="329" name="Text 327"/>
          <p:cNvSpPr/>
          <p:nvPr/>
        </p:nvSpPr>
        <p:spPr>
          <a:xfrm>
            <a:off x="9731411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1 / 20</a:t>
            </a:r>
            <a:endParaRPr lang="ar-SA" sz="750" dirty="0"/>
          </a:p>
        </p:txBody>
      </p:sp>
      <p:sp>
        <p:nvSpPr>
          <p:cNvPr id="330" name="Shape 328"/>
          <p:cNvSpPr/>
          <p:nvPr/>
        </p:nvSpPr>
        <p:spPr>
          <a:xfrm>
            <a:off x="7307702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31" name="Shape 329"/>
          <p:cNvSpPr/>
          <p:nvPr/>
        </p:nvSpPr>
        <p:spPr>
          <a:xfrm>
            <a:off x="7362566" y="5577840"/>
            <a:ext cx="2094525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332" name="Text 330"/>
          <p:cNvSpPr/>
          <p:nvPr/>
        </p:nvSpPr>
        <p:spPr>
          <a:xfrm>
            <a:off x="7417430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تركيب نظام الدعم</a:t>
            </a:r>
            <a:endParaRPr lang="ar-SA" sz="850" dirty="0"/>
          </a:p>
        </p:txBody>
      </p:sp>
      <p:sp>
        <p:nvSpPr>
          <p:cNvPr id="333" name="Text 331"/>
          <p:cNvSpPr/>
          <p:nvPr/>
        </p:nvSpPr>
        <p:spPr>
          <a:xfrm>
            <a:off x="7417430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26 أكتوبر 2026</a:t>
            </a:r>
            <a:endParaRPr lang="ar-SA" sz="1300" dirty="0"/>
          </a:p>
        </p:txBody>
      </p:sp>
      <p:sp>
        <p:nvSpPr>
          <p:cNvPr id="334" name="Text 332"/>
          <p:cNvSpPr/>
          <p:nvPr/>
        </p:nvSpPr>
        <p:spPr>
          <a:xfrm>
            <a:off x="7417430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4 / 20</a:t>
            </a:r>
            <a:endParaRPr lang="ar-SA" sz="750" dirty="0"/>
          </a:p>
        </p:txBody>
      </p:sp>
      <p:sp>
        <p:nvSpPr>
          <p:cNvPr id="335" name="Shape 333"/>
          <p:cNvSpPr/>
          <p:nvPr/>
        </p:nvSpPr>
        <p:spPr>
          <a:xfrm>
            <a:off x="4993721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36" name="Shape 334"/>
          <p:cNvSpPr/>
          <p:nvPr/>
        </p:nvSpPr>
        <p:spPr>
          <a:xfrm>
            <a:off x="5048585" y="5577840"/>
            <a:ext cx="2094525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37" name="Text 335"/>
          <p:cNvSpPr/>
          <p:nvPr/>
        </p:nvSpPr>
        <p:spPr>
          <a:xfrm>
            <a:off x="5103449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أعمال الحفرة (جدار الحفرة)</a:t>
            </a:r>
            <a:endParaRPr lang="ar-SA" sz="850" dirty="0"/>
          </a:p>
        </p:txBody>
      </p:sp>
      <p:sp>
        <p:nvSpPr>
          <p:cNvPr id="338" name="Text 336"/>
          <p:cNvSpPr/>
          <p:nvPr/>
        </p:nvSpPr>
        <p:spPr>
          <a:xfrm>
            <a:off x="5103449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سبت 7 نوفمبر 2026</a:t>
            </a:r>
            <a:endParaRPr lang="ar-SA" sz="1300" dirty="0"/>
          </a:p>
        </p:txBody>
      </p:sp>
      <p:sp>
        <p:nvSpPr>
          <p:cNvPr id="339" name="Text 337"/>
          <p:cNvSpPr/>
          <p:nvPr/>
        </p:nvSpPr>
        <p:spPr>
          <a:xfrm>
            <a:off x="5103449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14 / 20</a:t>
            </a:r>
            <a:endParaRPr lang="ar-SA" sz="750" dirty="0"/>
          </a:p>
        </p:txBody>
      </p:sp>
      <p:sp>
        <p:nvSpPr>
          <p:cNvPr id="340" name="Shape 338"/>
          <p:cNvSpPr/>
          <p:nvPr/>
        </p:nvSpPr>
        <p:spPr>
          <a:xfrm>
            <a:off x="2679741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41" name="Shape 339"/>
          <p:cNvSpPr/>
          <p:nvPr/>
        </p:nvSpPr>
        <p:spPr>
          <a:xfrm>
            <a:off x="2734605" y="5577840"/>
            <a:ext cx="2094525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42" name="Text 340"/>
          <p:cNvSpPr/>
          <p:nvPr/>
        </p:nvSpPr>
        <p:spPr>
          <a:xfrm>
            <a:off x="2789469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أساسات المبنى</a:t>
            </a:r>
            <a:endParaRPr lang="ar-SA" sz="850" dirty="0"/>
          </a:p>
        </p:txBody>
      </p:sp>
      <p:sp>
        <p:nvSpPr>
          <p:cNvPr id="343" name="Text 341"/>
          <p:cNvSpPr/>
          <p:nvPr/>
        </p:nvSpPr>
        <p:spPr>
          <a:xfrm>
            <a:off x="2789469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10 نوفمبر 2026</a:t>
            </a:r>
            <a:endParaRPr lang="ar-SA" sz="1300" dirty="0"/>
          </a:p>
        </p:txBody>
      </p:sp>
      <p:sp>
        <p:nvSpPr>
          <p:cNvPr id="344" name="Text 342"/>
          <p:cNvSpPr/>
          <p:nvPr/>
        </p:nvSpPr>
        <p:spPr>
          <a:xfrm>
            <a:off x="2789469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17 / 20</a:t>
            </a:r>
            <a:endParaRPr lang="ar-SA" sz="750" dirty="0"/>
          </a:p>
        </p:txBody>
      </p:sp>
      <p:sp>
        <p:nvSpPr>
          <p:cNvPr id="345" name="Shape 343"/>
          <p:cNvSpPr/>
          <p:nvPr/>
        </p:nvSpPr>
        <p:spPr>
          <a:xfrm>
            <a:off x="365760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3D3935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46" name="Shape 344"/>
          <p:cNvSpPr/>
          <p:nvPr/>
        </p:nvSpPr>
        <p:spPr>
          <a:xfrm>
            <a:off x="420624" y="5577840"/>
            <a:ext cx="2094525" cy="54864"/>
          </a:xfrm>
          <a:prstGeom prst="rect">
            <a:avLst/>
          </a:prstGeom>
          <a:solidFill>
            <a:srgbClr val="D68A00"/>
          </a:solidFill>
          <a:ln w="12700">
            <a:solidFill>
              <a:srgbClr val="D68A00"/>
            </a:solidFill>
            <a:prstDash val="solid"/>
          </a:ln>
        </p:spPr>
      </p:sp>
      <p:sp>
        <p:nvSpPr>
          <p:cNvPr id="347" name="Text 345"/>
          <p:cNvSpPr/>
          <p:nvPr/>
        </p:nvSpPr>
        <p:spPr>
          <a:xfrm>
            <a:off x="475488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CF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الإنجاز الكلي</a:t>
            </a:r>
            <a:endParaRPr lang="ar-SA" sz="850" dirty="0"/>
          </a:p>
        </p:txBody>
      </p:sp>
      <p:sp>
        <p:nvSpPr>
          <p:cNvPr id="348" name="Text 346"/>
          <p:cNvSpPr/>
          <p:nvPr/>
        </p:nvSpPr>
        <p:spPr>
          <a:xfrm>
            <a:off x="475488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سبت 14 نوفمبر 2026</a:t>
            </a:r>
            <a:endParaRPr lang="ar-SA" sz="1300" dirty="0"/>
          </a:p>
        </p:txBody>
      </p:sp>
      <p:sp>
        <p:nvSpPr>
          <p:cNvPr id="349" name="Text 347"/>
          <p:cNvSpPr/>
          <p:nvPr/>
        </p:nvSpPr>
        <p:spPr>
          <a:xfrm>
            <a:off x="475488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CF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20 / 20</a:t>
            </a:r>
            <a:endParaRPr lang="ar-SA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SAR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مشروع UFWL – مخطط جانت</dc:title>
  <dc:subject>PptxGenJS Presentation</dc:subject>
  <dc:creator>UFWL Project</dc:creator>
  <cp:lastModifiedBy>UFWL Project</cp:lastModifiedBy>
  <cp:revision>1</cp:revision>
  <dcterms:created xsi:type="dcterms:W3CDTF">2026-10-21T13:51:17Z</dcterms:created>
  <dcterms:modified xsi:type="dcterms:W3CDTF">2026-10-21T13:51:17Z</dcterms:modified>
</cp:coreProperties>
</file>