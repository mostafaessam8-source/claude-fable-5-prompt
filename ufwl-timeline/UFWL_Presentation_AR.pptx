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10180015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2681935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إيقاف الموقع والأعمال المتبقية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 UFWL – الخط الزمني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الجدول الزمني لأنشطة المشروع · إيقاف الموقع وأعمال الدعم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69903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26980" y="1005840"/>
            <a:ext cx="13880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98160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36738" y="1005840"/>
            <a:ext cx="2024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74258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9180" y="1005840"/>
            <a:ext cx="25017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4558284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1079" y="1005840"/>
            <a:ext cx="181234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11317636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6679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1596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6512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42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34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261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17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109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600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92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584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075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67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059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550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2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8815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17636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0732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10732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1100" dirty="0"/>
          </a:p>
        </p:txBody>
      </p:sp>
      <p:sp>
        <p:nvSpPr>
          <p:cNvPr id="33" name="Shape 31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31 أغسطس 2026</a:t>
            </a:r>
            <a:endParaRPr lang="ar-SA" sz="950" dirty="0"/>
          </a:p>
        </p:txBody>
      </p:sp>
      <p:sp>
        <p:nvSpPr>
          <p:cNvPr id="36" name="Text 34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تصريح العمل</a:t>
            </a:r>
            <a:endParaRPr lang="ar-SA" sz="650" dirty="0"/>
          </a:p>
        </p:txBody>
      </p:sp>
      <p:sp>
        <p:nvSpPr>
          <p:cNvPr id="37" name="Shape 35"/>
          <p:cNvSpPr/>
          <p:nvPr/>
        </p:nvSpPr>
        <p:spPr>
          <a:xfrm>
            <a:off x="10666799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45648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045648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1100" dirty="0"/>
          </a:p>
        </p:txBody>
      </p:sp>
      <p:sp>
        <p:nvSpPr>
          <p:cNvPr id="40" name="Shape 38"/>
          <p:cNvSpPr/>
          <p:nvPr/>
        </p:nvSpPr>
        <p:spPr>
          <a:xfrm>
            <a:off x="965800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731152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4944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28 سبتمبر 2026</a:t>
            </a:r>
            <a:endParaRPr lang="ar-SA" sz="950" dirty="0"/>
          </a:p>
        </p:txBody>
      </p:sp>
      <p:sp>
        <p:nvSpPr>
          <p:cNvPr id="43" name="Text 41"/>
          <p:cNvSpPr/>
          <p:nvPr/>
        </p:nvSpPr>
        <p:spPr>
          <a:xfrm>
            <a:off x="974944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7A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الخلفية – طلب التصريح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طلب التصريح</a:t>
            </a:r>
            <a:endParaRPr lang="ar-SA" sz="650" dirty="0"/>
          </a:p>
        </p:txBody>
      </p:sp>
      <p:sp>
        <p:nvSpPr>
          <p:cNvPr id="44" name="Shape 42"/>
          <p:cNvSpPr/>
          <p:nvPr/>
        </p:nvSpPr>
        <p:spPr>
          <a:xfrm>
            <a:off x="10015961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805649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8056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1100" dirty="0"/>
          </a:p>
        </p:txBody>
      </p:sp>
      <p:sp>
        <p:nvSpPr>
          <p:cNvPr id="47" name="Shape 45"/>
          <p:cNvSpPr/>
          <p:nvPr/>
        </p:nvSpPr>
        <p:spPr>
          <a:xfrm>
            <a:off x="9007163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080315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603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 أكتوبر 2026</a:t>
            </a:r>
            <a:endParaRPr lang="ar-SA" sz="950" dirty="0"/>
          </a:p>
        </p:txBody>
      </p:sp>
      <p:sp>
        <p:nvSpPr>
          <p:cNvPr id="50" name="Text 48"/>
          <p:cNvSpPr/>
          <p:nvPr/>
        </p:nvSpPr>
        <p:spPr>
          <a:xfrm>
            <a:off x="9098603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إيقاف أنشطة المشروع</a:t>
            </a:r>
            <a:endParaRPr lang="ar-SA" sz="650" dirty="0"/>
          </a:p>
        </p:txBody>
      </p:sp>
      <p:sp>
        <p:nvSpPr>
          <p:cNvPr id="51" name="Shape 49"/>
          <p:cNvSpPr/>
          <p:nvPr/>
        </p:nvSpPr>
        <p:spPr>
          <a:xfrm>
            <a:off x="9365123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154811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915481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1100" dirty="0"/>
          </a:p>
        </p:txBody>
      </p:sp>
      <p:sp>
        <p:nvSpPr>
          <p:cNvPr id="54" name="Shape 52"/>
          <p:cNvSpPr/>
          <p:nvPr/>
        </p:nvSpPr>
        <p:spPr>
          <a:xfrm>
            <a:off x="83563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8429477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477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 3 أكتوبر 2026</a:t>
            </a:r>
            <a:endParaRPr lang="ar-SA" sz="950" dirty="0"/>
          </a:p>
        </p:txBody>
      </p:sp>
      <p:sp>
        <p:nvSpPr>
          <p:cNvPr id="57" name="Text 55"/>
          <p:cNvSpPr/>
          <p:nvPr/>
        </p:nvSpPr>
        <p:spPr>
          <a:xfrm>
            <a:off x="84477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ميدانية مشتركة</a:t>
            </a:r>
            <a:endParaRPr lang="ar-SA" sz="650" dirty="0"/>
          </a:p>
        </p:txBody>
      </p:sp>
      <p:sp>
        <p:nvSpPr>
          <p:cNvPr id="58" name="Shape 56"/>
          <p:cNvSpPr/>
          <p:nvPr/>
        </p:nvSpPr>
        <p:spPr>
          <a:xfrm>
            <a:off x="8714286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3974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5039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1100" dirty="0"/>
          </a:p>
        </p:txBody>
      </p:sp>
      <p:sp>
        <p:nvSpPr>
          <p:cNvPr id="61" name="Shape 59"/>
          <p:cNvSpPr/>
          <p:nvPr/>
        </p:nvSpPr>
        <p:spPr>
          <a:xfrm>
            <a:off x="770548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778639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9692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4 أكتوبر 2026</a:t>
            </a:r>
            <a:endParaRPr lang="ar-SA" sz="950" dirty="0"/>
          </a:p>
        </p:txBody>
      </p:sp>
      <p:sp>
        <p:nvSpPr>
          <p:cNvPr id="64" name="Text 62"/>
          <p:cNvSpPr/>
          <p:nvPr/>
        </p:nvSpPr>
        <p:spPr>
          <a:xfrm>
            <a:off x="779692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تقييم المخاطر وخطة التخفيف</a:t>
            </a:r>
            <a:endParaRPr lang="ar-SA" sz="650" dirty="0"/>
          </a:p>
        </p:txBody>
      </p:sp>
      <p:sp>
        <p:nvSpPr>
          <p:cNvPr id="65" name="Shape 63"/>
          <p:cNvSpPr/>
          <p:nvPr/>
        </p:nvSpPr>
        <p:spPr>
          <a:xfrm>
            <a:off x="8063448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853136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78531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1100" dirty="0"/>
          </a:p>
        </p:txBody>
      </p:sp>
      <p:sp>
        <p:nvSpPr>
          <p:cNvPr id="68" name="Shape 66"/>
          <p:cNvSpPr/>
          <p:nvPr/>
        </p:nvSpPr>
        <p:spPr>
          <a:xfrm>
            <a:off x="70546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7127802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460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5 أكتوبر 2026</a:t>
            </a:r>
            <a:endParaRPr lang="ar-SA" sz="950" dirty="0"/>
          </a:p>
        </p:txBody>
      </p:sp>
      <p:sp>
        <p:nvSpPr>
          <p:cNvPr id="71" name="Text 69"/>
          <p:cNvSpPr/>
          <p:nvPr/>
        </p:nvSpPr>
        <p:spPr>
          <a:xfrm>
            <a:off x="71460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C8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1 – الإيقاف وتقييم الموقع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خطة عمل تفصيلية</a:t>
            </a:r>
            <a:endParaRPr lang="ar-SA" sz="650" dirty="0"/>
          </a:p>
        </p:txBody>
      </p:sp>
      <p:sp>
        <p:nvSpPr>
          <p:cNvPr id="72" name="Shape 70"/>
          <p:cNvSpPr/>
          <p:nvPr/>
        </p:nvSpPr>
        <p:spPr>
          <a:xfrm>
            <a:off x="741261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20229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720229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1100" dirty="0"/>
          </a:p>
        </p:txBody>
      </p:sp>
      <p:sp>
        <p:nvSpPr>
          <p:cNvPr id="75" name="Shape 73"/>
          <p:cNvSpPr/>
          <p:nvPr/>
        </p:nvSpPr>
        <p:spPr>
          <a:xfrm>
            <a:off x="640381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47696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9525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78" name="Text 76"/>
          <p:cNvSpPr/>
          <p:nvPr/>
        </p:nvSpPr>
        <p:spPr>
          <a:xfrm>
            <a:off x="649525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بيان طريقة العمل (MoS)</a:t>
            </a:r>
            <a:endParaRPr lang="ar-SA" sz="650" dirty="0"/>
          </a:p>
        </p:txBody>
      </p:sp>
      <p:sp>
        <p:nvSpPr>
          <p:cNvPr id="79" name="Shape 77"/>
          <p:cNvSpPr/>
          <p:nvPr/>
        </p:nvSpPr>
        <p:spPr>
          <a:xfrm>
            <a:off x="6761773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51461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5514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1100" dirty="0"/>
          </a:p>
        </p:txBody>
      </p:sp>
      <p:sp>
        <p:nvSpPr>
          <p:cNvPr id="82" name="Shape 80"/>
          <p:cNvSpPr/>
          <p:nvPr/>
        </p:nvSpPr>
        <p:spPr>
          <a:xfrm>
            <a:off x="575297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582612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84441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7 أكتوبر 2026</a:t>
            </a:r>
            <a:endParaRPr lang="ar-SA" sz="950" dirty="0"/>
          </a:p>
        </p:txBody>
      </p:sp>
      <p:sp>
        <p:nvSpPr>
          <p:cNvPr id="85" name="Text 83"/>
          <p:cNvSpPr/>
          <p:nvPr/>
        </p:nvSpPr>
        <p:spPr>
          <a:xfrm>
            <a:off x="584441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اجتماع أصحاب المصلحة</a:t>
            </a:r>
            <a:endParaRPr lang="ar-SA" sz="650" dirty="0"/>
          </a:p>
        </p:txBody>
      </p:sp>
      <p:sp>
        <p:nvSpPr>
          <p:cNvPr id="86" name="Shape 84"/>
          <p:cNvSpPr/>
          <p:nvPr/>
        </p:nvSpPr>
        <p:spPr>
          <a:xfrm>
            <a:off x="6110935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006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006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1100" dirty="0"/>
          </a:p>
        </p:txBody>
      </p:sp>
      <p:sp>
        <p:nvSpPr>
          <p:cNvPr id="89" name="Shape 87"/>
          <p:cNvSpPr/>
          <p:nvPr/>
        </p:nvSpPr>
        <p:spPr>
          <a:xfrm>
            <a:off x="5102137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75289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93577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8 أكتوبر 2026</a:t>
            </a:r>
            <a:endParaRPr lang="ar-SA" sz="950" dirty="0"/>
          </a:p>
        </p:txBody>
      </p:sp>
      <p:sp>
        <p:nvSpPr>
          <p:cNvPr id="92" name="Text 90"/>
          <p:cNvSpPr/>
          <p:nvPr/>
        </p:nvSpPr>
        <p:spPr>
          <a:xfrm>
            <a:off x="5193577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 على استفسارات أصحاب المصلحة</a:t>
            </a:r>
            <a:endParaRPr lang="ar-SA" sz="650" dirty="0"/>
          </a:p>
        </p:txBody>
      </p:sp>
      <p:sp>
        <p:nvSpPr>
          <p:cNvPr id="93" name="Shape 91"/>
          <p:cNvSpPr/>
          <p:nvPr/>
        </p:nvSpPr>
        <p:spPr>
          <a:xfrm>
            <a:off x="54600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97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52497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1100" dirty="0"/>
          </a:p>
        </p:txBody>
      </p:sp>
      <p:sp>
        <p:nvSpPr>
          <p:cNvPr id="96" name="Shape 94"/>
          <p:cNvSpPr/>
          <p:nvPr/>
        </p:nvSpPr>
        <p:spPr>
          <a:xfrm>
            <a:off x="44512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45244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5427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 11 أكتوبر 2026</a:t>
            </a:r>
            <a:endParaRPr lang="ar-SA" sz="950" dirty="0"/>
          </a:p>
        </p:txBody>
      </p:sp>
      <p:sp>
        <p:nvSpPr>
          <p:cNvPr id="99" name="Text 97"/>
          <p:cNvSpPr/>
          <p:nvPr/>
        </p:nvSpPr>
        <p:spPr>
          <a:xfrm>
            <a:off x="45427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استلام توضيح من إدارة الهندسة</a:t>
            </a:r>
            <a:endParaRPr lang="ar-SA" sz="650" dirty="0"/>
          </a:p>
        </p:txBody>
      </p:sp>
      <p:sp>
        <p:nvSpPr>
          <p:cNvPr id="100" name="Shape 98"/>
          <p:cNvSpPr/>
          <p:nvPr/>
        </p:nvSpPr>
        <p:spPr>
          <a:xfrm>
            <a:off x="4809260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5989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45989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1100" dirty="0"/>
          </a:p>
        </p:txBody>
      </p:sp>
      <p:sp>
        <p:nvSpPr>
          <p:cNvPr id="103" name="Shape 101"/>
          <p:cNvSpPr/>
          <p:nvPr/>
        </p:nvSpPr>
        <p:spPr>
          <a:xfrm>
            <a:off x="3800462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3873614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91902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12 أكتوبر 2026</a:t>
            </a:r>
            <a:endParaRPr lang="ar-SA" sz="950" dirty="0"/>
          </a:p>
        </p:txBody>
      </p:sp>
      <p:sp>
        <p:nvSpPr>
          <p:cNvPr id="106" name="Text 104"/>
          <p:cNvSpPr/>
          <p:nvPr/>
        </p:nvSpPr>
        <p:spPr>
          <a:xfrm>
            <a:off x="3891902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0077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2 – إعداد ومراجعة بيان طريقة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الثانية (MoS)</a:t>
            </a:r>
            <a:endParaRPr lang="ar-SA" sz="650" dirty="0"/>
          </a:p>
        </p:txBody>
      </p:sp>
      <p:sp>
        <p:nvSpPr>
          <p:cNvPr id="107" name="Shape 105"/>
          <p:cNvSpPr/>
          <p:nvPr/>
        </p:nvSpPr>
        <p:spPr>
          <a:xfrm>
            <a:off x="415842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94811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9481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1100" dirty="0"/>
          </a:p>
        </p:txBody>
      </p:sp>
      <p:sp>
        <p:nvSpPr>
          <p:cNvPr id="110" name="Shape 108"/>
          <p:cNvSpPr/>
          <p:nvPr/>
        </p:nvSpPr>
        <p:spPr>
          <a:xfrm>
            <a:off x="31496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3222776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410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950" dirty="0"/>
          </a:p>
        </p:txBody>
      </p:sp>
      <p:sp>
        <p:nvSpPr>
          <p:cNvPr id="113" name="Text 111"/>
          <p:cNvSpPr/>
          <p:nvPr/>
        </p:nvSpPr>
        <p:spPr>
          <a:xfrm>
            <a:off x="32410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مع إدارة السلامة</a:t>
            </a:r>
            <a:endParaRPr lang="ar-SA" sz="650" dirty="0"/>
          </a:p>
        </p:txBody>
      </p:sp>
      <p:sp>
        <p:nvSpPr>
          <p:cNvPr id="114" name="Shape 112"/>
          <p:cNvSpPr/>
          <p:nvPr/>
        </p:nvSpPr>
        <p:spPr>
          <a:xfrm>
            <a:off x="3507585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297273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32972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1100" dirty="0"/>
          </a:p>
        </p:txBody>
      </p:sp>
      <p:sp>
        <p:nvSpPr>
          <p:cNvPr id="117" name="Shape 115"/>
          <p:cNvSpPr/>
          <p:nvPr/>
        </p:nvSpPr>
        <p:spPr>
          <a:xfrm>
            <a:off x="2498786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2571938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590226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14 أكتوبر 2026</a:t>
            </a:r>
            <a:endParaRPr lang="ar-SA" sz="950" dirty="0"/>
          </a:p>
        </p:txBody>
      </p:sp>
      <p:sp>
        <p:nvSpPr>
          <p:cNvPr id="120" name="Text 118"/>
          <p:cNvSpPr/>
          <p:nvPr/>
        </p:nvSpPr>
        <p:spPr>
          <a:xfrm>
            <a:off x="2590226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التصريح للموافقات</a:t>
            </a:r>
            <a:endParaRPr lang="ar-SA" sz="650" dirty="0"/>
          </a:p>
        </p:txBody>
      </p:sp>
      <p:sp>
        <p:nvSpPr>
          <p:cNvPr id="121" name="Shape 119"/>
          <p:cNvSpPr/>
          <p:nvPr/>
        </p:nvSpPr>
        <p:spPr>
          <a:xfrm>
            <a:off x="2856747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646435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26464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1100" dirty="0"/>
          </a:p>
        </p:txBody>
      </p:sp>
      <p:sp>
        <p:nvSpPr>
          <p:cNvPr id="124" name="Shape 122"/>
          <p:cNvSpPr/>
          <p:nvPr/>
        </p:nvSpPr>
        <p:spPr>
          <a:xfrm>
            <a:off x="18479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1921101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393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 15 أكتوبر 2026</a:t>
            </a:r>
            <a:endParaRPr lang="ar-SA" sz="950" dirty="0"/>
          </a:p>
        </p:txBody>
      </p:sp>
      <p:sp>
        <p:nvSpPr>
          <p:cNvPr id="127" name="Text 125"/>
          <p:cNvSpPr/>
          <p:nvPr/>
        </p:nvSpPr>
        <p:spPr>
          <a:xfrm>
            <a:off x="19393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 من الإدارات</a:t>
            </a:r>
            <a:endParaRPr lang="ar-SA" sz="650" dirty="0"/>
          </a:p>
        </p:txBody>
      </p:sp>
      <p:sp>
        <p:nvSpPr>
          <p:cNvPr id="128" name="Shape 126"/>
          <p:cNvSpPr/>
          <p:nvPr/>
        </p:nvSpPr>
        <p:spPr>
          <a:xfrm>
            <a:off x="2205909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995597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19955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1100" dirty="0"/>
          </a:p>
        </p:txBody>
      </p:sp>
      <p:sp>
        <p:nvSpPr>
          <p:cNvPr id="131" name="Shape 129"/>
          <p:cNvSpPr/>
          <p:nvPr/>
        </p:nvSpPr>
        <p:spPr>
          <a:xfrm>
            <a:off x="1197111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270263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288551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950" dirty="0"/>
          </a:p>
        </p:txBody>
      </p:sp>
      <p:sp>
        <p:nvSpPr>
          <p:cNvPr id="134" name="Text 132"/>
          <p:cNvSpPr/>
          <p:nvPr/>
        </p:nvSpPr>
        <p:spPr>
          <a:xfrm>
            <a:off x="1288551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تقديم المراجعة الثالثة (MoS)</a:t>
            </a:r>
            <a:endParaRPr lang="ar-SA" sz="650" dirty="0"/>
          </a:p>
        </p:txBody>
      </p:sp>
      <p:sp>
        <p:nvSpPr>
          <p:cNvPr id="135" name="Shape 133"/>
          <p:cNvSpPr/>
          <p:nvPr/>
        </p:nvSpPr>
        <p:spPr>
          <a:xfrm>
            <a:off x="1555072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344760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3447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1100" dirty="0"/>
          </a:p>
        </p:txBody>
      </p:sp>
      <p:sp>
        <p:nvSpPr>
          <p:cNvPr id="138" name="Shape 136"/>
          <p:cNvSpPr/>
          <p:nvPr/>
        </p:nvSpPr>
        <p:spPr>
          <a:xfrm>
            <a:off x="5462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619425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377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20 أكتوبر 2026</a:t>
            </a:r>
            <a:endParaRPr lang="ar-SA" sz="950" dirty="0"/>
          </a:p>
        </p:txBody>
      </p:sp>
      <p:sp>
        <p:nvSpPr>
          <p:cNvPr id="141" name="Text 139"/>
          <p:cNvSpPr/>
          <p:nvPr/>
        </p:nvSpPr>
        <p:spPr>
          <a:xfrm>
            <a:off x="6377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إغلاق الاستفسار الأخير</a:t>
            </a:r>
            <a:endParaRPr lang="ar-SA" sz="650" dirty="0"/>
          </a:p>
        </p:txBody>
      </p:sp>
      <p:sp>
        <p:nvSpPr>
          <p:cNvPr id="142" name="Shape 140"/>
          <p:cNvSpPr/>
          <p:nvPr/>
        </p:nvSpPr>
        <p:spPr>
          <a:xfrm>
            <a:off x="904234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9392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6939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1100" dirty="0"/>
          </a:p>
        </p:txBody>
      </p:sp>
      <p:sp>
        <p:nvSpPr>
          <p:cNvPr id="145" name="Shape 143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21 أكتوبر 2026</a:t>
            </a:r>
            <a:endParaRPr lang="ar-SA" sz="950" dirty="0"/>
          </a:p>
        </p:txBody>
      </p:sp>
      <p:sp>
        <p:nvSpPr>
          <p:cNvPr id="148" name="Text 146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100"/>
              </a:spcAft>
              <a:buNone/>
            </a:pPr>
            <a:r>
              <a:rPr lang="ar-SA" altLang="en-US" sz="650" b="1" dirty="0">
                <a:solidFill>
                  <a:srgbClr val="2E9E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المرحلة 3 – إصدار تصريح العمل</a:t>
            </a:r>
            <a:endParaRPr lang="ar-SA" sz="650" dirty="0"/>
          </a:p>
          <a:p>
            <a:pPr algn="r" indent="0" marL="0">
              <a:spcAft>
                <a:spcPts val="100"/>
              </a:spcAft>
              <a:buNone/>
            </a:pPr>
            <a:r>
              <a:rPr lang="ar-SA" altLang="en-US" sz="9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تصريح العمل جاهز للتوقيع</a:t>
            </a:r>
            <a:endParaRPr lang="ar-SA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164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الأعمال المتبقية – برنامج أعمال الدعم والحفرة</a:t>
            </a:r>
            <a:endParaRPr lang="ar-SA" sz="2400" dirty="0"/>
          </a:p>
        </p:txBody>
      </p:sp>
      <p:sp>
        <p:nvSpPr>
          <p:cNvPr id="3" name="Text 1"/>
          <p:cNvSpPr/>
          <p:nvPr/>
        </p:nvSpPr>
        <p:spPr>
          <a:xfrm>
            <a:off x="169164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200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حفرة RYDN-WLB · مقترح شركة الخليج للتطوير للمقاولات · المراجعة 01 · 12 أكتوبر 2026</a:t>
            </a:r>
            <a:endParaRPr lang="ar-SA" sz="1200" dirty="0"/>
          </a:p>
        </p:txBody>
      </p:sp>
      <p:sp>
        <p:nvSpPr>
          <p:cNvPr id="4" name="Shape 2"/>
          <p:cNvSpPr/>
          <p:nvPr/>
        </p:nvSpPr>
        <p:spPr>
          <a:xfrm>
            <a:off x="11551615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94569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المسار الحرج</a:t>
            </a:r>
            <a:endParaRPr lang="ar-SA" sz="900" dirty="0"/>
          </a:p>
        </p:txBody>
      </p:sp>
      <p:sp>
        <p:nvSpPr>
          <p:cNvPr id="6" name="Shape 4"/>
          <p:cNvSpPr/>
          <p:nvPr/>
        </p:nvSpPr>
        <p:spPr>
          <a:xfrm>
            <a:off x="10275113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22538" y="1005840"/>
            <a:ext cx="17977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(اللون = مجموعة العمل)</a:t>
            </a:r>
            <a:endParaRPr lang="ar-SA" sz="900" dirty="0"/>
          </a:p>
        </p:txBody>
      </p:sp>
      <p:sp>
        <p:nvSpPr>
          <p:cNvPr id="8" name="Shape 6"/>
          <p:cNvSpPr/>
          <p:nvPr/>
        </p:nvSpPr>
        <p:spPr>
          <a:xfrm>
            <a:off x="8349386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58177" y="1005840"/>
            <a:ext cx="79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ميل ستون</a:t>
            </a:r>
            <a:endParaRPr lang="ar-SA" sz="900" dirty="0"/>
          </a:p>
        </p:txBody>
      </p:sp>
      <p:sp>
        <p:nvSpPr>
          <p:cNvPr id="10" name="Shape 8"/>
          <p:cNvSpPr/>
          <p:nvPr/>
        </p:nvSpPr>
        <p:spPr>
          <a:xfrm>
            <a:off x="7230161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34710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غير عمل</a:t>
            </a:r>
            <a:endParaRPr lang="ar-SA" sz="900" dirty="0"/>
          </a:p>
        </p:txBody>
      </p:sp>
      <p:sp>
        <p:nvSpPr>
          <p:cNvPr id="12" name="Shape 10"/>
          <p:cNvSpPr/>
          <p:nvPr/>
        </p:nvSpPr>
        <p:spPr>
          <a:xfrm>
            <a:off x="6143854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858207" y="1005840"/>
            <a:ext cx="10021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</a:t>
            </a:r>
            <a:endParaRPr lang="ar-SA" sz="900" dirty="0"/>
          </a:p>
        </p:txBody>
      </p:sp>
      <p:sp>
        <p:nvSpPr>
          <p:cNvPr id="14" name="Text 12"/>
          <p:cNvSpPr/>
          <p:nvPr/>
        </p:nvSpPr>
        <p:spPr>
          <a:xfrm>
            <a:off x="3274466" y="1005840"/>
            <a:ext cx="163860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علاقة ارتباط (FS / SS)</a:t>
            </a:r>
            <a:endParaRPr lang="ar-SA" sz="900" dirty="0"/>
          </a:p>
        </p:txBody>
      </p:sp>
      <p:sp>
        <p:nvSpPr>
          <p:cNvPr id="15" name="Shape 13"/>
          <p:cNvSpPr/>
          <p:nvPr/>
        </p:nvSpPr>
        <p:spPr>
          <a:xfrm>
            <a:off x="6147511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41887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" dirty="0"/>
          </a:p>
        </p:txBody>
      </p:sp>
      <p:sp>
        <p:nvSpPr>
          <p:cNvPr id="17" name="Text 15"/>
          <p:cNvSpPr/>
          <p:nvPr/>
        </p:nvSpPr>
        <p:spPr>
          <a:xfrm>
            <a:off x="8762695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النشاط</a:t>
            </a:r>
            <a:endParaRPr lang="ar-SA" sz="900" dirty="0"/>
          </a:p>
        </p:txBody>
      </p:sp>
      <p:sp>
        <p:nvSpPr>
          <p:cNvPr id="18" name="Text 16"/>
          <p:cNvSpPr/>
          <p:nvPr/>
        </p:nvSpPr>
        <p:spPr>
          <a:xfrm>
            <a:off x="7967167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السابق</a:t>
            </a:r>
            <a:endParaRPr lang="ar-SA" sz="900" dirty="0"/>
          </a:p>
        </p:txBody>
      </p:sp>
      <p:sp>
        <p:nvSpPr>
          <p:cNvPr id="19" name="Text 17"/>
          <p:cNvSpPr/>
          <p:nvPr/>
        </p:nvSpPr>
        <p:spPr>
          <a:xfrm>
            <a:off x="7464247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(أيام عمل)</a:t>
            </a:r>
            <a:endParaRPr lang="ar-SA" sz="750" dirty="0"/>
          </a:p>
        </p:txBody>
      </p:sp>
      <p:sp>
        <p:nvSpPr>
          <p:cNvPr id="20" name="Text 18"/>
          <p:cNvSpPr/>
          <p:nvPr/>
        </p:nvSpPr>
        <p:spPr>
          <a:xfrm>
            <a:off x="6805879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البداية</a:t>
            </a:r>
            <a:endParaRPr lang="ar-SA" sz="900" dirty="0"/>
          </a:p>
        </p:txBody>
      </p:sp>
      <p:sp>
        <p:nvSpPr>
          <p:cNvPr id="21" name="Text 19"/>
          <p:cNvSpPr/>
          <p:nvPr/>
        </p:nvSpPr>
        <p:spPr>
          <a:xfrm>
            <a:off x="6147511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النهاية</a:t>
            </a:r>
            <a:endParaRPr lang="ar-SA" sz="900" dirty="0"/>
          </a:p>
        </p:txBody>
      </p:sp>
      <p:sp>
        <p:nvSpPr>
          <p:cNvPr id="22" name="Shape 20"/>
          <p:cNvSpPr/>
          <p:nvPr/>
        </p:nvSpPr>
        <p:spPr>
          <a:xfrm>
            <a:off x="3497542" y="1325880"/>
            <a:ext cx="264996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97542" y="1325880"/>
            <a:ext cx="26499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1325880"/>
            <a:ext cx="3131782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1325880"/>
            <a:ext cx="31317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نوفمبر 2026</a:t>
            </a:r>
            <a:endParaRPr lang="ar-SA" sz="850" dirty="0"/>
          </a:p>
        </p:txBody>
      </p:sp>
      <p:sp>
        <p:nvSpPr>
          <p:cNvPr id="26" name="Shape 24"/>
          <p:cNvSpPr/>
          <p:nvPr/>
        </p:nvSpPr>
        <p:spPr>
          <a:xfrm>
            <a:off x="5304339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4339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1</a:t>
            </a:r>
            <a:endParaRPr lang="ar-SA" sz="650" dirty="0"/>
          </a:p>
        </p:txBody>
      </p:sp>
      <p:sp>
        <p:nvSpPr>
          <p:cNvPr id="28" name="Shape 26"/>
          <p:cNvSpPr/>
          <p:nvPr/>
        </p:nvSpPr>
        <p:spPr>
          <a:xfrm>
            <a:off x="4461167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61167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2</a:t>
            </a:r>
            <a:endParaRPr lang="ar-SA" sz="650" dirty="0"/>
          </a:p>
        </p:txBody>
      </p:sp>
      <p:sp>
        <p:nvSpPr>
          <p:cNvPr id="30" name="Shape 28"/>
          <p:cNvSpPr/>
          <p:nvPr/>
        </p:nvSpPr>
        <p:spPr>
          <a:xfrm>
            <a:off x="3617995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7995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3</a:t>
            </a:r>
            <a:endParaRPr lang="ar-SA" sz="650" dirty="0"/>
          </a:p>
        </p:txBody>
      </p:sp>
      <p:sp>
        <p:nvSpPr>
          <p:cNvPr id="32" name="Shape 30"/>
          <p:cNvSpPr/>
          <p:nvPr/>
        </p:nvSpPr>
        <p:spPr>
          <a:xfrm>
            <a:off x="2774823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74823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4</a:t>
            </a:r>
            <a:endParaRPr lang="ar-SA" sz="650" dirty="0"/>
          </a:p>
        </p:txBody>
      </p:sp>
      <p:sp>
        <p:nvSpPr>
          <p:cNvPr id="34" name="Shape 32"/>
          <p:cNvSpPr/>
          <p:nvPr/>
        </p:nvSpPr>
        <p:spPr>
          <a:xfrm>
            <a:off x="1931651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31651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5</a:t>
            </a:r>
            <a:endParaRPr lang="ar-SA" sz="650" dirty="0"/>
          </a:p>
        </p:txBody>
      </p:sp>
      <p:sp>
        <p:nvSpPr>
          <p:cNvPr id="36" name="Shape 34"/>
          <p:cNvSpPr/>
          <p:nvPr/>
        </p:nvSpPr>
        <p:spPr>
          <a:xfrm>
            <a:off x="1088479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88479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6</a:t>
            </a:r>
            <a:endParaRPr lang="ar-SA" sz="650" dirty="0"/>
          </a:p>
        </p:txBody>
      </p:sp>
      <p:sp>
        <p:nvSpPr>
          <p:cNvPr id="38" name="Shape 36"/>
          <p:cNvSpPr/>
          <p:nvPr/>
        </p:nvSpPr>
        <p:spPr>
          <a:xfrm>
            <a:off x="365760" y="1508760"/>
            <a:ext cx="722719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1508760"/>
            <a:ext cx="722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345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7</a:t>
            </a:r>
            <a:endParaRPr lang="ar-SA" sz="650" dirty="0"/>
          </a:p>
        </p:txBody>
      </p:sp>
      <p:sp>
        <p:nvSpPr>
          <p:cNvPr id="40" name="Shape 38"/>
          <p:cNvSpPr/>
          <p:nvPr/>
        </p:nvSpPr>
        <p:spPr>
          <a:xfrm>
            <a:off x="602705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2705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42" name="Text 40"/>
          <p:cNvSpPr/>
          <p:nvPr/>
        </p:nvSpPr>
        <p:spPr>
          <a:xfrm>
            <a:off x="602705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43" name="Shape 41"/>
          <p:cNvSpPr/>
          <p:nvPr/>
        </p:nvSpPr>
        <p:spPr>
          <a:xfrm>
            <a:off x="614751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0660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0660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46" name="Text 44"/>
          <p:cNvSpPr/>
          <p:nvPr/>
        </p:nvSpPr>
        <p:spPr>
          <a:xfrm>
            <a:off x="590660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47" name="Shape 45"/>
          <p:cNvSpPr/>
          <p:nvPr/>
        </p:nvSpPr>
        <p:spPr>
          <a:xfrm>
            <a:off x="578615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8615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49" name="Text 47"/>
          <p:cNvSpPr/>
          <p:nvPr/>
        </p:nvSpPr>
        <p:spPr>
          <a:xfrm>
            <a:off x="578615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50" name="Shape 48"/>
          <p:cNvSpPr/>
          <p:nvPr/>
        </p:nvSpPr>
        <p:spPr>
          <a:xfrm>
            <a:off x="566569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569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52" name="Text 50"/>
          <p:cNvSpPr/>
          <p:nvPr/>
        </p:nvSpPr>
        <p:spPr>
          <a:xfrm>
            <a:off x="566569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53" name="Shape 51"/>
          <p:cNvSpPr/>
          <p:nvPr/>
        </p:nvSpPr>
        <p:spPr>
          <a:xfrm>
            <a:off x="554524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4524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55" name="Text 53"/>
          <p:cNvSpPr/>
          <p:nvPr/>
        </p:nvSpPr>
        <p:spPr>
          <a:xfrm>
            <a:off x="554524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56" name="Shape 54"/>
          <p:cNvSpPr/>
          <p:nvPr/>
        </p:nvSpPr>
        <p:spPr>
          <a:xfrm>
            <a:off x="542479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2479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58" name="Text 56"/>
          <p:cNvSpPr/>
          <p:nvPr/>
        </p:nvSpPr>
        <p:spPr>
          <a:xfrm>
            <a:off x="542479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59" name="Shape 57"/>
          <p:cNvSpPr/>
          <p:nvPr/>
        </p:nvSpPr>
        <p:spPr>
          <a:xfrm>
            <a:off x="530433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30433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61" name="Text 59"/>
          <p:cNvSpPr/>
          <p:nvPr/>
        </p:nvSpPr>
        <p:spPr>
          <a:xfrm>
            <a:off x="530433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62" name="Shape 60"/>
          <p:cNvSpPr/>
          <p:nvPr/>
        </p:nvSpPr>
        <p:spPr>
          <a:xfrm>
            <a:off x="530433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8388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8388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65" name="Text 63"/>
          <p:cNvSpPr/>
          <p:nvPr/>
        </p:nvSpPr>
        <p:spPr>
          <a:xfrm>
            <a:off x="518388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66" name="Shape 64"/>
          <p:cNvSpPr/>
          <p:nvPr/>
        </p:nvSpPr>
        <p:spPr>
          <a:xfrm>
            <a:off x="530433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6343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6343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69" name="Text 67"/>
          <p:cNvSpPr/>
          <p:nvPr/>
        </p:nvSpPr>
        <p:spPr>
          <a:xfrm>
            <a:off x="506343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70" name="Shape 68"/>
          <p:cNvSpPr/>
          <p:nvPr/>
        </p:nvSpPr>
        <p:spPr>
          <a:xfrm>
            <a:off x="494298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94298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72" name="Text 70"/>
          <p:cNvSpPr/>
          <p:nvPr/>
        </p:nvSpPr>
        <p:spPr>
          <a:xfrm>
            <a:off x="494298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73" name="Shape 71"/>
          <p:cNvSpPr/>
          <p:nvPr/>
        </p:nvSpPr>
        <p:spPr>
          <a:xfrm>
            <a:off x="482252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82252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75" name="Text 73"/>
          <p:cNvSpPr/>
          <p:nvPr/>
        </p:nvSpPr>
        <p:spPr>
          <a:xfrm>
            <a:off x="482252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76" name="Shape 74"/>
          <p:cNvSpPr/>
          <p:nvPr/>
        </p:nvSpPr>
        <p:spPr>
          <a:xfrm>
            <a:off x="470207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70207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78" name="Text 76"/>
          <p:cNvSpPr/>
          <p:nvPr/>
        </p:nvSpPr>
        <p:spPr>
          <a:xfrm>
            <a:off x="470207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79" name="Shape 77"/>
          <p:cNvSpPr/>
          <p:nvPr/>
        </p:nvSpPr>
        <p:spPr>
          <a:xfrm>
            <a:off x="458162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8162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81" name="Text 79"/>
          <p:cNvSpPr/>
          <p:nvPr/>
        </p:nvSpPr>
        <p:spPr>
          <a:xfrm>
            <a:off x="458162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82" name="Shape 80"/>
          <p:cNvSpPr/>
          <p:nvPr/>
        </p:nvSpPr>
        <p:spPr>
          <a:xfrm>
            <a:off x="4461167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6116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84" name="Text 82"/>
          <p:cNvSpPr/>
          <p:nvPr/>
        </p:nvSpPr>
        <p:spPr>
          <a:xfrm>
            <a:off x="446116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85" name="Shape 83"/>
          <p:cNvSpPr/>
          <p:nvPr/>
        </p:nvSpPr>
        <p:spPr>
          <a:xfrm>
            <a:off x="4461167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34071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4071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88" name="Text 86"/>
          <p:cNvSpPr/>
          <p:nvPr/>
        </p:nvSpPr>
        <p:spPr>
          <a:xfrm>
            <a:off x="434071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89" name="Shape 87"/>
          <p:cNvSpPr/>
          <p:nvPr/>
        </p:nvSpPr>
        <p:spPr>
          <a:xfrm>
            <a:off x="4461167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22026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22026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92" name="Text 90"/>
          <p:cNvSpPr/>
          <p:nvPr/>
        </p:nvSpPr>
        <p:spPr>
          <a:xfrm>
            <a:off x="422026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93" name="Shape 91"/>
          <p:cNvSpPr/>
          <p:nvPr/>
        </p:nvSpPr>
        <p:spPr>
          <a:xfrm>
            <a:off x="409980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09980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95" name="Text 93"/>
          <p:cNvSpPr/>
          <p:nvPr/>
        </p:nvSpPr>
        <p:spPr>
          <a:xfrm>
            <a:off x="409980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96" name="Shape 94"/>
          <p:cNvSpPr/>
          <p:nvPr/>
        </p:nvSpPr>
        <p:spPr>
          <a:xfrm>
            <a:off x="397935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97935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98" name="Text 96"/>
          <p:cNvSpPr/>
          <p:nvPr/>
        </p:nvSpPr>
        <p:spPr>
          <a:xfrm>
            <a:off x="397935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ar-SA" sz="550" dirty="0"/>
          </a:p>
        </p:txBody>
      </p:sp>
      <p:sp>
        <p:nvSpPr>
          <p:cNvPr id="99" name="Shape 97"/>
          <p:cNvSpPr/>
          <p:nvPr/>
        </p:nvSpPr>
        <p:spPr>
          <a:xfrm>
            <a:off x="385890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85890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01" name="Text 99"/>
          <p:cNvSpPr/>
          <p:nvPr/>
        </p:nvSpPr>
        <p:spPr>
          <a:xfrm>
            <a:off x="385890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ar-SA" sz="550" dirty="0"/>
          </a:p>
        </p:txBody>
      </p:sp>
      <p:sp>
        <p:nvSpPr>
          <p:cNvPr id="102" name="Shape 100"/>
          <p:cNvSpPr/>
          <p:nvPr/>
        </p:nvSpPr>
        <p:spPr>
          <a:xfrm>
            <a:off x="373844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73844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04" name="Text 102"/>
          <p:cNvSpPr/>
          <p:nvPr/>
        </p:nvSpPr>
        <p:spPr>
          <a:xfrm>
            <a:off x="373844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ar-SA" sz="550" dirty="0"/>
          </a:p>
        </p:txBody>
      </p:sp>
      <p:sp>
        <p:nvSpPr>
          <p:cNvPr id="105" name="Shape 103"/>
          <p:cNvSpPr/>
          <p:nvPr/>
        </p:nvSpPr>
        <p:spPr>
          <a:xfrm>
            <a:off x="3617995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1799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07" name="Text 105"/>
          <p:cNvSpPr/>
          <p:nvPr/>
        </p:nvSpPr>
        <p:spPr>
          <a:xfrm>
            <a:off x="361799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ar-SA" sz="550" dirty="0"/>
          </a:p>
        </p:txBody>
      </p:sp>
      <p:sp>
        <p:nvSpPr>
          <p:cNvPr id="108" name="Shape 106"/>
          <p:cNvSpPr/>
          <p:nvPr/>
        </p:nvSpPr>
        <p:spPr>
          <a:xfrm>
            <a:off x="3617995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9754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349754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11" name="Text 109"/>
          <p:cNvSpPr/>
          <p:nvPr/>
        </p:nvSpPr>
        <p:spPr>
          <a:xfrm>
            <a:off x="349754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ar-SA" sz="550" dirty="0"/>
          </a:p>
        </p:txBody>
      </p:sp>
      <p:sp>
        <p:nvSpPr>
          <p:cNvPr id="112" name="Shape 110"/>
          <p:cNvSpPr/>
          <p:nvPr/>
        </p:nvSpPr>
        <p:spPr>
          <a:xfrm>
            <a:off x="3617995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37708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37708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15" name="Text 113"/>
          <p:cNvSpPr/>
          <p:nvPr/>
        </p:nvSpPr>
        <p:spPr>
          <a:xfrm>
            <a:off x="337708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550" dirty="0"/>
          </a:p>
        </p:txBody>
      </p:sp>
      <p:sp>
        <p:nvSpPr>
          <p:cNvPr id="116" name="Shape 114"/>
          <p:cNvSpPr/>
          <p:nvPr/>
        </p:nvSpPr>
        <p:spPr>
          <a:xfrm>
            <a:off x="325663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325663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18" name="Text 116"/>
          <p:cNvSpPr/>
          <p:nvPr/>
        </p:nvSpPr>
        <p:spPr>
          <a:xfrm>
            <a:off x="325663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550" dirty="0"/>
          </a:p>
        </p:txBody>
      </p:sp>
      <p:sp>
        <p:nvSpPr>
          <p:cNvPr id="119" name="Shape 117"/>
          <p:cNvSpPr/>
          <p:nvPr/>
        </p:nvSpPr>
        <p:spPr>
          <a:xfrm>
            <a:off x="313618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313618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21" name="Text 119"/>
          <p:cNvSpPr/>
          <p:nvPr/>
        </p:nvSpPr>
        <p:spPr>
          <a:xfrm>
            <a:off x="313618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550" dirty="0"/>
          </a:p>
        </p:txBody>
      </p:sp>
      <p:sp>
        <p:nvSpPr>
          <p:cNvPr id="122" name="Shape 120"/>
          <p:cNvSpPr/>
          <p:nvPr/>
        </p:nvSpPr>
        <p:spPr>
          <a:xfrm>
            <a:off x="301572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01572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24" name="Text 122"/>
          <p:cNvSpPr/>
          <p:nvPr/>
        </p:nvSpPr>
        <p:spPr>
          <a:xfrm>
            <a:off x="301572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550" dirty="0"/>
          </a:p>
        </p:txBody>
      </p:sp>
      <p:sp>
        <p:nvSpPr>
          <p:cNvPr id="125" name="Shape 123"/>
          <p:cNvSpPr/>
          <p:nvPr/>
        </p:nvSpPr>
        <p:spPr>
          <a:xfrm>
            <a:off x="289527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89527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27" name="Text 125"/>
          <p:cNvSpPr/>
          <p:nvPr/>
        </p:nvSpPr>
        <p:spPr>
          <a:xfrm>
            <a:off x="289527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550" dirty="0"/>
          </a:p>
        </p:txBody>
      </p:sp>
      <p:sp>
        <p:nvSpPr>
          <p:cNvPr id="128" name="Shape 126"/>
          <p:cNvSpPr/>
          <p:nvPr/>
        </p:nvSpPr>
        <p:spPr>
          <a:xfrm>
            <a:off x="277482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77482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30" name="Text 128"/>
          <p:cNvSpPr/>
          <p:nvPr/>
        </p:nvSpPr>
        <p:spPr>
          <a:xfrm>
            <a:off x="277482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550" dirty="0"/>
          </a:p>
        </p:txBody>
      </p:sp>
      <p:sp>
        <p:nvSpPr>
          <p:cNvPr id="131" name="Shape 129"/>
          <p:cNvSpPr/>
          <p:nvPr/>
        </p:nvSpPr>
        <p:spPr>
          <a:xfrm>
            <a:off x="277482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65437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65437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34" name="Text 132"/>
          <p:cNvSpPr/>
          <p:nvPr/>
        </p:nvSpPr>
        <p:spPr>
          <a:xfrm>
            <a:off x="265437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ar-SA" sz="550" dirty="0"/>
          </a:p>
        </p:txBody>
      </p:sp>
      <p:sp>
        <p:nvSpPr>
          <p:cNvPr id="135" name="Shape 133"/>
          <p:cNvSpPr/>
          <p:nvPr/>
        </p:nvSpPr>
        <p:spPr>
          <a:xfrm>
            <a:off x="2774823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53391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253391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38" name="Text 136"/>
          <p:cNvSpPr/>
          <p:nvPr/>
        </p:nvSpPr>
        <p:spPr>
          <a:xfrm>
            <a:off x="253391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ar-SA" sz="550" dirty="0"/>
          </a:p>
        </p:txBody>
      </p:sp>
      <p:sp>
        <p:nvSpPr>
          <p:cNvPr id="139" name="Shape 137"/>
          <p:cNvSpPr/>
          <p:nvPr/>
        </p:nvSpPr>
        <p:spPr>
          <a:xfrm>
            <a:off x="241346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41346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41" name="Text 139"/>
          <p:cNvSpPr/>
          <p:nvPr/>
        </p:nvSpPr>
        <p:spPr>
          <a:xfrm>
            <a:off x="241346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ar-SA" sz="550" dirty="0"/>
          </a:p>
        </p:txBody>
      </p:sp>
      <p:sp>
        <p:nvSpPr>
          <p:cNvPr id="142" name="Shape 140"/>
          <p:cNvSpPr/>
          <p:nvPr/>
        </p:nvSpPr>
        <p:spPr>
          <a:xfrm>
            <a:off x="229301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29301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44" name="Text 142"/>
          <p:cNvSpPr/>
          <p:nvPr/>
        </p:nvSpPr>
        <p:spPr>
          <a:xfrm>
            <a:off x="229301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550" dirty="0"/>
          </a:p>
        </p:txBody>
      </p:sp>
      <p:sp>
        <p:nvSpPr>
          <p:cNvPr id="145" name="Shape 143"/>
          <p:cNvSpPr/>
          <p:nvPr/>
        </p:nvSpPr>
        <p:spPr>
          <a:xfrm>
            <a:off x="217255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17255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47" name="Text 145"/>
          <p:cNvSpPr/>
          <p:nvPr/>
        </p:nvSpPr>
        <p:spPr>
          <a:xfrm>
            <a:off x="217255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ar-SA" sz="550" dirty="0"/>
          </a:p>
        </p:txBody>
      </p:sp>
      <p:sp>
        <p:nvSpPr>
          <p:cNvPr id="148" name="Shape 146"/>
          <p:cNvSpPr/>
          <p:nvPr/>
        </p:nvSpPr>
        <p:spPr>
          <a:xfrm>
            <a:off x="205210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05210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50" name="Text 148"/>
          <p:cNvSpPr/>
          <p:nvPr/>
        </p:nvSpPr>
        <p:spPr>
          <a:xfrm>
            <a:off x="205210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550" dirty="0"/>
          </a:p>
        </p:txBody>
      </p:sp>
      <p:sp>
        <p:nvSpPr>
          <p:cNvPr id="151" name="Shape 149"/>
          <p:cNvSpPr/>
          <p:nvPr/>
        </p:nvSpPr>
        <p:spPr>
          <a:xfrm>
            <a:off x="1931651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93165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53" name="Text 151"/>
          <p:cNvSpPr/>
          <p:nvPr/>
        </p:nvSpPr>
        <p:spPr>
          <a:xfrm>
            <a:off x="193165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ar-SA" sz="550" dirty="0"/>
          </a:p>
        </p:txBody>
      </p:sp>
      <p:sp>
        <p:nvSpPr>
          <p:cNvPr id="154" name="Shape 152"/>
          <p:cNvSpPr/>
          <p:nvPr/>
        </p:nvSpPr>
        <p:spPr>
          <a:xfrm>
            <a:off x="1931651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81119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81119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57" name="Text 155"/>
          <p:cNvSpPr/>
          <p:nvPr/>
        </p:nvSpPr>
        <p:spPr>
          <a:xfrm>
            <a:off x="181119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ar-SA" sz="550" dirty="0"/>
          </a:p>
        </p:txBody>
      </p:sp>
      <p:sp>
        <p:nvSpPr>
          <p:cNvPr id="158" name="Shape 156"/>
          <p:cNvSpPr/>
          <p:nvPr/>
        </p:nvSpPr>
        <p:spPr>
          <a:xfrm>
            <a:off x="193165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69074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69074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61" name="Text 159"/>
          <p:cNvSpPr/>
          <p:nvPr/>
        </p:nvSpPr>
        <p:spPr>
          <a:xfrm>
            <a:off x="169074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ar-SA" sz="550" dirty="0"/>
          </a:p>
        </p:txBody>
      </p:sp>
      <p:sp>
        <p:nvSpPr>
          <p:cNvPr id="162" name="Shape 160"/>
          <p:cNvSpPr/>
          <p:nvPr/>
        </p:nvSpPr>
        <p:spPr>
          <a:xfrm>
            <a:off x="157029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57029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64" name="Text 162"/>
          <p:cNvSpPr/>
          <p:nvPr/>
        </p:nvSpPr>
        <p:spPr>
          <a:xfrm>
            <a:off x="157029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ar-SA" sz="550" dirty="0"/>
          </a:p>
        </p:txBody>
      </p:sp>
      <p:sp>
        <p:nvSpPr>
          <p:cNvPr id="165" name="Shape 163"/>
          <p:cNvSpPr/>
          <p:nvPr/>
        </p:nvSpPr>
        <p:spPr>
          <a:xfrm>
            <a:off x="144983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44983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67" name="Text 165"/>
          <p:cNvSpPr/>
          <p:nvPr/>
        </p:nvSpPr>
        <p:spPr>
          <a:xfrm>
            <a:off x="144983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ar-SA" sz="550" dirty="0"/>
          </a:p>
        </p:txBody>
      </p:sp>
      <p:sp>
        <p:nvSpPr>
          <p:cNvPr id="168" name="Shape 166"/>
          <p:cNvSpPr/>
          <p:nvPr/>
        </p:nvSpPr>
        <p:spPr>
          <a:xfrm>
            <a:off x="132938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32938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70" name="Text 168"/>
          <p:cNvSpPr/>
          <p:nvPr/>
        </p:nvSpPr>
        <p:spPr>
          <a:xfrm>
            <a:off x="132938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ar-SA" sz="550" dirty="0"/>
          </a:p>
        </p:txBody>
      </p:sp>
      <p:sp>
        <p:nvSpPr>
          <p:cNvPr id="171" name="Shape 169"/>
          <p:cNvSpPr/>
          <p:nvPr/>
        </p:nvSpPr>
        <p:spPr>
          <a:xfrm>
            <a:off x="120893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20893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73" name="Text 171"/>
          <p:cNvSpPr/>
          <p:nvPr/>
        </p:nvSpPr>
        <p:spPr>
          <a:xfrm>
            <a:off x="120893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ar-SA" sz="550" dirty="0"/>
          </a:p>
        </p:txBody>
      </p:sp>
      <p:sp>
        <p:nvSpPr>
          <p:cNvPr id="174" name="Shape 172"/>
          <p:cNvSpPr/>
          <p:nvPr/>
        </p:nvSpPr>
        <p:spPr>
          <a:xfrm>
            <a:off x="108847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8847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" dirty="0"/>
          </a:p>
        </p:txBody>
      </p:sp>
      <p:sp>
        <p:nvSpPr>
          <p:cNvPr id="176" name="Text 174"/>
          <p:cNvSpPr/>
          <p:nvPr/>
        </p:nvSpPr>
        <p:spPr>
          <a:xfrm>
            <a:off x="108847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8A95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ar-SA" sz="550" dirty="0"/>
          </a:p>
        </p:txBody>
      </p:sp>
      <p:sp>
        <p:nvSpPr>
          <p:cNvPr id="177" name="Shape 175"/>
          <p:cNvSpPr/>
          <p:nvPr/>
        </p:nvSpPr>
        <p:spPr>
          <a:xfrm>
            <a:off x="108847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6802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96802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" dirty="0"/>
          </a:p>
        </p:txBody>
      </p:sp>
      <p:sp>
        <p:nvSpPr>
          <p:cNvPr id="180" name="Text 178"/>
          <p:cNvSpPr/>
          <p:nvPr/>
        </p:nvSpPr>
        <p:spPr>
          <a:xfrm>
            <a:off x="96802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ar-SA" sz="550" dirty="0"/>
          </a:p>
        </p:txBody>
      </p:sp>
      <p:sp>
        <p:nvSpPr>
          <p:cNvPr id="181" name="Shape 179"/>
          <p:cNvSpPr/>
          <p:nvPr/>
        </p:nvSpPr>
        <p:spPr>
          <a:xfrm>
            <a:off x="108847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4757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84757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" dirty="0"/>
          </a:p>
        </p:txBody>
      </p:sp>
      <p:sp>
        <p:nvSpPr>
          <p:cNvPr id="184" name="Text 182"/>
          <p:cNvSpPr/>
          <p:nvPr/>
        </p:nvSpPr>
        <p:spPr>
          <a:xfrm>
            <a:off x="84757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ar-SA" sz="550" dirty="0"/>
          </a:p>
        </p:txBody>
      </p:sp>
      <p:sp>
        <p:nvSpPr>
          <p:cNvPr id="185" name="Shape 183"/>
          <p:cNvSpPr/>
          <p:nvPr/>
        </p:nvSpPr>
        <p:spPr>
          <a:xfrm>
            <a:off x="72711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72711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" dirty="0"/>
          </a:p>
        </p:txBody>
      </p:sp>
      <p:sp>
        <p:nvSpPr>
          <p:cNvPr id="187" name="Text 185"/>
          <p:cNvSpPr/>
          <p:nvPr/>
        </p:nvSpPr>
        <p:spPr>
          <a:xfrm>
            <a:off x="72711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ar-SA" sz="550" dirty="0"/>
          </a:p>
        </p:txBody>
      </p:sp>
      <p:sp>
        <p:nvSpPr>
          <p:cNvPr id="188" name="Shape 186"/>
          <p:cNvSpPr/>
          <p:nvPr/>
        </p:nvSpPr>
        <p:spPr>
          <a:xfrm>
            <a:off x="60666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60666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" dirty="0"/>
          </a:p>
        </p:txBody>
      </p:sp>
      <p:sp>
        <p:nvSpPr>
          <p:cNvPr id="190" name="Text 188"/>
          <p:cNvSpPr/>
          <p:nvPr/>
        </p:nvSpPr>
        <p:spPr>
          <a:xfrm>
            <a:off x="60666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ar-SA" sz="550" dirty="0"/>
          </a:p>
        </p:txBody>
      </p:sp>
      <p:sp>
        <p:nvSpPr>
          <p:cNvPr id="191" name="Shape 189"/>
          <p:cNvSpPr/>
          <p:nvPr/>
        </p:nvSpPr>
        <p:spPr>
          <a:xfrm>
            <a:off x="48621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8621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" dirty="0"/>
          </a:p>
        </p:txBody>
      </p:sp>
      <p:sp>
        <p:nvSpPr>
          <p:cNvPr id="193" name="Text 191"/>
          <p:cNvSpPr/>
          <p:nvPr/>
        </p:nvSpPr>
        <p:spPr>
          <a:xfrm>
            <a:off x="48621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ar-SA" sz="550" dirty="0"/>
          </a:p>
        </p:txBody>
      </p:sp>
      <p:sp>
        <p:nvSpPr>
          <p:cNvPr id="194" name="Shape 192"/>
          <p:cNvSpPr/>
          <p:nvPr/>
        </p:nvSpPr>
        <p:spPr>
          <a:xfrm>
            <a:off x="36576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6576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00" b="1" dirty="0">
                <a:solidFill>
                  <a:srgbClr val="5A6A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" dirty="0"/>
          </a:p>
        </p:txBody>
      </p:sp>
      <p:sp>
        <p:nvSpPr>
          <p:cNvPr id="196" name="Text 194"/>
          <p:cNvSpPr/>
          <p:nvPr/>
        </p:nvSpPr>
        <p:spPr>
          <a:xfrm>
            <a:off x="36576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5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ar-SA" sz="550" dirty="0"/>
          </a:p>
        </p:txBody>
      </p:sp>
      <p:sp>
        <p:nvSpPr>
          <p:cNvPr id="197" name="Shape 195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1515039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1441887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ar-SA" sz="900" dirty="0"/>
          </a:p>
        </p:txBody>
      </p:sp>
      <p:sp>
        <p:nvSpPr>
          <p:cNvPr id="200" name="Text 198"/>
          <p:cNvSpPr/>
          <p:nvPr/>
        </p:nvSpPr>
        <p:spPr>
          <a:xfrm>
            <a:off x="8762695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المدة الإجمالية للمشروع</a:t>
            </a:r>
            <a:endParaRPr lang="ar-SA" sz="1000" dirty="0"/>
          </a:p>
        </p:txBody>
      </p:sp>
      <p:sp>
        <p:nvSpPr>
          <p:cNvPr id="201" name="Text 199"/>
          <p:cNvSpPr/>
          <p:nvPr/>
        </p:nvSpPr>
        <p:spPr>
          <a:xfrm>
            <a:off x="7464247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ar-SA" sz="1100" dirty="0"/>
          </a:p>
        </p:txBody>
      </p:sp>
      <p:sp>
        <p:nvSpPr>
          <p:cNvPr id="202" name="Text 200"/>
          <p:cNvSpPr/>
          <p:nvPr/>
        </p:nvSpPr>
        <p:spPr>
          <a:xfrm>
            <a:off x="6805879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850" dirty="0"/>
          </a:p>
        </p:txBody>
      </p:sp>
      <p:sp>
        <p:nvSpPr>
          <p:cNvPr id="203" name="Text 201"/>
          <p:cNvSpPr/>
          <p:nvPr/>
        </p:nvSpPr>
        <p:spPr>
          <a:xfrm>
            <a:off x="6147511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850" dirty="0"/>
          </a:p>
        </p:txBody>
      </p:sp>
      <p:sp>
        <p:nvSpPr>
          <p:cNvPr id="204" name="Shape 202"/>
          <p:cNvSpPr/>
          <p:nvPr/>
        </p:nvSpPr>
        <p:spPr>
          <a:xfrm>
            <a:off x="606666" y="2011680"/>
            <a:ext cx="5179485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606666" y="2011680"/>
            <a:ext cx="51794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يوم عمل · 13 أكتوبر → 24 نوفمبر</a:t>
            </a:r>
            <a:endParaRPr lang="ar-SA" sz="850" dirty="0"/>
          </a:p>
        </p:txBody>
      </p:sp>
      <p:sp>
        <p:nvSpPr>
          <p:cNvPr id="206" name="Shape 204"/>
          <p:cNvSpPr/>
          <p:nvPr/>
        </p:nvSpPr>
        <p:spPr>
          <a:xfrm>
            <a:off x="6147511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6238951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0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ميل ستون</a:t>
            </a:r>
            <a:endParaRPr lang="ar-SA" sz="1000" dirty="0"/>
          </a:p>
        </p:txBody>
      </p:sp>
      <p:sp>
        <p:nvSpPr>
          <p:cNvPr id="208" name="Shape 206"/>
          <p:cNvSpPr/>
          <p:nvPr/>
        </p:nvSpPr>
        <p:spPr>
          <a:xfrm>
            <a:off x="5643629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5296157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550" dirty="0"/>
          </a:p>
        </p:txBody>
      </p:sp>
      <p:sp>
        <p:nvSpPr>
          <p:cNvPr id="210" name="Text 208"/>
          <p:cNvSpPr/>
          <p:nvPr/>
        </p:nvSpPr>
        <p:spPr>
          <a:xfrm>
            <a:off x="5158997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50" dirty="0"/>
          </a:p>
        </p:txBody>
      </p:sp>
      <p:sp>
        <p:nvSpPr>
          <p:cNvPr id="211" name="Shape 209"/>
          <p:cNvSpPr/>
          <p:nvPr/>
        </p:nvSpPr>
        <p:spPr>
          <a:xfrm>
            <a:off x="4920910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4573438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550" dirty="0"/>
          </a:p>
        </p:txBody>
      </p:sp>
      <p:sp>
        <p:nvSpPr>
          <p:cNvPr id="213" name="Text 211"/>
          <p:cNvSpPr/>
          <p:nvPr/>
        </p:nvSpPr>
        <p:spPr>
          <a:xfrm>
            <a:off x="4436278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50" dirty="0"/>
          </a:p>
        </p:txBody>
      </p:sp>
      <p:sp>
        <p:nvSpPr>
          <p:cNvPr id="214" name="Shape 212"/>
          <p:cNvSpPr/>
          <p:nvPr/>
        </p:nvSpPr>
        <p:spPr>
          <a:xfrm>
            <a:off x="2150488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803016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550" dirty="0"/>
          </a:p>
        </p:txBody>
      </p:sp>
      <p:sp>
        <p:nvSpPr>
          <p:cNvPr id="216" name="Text 214"/>
          <p:cNvSpPr/>
          <p:nvPr/>
        </p:nvSpPr>
        <p:spPr>
          <a:xfrm>
            <a:off x="1665856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50" dirty="0"/>
          </a:p>
        </p:txBody>
      </p:sp>
      <p:sp>
        <p:nvSpPr>
          <p:cNvPr id="217" name="Shape 215"/>
          <p:cNvSpPr/>
          <p:nvPr/>
        </p:nvSpPr>
        <p:spPr>
          <a:xfrm>
            <a:off x="1307316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959844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550" dirty="0"/>
          </a:p>
        </p:txBody>
      </p:sp>
      <p:sp>
        <p:nvSpPr>
          <p:cNvPr id="219" name="Text 217"/>
          <p:cNvSpPr/>
          <p:nvPr/>
        </p:nvSpPr>
        <p:spPr>
          <a:xfrm>
            <a:off x="822684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نوفمبر</a:t>
            </a:r>
            <a:endParaRPr lang="ar-SA" sz="750" dirty="0"/>
          </a:p>
        </p:txBody>
      </p:sp>
      <p:sp>
        <p:nvSpPr>
          <p:cNvPr id="220" name="Shape 218"/>
          <p:cNvSpPr/>
          <p:nvPr/>
        </p:nvSpPr>
        <p:spPr>
          <a:xfrm>
            <a:off x="584597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237125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ar-SA" altLang="en-US" sz="550" dirty="0">
                <a:solidFill>
                  <a:srgbClr val="55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550" dirty="0"/>
          </a:p>
        </p:txBody>
      </p:sp>
      <p:sp>
        <p:nvSpPr>
          <p:cNvPr id="222" name="Text 220"/>
          <p:cNvSpPr/>
          <p:nvPr/>
        </p:nvSpPr>
        <p:spPr>
          <a:xfrm>
            <a:off x="99965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750" dirty="0"/>
          </a:p>
        </p:txBody>
      </p:sp>
      <p:sp>
        <p:nvSpPr>
          <p:cNvPr id="223" name="Shape 221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11515039" y="286931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11441887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ar-SA" sz="850" dirty="0"/>
          </a:p>
        </p:txBody>
      </p:sp>
      <p:sp>
        <p:nvSpPr>
          <p:cNvPr id="226" name="Text 224"/>
          <p:cNvSpPr/>
          <p:nvPr/>
        </p:nvSpPr>
        <p:spPr>
          <a:xfrm>
            <a:off x="8762695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نظام الدعم (Shoring)</a:t>
            </a:r>
            <a:endParaRPr lang="ar-SA" sz="750" dirty="0"/>
          </a:p>
        </p:txBody>
      </p:sp>
      <p:sp>
        <p:nvSpPr>
          <p:cNvPr id="227" name="Text 225"/>
          <p:cNvSpPr/>
          <p:nvPr/>
        </p:nvSpPr>
        <p:spPr>
          <a:xfrm>
            <a:off x="7967167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28" name="Text 226"/>
          <p:cNvSpPr/>
          <p:nvPr/>
        </p:nvSpPr>
        <p:spPr>
          <a:xfrm>
            <a:off x="7464247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229" name="Text 227"/>
          <p:cNvSpPr/>
          <p:nvPr/>
        </p:nvSpPr>
        <p:spPr>
          <a:xfrm>
            <a:off x="6805879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00" dirty="0"/>
          </a:p>
        </p:txBody>
      </p:sp>
      <p:sp>
        <p:nvSpPr>
          <p:cNvPr id="230" name="Text 228"/>
          <p:cNvSpPr/>
          <p:nvPr/>
        </p:nvSpPr>
        <p:spPr>
          <a:xfrm>
            <a:off x="6147511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00" dirty="0"/>
          </a:p>
        </p:txBody>
      </p:sp>
      <p:sp>
        <p:nvSpPr>
          <p:cNvPr id="231" name="Shape 229"/>
          <p:cNvSpPr/>
          <p:nvPr/>
        </p:nvSpPr>
        <p:spPr>
          <a:xfrm>
            <a:off x="4942980" y="2928747"/>
            <a:ext cx="843172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 flipV="1">
            <a:off x="5722144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 flipV="1">
            <a:off x="4942980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4348620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50" dirty="0"/>
          </a:p>
        </p:txBody>
      </p:sp>
      <p:sp>
        <p:nvSpPr>
          <p:cNvPr id="235" name="Shape 233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11441887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1414455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A.1</a:t>
            </a:r>
            <a:endParaRPr lang="ar-SA" sz="650" dirty="0"/>
          </a:p>
        </p:txBody>
      </p:sp>
      <p:sp>
        <p:nvSpPr>
          <p:cNvPr id="238" name="Text 236"/>
          <p:cNvSpPr/>
          <p:nvPr/>
        </p:nvSpPr>
        <p:spPr>
          <a:xfrm>
            <a:off x="8762695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الحفر لأعمدة H-Beam</a:t>
            </a:r>
            <a:endParaRPr lang="ar-SA" sz="700" dirty="0"/>
          </a:p>
        </p:txBody>
      </p:sp>
      <p:sp>
        <p:nvSpPr>
          <p:cNvPr id="239" name="Text 237"/>
          <p:cNvSpPr/>
          <p:nvPr/>
        </p:nvSpPr>
        <p:spPr>
          <a:xfrm>
            <a:off x="7967167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ar-SA" sz="700" dirty="0"/>
          </a:p>
        </p:txBody>
      </p:sp>
      <p:sp>
        <p:nvSpPr>
          <p:cNvPr id="240" name="Text 238"/>
          <p:cNvSpPr/>
          <p:nvPr/>
        </p:nvSpPr>
        <p:spPr>
          <a:xfrm>
            <a:off x="7464247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41" name="Text 239"/>
          <p:cNvSpPr/>
          <p:nvPr/>
        </p:nvSpPr>
        <p:spPr>
          <a:xfrm>
            <a:off x="6805879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أكتوبر</a:t>
            </a:r>
            <a:endParaRPr lang="ar-SA" sz="700" dirty="0"/>
          </a:p>
        </p:txBody>
      </p:sp>
      <p:sp>
        <p:nvSpPr>
          <p:cNvPr id="242" name="Text 240"/>
          <p:cNvSpPr/>
          <p:nvPr/>
        </p:nvSpPr>
        <p:spPr>
          <a:xfrm>
            <a:off x="6147511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700" dirty="0"/>
          </a:p>
        </p:txBody>
      </p:sp>
      <p:sp>
        <p:nvSpPr>
          <p:cNvPr id="243" name="Shape 241"/>
          <p:cNvSpPr/>
          <p:nvPr/>
        </p:nvSpPr>
        <p:spPr>
          <a:xfrm>
            <a:off x="5545245" y="314129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4" name="Shape 242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1441887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11414455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A.2</a:t>
            </a:r>
            <a:endParaRPr lang="ar-SA" sz="650" dirty="0"/>
          </a:p>
        </p:txBody>
      </p:sp>
      <p:sp>
        <p:nvSpPr>
          <p:cNvPr id="247" name="Text 245"/>
          <p:cNvSpPr/>
          <p:nvPr/>
        </p:nvSpPr>
        <p:spPr>
          <a:xfrm>
            <a:off x="8762695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أعمدة H-Beam</a:t>
            </a:r>
            <a:endParaRPr lang="ar-SA" sz="700" dirty="0"/>
          </a:p>
        </p:txBody>
      </p:sp>
      <p:sp>
        <p:nvSpPr>
          <p:cNvPr id="248" name="Text 246"/>
          <p:cNvSpPr/>
          <p:nvPr/>
        </p:nvSpPr>
        <p:spPr>
          <a:xfrm>
            <a:off x="7967167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 · SS +1</a:t>
            </a:r>
            <a:endParaRPr lang="ar-SA" sz="700" dirty="0"/>
          </a:p>
        </p:txBody>
      </p:sp>
      <p:sp>
        <p:nvSpPr>
          <p:cNvPr id="249" name="Text 247"/>
          <p:cNvSpPr/>
          <p:nvPr/>
        </p:nvSpPr>
        <p:spPr>
          <a:xfrm>
            <a:off x="7464247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50" name="Text 248"/>
          <p:cNvSpPr/>
          <p:nvPr/>
        </p:nvSpPr>
        <p:spPr>
          <a:xfrm>
            <a:off x="6805879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أكتوبر</a:t>
            </a:r>
            <a:endParaRPr lang="ar-SA" sz="700" dirty="0"/>
          </a:p>
        </p:txBody>
      </p:sp>
      <p:sp>
        <p:nvSpPr>
          <p:cNvPr id="251" name="Text 249"/>
          <p:cNvSpPr/>
          <p:nvPr/>
        </p:nvSpPr>
        <p:spPr>
          <a:xfrm>
            <a:off x="6147511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52" name="Shape 250"/>
          <p:cNvSpPr/>
          <p:nvPr/>
        </p:nvSpPr>
        <p:spPr>
          <a:xfrm>
            <a:off x="5183886" y="3356938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3" name="Text 251"/>
          <p:cNvSpPr/>
          <p:nvPr/>
        </p:nvSpPr>
        <p:spPr>
          <a:xfrm>
            <a:off x="5183886" y="3356938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54" name="Shape 252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1441887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11414455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A.3</a:t>
            </a:r>
            <a:endParaRPr lang="ar-SA" sz="650" dirty="0"/>
          </a:p>
        </p:txBody>
      </p:sp>
      <p:sp>
        <p:nvSpPr>
          <p:cNvPr id="257" name="Text 255"/>
          <p:cNvSpPr/>
          <p:nvPr/>
        </p:nvSpPr>
        <p:spPr>
          <a:xfrm>
            <a:off x="8762695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الخرسانة لأعمدة H-Beam</a:t>
            </a:r>
            <a:endParaRPr lang="ar-SA" sz="700" dirty="0"/>
          </a:p>
        </p:txBody>
      </p:sp>
      <p:sp>
        <p:nvSpPr>
          <p:cNvPr id="258" name="Text 256"/>
          <p:cNvSpPr/>
          <p:nvPr/>
        </p:nvSpPr>
        <p:spPr>
          <a:xfrm>
            <a:off x="7967167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· SS +1</a:t>
            </a:r>
            <a:endParaRPr lang="ar-SA" sz="700" dirty="0"/>
          </a:p>
        </p:txBody>
      </p:sp>
      <p:sp>
        <p:nvSpPr>
          <p:cNvPr id="259" name="Text 257"/>
          <p:cNvSpPr/>
          <p:nvPr/>
        </p:nvSpPr>
        <p:spPr>
          <a:xfrm>
            <a:off x="7464247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60" name="Text 258"/>
          <p:cNvSpPr/>
          <p:nvPr/>
        </p:nvSpPr>
        <p:spPr>
          <a:xfrm>
            <a:off x="6805879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أكتوبر</a:t>
            </a:r>
            <a:endParaRPr lang="ar-SA" sz="700" dirty="0"/>
          </a:p>
        </p:txBody>
      </p:sp>
      <p:sp>
        <p:nvSpPr>
          <p:cNvPr id="261" name="Text 259"/>
          <p:cNvSpPr/>
          <p:nvPr/>
        </p:nvSpPr>
        <p:spPr>
          <a:xfrm>
            <a:off x="6147511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262" name="Shape 260"/>
          <p:cNvSpPr/>
          <p:nvPr/>
        </p:nvSpPr>
        <p:spPr>
          <a:xfrm>
            <a:off x="5063433" y="3572584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3" name="Text 261"/>
          <p:cNvSpPr/>
          <p:nvPr/>
        </p:nvSpPr>
        <p:spPr>
          <a:xfrm>
            <a:off x="5063433" y="3572584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64" name="Shape 262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1441887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11414455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A.4</a:t>
            </a:r>
            <a:endParaRPr lang="ar-SA" sz="650" dirty="0"/>
          </a:p>
        </p:txBody>
      </p:sp>
      <p:sp>
        <p:nvSpPr>
          <p:cNvPr id="267" name="Text 265"/>
          <p:cNvSpPr/>
          <p:nvPr/>
        </p:nvSpPr>
        <p:spPr>
          <a:xfrm>
            <a:off x="8762695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التدعيم (Bracing) لنظام الدعم</a:t>
            </a:r>
            <a:endParaRPr lang="ar-SA" sz="700" dirty="0"/>
          </a:p>
        </p:txBody>
      </p:sp>
      <p:sp>
        <p:nvSpPr>
          <p:cNvPr id="268" name="Text 266"/>
          <p:cNvSpPr/>
          <p:nvPr/>
        </p:nvSpPr>
        <p:spPr>
          <a:xfrm>
            <a:off x="7967167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· SS +1</a:t>
            </a:r>
            <a:endParaRPr lang="ar-SA" sz="700" dirty="0"/>
          </a:p>
        </p:txBody>
      </p:sp>
      <p:sp>
        <p:nvSpPr>
          <p:cNvPr id="269" name="Text 267"/>
          <p:cNvSpPr/>
          <p:nvPr/>
        </p:nvSpPr>
        <p:spPr>
          <a:xfrm>
            <a:off x="7464247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900" dirty="0"/>
          </a:p>
        </p:txBody>
      </p:sp>
      <p:sp>
        <p:nvSpPr>
          <p:cNvPr id="270" name="Text 268"/>
          <p:cNvSpPr/>
          <p:nvPr/>
        </p:nvSpPr>
        <p:spPr>
          <a:xfrm>
            <a:off x="6805879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أكتوبر</a:t>
            </a:r>
            <a:endParaRPr lang="ar-SA" sz="700" dirty="0"/>
          </a:p>
        </p:txBody>
      </p:sp>
      <p:sp>
        <p:nvSpPr>
          <p:cNvPr id="271" name="Text 269"/>
          <p:cNvSpPr/>
          <p:nvPr/>
        </p:nvSpPr>
        <p:spPr>
          <a:xfrm>
            <a:off x="6147511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00" dirty="0"/>
          </a:p>
        </p:txBody>
      </p:sp>
      <p:sp>
        <p:nvSpPr>
          <p:cNvPr id="272" name="Shape 270"/>
          <p:cNvSpPr/>
          <p:nvPr/>
        </p:nvSpPr>
        <p:spPr>
          <a:xfrm>
            <a:off x="4942980" y="3788230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4942980" y="3788230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يوم</a:t>
            </a:r>
            <a:endParaRPr lang="ar-SA" sz="700" dirty="0"/>
          </a:p>
        </p:txBody>
      </p:sp>
      <p:sp>
        <p:nvSpPr>
          <p:cNvPr id="274" name="Shape 272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11441887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11414455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A.5</a:t>
            </a:r>
            <a:endParaRPr lang="ar-SA" sz="650" dirty="0"/>
          </a:p>
        </p:txBody>
      </p:sp>
      <p:sp>
        <p:nvSpPr>
          <p:cNvPr id="277" name="Text 275"/>
          <p:cNvSpPr/>
          <p:nvPr/>
        </p:nvSpPr>
        <p:spPr>
          <a:xfrm>
            <a:off x="8762695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 / إدخال الألواح المضلعة (Corrugated sheets)</a:t>
            </a:r>
            <a:endParaRPr lang="ar-SA" sz="700" dirty="0"/>
          </a:p>
        </p:txBody>
      </p:sp>
      <p:sp>
        <p:nvSpPr>
          <p:cNvPr id="278" name="Text 276"/>
          <p:cNvSpPr/>
          <p:nvPr/>
        </p:nvSpPr>
        <p:spPr>
          <a:xfrm>
            <a:off x="7967167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· SS +1</a:t>
            </a:r>
            <a:endParaRPr lang="ar-SA" sz="700" dirty="0"/>
          </a:p>
        </p:txBody>
      </p:sp>
      <p:sp>
        <p:nvSpPr>
          <p:cNvPr id="279" name="Text 277"/>
          <p:cNvSpPr/>
          <p:nvPr/>
        </p:nvSpPr>
        <p:spPr>
          <a:xfrm>
            <a:off x="7464247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80" name="Text 278"/>
          <p:cNvSpPr/>
          <p:nvPr/>
        </p:nvSpPr>
        <p:spPr>
          <a:xfrm>
            <a:off x="6805879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أكتوبر</a:t>
            </a:r>
            <a:endParaRPr lang="ar-SA" sz="700" dirty="0"/>
          </a:p>
        </p:txBody>
      </p:sp>
      <p:sp>
        <p:nvSpPr>
          <p:cNvPr id="281" name="Text 279"/>
          <p:cNvSpPr/>
          <p:nvPr/>
        </p:nvSpPr>
        <p:spPr>
          <a:xfrm>
            <a:off x="6147511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أكتوبر</a:t>
            </a:r>
            <a:endParaRPr lang="ar-SA" sz="700" dirty="0"/>
          </a:p>
        </p:txBody>
      </p:sp>
      <p:sp>
        <p:nvSpPr>
          <p:cNvPr id="282" name="Shape 280"/>
          <p:cNvSpPr/>
          <p:nvPr/>
        </p:nvSpPr>
        <p:spPr>
          <a:xfrm>
            <a:off x="4942980" y="4003876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3" name="Shape 281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11515039" y="416318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11441887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ar-SA" sz="850" dirty="0"/>
          </a:p>
        </p:txBody>
      </p:sp>
      <p:sp>
        <p:nvSpPr>
          <p:cNvPr id="286" name="Text 284"/>
          <p:cNvSpPr/>
          <p:nvPr/>
        </p:nvSpPr>
        <p:spPr>
          <a:xfrm>
            <a:off x="8762695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الخرسانة العادية (Lean concrete)</a:t>
            </a:r>
            <a:endParaRPr lang="ar-SA" sz="750" dirty="0"/>
          </a:p>
        </p:txBody>
      </p:sp>
      <p:sp>
        <p:nvSpPr>
          <p:cNvPr id="287" name="Text 285"/>
          <p:cNvSpPr/>
          <p:nvPr/>
        </p:nvSpPr>
        <p:spPr>
          <a:xfrm>
            <a:off x="7967167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SS +6</a:t>
            </a:r>
            <a:endParaRPr lang="ar-SA" sz="700" dirty="0"/>
          </a:p>
        </p:txBody>
      </p:sp>
      <p:sp>
        <p:nvSpPr>
          <p:cNvPr id="288" name="Text 286"/>
          <p:cNvSpPr/>
          <p:nvPr/>
        </p:nvSpPr>
        <p:spPr>
          <a:xfrm>
            <a:off x="7464247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900" dirty="0"/>
          </a:p>
        </p:txBody>
      </p:sp>
      <p:sp>
        <p:nvSpPr>
          <p:cNvPr id="289" name="Text 287"/>
          <p:cNvSpPr/>
          <p:nvPr/>
        </p:nvSpPr>
        <p:spPr>
          <a:xfrm>
            <a:off x="6805879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700" dirty="0"/>
          </a:p>
        </p:txBody>
      </p:sp>
      <p:sp>
        <p:nvSpPr>
          <p:cNvPr id="290" name="Text 288"/>
          <p:cNvSpPr/>
          <p:nvPr/>
        </p:nvSpPr>
        <p:spPr>
          <a:xfrm>
            <a:off x="6147511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أكتوبر</a:t>
            </a:r>
            <a:endParaRPr lang="ar-SA" sz="700" dirty="0"/>
          </a:p>
        </p:txBody>
      </p:sp>
      <p:sp>
        <p:nvSpPr>
          <p:cNvPr id="291" name="Shape 289"/>
          <p:cNvSpPr/>
          <p:nvPr/>
        </p:nvSpPr>
        <p:spPr>
          <a:xfrm>
            <a:off x="4702073" y="421952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2" name="Shape 290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11515039" y="437883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11441887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ar-SA" sz="850" dirty="0"/>
          </a:p>
        </p:txBody>
      </p:sp>
      <p:sp>
        <p:nvSpPr>
          <p:cNvPr id="295" name="Text 293"/>
          <p:cNvSpPr/>
          <p:nvPr/>
        </p:nvSpPr>
        <p:spPr>
          <a:xfrm>
            <a:off x="8762695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خندق الحفرة – حديد التسليح والشدات والخرسانة</a:t>
            </a:r>
            <a:endParaRPr lang="ar-SA" sz="750" dirty="0"/>
          </a:p>
        </p:txBody>
      </p:sp>
      <p:sp>
        <p:nvSpPr>
          <p:cNvPr id="296" name="Text 294"/>
          <p:cNvSpPr/>
          <p:nvPr/>
        </p:nvSpPr>
        <p:spPr>
          <a:xfrm>
            <a:off x="7967167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FS</a:t>
            </a:r>
            <a:endParaRPr lang="ar-SA" sz="700" dirty="0"/>
          </a:p>
        </p:txBody>
      </p:sp>
      <p:sp>
        <p:nvSpPr>
          <p:cNvPr id="297" name="Text 295"/>
          <p:cNvSpPr/>
          <p:nvPr/>
        </p:nvSpPr>
        <p:spPr>
          <a:xfrm>
            <a:off x="7464247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900" dirty="0"/>
          </a:p>
        </p:txBody>
      </p:sp>
      <p:sp>
        <p:nvSpPr>
          <p:cNvPr id="298" name="Text 296"/>
          <p:cNvSpPr/>
          <p:nvPr/>
        </p:nvSpPr>
        <p:spPr>
          <a:xfrm>
            <a:off x="6805879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أكتوبر</a:t>
            </a:r>
            <a:endParaRPr lang="ar-SA" sz="700" dirty="0"/>
          </a:p>
        </p:txBody>
      </p:sp>
      <p:sp>
        <p:nvSpPr>
          <p:cNvPr id="299" name="Text 297"/>
          <p:cNvSpPr/>
          <p:nvPr/>
        </p:nvSpPr>
        <p:spPr>
          <a:xfrm>
            <a:off x="6147511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أكتوبر</a:t>
            </a:r>
            <a:endParaRPr lang="ar-SA" sz="700" dirty="0"/>
          </a:p>
        </p:txBody>
      </p:sp>
      <p:sp>
        <p:nvSpPr>
          <p:cNvPr id="300" name="Shape 298"/>
          <p:cNvSpPr/>
          <p:nvPr/>
        </p:nvSpPr>
        <p:spPr>
          <a:xfrm>
            <a:off x="4340714" y="4435168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1" name="Text 299"/>
          <p:cNvSpPr/>
          <p:nvPr/>
        </p:nvSpPr>
        <p:spPr>
          <a:xfrm>
            <a:off x="4340714" y="4435168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يوم</a:t>
            </a:r>
            <a:endParaRPr lang="ar-SA" sz="700" dirty="0"/>
          </a:p>
        </p:txBody>
      </p:sp>
      <p:sp>
        <p:nvSpPr>
          <p:cNvPr id="302" name="Shape 300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11515039" y="459447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11441887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ar-SA" sz="850" dirty="0"/>
          </a:p>
        </p:txBody>
      </p:sp>
      <p:sp>
        <p:nvSpPr>
          <p:cNvPr id="305" name="Text 303"/>
          <p:cNvSpPr/>
          <p:nvPr/>
        </p:nvSpPr>
        <p:spPr>
          <a:xfrm>
            <a:off x="8762695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بلاطة / لبشة الحفرة – حديد التسليح والشدات والخرسانة</a:t>
            </a:r>
            <a:endParaRPr lang="ar-SA" sz="750" dirty="0"/>
          </a:p>
        </p:txBody>
      </p:sp>
      <p:sp>
        <p:nvSpPr>
          <p:cNvPr id="306" name="Text 304"/>
          <p:cNvSpPr/>
          <p:nvPr/>
        </p:nvSpPr>
        <p:spPr>
          <a:xfrm>
            <a:off x="7967167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FS</a:t>
            </a:r>
            <a:endParaRPr lang="ar-SA" sz="700" dirty="0"/>
          </a:p>
        </p:txBody>
      </p:sp>
      <p:sp>
        <p:nvSpPr>
          <p:cNvPr id="307" name="Text 305"/>
          <p:cNvSpPr/>
          <p:nvPr/>
        </p:nvSpPr>
        <p:spPr>
          <a:xfrm>
            <a:off x="7464247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ar-SA" sz="900" dirty="0"/>
          </a:p>
        </p:txBody>
      </p:sp>
      <p:sp>
        <p:nvSpPr>
          <p:cNvPr id="308" name="Text 306"/>
          <p:cNvSpPr/>
          <p:nvPr/>
        </p:nvSpPr>
        <p:spPr>
          <a:xfrm>
            <a:off x="6805879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أكتوبر</a:t>
            </a:r>
            <a:endParaRPr lang="ar-SA" sz="700" dirty="0"/>
          </a:p>
        </p:txBody>
      </p:sp>
      <p:sp>
        <p:nvSpPr>
          <p:cNvPr id="309" name="Text 307"/>
          <p:cNvSpPr/>
          <p:nvPr/>
        </p:nvSpPr>
        <p:spPr>
          <a:xfrm>
            <a:off x="6147511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نوفمبر</a:t>
            </a:r>
            <a:endParaRPr lang="ar-SA" sz="700" dirty="0"/>
          </a:p>
        </p:txBody>
      </p:sp>
      <p:sp>
        <p:nvSpPr>
          <p:cNvPr id="310" name="Shape 308"/>
          <p:cNvSpPr/>
          <p:nvPr/>
        </p:nvSpPr>
        <p:spPr>
          <a:xfrm>
            <a:off x="3015729" y="4650814"/>
            <a:ext cx="1324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1" name="Text 309"/>
          <p:cNvSpPr/>
          <p:nvPr/>
        </p:nvSpPr>
        <p:spPr>
          <a:xfrm>
            <a:off x="3015729" y="4650814"/>
            <a:ext cx="1324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يوم</a:t>
            </a:r>
            <a:endParaRPr lang="ar-SA" sz="700" dirty="0"/>
          </a:p>
        </p:txBody>
      </p:sp>
      <p:sp>
        <p:nvSpPr>
          <p:cNvPr id="312" name="Shape 310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1515039" y="481012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11441887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ar-SA" sz="850" dirty="0"/>
          </a:p>
        </p:txBody>
      </p:sp>
      <p:sp>
        <p:nvSpPr>
          <p:cNvPr id="315" name="Text 313"/>
          <p:cNvSpPr/>
          <p:nvPr/>
        </p:nvSpPr>
        <p:spPr>
          <a:xfrm>
            <a:off x="8762695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جدار الحفرة – حديد التسليح والشدات والخرسانة</a:t>
            </a:r>
            <a:endParaRPr lang="ar-SA" sz="750" dirty="0"/>
          </a:p>
        </p:txBody>
      </p:sp>
      <p:sp>
        <p:nvSpPr>
          <p:cNvPr id="316" name="Text 314"/>
          <p:cNvSpPr/>
          <p:nvPr/>
        </p:nvSpPr>
        <p:spPr>
          <a:xfrm>
            <a:off x="7967167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17" name="Text 315"/>
          <p:cNvSpPr/>
          <p:nvPr/>
        </p:nvSpPr>
        <p:spPr>
          <a:xfrm>
            <a:off x="7464247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ar-SA" sz="900" dirty="0"/>
          </a:p>
        </p:txBody>
      </p:sp>
      <p:sp>
        <p:nvSpPr>
          <p:cNvPr id="318" name="Text 316"/>
          <p:cNvSpPr/>
          <p:nvPr/>
        </p:nvSpPr>
        <p:spPr>
          <a:xfrm>
            <a:off x="6805879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نوفمبر</a:t>
            </a:r>
            <a:endParaRPr lang="ar-SA" sz="700" dirty="0"/>
          </a:p>
        </p:txBody>
      </p:sp>
      <p:sp>
        <p:nvSpPr>
          <p:cNvPr id="319" name="Text 317"/>
          <p:cNvSpPr/>
          <p:nvPr/>
        </p:nvSpPr>
        <p:spPr>
          <a:xfrm>
            <a:off x="6147511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نوفمبر</a:t>
            </a:r>
            <a:endParaRPr lang="ar-SA" sz="700" dirty="0"/>
          </a:p>
        </p:txBody>
      </p:sp>
      <p:sp>
        <p:nvSpPr>
          <p:cNvPr id="320" name="Shape 318"/>
          <p:cNvSpPr/>
          <p:nvPr/>
        </p:nvSpPr>
        <p:spPr>
          <a:xfrm>
            <a:off x="2172557" y="4866460"/>
            <a:ext cx="843172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21" name="Text 319"/>
          <p:cNvSpPr/>
          <p:nvPr/>
        </p:nvSpPr>
        <p:spPr>
          <a:xfrm>
            <a:off x="2172557" y="4866460"/>
            <a:ext cx="843172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يوم</a:t>
            </a:r>
            <a:endParaRPr lang="ar-SA" sz="700" dirty="0"/>
          </a:p>
        </p:txBody>
      </p:sp>
      <p:sp>
        <p:nvSpPr>
          <p:cNvPr id="322" name="Shape 320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11515039" y="502577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11441887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ar-SA" sz="850" dirty="0"/>
          </a:p>
        </p:txBody>
      </p:sp>
      <p:sp>
        <p:nvSpPr>
          <p:cNvPr id="325" name="Text 323"/>
          <p:cNvSpPr/>
          <p:nvPr/>
        </p:nvSpPr>
        <p:spPr>
          <a:xfrm>
            <a:off x="8762695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أساسات المبنى – حفر ودمك / اختبار وحديد تسليح وخرسانة</a:t>
            </a:r>
            <a:endParaRPr lang="ar-SA" sz="750" dirty="0"/>
          </a:p>
        </p:txBody>
      </p:sp>
      <p:sp>
        <p:nvSpPr>
          <p:cNvPr id="326" name="Text 324"/>
          <p:cNvSpPr/>
          <p:nvPr/>
        </p:nvSpPr>
        <p:spPr>
          <a:xfrm>
            <a:off x="7967167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FS</a:t>
            </a:r>
            <a:endParaRPr lang="ar-SA" sz="700" dirty="0"/>
          </a:p>
        </p:txBody>
      </p:sp>
      <p:sp>
        <p:nvSpPr>
          <p:cNvPr id="327" name="Text 325"/>
          <p:cNvSpPr/>
          <p:nvPr/>
        </p:nvSpPr>
        <p:spPr>
          <a:xfrm>
            <a:off x="7464247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ar-SA" sz="900" dirty="0"/>
          </a:p>
        </p:txBody>
      </p:sp>
      <p:sp>
        <p:nvSpPr>
          <p:cNvPr id="328" name="Text 326"/>
          <p:cNvSpPr/>
          <p:nvPr/>
        </p:nvSpPr>
        <p:spPr>
          <a:xfrm>
            <a:off x="6805879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نوفمبر</a:t>
            </a:r>
            <a:endParaRPr lang="ar-SA" sz="700" dirty="0"/>
          </a:p>
        </p:txBody>
      </p:sp>
      <p:sp>
        <p:nvSpPr>
          <p:cNvPr id="329" name="Text 327"/>
          <p:cNvSpPr/>
          <p:nvPr/>
        </p:nvSpPr>
        <p:spPr>
          <a:xfrm>
            <a:off x="6147511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نوفمبر</a:t>
            </a:r>
            <a:endParaRPr lang="ar-SA" sz="700" dirty="0"/>
          </a:p>
        </p:txBody>
      </p:sp>
      <p:sp>
        <p:nvSpPr>
          <p:cNvPr id="330" name="Shape 328"/>
          <p:cNvSpPr/>
          <p:nvPr/>
        </p:nvSpPr>
        <p:spPr>
          <a:xfrm>
            <a:off x="1329385" y="5082106"/>
            <a:ext cx="1686344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1" name="Text 329"/>
          <p:cNvSpPr/>
          <p:nvPr/>
        </p:nvSpPr>
        <p:spPr>
          <a:xfrm>
            <a:off x="1329385" y="5082106"/>
            <a:ext cx="1686344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يوم</a:t>
            </a:r>
            <a:endParaRPr lang="ar-SA" sz="700" dirty="0"/>
          </a:p>
        </p:txBody>
      </p:sp>
      <p:sp>
        <p:nvSpPr>
          <p:cNvPr id="332" name="Shape 330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11515039" y="524141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11441887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ar-SA" sz="850" dirty="0"/>
          </a:p>
        </p:txBody>
      </p:sp>
      <p:sp>
        <p:nvSpPr>
          <p:cNvPr id="335" name="Text 333"/>
          <p:cNvSpPr/>
          <p:nvPr/>
        </p:nvSpPr>
        <p:spPr>
          <a:xfrm>
            <a:off x="8762695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أعمال الردم للمبنى</a:t>
            </a:r>
            <a:endParaRPr lang="ar-SA" sz="750" dirty="0"/>
          </a:p>
        </p:txBody>
      </p:sp>
      <p:sp>
        <p:nvSpPr>
          <p:cNvPr id="336" name="Text 334"/>
          <p:cNvSpPr/>
          <p:nvPr/>
        </p:nvSpPr>
        <p:spPr>
          <a:xfrm>
            <a:off x="7967167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FS</a:t>
            </a:r>
            <a:endParaRPr lang="ar-SA" sz="700" dirty="0"/>
          </a:p>
        </p:txBody>
      </p:sp>
      <p:sp>
        <p:nvSpPr>
          <p:cNvPr id="337" name="Text 335"/>
          <p:cNvSpPr/>
          <p:nvPr/>
        </p:nvSpPr>
        <p:spPr>
          <a:xfrm>
            <a:off x="7464247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900" dirty="0"/>
          </a:p>
        </p:txBody>
      </p:sp>
      <p:sp>
        <p:nvSpPr>
          <p:cNvPr id="338" name="Text 336"/>
          <p:cNvSpPr/>
          <p:nvPr/>
        </p:nvSpPr>
        <p:spPr>
          <a:xfrm>
            <a:off x="6805879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نوفمبر</a:t>
            </a:r>
            <a:endParaRPr lang="ar-SA" sz="700" dirty="0"/>
          </a:p>
        </p:txBody>
      </p:sp>
      <p:sp>
        <p:nvSpPr>
          <p:cNvPr id="339" name="Text 337"/>
          <p:cNvSpPr/>
          <p:nvPr/>
        </p:nvSpPr>
        <p:spPr>
          <a:xfrm>
            <a:off x="6147511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نوفمبر</a:t>
            </a:r>
            <a:endParaRPr lang="ar-SA" sz="700" dirty="0"/>
          </a:p>
        </p:txBody>
      </p:sp>
      <p:sp>
        <p:nvSpPr>
          <p:cNvPr id="340" name="Shape 338"/>
          <p:cNvSpPr/>
          <p:nvPr/>
        </p:nvSpPr>
        <p:spPr>
          <a:xfrm>
            <a:off x="606666" y="5297752"/>
            <a:ext cx="722719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1" name="Text 339"/>
          <p:cNvSpPr/>
          <p:nvPr/>
        </p:nvSpPr>
        <p:spPr>
          <a:xfrm>
            <a:off x="606666" y="5297752"/>
            <a:ext cx="72271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يوم</a:t>
            </a:r>
            <a:endParaRPr lang="ar-SA" sz="700" dirty="0"/>
          </a:p>
        </p:txBody>
      </p:sp>
      <p:sp>
        <p:nvSpPr>
          <p:cNvPr id="342" name="Shape 340"/>
          <p:cNvSpPr/>
          <p:nvPr/>
        </p:nvSpPr>
        <p:spPr>
          <a:xfrm>
            <a:off x="5731288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 flipH="1">
            <a:off x="5674843" y="3419475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4" name="Shape 342"/>
          <p:cNvSpPr/>
          <p:nvPr/>
        </p:nvSpPr>
        <p:spPr>
          <a:xfrm>
            <a:off x="5610835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 flipH="1">
            <a:off x="5554389" y="3635121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6" name="Shape 344"/>
          <p:cNvSpPr/>
          <p:nvPr/>
        </p:nvSpPr>
        <p:spPr>
          <a:xfrm>
            <a:off x="5490381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 flipH="1">
            <a:off x="5313483" y="3850767"/>
            <a:ext cx="17689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8" name="Shape 346"/>
          <p:cNvSpPr/>
          <p:nvPr/>
        </p:nvSpPr>
        <p:spPr>
          <a:xfrm>
            <a:off x="5249475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 flipH="1">
            <a:off x="5193030" y="4066413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0" name="Shape 348"/>
          <p:cNvSpPr/>
          <p:nvPr/>
        </p:nvSpPr>
        <p:spPr>
          <a:xfrm>
            <a:off x="5731288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 flipH="1">
            <a:off x="4952124" y="4282059"/>
            <a:ext cx="77916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2" name="Shape 350"/>
          <p:cNvSpPr/>
          <p:nvPr/>
        </p:nvSpPr>
        <p:spPr>
          <a:xfrm>
            <a:off x="4942980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88700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 flipH="1">
            <a:off x="4952124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4340714" y="449770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4386434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 flipH="1">
            <a:off x="4349858" y="471335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8" name="Shape 356"/>
          <p:cNvSpPr/>
          <p:nvPr/>
        </p:nvSpPr>
        <p:spPr>
          <a:xfrm>
            <a:off x="3015729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061449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 flipH="1">
            <a:off x="3024873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1" name="Shape 359"/>
          <p:cNvSpPr/>
          <p:nvPr/>
        </p:nvSpPr>
        <p:spPr>
          <a:xfrm>
            <a:off x="3015729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061449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 flipH="1">
            <a:off x="3024873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4" name="Shape 362"/>
          <p:cNvSpPr/>
          <p:nvPr/>
        </p:nvSpPr>
        <p:spPr>
          <a:xfrm>
            <a:off x="1329385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375105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 flipH="1">
            <a:off x="1338529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7" name="Shape 365"/>
          <p:cNvSpPr/>
          <p:nvPr/>
        </p:nvSpPr>
        <p:spPr>
          <a:xfrm>
            <a:off x="4762300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68" name="Shape 366"/>
          <p:cNvSpPr/>
          <p:nvPr/>
        </p:nvSpPr>
        <p:spPr>
          <a:xfrm>
            <a:off x="3665020" y="2240280"/>
            <a:ext cx="1143000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69" name="Text 367"/>
          <p:cNvSpPr/>
          <p:nvPr/>
        </p:nvSpPr>
        <p:spPr>
          <a:xfrm>
            <a:off x="3665020" y="2240280"/>
            <a:ext cx="1143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ar-SA" alt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تاريخ الموقف · 21 أكتوبر</a:t>
            </a:r>
            <a:endParaRPr lang="ar-SA" sz="650" dirty="0"/>
          </a:p>
        </p:txBody>
      </p:sp>
      <p:sp>
        <p:nvSpPr>
          <p:cNvPr id="370" name="Shape 368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2" name="Shape 370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73" name="Text 371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بدء الأعمال</a:t>
            </a:r>
            <a:endParaRPr lang="ar-SA" sz="850" dirty="0"/>
          </a:p>
        </p:txBody>
      </p:sp>
      <p:sp>
        <p:nvSpPr>
          <p:cNvPr id="374" name="Text 372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13 أكتوبر 2026</a:t>
            </a:r>
            <a:endParaRPr lang="ar-SA" sz="1300" dirty="0"/>
          </a:p>
        </p:txBody>
      </p:sp>
      <p:sp>
        <p:nvSpPr>
          <p:cNvPr id="375" name="Text 373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1 / 37</a:t>
            </a:r>
            <a:endParaRPr lang="ar-SA" sz="750" dirty="0"/>
          </a:p>
        </p:txBody>
      </p:sp>
      <p:sp>
        <p:nvSpPr>
          <p:cNvPr id="376" name="Shape 374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7" name="Shape 375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تركيب نظام الدعم</a:t>
            </a:r>
            <a:endParaRPr lang="ar-SA" sz="850" dirty="0"/>
          </a:p>
        </p:txBody>
      </p:sp>
      <p:sp>
        <p:nvSpPr>
          <p:cNvPr id="379" name="Text 377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اثنين 19 أكتوبر 2026</a:t>
            </a:r>
            <a:endParaRPr lang="ar-SA" sz="1300" dirty="0"/>
          </a:p>
        </p:txBody>
      </p:sp>
      <p:sp>
        <p:nvSpPr>
          <p:cNvPr id="380" name="Text 378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6 / 37</a:t>
            </a:r>
            <a:endParaRPr lang="ar-SA" sz="750" dirty="0"/>
          </a:p>
        </p:txBody>
      </p:sp>
      <p:sp>
        <p:nvSpPr>
          <p:cNvPr id="381" name="Shape 379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2" name="Shape 380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أعمال الحفرة (جدار الحفرة)</a:t>
            </a:r>
            <a:endParaRPr lang="ar-SA" sz="850" dirty="0"/>
          </a:p>
        </p:txBody>
      </p:sp>
      <p:sp>
        <p:nvSpPr>
          <p:cNvPr id="384" name="Text 382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11 نوفمبر 2026</a:t>
            </a:r>
            <a:endParaRPr lang="ar-SA" sz="1300" dirty="0"/>
          </a:p>
        </p:txBody>
      </p:sp>
      <p:sp>
        <p:nvSpPr>
          <p:cNvPr id="385" name="Text 383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26 / 37</a:t>
            </a:r>
            <a:endParaRPr lang="ar-SA" sz="750" dirty="0"/>
          </a:p>
        </p:txBody>
      </p:sp>
      <p:sp>
        <p:nvSpPr>
          <p:cNvPr id="386" name="Shape 384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7" name="Shape 385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اكتمال أساسات المبنى</a:t>
            </a:r>
            <a:endParaRPr lang="ar-SA" sz="850" dirty="0"/>
          </a:p>
        </p:txBody>
      </p:sp>
      <p:sp>
        <p:nvSpPr>
          <p:cNvPr id="389" name="Text 387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3D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 18 نوفمبر 2026</a:t>
            </a:r>
            <a:endParaRPr lang="ar-SA" sz="1300" dirty="0"/>
          </a:p>
        </p:txBody>
      </p:sp>
      <p:sp>
        <p:nvSpPr>
          <p:cNvPr id="390" name="Text 388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66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32 / 37</a:t>
            </a:r>
            <a:endParaRPr lang="ar-SA" sz="750" dirty="0"/>
          </a:p>
        </p:txBody>
      </p:sp>
      <p:sp>
        <p:nvSpPr>
          <p:cNvPr id="391" name="Shape 389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2" name="Shape 390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8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الإنجاز الكلي</a:t>
            </a:r>
            <a:endParaRPr lang="ar-SA" sz="850" dirty="0"/>
          </a:p>
        </p:txBody>
      </p:sp>
      <p:sp>
        <p:nvSpPr>
          <p:cNvPr id="394" name="Text 392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 24 نوفمبر 2026</a:t>
            </a:r>
            <a:endParaRPr lang="ar-SA" sz="1300" dirty="0"/>
          </a:p>
        </p:txBody>
      </p:sp>
      <p:sp>
        <p:nvSpPr>
          <p:cNvPr id="395" name="Text 393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750" b="1" dirty="0">
                <a:solidFill>
                  <a:srgbClr val="CF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العمل 37 / 37</a:t>
            </a:r>
            <a:endParaRPr lang="ar-SA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مشروع UFWL – مخطط جانت</dc:title>
  <dc:subject>PptxGenJS Presentation</dc:subject>
  <dc:creator>UFWL Project</dc:creator>
  <cp:lastModifiedBy>UFWL Project</cp:lastModifiedBy>
  <cp:revision>1</cp:revision>
  <dcterms:created xsi:type="dcterms:W3CDTF">2026-10-21T13:22:00Z</dcterms:created>
  <dcterms:modified xsi:type="dcterms:W3CDTF">2026-10-21T13:22:00Z</dcterms:modified>
</cp:coreProperties>
</file>