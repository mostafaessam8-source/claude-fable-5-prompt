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الأعمال المتبقية – برنامج أعمال الدعم والحفرة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مقترح شركة الخليج للتطوير للمقاولات · المراجعة 01 · 12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Shape 12"/>
          <p:cNvSpPr/>
          <p:nvPr/>
        </p:nvSpPr>
        <p:spPr>
          <a:xfrm>
            <a:off x="4638751" y="1097280"/>
            <a:ext cx="274320" cy="45720"/>
          </a:xfrm>
          <a:prstGeom prst="roundRect">
            <a:avLst>
              <a:gd name="adj" fmla="val 40000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27071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الأساس (برنامج المقاول Rev 01)</a:t>
            </a:r>
            <a:endParaRPr lang="ar-SA" sz="900" dirty="0"/>
          </a:p>
        </p:txBody>
      </p:sp>
      <p:sp>
        <p:nvSpPr>
          <p:cNvPr id="16" name="Text 14"/>
          <p:cNvSpPr/>
          <p:nvPr/>
        </p:nvSpPr>
        <p:spPr>
          <a:xfrm>
            <a:off x="1043330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7" name="Shape 15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20" name="Text 18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2" name="Text 20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3" name="Text 21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4" name="Shape 22"/>
          <p:cNvSpPr/>
          <p:nvPr/>
        </p:nvSpPr>
        <p:spPr>
          <a:xfrm>
            <a:off x="3497542" y="1325880"/>
            <a:ext cx="2649969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97542" y="1325880"/>
            <a:ext cx="26499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1325880"/>
            <a:ext cx="3131782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1325880"/>
            <a:ext cx="31317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8" name="Shape 26"/>
          <p:cNvSpPr/>
          <p:nvPr/>
        </p:nvSpPr>
        <p:spPr>
          <a:xfrm>
            <a:off x="5304339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4339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</a:t>
            </a:r>
            <a:endParaRPr lang="ar-SA" sz="650" dirty="0"/>
          </a:p>
        </p:txBody>
      </p:sp>
      <p:sp>
        <p:nvSpPr>
          <p:cNvPr id="30" name="Shape 28"/>
          <p:cNvSpPr/>
          <p:nvPr/>
        </p:nvSpPr>
        <p:spPr>
          <a:xfrm>
            <a:off x="4461167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1167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3617995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7995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4" name="Shape 32"/>
          <p:cNvSpPr/>
          <p:nvPr/>
        </p:nvSpPr>
        <p:spPr>
          <a:xfrm>
            <a:off x="2774823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74823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1931651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31651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8" name="Shape 36"/>
          <p:cNvSpPr/>
          <p:nvPr/>
        </p:nvSpPr>
        <p:spPr>
          <a:xfrm>
            <a:off x="1088479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88479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</a:t>
            </a:r>
            <a:endParaRPr lang="ar-SA" sz="650" dirty="0"/>
          </a:p>
        </p:txBody>
      </p:sp>
      <p:sp>
        <p:nvSpPr>
          <p:cNvPr id="40" name="Shape 38"/>
          <p:cNvSpPr/>
          <p:nvPr/>
        </p:nvSpPr>
        <p:spPr>
          <a:xfrm>
            <a:off x="365760" y="1508760"/>
            <a:ext cx="722719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1508760"/>
            <a:ext cx="72271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7</a:t>
            </a:r>
            <a:endParaRPr lang="ar-SA" sz="650" dirty="0"/>
          </a:p>
        </p:txBody>
      </p:sp>
      <p:sp>
        <p:nvSpPr>
          <p:cNvPr id="42" name="Shape 40"/>
          <p:cNvSpPr/>
          <p:nvPr/>
        </p:nvSpPr>
        <p:spPr>
          <a:xfrm>
            <a:off x="602705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2705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44" name="Text 42"/>
          <p:cNvSpPr/>
          <p:nvPr/>
        </p:nvSpPr>
        <p:spPr>
          <a:xfrm>
            <a:off x="602705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45" name="Shape 43"/>
          <p:cNvSpPr/>
          <p:nvPr/>
        </p:nvSpPr>
        <p:spPr>
          <a:xfrm>
            <a:off x="614751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0660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0660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48" name="Text 46"/>
          <p:cNvSpPr/>
          <p:nvPr/>
        </p:nvSpPr>
        <p:spPr>
          <a:xfrm>
            <a:off x="590660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49" name="Shape 47"/>
          <p:cNvSpPr/>
          <p:nvPr/>
        </p:nvSpPr>
        <p:spPr>
          <a:xfrm>
            <a:off x="578615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8615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51" name="Text 49"/>
          <p:cNvSpPr/>
          <p:nvPr/>
        </p:nvSpPr>
        <p:spPr>
          <a:xfrm>
            <a:off x="578615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52" name="Shape 50"/>
          <p:cNvSpPr/>
          <p:nvPr/>
        </p:nvSpPr>
        <p:spPr>
          <a:xfrm>
            <a:off x="566569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66569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54" name="Text 52"/>
          <p:cNvSpPr/>
          <p:nvPr/>
        </p:nvSpPr>
        <p:spPr>
          <a:xfrm>
            <a:off x="566569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55" name="Shape 53"/>
          <p:cNvSpPr/>
          <p:nvPr/>
        </p:nvSpPr>
        <p:spPr>
          <a:xfrm>
            <a:off x="554524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4524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57" name="Text 55"/>
          <p:cNvSpPr/>
          <p:nvPr/>
        </p:nvSpPr>
        <p:spPr>
          <a:xfrm>
            <a:off x="554524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58" name="Shape 56"/>
          <p:cNvSpPr/>
          <p:nvPr/>
        </p:nvSpPr>
        <p:spPr>
          <a:xfrm>
            <a:off x="542479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2479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60" name="Text 58"/>
          <p:cNvSpPr/>
          <p:nvPr/>
        </p:nvSpPr>
        <p:spPr>
          <a:xfrm>
            <a:off x="542479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61" name="Shape 59"/>
          <p:cNvSpPr/>
          <p:nvPr/>
        </p:nvSpPr>
        <p:spPr>
          <a:xfrm>
            <a:off x="530433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30433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63" name="Text 61"/>
          <p:cNvSpPr/>
          <p:nvPr/>
        </p:nvSpPr>
        <p:spPr>
          <a:xfrm>
            <a:off x="530433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64" name="Shape 62"/>
          <p:cNvSpPr/>
          <p:nvPr/>
        </p:nvSpPr>
        <p:spPr>
          <a:xfrm>
            <a:off x="530433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18388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8388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67" name="Text 65"/>
          <p:cNvSpPr/>
          <p:nvPr/>
        </p:nvSpPr>
        <p:spPr>
          <a:xfrm>
            <a:off x="518388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68" name="Shape 66"/>
          <p:cNvSpPr/>
          <p:nvPr/>
        </p:nvSpPr>
        <p:spPr>
          <a:xfrm>
            <a:off x="530433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06343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6343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71" name="Text 69"/>
          <p:cNvSpPr/>
          <p:nvPr/>
        </p:nvSpPr>
        <p:spPr>
          <a:xfrm>
            <a:off x="506343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72" name="Shape 70"/>
          <p:cNvSpPr/>
          <p:nvPr/>
        </p:nvSpPr>
        <p:spPr>
          <a:xfrm>
            <a:off x="494298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94298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74" name="Text 72"/>
          <p:cNvSpPr/>
          <p:nvPr/>
        </p:nvSpPr>
        <p:spPr>
          <a:xfrm>
            <a:off x="494298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75" name="Shape 73"/>
          <p:cNvSpPr/>
          <p:nvPr/>
        </p:nvSpPr>
        <p:spPr>
          <a:xfrm>
            <a:off x="482252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2252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77" name="Text 75"/>
          <p:cNvSpPr/>
          <p:nvPr/>
        </p:nvSpPr>
        <p:spPr>
          <a:xfrm>
            <a:off x="482252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78" name="Shape 76"/>
          <p:cNvSpPr/>
          <p:nvPr/>
        </p:nvSpPr>
        <p:spPr>
          <a:xfrm>
            <a:off x="470207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70207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80" name="Text 78"/>
          <p:cNvSpPr/>
          <p:nvPr/>
        </p:nvSpPr>
        <p:spPr>
          <a:xfrm>
            <a:off x="470207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81" name="Shape 79"/>
          <p:cNvSpPr/>
          <p:nvPr/>
        </p:nvSpPr>
        <p:spPr>
          <a:xfrm>
            <a:off x="458162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8162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83" name="Text 81"/>
          <p:cNvSpPr/>
          <p:nvPr/>
        </p:nvSpPr>
        <p:spPr>
          <a:xfrm>
            <a:off x="458162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84" name="Shape 82"/>
          <p:cNvSpPr/>
          <p:nvPr/>
        </p:nvSpPr>
        <p:spPr>
          <a:xfrm>
            <a:off x="4461167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46116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86" name="Text 84"/>
          <p:cNvSpPr/>
          <p:nvPr/>
        </p:nvSpPr>
        <p:spPr>
          <a:xfrm>
            <a:off x="446116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87" name="Shape 85"/>
          <p:cNvSpPr/>
          <p:nvPr/>
        </p:nvSpPr>
        <p:spPr>
          <a:xfrm>
            <a:off x="4461167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34071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4071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90" name="Text 88"/>
          <p:cNvSpPr/>
          <p:nvPr/>
        </p:nvSpPr>
        <p:spPr>
          <a:xfrm>
            <a:off x="434071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91" name="Shape 89"/>
          <p:cNvSpPr/>
          <p:nvPr/>
        </p:nvSpPr>
        <p:spPr>
          <a:xfrm>
            <a:off x="4461167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22026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22026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94" name="Text 92"/>
          <p:cNvSpPr/>
          <p:nvPr/>
        </p:nvSpPr>
        <p:spPr>
          <a:xfrm>
            <a:off x="422026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95" name="Shape 93"/>
          <p:cNvSpPr/>
          <p:nvPr/>
        </p:nvSpPr>
        <p:spPr>
          <a:xfrm>
            <a:off x="409980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09980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97" name="Text 95"/>
          <p:cNvSpPr/>
          <p:nvPr/>
        </p:nvSpPr>
        <p:spPr>
          <a:xfrm>
            <a:off x="409980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98" name="Shape 96"/>
          <p:cNvSpPr/>
          <p:nvPr/>
        </p:nvSpPr>
        <p:spPr>
          <a:xfrm>
            <a:off x="397935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97935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00" name="Text 98"/>
          <p:cNvSpPr/>
          <p:nvPr/>
        </p:nvSpPr>
        <p:spPr>
          <a:xfrm>
            <a:off x="397935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101" name="Shape 99"/>
          <p:cNvSpPr/>
          <p:nvPr/>
        </p:nvSpPr>
        <p:spPr>
          <a:xfrm>
            <a:off x="385890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85890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03" name="Text 101"/>
          <p:cNvSpPr/>
          <p:nvPr/>
        </p:nvSpPr>
        <p:spPr>
          <a:xfrm>
            <a:off x="385890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104" name="Shape 102"/>
          <p:cNvSpPr/>
          <p:nvPr/>
        </p:nvSpPr>
        <p:spPr>
          <a:xfrm>
            <a:off x="373844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73844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06" name="Text 104"/>
          <p:cNvSpPr/>
          <p:nvPr/>
        </p:nvSpPr>
        <p:spPr>
          <a:xfrm>
            <a:off x="373844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107" name="Shape 105"/>
          <p:cNvSpPr/>
          <p:nvPr/>
        </p:nvSpPr>
        <p:spPr>
          <a:xfrm>
            <a:off x="3617995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61799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09" name="Text 107"/>
          <p:cNvSpPr/>
          <p:nvPr/>
        </p:nvSpPr>
        <p:spPr>
          <a:xfrm>
            <a:off x="361799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110" name="Shape 108"/>
          <p:cNvSpPr/>
          <p:nvPr/>
        </p:nvSpPr>
        <p:spPr>
          <a:xfrm>
            <a:off x="3617995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49754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49754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13" name="Text 111"/>
          <p:cNvSpPr/>
          <p:nvPr/>
        </p:nvSpPr>
        <p:spPr>
          <a:xfrm>
            <a:off x="349754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114" name="Shape 112"/>
          <p:cNvSpPr/>
          <p:nvPr/>
        </p:nvSpPr>
        <p:spPr>
          <a:xfrm>
            <a:off x="361799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37708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7708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17" name="Text 115"/>
          <p:cNvSpPr/>
          <p:nvPr/>
        </p:nvSpPr>
        <p:spPr>
          <a:xfrm>
            <a:off x="337708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118" name="Shape 116"/>
          <p:cNvSpPr/>
          <p:nvPr/>
        </p:nvSpPr>
        <p:spPr>
          <a:xfrm>
            <a:off x="325663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25663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20" name="Text 118"/>
          <p:cNvSpPr/>
          <p:nvPr/>
        </p:nvSpPr>
        <p:spPr>
          <a:xfrm>
            <a:off x="325663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121" name="Shape 119"/>
          <p:cNvSpPr/>
          <p:nvPr/>
        </p:nvSpPr>
        <p:spPr>
          <a:xfrm>
            <a:off x="313618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13618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23" name="Text 121"/>
          <p:cNvSpPr/>
          <p:nvPr/>
        </p:nvSpPr>
        <p:spPr>
          <a:xfrm>
            <a:off x="313618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24" name="Shape 122"/>
          <p:cNvSpPr/>
          <p:nvPr/>
        </p:nvSpPr>
        <p:spPr>
          <a:xfrm>
            <a:off x="301572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301572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26" name="Text 124"/>
          <p:cNvSpPr/>
          <p:nvPr/>
        </p:nvSpPr>
        <p:spPr>
          <a:xfrm>
            <a:off x="301572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27" name="Shape 125"/>
          <p:cNvSpPr/>
          <p:nvPr/>
        </p:nvSpPr>
        <p:spPr>
          <a:xfrm>
            <a:off x="289527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9527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29" name="Text 127"/>
          <p:cNvSpPr/>
          <p:nvPr/>
        </p:nvSpPr>
        <p:spPr>
          <a:xfrm>
            <a:off x="289527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30" name="Shape 128"/>
          <p:cNvSpPr/>
          <p:nvPr/>
        </p:nvSpPr>
        <p:spPr>
          <a:xfrm>
            <a:off x="277482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77482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32" name="Text 130"/>
          <p:cNvSpPr/>
          <p:nvPr/>
        </p:nvSpPr>
        <p:spPr>
          <a:xfrm>
            <a:off x="277482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33" name="Shape 131"/>
          <p:cNvSpPr/>
          <p:nvPr/>
        </p:nvSpPr>
        <p:spPr>
          <a:xfrm>
            <a:off x="277482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65437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65437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36" name="Text 134"/>
          <p:cNvSpPr/>
          <p:nvPr/>
        </p:nvSpPr>
        <p:spPr>
          <a:xfrm>
            <a:off x="265437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37" name="Shape 135"/>
          <p:cNvSpPr/>
          <p:nvPr/>
        </p:nvSpPr>
        <p:spPr>
          <a:xfrm>
            <a:off x="2774823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53391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53391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40" name="Text 138"/>
          <p:cNvSpPr/>
          <p:nvPr/>
        </p:nvSpPr>
        <p:spPr>
          <a:xfrm>
            <a:off x="253391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41" name="Shape 139"/>
          <p:cNvSpPr/>
          <p:nvPr/>
        </p:nvSpPr>
        <p:spPr>
          <a:xfrm>
            <a:off x="241346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241346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43" name="Text 141"/>
          <p:cNvSpPr/>
          <p:nvPr/>
        </p:nvSpPr>
        <p:spPr>
          <a:xfrm>
            <a:off x="241346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44" name="Shape 142"/>
          <p:cNvSpPr/>
          <p:nvPr/>
        </p:nvSpPr>
        <p:spPr>
          <a:xfrm>
            <a:off x="229301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29301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46" name="Text 144"/>
          <p:cNvSpPr/>
          <p:nvPr/>
        </p:nvSpPr>
        <p:spPr>
          <a:xfrm>
            <a:off x="229301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47" name="Shape 145"/>
          <p:cNvSpPr/>
          <p:nvPr/>
        </p:nvSpPr>
        <p:spPr>
          <a:xfrm>
            <a:off x="217255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217255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49" name="Text 147"/>
          <p:cNvSpPr/>
          <p:nvPr/>
        </p:nvSpPr>
        <p:spPr>
          <a:xfrm>
            <a:off x="217255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50" name="Shape 148"/>
          <p:cNvSpPr/>
          <p:nvPr/>
        </p:nvSpPr>
        <p:spPr>
          <a:xfrm>
            <a:off x="205210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205210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52" name="Text 150"/>
          <p:cNvSpPr/>
          <p:nvPr/>
        </p:nvSpPr>
        <p:spPr>
          <a:xfrm>
            <a:off x="205210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53" name="Shape 151"/>
          <p:cNvSpPr/>
          <p:nvPr/>
        </p:nvSpPr>
        <p:spPr>
          <a:xfrm>
            <a:off x="1931651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93165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55" name="Text 153"/>
          <p:cNvSpPr/>
          <p:nvPr/>
        </p:nvSpPr>
        <p:spPr>
          <a:xfrm>
            <a:off x="193165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156" name="Shape 154"/>
          <p:cNvSpPr/>
          <p:nvPr/>
        </p:nvSpPr>
        <p:spPr>
          <a:xfrm>
            <a:off x="1931651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81119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81119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59" name="Text 157"/>
          <p:cNvSpPr/>
          <p:nvPr/>
        </p:nvSpPr>
        <p:spPr>
          <a:xfrm>
            <a:off x="181119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160" name="Shape 158"/>
          <p:cNvSpPr/>
          <p:nvPr/>
        </p:nvSpPr>
        <p:spPr>
          <a:xfrm>
            <a:off x="193165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69074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69074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63" name="Text 161"/>
          <p:cNvSpPr/>
          <p:nvPr/>
        </p:nvSpPr>
        <p:spPr>
          <a:xfrm>
            <a:off x="169074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164" name="Shape 162"/>
          <p:cNvSpPr/>
          <p:nvPr/>
        </p:nvSpPr>
        <p:spPr>
          <a:xfrm>
            <a:off x="157029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57029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66" name="Text 164"/>
          <p:cNvSpPr/>
          <p:nvPr/>
        </p:nvSpPr>
        <p:spPr>
          <a:xfrm>
            <a:off x="157029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167" name="Shape 165"/>
          <p:cNvSpPr/>
          <p:nvPr/>
        </p:nvSpPr>
        <p:spPr>
          <a:xfrm>
            <a:off x="144983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44983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69" name="Text 167"/>
          <p:cNvSpPr/>
          <p:nvPr/>
        </p:nvSpPr>
        <p:spPr>
          <a:xfrm>
            <a:off x="144983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170" name="Shape 168"/>
          <p:cNvSpPr/>
          <p:nvPr/>
        </p:nvSpPr>
        <p:spPr>
          <a:xfrm>
            <a:off x="132938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32938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72" name="Text 170"/>
          <p:cNvSpPr/>
          <p:nvPr/>
        </p:nvSpPr>
        <p:spPr>
          <a:xfrm>
            <a:off x="132938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173" name="Shape 171"/>
          <p:cNvSpPr/>
          <p:nvPr/>
        </p:nvSpPr>
        <p:spPr>
          <a:xfrm>
            <a:off x="120893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20893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75" name="Text 173"/>
          <p:cNvSpPr/>
          <p:nvPr/>
        </p:nvSpPr>
        <p:spPr>
          <a:xfrm>
            <a:off x="120893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176" name="Shape 174"/>
          <p:cNvSpPr/>
          <p:nvPr/>
        </p:nvSpPr>
        <p:spPr>
          <a:xfrm>
            <a:off x="108847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08847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78" name="Text 176"/>
          <p:cNvSpPr/>
          <p:nvPr/>
        </p:nvSpPr>
        <p:spPr>
          <a:xfrm>
            <a:off x="108847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179" name="Shape 177"/>
          <p:cNvSpPr/>
          <p:nvPr/>
        </p:nvSpPr>
        <p:spPr>
          <a:xfrm>
            <a:off x="108847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6802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96802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82" name="Text 180"/>
          <p:cNvSpPr/>
          <p:nvPr/>
        </p:nvSpPr>
        <p:spPr>
          <a:xfrm>
            <a:off x="96802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183" name="Shape 181"/>
          <p:cNvSpPr/>
          <p:nvPr/>
        </p:nvSpPr>
        <p:spPr>
          <a:xfrm>
            <a:off x="108847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4757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84757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86" name="Text 184"/>
          <p:cNvSpPr/>
          <p:nvPr/>
        </p:nvSpPr>
        <p:spPr>
          <a:xfrm>
            <a:off x="84757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187" name="Shape 185"/>
          <p:cNvSpPr/>
          <p:nvPr/>
        </p:nvSpPr>
        <p:spPr>
          <a:xfrm>
            <a:off x="72711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2711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89" name="Text 187"/>
          <p:cNvSpPr/>
          <p:nvPr/>
        </p:nvSpPr>
        <p:spPr>
          <a:xfrm>
            <a:off x="72711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190" name="Shape 188"/>
          <p:cNvSpPr/>
          <p:nvPr/>
        </p:nvSpPr>
        <p:spPr>
          <a:xfrm>
            <a:off x="60666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60666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92" name="Text 190"/>
          <p:cNvSpPr/>
          <p:nvPr/>
        </p:nvSpPr>
        <p:spPr>
          <a:xfrm>
            <a:off x="60666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193" name="Shape 191"/>
          <p:cNvSpPr/>
          <p:nvPr/>
        </p:nvSpPr>
        <p:spPr>
          <a:xfrm>
            <a:off x="48621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48621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95" name="Text 193"/>
          <p:cNvSpPr/>
          <p:nvPr/>
        </p:nvSpPr>
        <p:spPr>
          <a:xfrm>
            <a:off x="48621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196" name="Shape 194"/>
          <p:cNvSpPr/>
          <p:nvPr/>
        </p:nvSpPr>
        <p:spPr>
          <a:xfrm>
            <a:off x="36576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36576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98" name="Text 196"/>
          <p:cNvSpPr/>
          <p:nvPr/>
        </p:nvSpPr>
        <p:spPr>
          <a:xfrm>
            <a:off x="36576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199" name="Shape 197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202" name="Text 200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203" name="Text 201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ar-SA" sz="1100" dirty="0"/>
          </a:p>
        </p:txBody>
      </p:sp>
      <p:sp>
        <p:nvSpPr>
          <p:cNvPr id="204" name="Text 202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850" dirty="0"/>
          </a:p>
        </p:txBody>
      </p:sp>
      <p:sp>
        <p:nvSpPr>
          <p:cNvPr id="205" name="Text 203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نوفمبر</a:t>
            </a:r>
            <a:endParaRPr lang="ar-SA" sz="850" dirty="0"/>
          </a:p>
        </p:txBody>
      </p:sp>
      <p:sp>
        <p:nvSpPr>
          <p:cNvPr id="206" name="Shape 204"/>
          <p:cNvSpPr/>
          <p:nvPr/>
        </p:nvSpPr>
        <p:spPr>
          <a:xfrm>
            <a:off x="1208932" y="2011680"/>
            <a:ext cx="4577220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1208932" y="2011680"/>
            <a:ext cx="4577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يوم عمل · 13 أكتوبر → 19 نوفمبر · الأساس 37 (−4)</a:t>
            </a:r>
            <a:endParaRPr lang="ar-SA" sz="850" dirty="0"/>
          </a:p>
        </p:txBody>
      </p:sp>
      <p:sp>
        <p:nvSpPr>
          <p:cNvPr id="208" name="Shape 206"/>
          <p:cNvSpPr/>
          <p:nvPr/>
        </p:nvSpPr>
        <p:spPr>
          <a:xfrm>
            <a:off x="6147511" y="224028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6238951" y="224028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ميل ستون</a:t>
            </a:r>
            <a:endParaRPr lang="ar-SA" sz="1000" dirty="0"/>
          </a:p>
        </p:txBody>
      </p:sp>
      <p:sp>
        <p:nvSpPr>
          <p:cNvPr id="210" name="Shape 208"/>
          <p:cNvSpPr/>
          <p:nvPr/>
        </p:nvSpPr>
        <p:spPr>
          <a:xfrm>
            <a:off x="5643629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4902965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550" dirty="0"/>
          </a:p>
        </p:txBody>
      </p:sp>
      <p:sp>
        <p:nvSpPr>
          <p:cNvPr id="212" name="Text 210"/>
          <p:cNvSpPr/>
          <p:nvPr/>
        </p:nvSpPr>
        <p:spPr>
          <a:xfrm>
            <a:off x="4902965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50" dirty="0"/>
          </a:p>
        </p:txBody>
      </p:sp>
      <p:sp>
        <p:nvSpPr>
          <p:cNvPr id="213" name="Shape 211"/>
          <p:cNvSpPr/>
          <p:nvPr/>
        </p:nvSpPr>
        <p:spPr>
          <a:xfrm>
            <a:off x="5161817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4421153" y="22402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550" dirty="0"/>
          </a:p>
        </p:txBody>
      </p:sp>
      <p:sp>
        <p:nvSpPr>
          <p:cNvPr id="215" name="Text 213"/>
          <p:cNvSpPr/>
          <p:nvPr/>
        </p:nvSpPr>
        <p:spPr>
          <a:xfrm>
            <a:off x="4421153" y="235000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50" dirty="0"/>
          </a:p>
        </p:txBody>
      </p:sp>
      <p:sp>
        <p:nvSpPr>
          <p:cNvPr id="216" name="Shape 214"/>
          <p:cNvSpPr/>
          <p:nvPr/>
        </p:nvSpPr>
        <p:spPr>
          <a:xfrm>
            <a:off x="2873207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2132543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550" dirty="0"/>
          </a:p>
        </p:txBody>
      </p:sp>
      <p:sp>
        <p:nvSpPr>
          <p:cNvPr id="218" name="Text 216"/>
          <p:cNvSpPr/>
          <p:nvPr/>
        </p:nvSpPr>
        <p:spPr>
          <a:xfrm>
            <a:off x="2132543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نوفمبر</a:t>
            </a:r>
            <a:endParaRPr lang="ar-SA" sz="750" dirty="0"/>
          </a:p>
        </p:txBody>
      </p:sp>
      <p:sp>
        <p:nvSpPr>
          <p:cNvPr id="219" name="Shape 217"/>
          <p:cNvSpPr/>
          <p:nvPr/>
        </p:nvSpPr>
        <p:spPr>
          <a:xfrm>
            <a:off x="1789128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1048464" y="224028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550" dirty="0"/>
          </a:p>
        </p:txBody>
      </p:sp>
      <p:sp>
        <p:nvSpPr>
          <p:cNvPr id="221" name="Text 219"/>
          <p:cNvSpPr/>
          <p:nvPr/>
        </p:nvSpPr>
        <p:spPr>
          <a:xfrm>
            <a:off x="1048464" y="2350008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750" dirty="0"/>
          </a:p>
        </p:txBody>
      </p:sp>
      <p:sp>
        <p:nvSpPr>
          <p:cNvPr id="222" name="Shape 220"/>
          <p:cNvSpPr/>
          <p:nvPr/>
        </p:nvSpPr>
        <p:spPr>
          <a:xfrm>
            <a:off x="1186863" y="2478024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446199" y="2651760"/>
            <a:ext cx="1645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550" dirty="0"/>
          </a:p>
        </p:txBody>
      </p:sp>
      <p:sp>
        <p:nvSpPr>
          <p:cNvPr id="224" name="Text 222"/>
          <p:cNvSpPr/>
          <p:nvPr/>
        </p:nvSpPr>
        <p:spPr>
          <a:xfrm>
            <a:off x="446199" y="274320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نوفمبر</a:t>
            </a:r>
            <a:endParaRPr lang="ar-SA" sz="750" dirty="0"/>
          </a:p>
        </p:txBody>
      </p:sp>
      <p:sp>
        <p:nvSpPr>
          <p:cNvPr id="225" name="Shape 223"/>
          <p:cNvSpPr/>
          <p:nvPr/>
        </p:nvSpPr>
        <p:spPr>
          <a:xfrm>
            <a:off x="365760" y="288036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11515039" y="286931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11441887" y="288036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228" name="Text 226"/>
          <p:cNvSpPr/>
          <p:nvPr/>
        </p:nvSpPr>
        <p:spPr>
          <a:xfrm>
            <a:off x="8762695" y="288036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750" dirty="0"/>
          </a:p>
        </p:txBody>
      </p:sp>
      <p:sp>
        <p:nvSpPr>
          <p:cNvPr id="229" name="Text 227"/>
          <p:cNvSpPr/>
          <p:nvPr/>
        </p:nvSpPr>
        <p:spPr>
          <a:xfrm>
            <a:off x="7967167" y="288036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30" name="Text 228"/>
          <p:cNvSpPr/>
          <p:nvPr/>
        </p:nvSpPr>
        <p:spPr>
          <a:xfrm>
            <a:off x="7464247" y="288036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900" dirty="0"/>
          </a:p>
        </p:txBody>
      </p:sp>
      <p:sp>
        <p:nvSpPr>
          <p:cNvPr id="231" name="Text 229"/>
          <p:cNvSpPr/>
          <p:nvPr/>
        </p:nvSpPr>
        <p:spPr>
          <a:xfrm>
            <a:off x="6805879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00" dirty="0"/>
          </a:p>
        </p:txBody>
      </p:sp>
      <p:sp>
        <p:nvSpPr>
          <p:cNvPr id="232" name="Text 230"/>
          <p:cNvSpPr/>
          <p:nvPr/>
        </p:nvSpPr>
        <p:spPr>
          <a:xfrm>
            <a:off x="6147511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33" name="Shape 231"/>
          <p:cNvSpPr/>
          <p:nvPr/>
        </p:nvSpPr>
        <p:spPr>
          <a:xfrm>
            <a:off x="4942980" y="3041142"/>
            <a:ext cx="843172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183886" y="2928747"/>
            <a:ext cx="602266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 flipV="1">
            <a:off x="5722144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 flipV="1">
            <a:off x="5183886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4589526" y="2880360"/>
            <a:ext cx="5486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50" dirty="0"/>
          </a:p>
        </p:txBody>
      </p:sp>
      <p:sp>
        <p:nvSpPr>
          <p:cNvPr id="238" name="Shape 236"/>
          <p:cNvSpPr/>
          <p:nvPr/>
        </p:nvSpPr>
        <p:spPr>
          <a:xfrm>
            <a:off x="365760" y="309600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1441887" y="312610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11414455" y="309600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A.1</a:t>
            </a:r>
            <a:endParaRPr lang="ar-SA" sz="650" dirty="0"/>
          </a:p>
        </p:txBody>
      </p:sp>
      <p:sp>
        <p:nvSpPr>
          <p:cNvPr id="241" name="Text 239"/>
          <p:cNvSpPr/>
          <p:nvPr/>
        </p:nvSpPr>
        <p:spPr>
          <a:xfrm>
            <a:off x="8762695" y="3096006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الحفر لأعمدة H-Beam</a:t>
            </a:r>
            <a:endParaRPr lang="ar-SA" sz="700" dirty="0"/>
          </a:p>
        </p:txBody>
      </p:sp>
      <p:sp>
        <p:nvSpPr>
          <p:cNvPr id="242" name="Text 240"/>
          <p:cNvSpPr/>
          <p:nvPr/>
        </p:nvSpPr>
        <p:spPr>
          <a:xfrm>
            <a:off x="7967167" y="309600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43" name="Text 241"/>
          <p:cNvSpPr/>
          <p:nvPr/>
        </p:nvSpPr>
        <p:spPr>
          <a:xfrm>
            <a:off x="7464247" y="309600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44" name="Text 242"/>
          <p:cNvSpPr/>
          <p:nvPr/>
        </p:nvSpPr>
        <p:spPr>
          <a:xfrm>
            <a:off x="6805879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00" dirty="0"/>
          </a:p>
        </p:txBody>
      </p:sp>
      <p:sp>
        <p:nvSpPr>
          <p:cNvPr id="245" name="Text 243"/>
          <p:cNvSpPr/>
          <p:nvPr/>
        </p:nvSpPr>
        <p:spPr>
          <a:xfrm>
            <a:off x="6147511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</a:t>
            </a:r>
            <a:endParaRPr lang="ar-SA" sz="700" dirty="0"/>
          </a:p>
        </p:txBody>
      </p:sp>
      <p:sp>
        <p:nvSpPr>
          <p:cNvPr id="246" name="Shape 244"/>
          <p:cNvSpPr/>
          <p:nvPr/>
        </p:nvSpPr>
        <p:spPr>
          <a:xfrm>
            <a:off x="5545245" y="314129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7" name="Shape 245"/>
          <p:cNvSpPr/>
          <p:nvPr/>
        </p:nvSpPr>
        <p:spPr>
          <a:xfrm>
            <a:off x="365760" y="3311652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11441887" y="334175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11414455" y="331165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A.2</a:t>
            </a:r>
            <a:endParaRPr lang="ar-SA" sz="650" dirty="0"/>
          </a:p>
        </p:txBody>
      </p:sp>
      <p:sp>
        <p:nvSpPr>
          <p:cNvPr id="250" name="Text 248"/>
          <p:cNvSpPr/>
          <p:nvPr/>
        </p:nvSpPr>
        <p:spPr>
          <a:xfrm>
            <a:off x="8762695" y="3311652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أعمدة H-Beam</a:t>
            </a:r>
            <a:endParaRPr lang="ar-SA" sz="700" dirty="0"/>
          </a:p>
        </p:txBody>
      </p:sp>
      <p:sp>
        <p:nvSpPr>
          <p:cNvPr id="251" name="Text 249"/>
          <p:cNvSpPr/>
          <p:nvPr/>
        </p:nvSpPr>
        <p:spPr>
          <a:xfrm>
            <a:off x="7967167" y="331165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SS +1</a:t>
            </a:r>
            <a:endParaRPr lang="ar-SA" sz="700" dirty="0"/>
          </a:p>
        </p:txBody>
      </p:sp>
      <p:sp>
        <p:nvSpPr>
          <p:cNvPr id="252" name="Text 250"/>
          <p:cNvSpPr/>
          <p:nvPr/>
        </p:nvSpPr>
        <p:spPr>
          <a:xfrm>
            <a:off x="7464247" y="331165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53" name="Text 251"/>
          <p:cNvSpPr/>
          <p:nvPr/>
        </p:nvSpPr>
        <p:spPr>
          <a:xfrm>
            <a:off x="6805879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</a:t>
            </a:r>
            <a:endParaRPr lang="ar-SA" sz="700" dirty="0"/>
          </a:p>
        </p:txBody>
      </p:sp>
      <p:sp>
        <p:nvSpPr>
          <p:cNvPr id="254" name="Text 252"/>
          <p:cNvSpPr/>
          <p:nvPr/>
        </p:nvSpPr>
        <p:spPr>
          <a:xfrm>
            <a:off x="6147511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أكتوبر</a:t>
            </a:r>
            <a:endParaRPr lang="ar-SA" sz="700" dirty="0"/>
          </a:p>
        </p:txBody>
      </p:sp>
      <p:sp>
        <p:nvSpPr>
          <p:cNvPr id="255" name="Shape 253"/>
          <p:cNvSpPr/>
          <p:nvPr/>
        </p:nvSpPr>
        <p:spPr>
          <a:xfrm>
            <a:off x="5183886" y="3472434"/>
            <a:ext cx="481813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5424792" y="3356938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7" name="Shape 255"/>
          <p:cNvSpPr/>
          <p:nvPr/>
        </p:nvSpPr>
        <p:spPr>
          <a:xfrm>
            <a:off x="365760" y="3527298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1441887" y="355739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11414455" y="352729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A.3</a:t>
            </a:r>
            <a:endParaRPr lang="ar-SA" sz="650" dirty="0"/>
          </a:p>
        </p:txBody>
      </p:sp>
      <p:sp>
        <p:nvSpPr>
          <p:cNvPr id="260" name="Text 258"/>
          <p:cNvSpPr/>
          <p:nvPr/>
        </p:nvSpPr>
        <p:spPr>
          <a:xfrm>
            <a:off x="8762695" y="3527298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لأعمدة H-Beam</a:t>
            </a:r>
            <a:endParaRPr lang="ar-SA" sz="700" dirty="0"/>
          </a:p>
        </p:txBody>
      </p:sp>
      <p:sp>
        <p:nvSpPr>
          <p:cNvPr id="261" name="Text 259"/>
          <p:cNvSpPr/>
          <p:nvPr/>
        </p:nvSpPr>
        <p:spPr>
          <a:xfrm>
            <a:off x="7967167" y="352729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SS +1</a:t>
            </a:r>
            <a:endParaRPr lang="ar-SA" sz="700" dirty="0"/>
          </a:p>
        </p:txBody>
      </p:sp>
      <p:sp>
        <p:nvSpPr>
          <p:cNvPr id="262" name="Text 260"/>
          <p:cNvSpPr/>
          <p:nvPr/>
        </p:nvSpPr>
        <p:spPr>
          <a:xfrm>
            <a:off x="7464247" y="352729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63" name="Text 261"/>
          <p:cNvSpPr/>
          <p:nvPr/>
        </p:nvSpPr>
        <p:spPr>
          <a:xfrm>
            <a:off x="6805879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أكتوبر</a:t>
            </a:r>
            <a:endParaRPr lang="ar-SA" sz="700" dirty="0"/>
          </a:p>
        </p:txBody>
      </p:sp>
      <p:sp>
        <p:nvSpPr>
          <p:cNvPr id="264" name="Text 262"/>
          <p:cNvSpPr/>
          <p:nvPr/>
        </p:nvSpPr>
        <p:spPr>
          <a:xfrm>
            <a:off x="6147511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65" name="Shape 263"/>
          <p:cNvSpPr/>
          <p:nvPr/>
        </p:nvSpPr>
        <p:spPr>
          <a:xfrm>
            <a:off x="5063433" y="3688080"/>
            <a:ext cx="481813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183886" y="3572584"/>
            <a:ext cx="361359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7" name="Text 265"/>
          <p:cNvSpPr/>
          <p:nvPr/>
        </p:nvSpPr>
        <p:spPr>
          <a:xfrm>
            <a:off x="5183886" y="3572584"/>
            <a:ext cx="36135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يوم</a:t>
            </a:r>
            <a:endParaRPr lang="ar-SA" sz="700" dirty="0"/>
          </a:p>
        </p:txBody>
      </p:sp>
      <p:sp>
        <p:nvSpPr>
          <p:cNvPr id="268" name="Shape 266"/>
          <p:cNvSpPr/>
          <p:nvPr/>
        </p:nvSpPr>
        <p:spPr>
          <a:xfrm>
            <a:off x="365760" y="3742944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11441887" y="377304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11414455" y="374294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A.4</a:t>
            </a:r>
            <a:endParaRPr lang="ar-SA" sz="650" dirty="0"/>
          </a:p>
        </p:txBody>
      </p:sp>
      <p:sp>
        <p:nvSpPr>
          <p:cNvPr id="271" name="Text 269"/>
          <p:cNvSpPr/>
          <p:nvPr/>
        </p:nvSpPr>
        <p:spPr>
          <a:xfrm>
            <a:off x="8762695" y="3742944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التدعيم (Bracing) لنظام الدعم</a:t>
            </a:r>
            <a:endParaRPr lang="ar-SA" sz="700" dirty="0"/>
          </a:p>
        </p:txBody>
      </p:sp>
      <p:sp>
        <p:nvSpPr>
          <p:cNvPr id="272" name="Text 270"/>
          <p:cNvSpPr/>
          <p:nvPr/>
        </p:nvSpPr>
        <p:spPr>
          <a:xfrm>
            <a:off x="7967167" y="374294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SS +1</a:t>
            </a:r>
            <a:endParaRPr lang="ar-SA" sz="700" dirty="0"/>
          </a:p>
        </p:txBody>
      </p:sp>
      <p:sp>
        <p:nvSpPr>
          <p:cNvPr id="273" name="Text 271"/>
          <p:cNvSpPr/>
          <p:nvPr/>
        </p:nvSpPr>
        <p:spPr>
          <a:xfrm>
            <a:off x="7464247" y="374294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74" name="Text 272"/>
          <p:cNvSpPr/>
          <p:nvPr/>
        </p:nvSpPr>
        <p:spPr>
          <a:xfrm>
            <a:off x="6805879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75" name="Text 273"/>
          <p:cNvSpPr/>
          <p:nvPr/>
        </p:nvSpPr>
        <p:spPr>
          <a:xfrm>
            <a:off x="6147511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76" name="Shape 274"/>
          <p:cNvSpPr/>
          <p:nvPr/>
        </p:nvSpPr>
        <p:spPr>
          <a:xfrm>
            <a:off x="4942980" y="3903726"/>
            <a:ext cx="361359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5183886" y="3788230"/>
            <a:ext cx="120453" cy="125075"/>
          </a:xfrm>
          <a:prstGeom prst="roundRect">
            <a:avLst>
              <a:gd name="adj" fmla="val 3036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8" name="Shape 276"/>
          <p:cNvSpPr/>
          <p:nvPr/>
        </p:nvSpPr>
        <p:spPr>
          <a:xfrm>
            <a:off x="365760" y="3958590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11441887" y="398868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80" name="Text 278"/>
          <p:cNvSpPr/>
          <p:nvPr/>
        </p:nvSpPr>
        <p:spPr>
          <a:xfrm>
            <a:off x="11414455" y="395859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A.5</a:t>
            </a:r>
            <a:endParaRPr lang="ar-SA" sz="650" dirty="0"/>
          </a:p>
        </p:txBody>
      </p:sp>
      <p:sp>
        <p:nvSpPr>
          <p:cNvPr id="281" name="Text 279"/>
          <p:cNvSpPr/>
          <p:nvPr/>
        </p:nvSpPr>
        <p:spPr>
          <a:xfrm>
            <a:off x="8762695" y="3958590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/ إدخال الألواح المضلعة (Corrugated sheets)</a:t>
            </a:r>
            <a:endParaRPr lang="ar-SA" sz="700" dirty="0"/>
          </a:p>
        </p:txBody>
      </p:sp>
      <p:sp>
        <p:nvSpPr>
          <p:cNvPr id="282" name="Text 280"/>
          <p:cNvSpPr/>
          <p:nvPr/>
        </p:nvSpPr>
        <p:spPr>
          <a:xfrm>
            <a:off x="7967167" y="395859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SS +0</a:t>
            </a:r>
            <a:endParaRPr lang="ar-SA" sz="700" dirty="0"/>
          </a:p>
        </p:txBody>
      </p:sp>
      <p:sp>
        <p:nvSpPr>
          <p:cNvPr id="283" name="Text 281"/>
          <p:cNvSpPr/>
          <p:nvPr/>
        </p:nvSpPr>
        <p:spPr>
          <a:xfrm>
            <a:off x="7464247" y="395859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84" name="Text 282"/>
          <p:cNvSpPr/>
          <p:nvPr/>
        </p:nvSpPr>
        <p:spPr>
          <a:xfrm>
            <a:off x="6805879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85" name="Text 283"/>
          <p:cNvSpPr/>
          <p:nvPr/>
        </p:nvSpPr>
        <p:spPr>
          <a:xfrm>
            <a:off x="6147511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86" name="Shape 284"/>
          <p:cNvSpPr/>
          <p:nvPr/>
        </p:nvSpPr>
        <p:spPr>
          <a:xfrm>
            <a:off x="4942980" y="4119372"/>
            <a:ext cx="240906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5183886" y="4003876"/>
            <a:ext cx="120453" cy="125075"/>
          </a:xfrm>
          <a:prstGeom prst="roundRect">
            <a:avLst>
              <a:gd name="adj" fmla="val 3036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8" name="Shape 286"/>
          <p:cNvSpPr/>
          <p:nvPr/>
        </p:nvSpPr>
        <p:spPr>
          <a:xfrm>
            <a:off x="365760" y="4174236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11515039" y="416318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90" name="Text 288"/>
          <p:cNvSpPr/>
          <p:nvPr/>
        </p:nvSpPr>
        <p:spPr>
          <a:xfrm>
            <a:off x="11441887" y="417423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ar-SA" sz="850" dirty="0"/>
          </a:p>
        </p:txBody>
      </p:sp>
      <p:sp>
        <p:nvSpPr>
          <p:cNvPr id="291" name="Text 289"/>
          <p:cNvSpPr/>
          <p:nvPr/>
        </p:nvSpPr>
        <p:spPr>
          <a:xfrm>
            <a:off x="8762695" y="417423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الخرسانة العادية (Lean concrete)</a:t>
            </a:r>
            <a:endParaRPr lang="ar-SA" sz="750" dirty="0"/>
          </a:p>
        </p:txBody>
      </p:sp>
      <p:sp>
        <p:nvSpPr>
          <p:cNvPr id="292" name="Text 290"/>
          <p:cNvSpPr/>
          <p:nvPr/>
        </p:nvSpPr>
        <p:spPr>
          <a:xfrm>
            <a:off x="7967167" y="417423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SS +4</a:t>
            </a:r>
            <a:endParaRPr lang="ar-SA" sz="700" dirty="0"/>
          </a:p>
        </p:txBody>
      </p:sp>
      <p:sp>
        <p:nvSpPr>
          <p:cNvPr id="293" name="Text 291"/>
          <p:cNvSpPr/>
          <p:nvPr/>
        </p:nvSpPr>
        <p:spPr>
          <a:xfrm>
            <a:off x="7464247" y="417423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900" dirty="0"/>
          </a:p>
        </p:txBody>
      </p:sp>
      <p:sp>
        <p:nvSpPr>
          <p:cNvPr id="294" name="Text 292"/>
          <p:cNvSpPr/>
          <p:nvPr/>
        </p:nvSpPr>
        <p:spPr>
          <a:xfrm>
            <a:off x="6805879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أكتوبر</a:t>
            </a:r>
            <a:endParaRPr lang="ar-SA" sz="700" dirty="0"/>
          </a:p>
        </p:txBody>
      </p:sp>
      <p:sp>
        <p:nvSpPr>
          <p:cNvPr id="295" name="Text 293"/>
          <p:cNvSpPr/>
          <p:nvPr/>
        </p:nvSpPr>
        <p:spPr>
          <a:xfrm>
            <a:off x="6147511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أكتوبر</a:t>
            </a:r>
            <a:endParaRPr lang="ar-SA" sz="700" dirty="0"/>
          </a:p>
        </p:txBody>
      </p:sp>
      <p:sp>
        <p:nvSpPr>
          <p:cNvPr id="296" name="Shape 294"/>
          <p:cNvSpPr/>
          <p:nvPr/>
        </p:nvSpPr>
        <p:spPr>
          <a:xfrm>
            <a:off x="4702073" y="4335018"/>
            <a:ext cx="240906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5063433" y="4219522"/>
            <a:ext cx="120453" cy="125075"/>
          </a:xfrm>
          <a:prstGeom prst="roundRect">
            <a:avLst>
              <a:gd name="adj" fmla="val 30365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8" name="Shape 296"/>
          <p:cNvSpPr/>
          <p:nvPr/>
        </p:nvSpPr>
        <p:spPr>
          <a:xfrm>
            <a:off x="365760" y="4389882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1515039" y="437883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11441887" y="438988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ar-SA" sz="850" dirty="0"/>
          </a:p>
        </p:txBody>
      </p:sp>
      <p:sp>
        <p:nvSpPr>
          <p:cNvPr id="301" name="Text 299"/>
          <p:cNvSpPr/>
          <p:nvPr/>
        </p:nvSpPr>
        <p:spPr>
          <a:xfrm>
            <a:off x="8762695" y="4389882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خندق الحفرة – حديد التسليح والشدات والخرسانة</a:t>
            </a:r>
            <a:endParaRPr lang="ar-SA" sz="750" dirty="0"/>
          </a:p>
        </p:txBody>
      </p:sp>
      <p:sp>
        <p:nvSpPr>
          <p:cNvPr id="302" name="Text 300"/>
          <p:cNvSpPr/>
          <p:nvPr/>
        </p:nvSpPr>
        <p:spPr>
          <a:xfrm>
            <a:off x="7967167" y="438988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700" dirty="0"/>
          </a:p>
        </p:txBody>
      </p:sp>
      <p:sp>
        <p:nvSpPr>
          <p:cNvPr id="303" name="Text 301"/>
          <p:cNvSpPr/>
          <p:nvPr/>
        </p:nvSpPr>
        <p:spPr>
          <a:xfrm>
            <a:off x="7464247" y="438988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304" name="Text 302"/>
          <p:cNvSpPr/>
          <p:nvPr/>
        </p:nvSpPr>
        <p:spPr>
          <a:xfrm>
            <a:off x="6805879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أكتوبر</a:t>
            </a:r>
            <a:endParaRPr lang="ar-SA" sz="700" dirty="0"/>
          </a:p>
        </p:txBody>
      </p:sp>
      <p:sp>
        <p:nvSpPr>
          <p:cNvPr id="305" name="Text 303"/>
          <p:cNvSpPr/>
          <p:nvPr/>
        </p:nvSpPr>
        <p:spPr>
          <a:xfrm>
            <a:off x="6147511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أكتوبر</a:t>
            </a:r>
            <a:endParaRPr lang="ar-SA" sz="700" dirty="0"/>
          </a:p>
        </p:txBody>
      </p:sp>
      <p:sp>
        <p:nvSpPr>
          <p:cNvPr id="306" name="Shape 304"/>
          <p:cNvSpPr/>
          <p:nvPr/>
        </p:nvSpPr>
        <p:spPr>
          <a:xfrm>
            <a:off x="4340714" y="4550664"/>
            <a:ext cx="602266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4822527" y="4435168"/>
            <a:ext cx="361359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8" name="Text 306"/>
          <p:cNvSpPr/>
          <p:nvPr/>
        </p:nvSpPr>
        <p:spPr>
          <a:xfrm>
            <a:off x="4822527" y="4435168"/>
            <a:ext cx="36135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309" name="Shape 307"/>
          <p:cNvSpPr/>
          <p:nvPr/>
        </p:nvSpPr>
        <p:spPr>
          <a:xfrm>
            <a:off x="365760" y="4605528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11515039" y="459447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11" name="Text 309"/>
          <p:cNvSpPr/>
          <p:nvPr/>
        </p:nvSpPr>
        <p:spPr>
          <a:xfrm>
            <a:off x="11441887" y="460552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ar-SA" sz="850" dirty="0"/>
          </a:p>
        </p:txBody>
      </p:sp>
      <p:sp>
        <p:nvSpPr>
          <p:cNvPr id="312" name="Text 310"/>
          <p:cNvSpPr/>
          <p:nvPr/>
        </p:nvSpPr>
        <p:spPr>
          <a:xfrm>
            <a:off x="8762695" y="4605528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بلاطة / لبشة الحفرة – حديد التسليح والشدات والخرسانة</a:t>
            </a:r>
            <a:endParaRPr lang="ar-SA" sz="750" dirty="0"/>
          </a:p>
        </p:txBody>
      </p:sp>
      <p:sp>
        <p:nvSpPr>
          <p:cNvPr id="313" name="Text 311"/>
          <p:cNvSpPr/>
          <p:nvPr/>
        </p:nvSpPr>
        <p:spPr>
          <a:xfrm>
            <a:off x="7967167" y="460552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FS</a:t>
            </a:r>
            <a:endParaRPr lang="ar-SA" sz="700" dirty="0"/>
          </a:p>
        </p:txBody>
      </p:sp>
      <p:sp>
        <p:nvSpPr>
          <p:cNvPr id="314" name="Text 312"/>
          <p:cNvSpPr/>
          <p:nvPr/>
        </p:nvSpPr>
        <p:spPr>
          <a:xfrm>
            <a:off x="7464247" y="460552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900" dirty="0"/>
          </a:p>
        </p:txBody>
      </p:sp>
      <p:sp>
        <p:nvSpPr>
          <p:cNvPr id="315" name="Text 313"/>
          <p:cNvSpPr/>
          <p:nvPr/>
        </p:nvSpPr>
        <p:spPr>
          <a:xfrm>
            <a:off x="6805879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أكتوبر</a:t>
            </a:r>
            <a:endParaRPr lang="ar-SA" sz="700" dirty="0"/>
          </a:p>
        </p:txBody>
      </p:sp>
      <p:sp>
        <p:nvSpPr>
          <p:cNvPr id="316" name="Text 314"/>
          <p:cNvSpPr/>
          <p:nvPr/>
        </p:nvSpPr>
        <p:spPr>
          <a:xfrm>
            <a:off x="6147511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أكتوبر</a:t>
            </a:r>
            <a:endParaRPr lang="ar-SA" sz="700" dirty="0"/>
          </a:p>
        </p:txBody>
      </p:sp>
      <p:sp>
        <p:nvSpPr>
          <p:cNvPr id="317" name="Shape 315"/>
          <p:cNvSpPr/>
          <p:nvPr/>
        </p:nvSpPr>
        <p:spPr>
          <a:xfrm>
            <a:off x="3015729" y="4766310"/>
            <a:ext cx="1324985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497542" y="4650814"/>
            <a:ext cx="1324985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19" name="Text 317"/>
          <p:cNvSpPr/>
          <p:nvPr/>
        </p:nvSpPr>
        <p:spPr>
          <a:xfrm>
            <a:off x="3497542" y="4650814"/>
            <a:ext cx="1324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يوم</a:t>
            </a:r>
            <a:endParaRPr lang="ar-SA" sz="700" dirty="0"/>
          </a:p>
        </p:txBody>
      </p:sp>
      <p:sp>
        <p:nvSpPr>
          <p:cNvPr id="320" name="Shape 318"/>
          <p:cNvSpPr/>
          <p:nvPr/>
        </p:nvSpPr>
        <p:spPr>
          <a:xfrm>
            <a:off x="365760" y="4821174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11515039" y="481012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322" name="Text 320"/>
          <p:cNvSpPr/>
          <p:nvPr/>
        </p:nvSpPr>
        <p:spPr>
          <a:xfrm>
            <a:off x="11441887" y="482117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ar-SA" sz="850" dirty="0"/>
          </a:p>
        </p:txBody>
      </p:sp>
      <p:sp>
        <p:nvSpPr>
          <p:cNvPr id="323" name="Text 321"/>
          <p:cNvSpPr/>
          <p:nvPr/>
        </p:nvSpPr>
        <p:spPr>
          <a:xfrm>
            <a:off x="8762695" y="4821174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جدار الحفرة – حديد التسليح والشدات والخرسانة</a:t>
            </a:r>
            <a:endParaRPr lang="ar-SA" sz="750" dirty="0"/>
          </a:p>
        </p:txBody>
      </p:sp>
      <p:sp>
        <p:nvSpPr>
          <p:cNvPr id="324" name="Text 322"/>
          <p:cNvSpPr/>
          <p:nvPr/>
        </p:nvSpPr>
        <p:spPr>
          <a:xfrm>
            <a:off x="7967167" y="482117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325" name="Text 323"/>
          <p:cNvSpPr/>
          <p:nvPr/>
        </p:nvSpPr>
        <p:spPr>
          <a:xfrm>
            <a:off x="7464247" y="482117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326" name="Text 324"/>
          <p:cNvSpPr/>
          <p:nvPr/>
        </p:nvSpPr>
        <p:spPr>
          <a:xfrm>
            <a:off x="6805879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نوفمبر</a:t>
            </a:r>
            <a:endParaRPr lang="ar-SA" sz="700" dirty="0"/>
          </a:p>
        </p:txBody>
      </p:sp>
      <p:sp>
        <p:nvSpPr>
          <p:cNvPr id="327" name="Text 325"/>
          <p:cNvSpPr/>
          <p:nvPr/>
        </p:nvSpPr>
        <p:spPr>
          <a:xfrm>
            <a:off x="6147511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نوفمبر</a:t>
            </a:r>
            <a:endParaRPr lang="ar-SA" sz="700" dirty="0"/>
          </a:p>
        </p:txBody>
      </p:sp>
      <p:sp>
        <p:nvSpPr>
          <p:cNvPr id="328" name="Shape 326"/>
          <p:cNvSpPr/>
          <p:nvPr/>
        </p:nvSpPr>
        <p:spPr>
          <a:xfrm>
            <a:off x="2172557" y="4981956"/>
            <a:ext cx="843172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895276" y="4866460"/>
            <a:ext cx="60226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30" name="Text 328"/>
          <p:cNvSpPr/>
          <p:nvPr/>
        </p:nvSpPr>
        <p:spPr>
          <a:xfrm>
            <a:off x="2895276" y="4866460"/>
            <a:ext cx="602266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331" name="Shape 329"/>
          <p:cNvSpPr/>
          <p:nvPr/>
        </p:nvSpPr>
        <p:spPr>
          <a:xfrm>
            <a:off x="365760" y="503682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11515039" y="502577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11441887" y="503682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334" name="Text 332"/>
          <p:cNvSpPr/>
          <p:nvPr/>
        </p:nvSpPr>
        <p:spPr>
          <a:xfrm>
            <a:off x="8762695" y="503682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750" dirty="0"/>
          </a:p>
        </p:txBody>
      </p:sp>
      <p:sp>
        <p:nvSpPr>
          <p:cNvPr id="335" name="Text 333"/>
          <p:cNvSpPr/>
          <p:nvPr/>
        </p:nvSpPr>
        <p:spPr>
          <a:xfrm>
            <a:off x="7967167" y="503682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336" name="Text 334"/>
          <p:cNvSpPr/>
          <p:nvPr/>
        </p:nvSpPr>
        <p:spPr>
          <a:xfrm>
            <a:off x="7464247" y="503682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900" dirty="0"/>
          </a:p>
        </p:txBody>
      </p:sp>
      <p:sp>
        <p:nvSpPr>
          <p:cNvPr id="337" name="Text 335"/>
          <p:cNvSpPr/>
          <p:nvPr/>
        </p:nvSpPr>
        <p:spPr>
          <a:xfrm>
            <a:off x="6805879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نوفمبر</a:t>
            </a:r>
            <a:endParaRPr lang="ar-SA" sz="700" dirty="0"/>
          </a:p>
        </p:txBody>
      </p:sp>
      <p:sp>
        <p:nvSpPr>
          <p:cNvPr id="338" name="Text 336"/>
          <p:cNvSpPr/>
          <p:nvPr/>
        </p:nvSpPr>
        <p:spPr>
          <a:xfrm>
            <a:off x="6147511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نوفمبر</a:t>
            </a:r>
            <a:endParaRPr lang="ar-SA" sz="700" dirty="0"/>
          </a:p>
        </p:txBody>
      </p:sp>
      <p:sp>
        <p:nvSpPr>
          <p:cNvPr id="339" name="Shape 337"/>
          <p:cNvSpPr/>
          <p:nvPr/>
        </p:nvSpPr>
        <p:spPr>
          <a:xfrm>
            <a:off x="1329385" y="5197602"/>
            <a:ext cx="1686344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1811198" y="5082106"/>
            <a:ext cx="1686344" cy="125075"/>
          </a:xfrm>
          <a:prstGeom prst="roundRect">
            <a:avLst>
              <a:gd name="adj" fmla="val 29243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41" name="Text 339"/>
          <p:cNvSpPr/>
          <p:nvPr/>
        </p:nvSpPr>
        <p:spPr>
          <a:xfrm>
            <a:off x="1811198" y="5082106"/>
            <a:ext cx="1686344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يوم</a:t>
            </a:r>
            <a:endParaRPr lang="ar-SA" sz="700" dirty="0"/>
          </a:p>
        </p:txBody>
      </p:sp>
      <p:sp>
        <p:nvSpPr>
          <p:cNvPr id="342" name="Shape 340"/>
          <p:cNvSpPr/>
          <p:nvPr/>
        </p:nvSpPr>
        <p:spPr>
          <a:xfrm>
            <a:off x="365760" y="525246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11515039" y="524141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44" name="Text 342"/>
          <p:cNvSpPr/>
          <p:nvPr/>
        </p:nvSpPr>
        <p:spPr>
          <a:xfrm>
            <a:off x="11441887" y="525246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345" name="Text 343"/>
          <p:cNvSpPr/>
          <p:nvPr/>
        </p:nvSpPr>
        <p:spPr>
          <a:xfrm>
            <a:off x="8762695" y="525246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750" dirty="0"/>
          </a:p>
        </p:txBody>
      </p:sp>
      <p:sp>
        <p:nvSpPr>
          <p:cNvPr id="346" name="Text 344"/>
          <p:cNvSpPr/>
          <p:nvPr/>
        </p:nvSpPr>
        <p:spPr>
          <a:xfrm>
            <a:off x="7967167" y="525246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700" dirty="0"/>
          </a:p>
        </p:txBody>
      </p:sp>
      <p:sp>
        <p:nvSpPr>
          <p:cNvPr id="347" name="Text 345"/>
          <p:cNvSpPr/>
          <p:nvPr/>
        </p:nvSpPr>
        <p:spPr>
          <a:xfrm>
            <a:off x="7464247" y="525246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348" name="Text 346"/>
          <p:cNvSpPr/>
          <p:nvPr/>
        </p:nvSpPr>
        <p:spPr>
          <a:xfrm>
            <a:off x="6805879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نوفمبر</a:t>
            </a:r>
            <a:endParaRPr lang="ar-SA" sz="700" dirty="0"/>
          </a:p>
        </p:txBody>
      </p:sp>
      <p:sp>
        <p:nvSpPr>
          <p:cNvPr id="349" name="Text 347"/>
          <p:cNvSpPr/>
          <p:nvPr/>
        </p:nvSpPr>
        <p:spPr>
          <a:xfrm>
            <a:off x="6147511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نوفمبر</a:t>
            </a:r>
            <a:endParaRPr lang="ar-SA" sz="700" dirty="0"/>
          </a:p>
        </p:txBody>
      </p:sp>
      <p:sp>
        <p:nvSpPr>
          <p:cNvPr id="350" name="Shape 348"/>
          <p:cNvSpPr/>
          <p:nvPr/>
        </p:nvSpPr>
        <p:spPr>
          <a:xfrm>
            <a:off x="606666" y="5413248"/>
            <a:ext cx="722719" cy="32004"/>
          </a:xfrm>
          <a:prstGeom prst="roundRect">
            <a:avLst>
              <a:gd name="adj" fmla="val 42857"/>
            </a:avLst>
          </a:prstGeom>
          <a:solidFill>
            <a:srgbClr val="8A959C"/>
          </a:solidFill>
          <a:ln w="12700">
            <a:solidFill>
              <a:srgbClr val="8A959C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1208932" y="5297752"/>
            <a:ext cx="602266" cy="125075"/>
          </a:xfrm>
          <a:prstGeom prst="roundRect">
            <a:avLst>
              <a:gd name="adj" fmla="val 29243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52" name="Text 350"/>
          <p:cNvSpPr/>
          <p:nvPr/>
        </p:nvSpPr>
        <p:spPr>
          <a:xfrm>
            <a:off x="1208932" y="5297752"/>
            <a:ext cx="602266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353" name="Shape 351"/>
          <p:cNvSpPr/>
          <p:nvPr/>
        </p:nvSpPr>
        <p:spPr>
          <a:xfrm>
            <a:off x="5731288" y="3266366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 flipH="1">
            <a:off x="5674843" y="3419475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5610835" y="3482012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 flipH="1">
            <a:off x="5554389" y="3635121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7" name="Shape 355"/>
          <p:cNvSpPr/>
          <p:nvPr/>
        </p:nvSpPr>
        <p:spPr>
          <a:xfrm>
            <a:off x="5490381" y="3697658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 flipH="1">
            <a:off x="5313483" y="3850767"/>
            <a:ext cx="17689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9" name="Shape 357"/>
          <p:cNvSpPr/>
          <p:nvPr/>
        </p:nvSpPr>
        <p:spPr>
          <a:xfrm>
            <a:off x="5249475" y="3913304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 flipH="1">
            <a:off x="5249475" y="406641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1" name="Shape 359"/>
          <p:cNvSpPr/>
          <p:nvPr/>
        </p:nvSpPr>
        <p:spPr>
          <a:xfrm>
            <a:off x="5731288" y="3050720"/>
            <a:ext cx="0" cy="123133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 flipH="1">
            <a:off x="5193030" y="4282059"/>
            <a:ext cx="53825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3" name="Shape 361"/>
          <p:cNvSpPr/>
          <p:nvPr/>
        </p:nvSpPr>
        <p:spPr>
          <a:xfrm>
            <a:off x="5183886" y="298818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5229606" y="2988183"/>
            <a:ext cx="0" cy="150952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 flipH="1">
            <a:off x="5193030" y="449770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6" name="Shape 364"/>
          <p:cNvSpPr/>
          <p:nvPr/>
        </p:nvSpPr>
        <p:spPr>
          <a:xfrm>
            <a:off x="4822527" y="449770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4868247" y="4497705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 flipH="1">
            <a:off x="4831671" y="471335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9" name="Shape 367"/>
          <p:cNvSpPr/>
          <p:nvPr/>
        </p:nvSpPr>
        <p:spPr>
          <a:xfrm>
            <a:off x="3497542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543262" y="4713351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 flipH="1">
            <a:off x="3506686" y="492899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72" name="Shape 370"/>
          <p:cNvSpPr/>
          <p:nvPr/>
        </p:nvSpPr>
        <p:spPr>
          <a:xfrm>
            <a:off x="3497542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543262" y="4713351"/>
            <a:ext cx="0" cy="43129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 flipH="1">
            <a:off x="3506686" y="514464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75" name="Shape 373"/>
          <p:cNvSpPr/>
          <p:nvPr/>
        </p:nvSpPr>
        <p:spPr>
          <a:xfrm>
            <a:off x="1811198" y="514464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1856918" y="5144643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 flipH="1">
            <a:off x="1820342" y="536028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78" name="Shape 376"/>
          <p:cNvSpPr/>
          <p:nvPr/>
        </p:nvSpPr>
        <p:spPr>
          <a:xfrm>
            <a:off x="4762300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79" name="Shape 377"/>
          <p:cNvSpPr/>
          <p:nvPr/>
        </p:nvSpPr>
        <p:spPr>
          <a:xfrm>
            <a:off x="3665020" y="2240280"/>
            <a:ext cx="1143000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80" name="Text 378"/>
          <p:cNvSpPr/>
          <p:nvPr/>
        </p:nvSpPr>
        <p:spPr>
          <a:xfrm>
            <a:off x="3665020" y="2240280"/>
            <a:ext cx="1143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381" name="Shape 379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3" name="Shape 381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385" name="Text 383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1300" dirty="0"/>
          </a:p>
        </p:txBody>
      </p:sp>
      <p:sp>
        <p:nvSpPr>
          <p:cNvPr id="386" name="Text 384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33</a:t>
            </a:r>
            <a:endParaRPr lang="ar-SA" sz="750" dirty="0"/>
          </a:p>
        </p:txBody>
      </p:sp>
      <p:sp>
        <p:nvSpPr>
          <p:cNvPr id="387" name="Shape 385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8" name="Shape 386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89" name="Text 387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390" name="Text 388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17 أكتوبر 2026</a:t>
            </a:r>
            <a:endParaRPr lang="ar-SA" sz="1300" dirty="0"/>
          </a:p>
        </p:txBody>
      </p:sp>
      <p:sp>
        <p:nvSpPr>
          <p:cNvPr id="391" name="Text 389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4 / 33</a:t>
            </a:r>
            <a:endParaRPr lang="ar-SA" sz="750" dirty="0"/>
          </a:p>
        </p:txBody>
      </p:sp>
      <p:sp>
        <p:nvSpPr>
          <p:cNvPr id="392" name="Shape 390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3" name="Shape 391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94" name="Text 392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850" dirty="0"/>
          </a:p>
        </p:txBody>
      </p:sp>
      <p:sp>
        <p:nvSpPr>
          <p:cNvPr id="395" name="Text 393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5 نوفمبر 2026</a:t>
            </a:r>
            <a:endParaRPr lang="ar-SA" sz="1300" dirty="0"/>
          </a:p>
        </p:txBody>
      </p:sp>
      <p:sp>
        <p:nvSpPr>
          <p:cNvPr id="396" name="Text 394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21 / 33</a:t>
            </a:r>
            <a:endParaRPr lang="ar-SA" sz="750" dirty="0"/>
          </a:p>
        </p:txBody>
      </p:sp>
      <p:sp>
        <p:nvSpPr>
          <p:cNvPr id="397" name="Shape 395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8" name="Shape 396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9" name="Text 397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400" name="Text 398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14 نوفمبر 2026</a:t>
            </a:r>
            <a:endParaRPr lang="ar-SA" sz="1300" dirty="0"/>
          </a:p>
        </p:txBody>
      </p:sp>
      <p:sp>
        <p:nvSpPr>
          <p:cNvPr id="401" name="Text 399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28 / 33</a:t>
            </a:r>
            <a:endParaRPr lang="ar-SA" sz="750" dirty="0"/>
          </a:p>
        </p:txBody>
      </p:sp>
      <p:sp>
        <p:nvSpPr>
          <p:cNvPr id="402" name="Shape 400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403" name="Shape 401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404" name="Text 402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405" name="Text 403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19 نوفمبر 2026</a:t>
            </a:r>
            <a:endParaRPr lang="ar-SA" sz="1300" dirty="0"/>
          </a:p>
        </p:txBody>
      </p:sp>
      <p:sp>
        <p:nvSpPr>
          <p:cNvPr id="406" name="Text 404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33 / 33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2026-10-21T13:40:26Z</dcterms:created>
  <dcterms:modified xsi:type="dcterms:W3CDTF">2026-10-21T13:40:26Z</dcterms:modified>
</cp:coreProperties>
</file>